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f754aa2-1079-8dc3-4acc-e5af38e715f5}">
          <p14:sldIdLst>
            <p14:sldId id="256"/>
            <p14:sldId id="257"/>
          </p14:sldIdLst>
        </p14:section>
        <p14:section name="Physics basics" id="{1f817346-e8eb-4abf-dfe9-091153a67ab4}">
          <p14:sldIdLst>
            <p14:sldId id="258"/>
            <p14:sldId id="259"/>
            <p14:sldId id="260"/>
            <p14:sldId id="261"/>
            <p14:sldId id="262"/>
            <p14:sldId id="263"/>
          </p14:sldIdLst>
        </p14:section>
        <p14:section name="Passive retrieval" id="{d176b9e5-ccd2-095f-cc48-5ac42150706d}">
          <p14:sldIdLst>
            <p14:sldId id="264"/>
            <p14:sldId id="265"/>
            <p14:sldId id="266"/>
            <p14:sldId id="267"/>
            <p14:sldId id="268"/>
            <p14:sldId id="269"/>
          </p14:sldIdLst>
        </p14:section>
        <p14:section name="Active retrieval" id="{38ebcaed-92c5-ff8d-117a-748baa9c5f13}">
          <p14:sldIdLst>
            <p14:sldId id="270"/>
            <p14:sldId id="271"/>
            <p14:sldId id="272"/>
            <p14:sldId id="273"/>
            <p14:sldId id="274"/>
            <p14:sldId id="275"/>
            <p14:sldId id="276"/>
            <p14:sldId id="277"/>
            <p14:sldId id="278"/>
            <p14:sldId id="279"/>
          </p14:sldIdLst>
        </p14:section>
        <p14:section name="NISAR and the ISRO angle" id="{9fe4b3cd-1a2d-6b62-ff8b-5a8ef26c5eee}">
          <p14:sldIdLst>
            <p14:sldId id="280"/>
            <p14:sldId id="281"/>
            <p14:sldId id="282"/>
            <p14:sldId id="283"/>
            <p14:sldId id="284"/>
            <p14:sldId id="285"/>
            <p14:sldId id="286"/>
            <p14:sldId id="287"/>
            <p14:sldId id="288"/>
          </p14:sldIdLst>
        </p14:section>
        <p14:section name="Summary" id="{125da7de-f23c-12c3-3ba5-c2d1941e2d81}">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3F5F"/>
                </a:solidFill>
                <a:latin typeface="Arial"/>
              </a:defRPr>
            </a:pPr>
            <a:r>
              <a:rPr sz="1300" b="0" i="0" u="none" strike="noStrike">
                <a:solidFill>
                  <a:srgbClr val="173F5F"/>
                </a:solidFill>
                <a:latin typeface="Arial"/>
              </a:rPr>
              <a:t>Dielectric constant rises steeply with water</a:t>
            </a:r>
          </a:p>
        </c:rich>
      </c:tx>
      <c:layout/>
      <c:overlay val="0"/>
    </c:title>
    <c:autoTitleDeleted val="0"/>
    <c:plotArea>
      <c:layout/>
      <c:lineChart>
        <c:varyColors val="0"/>
        <c:ser>
          <c:idx val="0"/>
          <c:order val="0"/>
          <c:tx>
            <c:strRef>
              <c:f>Sheet1!$B$1</c:f>
              <c:strCache>
                <c:ptCount val="1"/>
                <c:pt idx="0">
                  <c:v>ε′ (Topp 1980)</c:v>
                </c:pt>
              </c:strCache>
            </c:strRef>
          </c:tx>
          <c:spPr>
            <a:solidFill>
              <a:srgbClr val="2E86AB"/>
            </a:solidFill>
            <a:ln w="38100" cap="flat">
              <a:solidFill>
                <a:srgbClr val="2E86AB"/>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86AB"/>
              </a:solidFill>
              <a:ln w="9525" cap="flat">
                <a:solidFill>
                  <a:srgbClr val="2E86AB"/>
                </a:solidFill>
                <a:prstDash val="solid"/>
                <a:round/>
              </a:ln>
              <a:effectLst/>
            </c:spPr>
          </c:marker>
          <c:cat>
            <c:multiLvlStrRef>
              <c:f>Sheet1!$A$2:$A$12</c:f>
              <c:multiLvlStrCache>
                <c:ptCount val="11"/>
                <c:lvl>
                  <c:pt idx="0">
                    <c:v>0.00</c:v>
                  </c:pt>
                  <c:pt idx="1">
                    <c:v>0.05</c:v>
                  </c:pt>
                  <c:pt idx="2">
                    <c:v>0.10</c:v>
                  </c:pt>
                  <c:pt idx="3">
                    <c:v>0.15</c:v>
                  </c:pt>
                  <c:pt idx="4">
                    <c:v>0.20</c:v>
                  </c:pt>
                  <c:pt idx="5">
                    <c:v>0.25</c:v>
                  </c:pt>
                  <c:pt idx="6">
                    <c:v>0.30</c:v>
                  </c:pt>
                  <c:pt idx="7">
                    <c:v>0.35</c:v>
                  </c:pt>
                  <c:pt idx="8">
                    <c:v>0.40</c:v>
                  </c:pt>
                  <c:pt idx="9">
                    <c:v>0.45</c:v>
                  </c:pt>
                  <c:pt idx="10">
                    <c:v>0.50</c:v>
                  </c:pt>
                </c:lvl>
              </c:multiLvlStrCache>
            </c:multiLvlStrRef>
          </c:cat>
          <c:val>
            <c:numRef>
              <c:f>Sheet1!$B$2:$B$12</c:f>
              <c:numCache>
                <c:formatCode>General</c:formatCode>
                <c:ptCount val="11"/>
                <c:pt idx="0">
                  <c:v>3</c:v>
                </c:pt>
                <c:pt idx="1">
                  <c:v>3.9</c:v>
                </c:pt>
                <c:pt idx="2">
                  <c:v>5.3</c:v>
                </c:pt>
                <c:pt idx="3">
                  <c:v>7.5</c:v>
                </c:pt>
                <c:pt idx="4">
                  <c:v>10.1</c:v>
                </c:pt>
                <c:pt idx="5">
                  <c:v>13.3</c:v>
                </c:pt>
                <c:pt idx="6">
                  <c:v>16.9</c:v>
                </c:pt>
                <c:pt idx="7">
                  <c:v>20.9</c:v>
                </c:pt>
                <c:pt idx="8">
                  <c:v>25.2</c:v>
                </c:pt>
                <c:pt idx="9">
                  <c:v>29.8</c:v>
                </c:pt>
                <c:pt idx="10">
                  <c:v>34.6</c:v>
                </c:pt>
              </c:numCache>
            </c:numRef>
          </c:val>
          <c:smooth val="0"/>
        </c:ser>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Volumetric soil moisture θ (m³/m³)</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8EE"/>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Dielectric constant ε′</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σ⁰ observed</c:v>
                </c:pt>
              </c:strCache>
            </c:strRef>
          </c:tx>
          <c:spPr>
            <a:solidFill>
              <a:srgbClr val="2E86AB"/>
            </a:solidFill>
            <a:ln w="31750" cap="flat">
              <a:solidFill>
                <a:srgbClr val="2E86A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86AB"/>
              </a:solidFill>
              <a:ln w="9525" cap="flat">
                <a:solidFill>
                  <a:srgbClr val="2E86AB"/>
                </a:solidFill>
                <a:prstDash val="solid"/>
                <a:round/>
              </a:ln>
              <a:effectLst/>
            </c:spPr>
          </c:marker>
          <c:cat>
            <c:multiLvlStrRef>
              <c:f>Sheet1!$A$2:$A$25</c:f>
              <c:multiLvlStrCache>
                <c:ptCount val="24"/>
                <c:lvl>
                  <c:pt idx="0">
                    <c:v>0</c:v>
                  </c:pt>
                  <c:pt idx="1">
                    <c:v>15</c:v>
                  </c:pt>
                  <c:pt idx="2">
                    <c:v>30</c:v>
                  </c:pt>
                  <c:pt idx="3">
                    <c:v>45</c:v>
                  </c:pt>
                  <c:pt idx="4">
                    <c:v>60</c:v>
                  </c:pt>
                  <c:pt idx="5">
                    <c:v>75</c:v>
                  </c:pt>
                  <c:pt idx="6">
                    <c:v>90</c:v>
                  </c:pt>
                  <c:pt idx="7">
                    <c:v>105</c:v>
                  </c:pt>
                  <c:pt idx="8">
                    <c:v>120</c:v>
                  </c:pt>
                  <c:pt idx="9">
                    <c:v>135</c:v>
                  </c:pt>
                  <c:pt idx="10">
                    <c:v>150</c:v>
                  </c:pt>
                  <c:pt idx="11">
                    <c:v>165</c:v>
                  </c:pt>
                  <c:pt idx="12">
                    <c:v>180</c:v>
                  </c:pt>
                  <c:pt idx="13">
                    <c:v>195</c:v>
                  </c:pt>
                  <c:pt idx="14">
                    <c:v>210</c:v>
                  </c:pt>
                  <c:pt idx="15">
                    <c:v>225</c:v>
                  </c:pt>
                  <c:pt idx="16">
                    <c:v>240</c:v>
                  </c:pt>
                  <c:pt idx="17">
                    <c:v>255</c:v>
                  </c:pt>
                  <c:pt idx="18">
                    <c:v>270</c:v>
                  </c:pt>
                  <c:pt idx="19">
                    <c:v>285</c:v>
                  </c:pt>
                  <c:pt idx="20">
                    <c:v>300</c:v>
                  </c:pt>
                  <c:pt idx="21">
                    <c:v>315</c:v>
                  </c:pt>
                  <c:pt idx="22">
                    <c:v>330</c:v>
                  </c:pt>
                  <c:pt idx="23">
                    <c:v>345</c:v>
                  </c:pt>
                </c:lvl>
              </c:multiLvlStrCache>
            </c:multiLvlStrRef>
          </c:cat>
          <c:val>
            <c:numRef>
              <c:f>Sheet1!$B$2:$B$25</c:f>
              <c:numCache>
                <c:formatCode>General</c:formatCode>
                <c:ptCount val="24"/>
                <c:pt idx="0">
                  <c:v>-13.2</c:v>
                </c:pt>
                <c:pt idx="1">
                  <c:v>-12.6</c:v>
                </c:pt>
                <c:pt idx="2">
                  <c:v>-11</c:v>
                </c:pt>
                <c:pt idx="3">
                  <c:v>-8.2</c:v>
                </c:pt>
                <c:pt idx="4">
                  <c:v>-7.1</c:v>
                </c:pt>
                <c:pt idx="5">
                  <c:v>-9</c:v>
                </c:pt>
                <c:pt idx="6">
                  <c:v>-10.6</c:v>
                </c:pt>
                <c:pt idx="7">
                  <c:v>-12</c:v>
                </c:pt>
                <c:pt idx="8">
                  <c:v>-13</c:v>
                </c:pt>
                <c:pt idx="9">
                  <c:v>-13.6</c:v>
                </c:pt>
                <c:pt idx="10">
                  <c:v>-12.4</c:v>
                </c:pt>
                <c:pt idx="11">
                  <c:v>-9.6</c:v>
                </c:pt>
                <c:pt idx="12">
                  <c:v>-7</c:v>
                </c:pt>
                <c:pt idx="13">
                  <c:v>-6.5</c:v>
                </c:pt>
                <c:pt idx="14">
                  <c:v>-8.4</c:v>
                </c:pt>
                <c:pt idx="15">
                  <c:v>-10.2</c:v>
                </c:pt>
                <c:pt idx="16">
                  <c:v>-11.7</c:v>
                </c:pt>
                <c:pt idx="17">
                  <c:v>-12.9</c:v>
                </c:pt>
                <c:pt idx="18">
                  <c:v>-13.5</c:v>
                </c:pt>
                <c:pt idx="19">
                  <c:v>-12.2</c:v>
                </c:pt>
                <c:pt idx="20">
                  <c:v>-10</c:v>
                </c:pt>
                <c:pt idx="21">
                  <c:v>-8.8</c:v>
                </c:pt>
                <c:pt idx="22">
                  <c:v>-10.9</c:v>
                </c:pt>
                <c:pt idx="23">
                  <c:v>-12.7</c:v>
                </c:pt>
              </c:numCache>
            </c:numRef>
          </c:val>
          <c:smooth val="0"/>
        </c:ser>
        <c:ser>
          <c:idx val="1"/>
          <c:order val="1"/>
          <c:tx>
            <c:strRef>
              <c:f>Sheet1!$C$1</c:f>
              <c:strCache>
                <c:ptCount val="1"/>
                <c:pt idx="0">
                  <c:v>σ⁰_dry (historic min)</c:v>
                </c:pt>
              </c:strCache>
            </c:strRef>
          </c:tx>
          <c:spPr>
            <a:solidFill>
              <a:srgbClr val="8C5E34"/>
            </a:solidFill>
            <a:ln w="31750" cap="flat">
              <a:solidFill>
                <a:srgbClr val="8C5E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5E34"/>
              </a:solidFill>
              <a:ln w="9525" cap="flat">
                <a:solidFill>
                  <a:srgbClr val="8C5E34"/>
                </a:solidFill>
                <a:prstDash val="solid"/>
                <a:round/>
              </a:ln>
              <a:effectLst/>
            </c:spPr>
          </c:marker>
          <c:cat>
            <c:multiLvlStrRef>
              <c:f>Sheet1!$A$2:$A$25</c:f>
              <c:multiLvlStrCache>
                <c:ptCount val="24"/>
                <c:lvl>
                  <c:pt idx="0">
                    <c:v>0</c:v>
                  </c:pt>
                  <c:pt idx="1">
                    <c:v>15</c:v>
                  </c:pt>
                  <c:pt idx="2">
                    <c:v>30</c:v>
                  </c:pt>
                  <c:pt idx="3">
                    <c:v>45</c:v>
                  </c:pt>
                  <c:pt idx="4">
                    <c:v>60</c:v>
                  </c:pt>
                  <c:pt idx="5">
                    <c:v>75</c:v>
                  </c:pt>
                  <c:pt idx="6">
                    <c:v>90</c:v>
                  </c:pt>
                  <c:pt idx="7">
                    <c:v>105</c:v>
                  </c:pt>
                  <c:pt idx="8">
                    <c:v>120</c:v>
                  </c:pt>
                  <c:pt idx="9">
                    <c:v>135</c:v>
                  </c:pt>
                  <c:pt idx="10">
                    <c:v>150</c:v>
                  </c:pt>
                  <c:pt idx="11">
                    <c:v>165</c:v>
                  </c:pt>
                  <c:pt idx="12">
                    <c:v>180</c:v>
                  </c:pt>
                  <c:pt idx="13">
                    <c:v>195</c:v>
                  </c:pt>
                  <c:pt idx="14">
                    <c:v>210</c:v>
                  </c:pt>
                  <c:pt idx="15">
                    <c:v>225</c:v>
                  </c:pt>
                  <c:pt idx="16">
                    <c:v>240</c:v>
                  </c:pt>
                  <c:pt idx="17">
                    <c:v>255</c:v>
                  </c:pt>
                  <c:pt idx="18">
                    <c:v>270</c:v>
                  </c:pt>
                  <c:pt idx="19">
                    <c:v>285</c:v>
                  </c:pt>
                  <c:pt idx="20">
                    <c:v>300</c:v>
                  </c:pt>
                  <c:pt idx="21">
                    <c:v>315</c:v>
                  </c:pt>
                  <c:pt idx="22">
                    <c:v>330</c:v>
                  </c:pt>
                  <c:pt idx="23">
                    <c:v>345</c:v>
                  </c:pt>
                </c:lvl>
              </c:multiLvlStrCache>
            </c:multiLvlStrRef>
          </c:cat>
          <c:val>
            <c:numRef>
              <c:f>Sheet1!$C$2:$C$25</c:f>
              <c:numCache>
                <c:formatCode>General</c:formatCode>
                <c:ptCount val="24"/>
                <c:pt idx="0">
                  <c:v>-14</c:v>
                </c:pt>
                <c:pt idx="1">
                  <c:v>-14</c:v>
                </c:pt>
                <c:pt idx="2">
                  <c:v>-14</c:v>
                </c:pt>
                <c:pt idx="3">
                  <c:v>-14</c:v>
                </c:pt>
                <c:pt idx="4">
                  <c:v>-14</c:v>
                </c:pt>
                <c:pt idx="5">
                  <c:v>-14</c:v>
                </c:pt>
                <c:pt idx="6">
                  <c:v>-14</c:v>
                </c:pt>
                <c:pt idx="7">
                  <c:v>-14</c:v>
                </c:pt>
                <c:pt idx="8">
                  <c:v>-14</c:v>
                </c:pt>
                <c:pt idx="9">
                  <c:v>-14</c:v>
                </c:pt>
                <c:pt idx="10">
                  <c:v>-14</c:v>
                </c:pt>
                <c:pt idx="11">
                  <c:v>-14</c:v>
                </c:pt>
                <c:pt idx="12">
                  <c:v>-14</c:v>
                </c:pt>
                <c:pt idx="13">
                  <c:v>-14</c:v>
                </c:pt>
                <c:pt idx="14">
                  <c:v>-14</c:v>
                </c:pt>
                <c:pt idx="15">
                  <c:v>-14</c:v>
                </c:pt>
                <c:pt idx="16">
                  <c:v>-14</c:v>
                </c:pt>
                <c:pt idx="17">
                  <c:v>-14</c:v>
                </c:pt>
                <c:pt idx="18">
                  <c:v>-14</c:v>
                </c:pt>
                <c:pt idx="19">
                  <c:v>-14</c:v>
                </c:pt>
                <c:pt idx="20">
                  <c:v>-14</c:v>
                </c:pt>
                <c:pt idx="21">
                  <c:v>-14</c:v>
                </c:pt>
                <c:pt idx="22">
                  <c:v>-14</c:v>
                </c:pt>
                <c:pt idx="23">
                  <c:v>-14</c:v>
                </c:pt>
              </c:numCache>
            </c:numRef>
          </c:val>
          <c:smooth val="0"/>
        </c:ser>
        <c:ser>
          <c:idx val="2"/>
          <c:order val="2"/>
          <c:tx>
            <c:strRef>
              <c:f>Sheet1!$D$1</c:f>
              <c:strCache>
                <c:ptCount val="1"/>
                <c:pt idx="0">
                  <c:v>σ⁰_wet (historic max)</c:v>
                </c:pt>
              </c:strCache>
            </c:strRef>
          </c:tx>
          <c:spPr>
            <a:solidFill>
              <a:srgbClr val="3F8F5A"/>
            </a:solidFill>
            <a:ln w="31750" cap="flat">
              <a:solidFill>
                <a:srgbClr val="3F8F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F8F5A"/>
              </a:solidFill>
              <a:ln w="9525" cap="flat">
                <a:solidFill>
                  <a:srgbClr val="3F8F5A"/>
                </a:solidFill>
                <a:prstDash val="solid"/>
                <a:round/>
              </a:ln>
              <a:effectLst/>
            </c:spPr>
          </c:marker>
          <c:cat>
            <c:multiLvlStrRef>
              <c:f>Sheet1!$A$2:$A$25</c:f>
              <c:multiLvlStrCache>
                <c:ptCount val="24"/>
                <c:lvl>
                  <c:pt idx="0">
                    <c:v>0</c:v>
                  </c:pt>
                  <c:pt idx="1">
                    <c:v>15</c:v>
                  </c:pt>
                  <c:pt idx="2">
                    <c:v>30</c:v>
                  </c:pt>
                  <c:pt idx="3">
                    <c:v>45</c:v>
                  </c:pt>
                  <c:pt idx="4">
                    <c:v>60</c:v>
                  </c:pt>
                  <c:pt idx="5">
                    <c:v>75</c:v>
                  </c:pt>
                  <c:pt idx="6">
                    <c:v>90</c:v>
                  </c:pt>
                  <c:pt idx="7">
                    <c:v>105</c:v>
                  </c:pt>
                  <c:pt idx="8">
                    <c:v>120</c:v>
                  </c:pt>
                  <c:pt idx="9">
                    <c:v>135</c:v>
                  </c:pt>
                  <c:pt idx="10">
                    <c:v>150</c:v>
                  </c:pt>
                  <c:pt idx="11">
                    <c:v>165</c:v>
                  </c:pt>
                  <c:pt idx="12">
                    <c:v>180</c:v>
                  </c:pt>
                  <c:pt idx="13">
                    <c:v>195</c:v>
                  </c:pt>
                  <c:pt idx="14">
                    <c:v>210</c:v>
                  </c:pt>
                  <c:pt idx="15">
                    <c:v>225</c:v>
                  </c:pt>
                  <c:pt idx="16">
                    <c:v>240</c:v>
                  </c:pt>
                  <c:pt idx="17">
                    <c:v>255</c:v>
                  </c:pt>
                  <c:pt idx="18">
                    <c:v>270</c:v>
                  </c:pt>
                  <c:pt idx="19">
                    <c:v>285</c:v>
                  </c:pt>
                  <c:pt idx="20">
                    <c:v>300</c:v>
                  </c:pt>
                  <c:pt idx="21">
                    <c:v>315</c:v>
                  </c:pt>
                  <c:pt idx="22">
                    <c:v>330</c:v>
                  </c:pt>
                  <c:pt idx="23">
                    <c:v>345</c:v>
                  </c:pt>
                </c:lvl>
              </c:multiLvlStrCache>
            </c:multiLvlStrRef>
          </c:cat>
          <c:val>
            <c:numRef>
              <c:f>Sheet1!$D$2:$D$25</c:f>
              <c:numCache>
                <c:formatCode>General</c:formatCode>
                <c:ptCount val="24"/>
                <c:pt idx="0">
                  <c:v>-6.2</c:v>
                </c:pt>
                <c:pt idx="1">
                  <c:v>-6.2</c:v>
                </c:pt>
                <c:pt idx="2">
                  <c:v>-6.2</c:v>
                </c:pt>
                <c:pt idx="3">
                  <c:v>-6.2</c:v>
                </c:pt>
                <c:pt idx="4">
                  <c:v>-6.2</c:v>
                </c:pt>
                <c:pt idx="5">
                  <c:v>-6.2</c:v>
                </c:pt>
                <c:pt idx="6">
                  <c:v>-6.2</c:v>
                </c:pt>
                <c:pt idx="7">
                  <c:v>-6.2</c:v>
                </c:pt>
                <c:pt idx="8">
                  <c:v>-6.2</c:v>
                </c:pt>
                <c:pt idx="9">
                  <c:v>-6.2</c:v>
                </c:pt>
                <c:pt idx="10">
                  <c:v>-6.2</c:v>
                </c:pt>
                <c:pt idx="11">
                  <c:v>-6.2</c:v>
                </c:pt>
                <c:pt idx="12">
                  <c:v>-6.2</c:v>
                </c:pt>
                <c:pt idx="13">
                  <c:v>-6.2</c:v>
                </c:pt>
                <c:pt idx="14">
                  <c:v>-6.2</c:v>
                </c:pt>
                <c:pt idx="15">
                  <c:v>-6.2</c:v>
                </c:pt>
                <c:pt idx="16">
                  <c:v>-6.2</c:v>
                </c:pt>
                <c:pt idx="17">
                  <c:v>-6.2</c:v>
                </c:pt>
                <c:pt idx="18">
                  <c:v>-6.2</c:v>
                </c:pt>
                <c:pt idx="19">
                  <c:v>-6.2</c:v>
                </c:pt>
                <c:pt idx="20">
                  <c:v>-6.2</c:v>
                </c:pt>
                <c:pt idx="21">
                  <c:v>-6.2</c:v>
                </c:pt>
                <c:pt idx="22">
                  <c:v>-6.2</c:v>
                </c:pt>
                <c:pt idx="23">
                  <c:v>-6.2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Day of year (illustrative)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
          <c:min val="-16"/>
        </c:scaling>
        <c:delete val="0"/>
        <c:axPos val="l"/>
        <c:majorGridlines>
          <c:spPr>
            <a:ln w="6350" cap="flat">
              <a:solidFill>
                <a:srgbClr val="E3E8EE"/>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σ⁰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soil moisture is estimated from microwave satellites, from the physics of the dielectric constant to the operational algorithms of SMAP, SMOS, Sentinel-1 and NISAR. It is built from two documents: the review by Karthikeyan, Pan, Wanders, Nagesh Kumar and Wood (2017) and the NISAR Level-3 Soil Moisture Algorithm Theoretical Basis Document (JPL, 2023). The last two slides are a method-selection matrix and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chain on one slide. Water in soil raises the dielectric constant. That lowers microwave emission (passive) and raises backscatter (active). Roughness, vegetation and temperature also change the signal, so a model is inverted to separate them. The output is the dielectric constant, which a dielectric mixing model converts to volumetric soil moisture of the top ~5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physical basis: the dielectric contrast between water and dry soil, how frequency controls sensing depth and vegetation penetration, and how passive and active systems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Soil moisture links the water, energy and carbon cycles. In agriculture it drives drought declaration, irrigation scheduling, yield models and crop insurance. Microwaves are used because the dielectric constant of water (~80) is far higher than that of dry soil (~3–5), the signal works day and night through clouds, and the atmosphere has little effect at low frequencies. The limitation is that only the top few centimetres are sensed.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the Topp (1980) empirical equation. As volumetric soil moisture rises from 0 to 0.5 m³/m³, the real part of the dielectric constant rises from about 3 to about 35. The imaginary part (loss) is small at L, C and X band, so retrievals use the real part. Texture, bulk density, temperature, frequency and salinity also affect it, which is why physically based models such as Dobson and Mironov are used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frequency means longer wavelength, deeper sensing depth, better penetration of vegetation and less atmospheric effect. The trade-off is resolution: a radiometer needs a very large antenna at L-band, so pixels are ~40 km. L-band radiometers also use the protected 1400–1427 MHz band, though RFI still occurs. NISAR flies L-band (NASA) and S-band (ISRO).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radiometers measure natural emission as brightness temperature. They are accurate (~0.04 m³/m³) but coarse. Active radars measure the backscatter of their own pulse. SAR gives fine resolution but is more sensitive to roughness and vegetation structure, so accuracy is typically ~0.06 m³/m³. Emissivity and reflectivity are linked by e = 1 − r, which is the basis of active–passive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passive and active algorithms end with a dielectric mixing model that converts ε′ to soil moisture. Topp is empirical and texture-independent; Dobson needs texture, density, temperature and frequency; Mironov is used by SMAP and the NISAR time-series algorithm. For a smooth surface, Fresnel equations give reflectivity from ε′ and incidence angle, and emissivity is 1 −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passive microwave retrieval: how brightness temperature is modelled for bare and vegetated soil, and how algorithms such as SMAP's single channel algorithm and SMOS's L-MEB invert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computes smooth-soil emissivity from ε′ with Fresnel equations. Step 2 corrects for roughness with the Wang and Choudhury (1981) h–Q model; roughness increases emissivity and reduces sensitivity to soil moisture. SMAP uses a land-cover dependent h with Q = 0. Step 3 needs the effective surface temperature, taken from thermal infrared, the 37 GHz V-pol channel, or a weather model. At L-band the atmosphere is nearly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zero-order radiative transfer model (Mo et al. 1982) used by almost every passive algorithm. The signal has three parts: soil emission weakened by the canopy, upward canopy emission, and downward canopy emission reflected by the soil and weakened again. The transmissivity γ depends on vegetation optical depth τ, which is linked to vegetation water content through τ = b·VWC (Jackson and Schmugge 1991). VWC usually comes from NDVI. Above roughly 5 kg/m² of VWC the soil signal is too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passive algorithms run a forward model: guess soil moisture, compute ε′, emissivity, add roughness and vegetation, model T_B, compare with the observed T_B, and update the guess until the cost function is minimum. Some algorithms also solve for τ (and temperature). The simpler inverse approach (SMAP's SCA) inverts the equations directly at one polarisation.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passive algorithms. They differ mainly in what they retrieve. SCA retrieves only soil moisture and takes τ from NDVI. DCA, LPRM and the two-parameter L-MEB retrieve soil moisture and τ together using multiple channels or angles. Karthikeyan et al. note that SMAP's simple SCA, with a design hardened against RFI, performed better than more complex schemes.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of the Karthikeyan et al. 2017 review. It sorts passive retrieval research by year into branches: dielectric mixing models, surface temperature, concept development, vegetation effects, atmospheric effects and roughness effects. Use it to remember the milestones: h–Q roughness (1981), τ-ω (1982), Dobson (1985), SCA (1989), L-MEB (2007), LPRM (2008), the SMOS algorithm (2012) and the SMAP handbook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radar-based retrieval, which is what matters for field-scale agriculture and for NISAR, Sentinel-1 and EOS-04.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vegetated field, total backscatter is the soil surface term attenuated twice by the canopy, plus vegetation volume scattering, plus soil–vegetation interaction (double bounce). Soil moisture only enters through the dielectric constant of the soil term. Roughness, vegetation and the sensor geometry all change σ⁰, so the retrieval must separate them. Co-polarised channels carry more soil information; cross-polarised HV is dominated by vegetation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groups active models into four classes. Physical models solve electromagnetic scattering. Semi-empirical models simplify physics using field data. Empirical models fit a local regression. Change detection uses a time series and assumes roughness and vegetation change slowly. For vegetated crops, any bare-soil model is combined with a vegetation model such as the water cloud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Integral Equation Model (Fung et al. 1992) simulates backscatter from a randomly rough bare surface given ε′, rms height, correlation length, frequency and angle. It is complex, so in practice it is run forward to build a look-up table or train a regression or neural network, and then inverted. NISAR uses numerical solutions of Maxwell's equations in 3D (NMM3D) for 200 roughness and permittivity cases, stored as interpolation tables accurate to 0.2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Oh model uses ratios of polarisations: the co-pol ratio p and cross-pol ratio q depend on roughness ks and the nadir Fresnel reflectivity R0, so multi-pol data give both soil moisture and roughness. The Dubois model uses HH and VV with ε′, angle, ks and wavelength and is valid when NDVI is below about 0.4. Empirical models fit a linear relation between σ⁰ in dB and soil moisture, but the coefficients change from site to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 cloud model (Attema and Ulaby 1978) treats the canopy as a cloud of water droplets. Total backscatter equals vegetation backscatter plus soil backscatter attenuated twice through the canopy. The interaction term is neglected for co-polarisation. V1 and V2 are vegetation descriptors such as VWC, LAI or NDVI. A, B, C and D are fitted for each crop and site. After removing the vegetation term, soil backscatter is inverted linearly for soil moisture, or with IEM or 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methodology of Indian field studies. SAR data are calibrated to σ⁰, speckle filtered and terrain corrected. Optical data give NDVI or LAI for the vegetation descriptors. Field data give soil moisture and vegetation water content for calibration and validation. The model is calibrated, the vegetation term removed, soil backscatter inverted, and the map validated with R, RMSE and ubRMSE.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roughness and vegetation change more slowly than soil moisture, changes in backscatter over time are caused by soil moisture. The TU Wien method (Wagner et al. 1999) scales each observation between the driest and wettest backscatter ever recorded for that pixel at a reference angle, giving relative wetness from 0 to 100%. It is used for ASCAT (WARP) and the Copernicus Sentinel-1 1 km product. Ratio methods such as the alpha approximation are used in NISAR's time-series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of the review groups active research into characterisation of soil moisture, roughness and vegetation; physical models; semi-empirical models; empirical models; and change detection. Key milestones: water cloud model (1978), IEM (1992), Oh (1992), Dubois (1995), TU Wien change detection (1999), AIEM (2003), WARP for ASCAT (2007–2009), and the Sentinel-1 water cloud and IEM couplings after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Radiometers are accurate but coarse; radars are fine but noisy. Fusion uses the fine radar pattern to disaggregate the coarse radiometer or model soil moisture. SMAP was designed with a 36 km radiometer and a 3 km radar to give a 9 km product; after the radar failed in July 2015, Sentinel-1 was used instead to give 3 km and 1 km products. NISAR's multiscale fusion algorithm applies the same idea at 200 m. Optical and thermal downscaling (e.g. DISPATCH, triangle method) is an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is based on the NISAR Level-3 soil moisture algorithm document. It is the most likely area for ISRO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NISAR is a joint NASA and ISRO mission. NASA provided the L-band SAR and ISRO provided the S-band SAR, the spacecraft bus and the GSLV launch. It launched on 30 July 2025 from Sriharikota. Its 12 m reflector and SweepSAR technique give a 240 km swath with high resolution and a 12-day repeat. Dual-pol HH and HV is collected globally, quad-pol over selected parts of India and the USA. ISRO specified India agriculture and coastal targets, including S-band.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NISAR Level-3 soil moisture product gives 200 m soil moisture on EASE-Grid 2.0, on average twice every 12 days, with a 72-hour latency. The accuracy goal is 0.06 m³/m³ where vegetation water content is below 5 kg/m². Urban areas, permanent snow and ice, and permanent water get no retrieval. Dense vegetation is retrieved but flagged. Heavy rain, frozen ground and snow skip retrieval. Three algorithms run side by side in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PMI inverts forward scattering models stored as look-up 'data cubes' with three axes: rms height s, dielectric constant ε′ and vegetation water content. There are cubes for nine cover types including corn, wheat, soybean, grass and shrub (used for cotton). VWC is taken from ancillary data or NISAR HV, which selects a slice of the cube. Roughness is assumed constant through a short time series while ε′ is solved for each date by least squares; ε′ is then converted to soil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co-pol measurement cannot separate roughness and ε′. Because roughness changes slowly, a time series of N dates has N + 1 unknowns (N ε′ values and one s) and 2N observations with dual co-pol, so the problem becomes well-posed. Monte Carlo simulations show much lower errors for the time-series approach than the snapshot approach. The table summarises validation results reported in the NISAR algorithm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time-series ratio method assumes vegetation attenuated surface scattering dominates and that roughness and vegetation stay nearly constant between two acquisitions. With the small perturbation model, backscatter equals a roughness term times the squared alpha coefficient, which depends only on ε′ and angle. The ratio of two dates therefore cancels roughness. N dates give N − 1 ratios, which is underdetermined, so bounds on alpha from a SMAP soil-moisture climatology are added. Alpha is then converted to soil moisture with the Mironov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fusion algorithm assumes soil moisture is linear in co-pol backscatter in dB. At the 9 km scale, a time series of ECMWF or SMAP soil moisture against aggregated NISAR HH gives the sensitivity β. At 200 m, coarse soil moisture is adjusted by β times the HH anomaly, plus a heterogeneity term from HV that captures sub-pixel vegetation and roughness differences, scaled by Γ. It needs no ancillary data once β is known. Aggregating 10 m data to 200 m reduces speckle about twenty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launch the fusion algorithm was tested with ALOS PALSAR-2 L-band data over North India (Punjab, Haryana, Uttarakhand, Uttar Pradesh, Madhya Pradesh), Central India (Hoshangabad, MP), Oklahoma, California and Manitoba. ERA5 9 km soil moisture was disaggregated to 200 m, showing field-scale patterns not visible in the coarse input. Over 13 fields near Ludhiana in Punjab the ubRMSE was 0.037 m³/m³, within the 0.06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is the Level-2 GCOV product: radiometrically terrain-corrected backscatter at about 10 m. A hybrid spatial filter removes outliers from water, urban structures and speckle, and the data are averaged to the 200 m EASE-Grid 2.0. Ancillary data provide flags and model inputs. Pixels with snow, rain, frozen ground, water or urban cover skip retrieval; dense vegetation and steep terrain are retrieved with a quality flag. The three algorithms then write soil moisture, uncertainty and flags into an HDF5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summarises every approach: what it needs, its strength, its limitation and the scale it works at. In an interview, choose the method by the question: global and accurate means passive; field scale over crops means SAR with a water cloud model or data cubes; operational time series means change detection or time-series ratio; and fine plus accurate means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these answers aloud. Each is one or two sentences. If asked to go deeper, use the slide on that topic. The bottom strip lists the five documents to read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Microwave soil moisture estimation  ·  ISRO interview prep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2-1.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Microwave Soil Moisture Estimation in Agriculture</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Physics, passive and active retrieval models, and NISAR's algorithms — the methodology you need for the ISRO interview</a:t>
            </a:r>
            <a:endParaRPr lang="en-US" sz="1800" dirty="0"/>
          </a:p>
        </p:txBody>
      </p:sp>
      <p:sp>
        <p:nvSpPr>
          <p:cNvPr id="4" name="glow"/>
          <p:cNvSpPr/>
          <p:nvPr/>
        </p:nvSpPr>
        <p:spPr>
          <a:xfrm>
            <a:off x="8229600" y="1005840"/>
            <a:ext cx="3291840" cy="3291840"/>
          </a:xfrm>
          <a:prstGeom prst="ellipse">
            <a:avLst/>
          </a:prstGeom>
          <a:solidFill>
            <a:schemeClr val="accent2">
              <a:alpha val="45000"/>
            </a:schemeClr>
          </a:solidFill>
          <a:ln/>
        </p:spPr>
      </p:sp>
      <p:sp>
        <p:nvSpPr>
          <p:cNvPr id="5" name="icon circle"/>
          <p:cNvSpPr/>
          <p:nvPr/>
        </p:nvSpPr>
        <p:spPr>
          <a:xfrm>
            <a:off x="8915400" y="1691640"/>
            <a:ext cx="1920240" cy="1920240"/>
          </a:xfrm>
          <a:prstGeom prst="ellipse">
            <a:avLst/>
          </a:prstGeom>
          <a:solidFill>
            <a:schemeClr val="accent2"/>
          </a:solidFill>
          <a:ln/>
        </p:spPr>
      </p:sp>
      <p:pic>
        <p:nvPicPr>
          <p:cNvPr id="6" name="Image 0" descr="Satellite icon">    </p:cNvPr>
          <p:cNvPicPr>
            <a:picLocks noChangeAspect="1"/>
          </p:cNvPicPr>
          <p:nvPr/>
        </p:nvPicPr>
        <p:blipFill>
          <a:blip r:embed="rId1"/>
          <a:stretch>
            <a:fillRect/>
          </a:stretch>
        </p:blipFill>
        <p:spPr>
          <a:xfrm>
            <a:off x="9414662" y="2190902"/>
            <a:ext cx="921715" cy="921715"/>
          </a:xfrm>
          <a:prstGeom prst="rect">
            <a:avLst/>
          </a:prstGeom>
        </p:spPr>
      </p:pic>
      <p:sp>
        <p:nvSpPr>
          <p:cNvPr id="7" name="Text 4"/>
          <p:cNvSpPr txBox="1"/>
          <p:nvPr/>
        </p:nvSpPr>
        <p:spPr>
          <a:xfrm>
            <a:off x="7772400" y="4572000"/>
            <a:ext cx="201168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0.04 m³/m³</a:t>
            </a:r>
            <a:endParaRPr lang="en-US" sz="2400" dirty="0"/>
          </a:p>
        </p:txBody>
      </p:sp>
      <p:sp>
        <p:nvSpPr>
          <p:cNvPr id="8" name="Text 5"/>
          <p:cNvSpPr txBox="1"/>
          <p:nvPr/>
        </p:nvSpPr>
        <p:spPr>
          <a:xfrm>
            <a:off x="7772400" y="5120640"/>
            <a:ext cx="2011680" cy="548640"/>
          </a:xfrm>
          <a:prstGeom prst="rect">
            <a:avLst/>
          </a:prstGeom>
          <a:noFill/>
          <a:ln/>
        </p:spPr>
        <p:txBody>
          <a:bodyPr wrap="square" lIns="0" tIns="0" rIns="0" bIns="0" rtlCol="0" anchor="ctr"/>
          <a:lstStyle/>
          <a:p>
            <a:pPr algn="ctr" indent="0" marL="0">
              <a:buNone/>
            </a:pPr>
            <a:r>
              <a:rPr lang="en-US" sz="1100" dirty="0">
                <a:solidFill>
                  <a:schemeClr val="bg2"/>
                </a:solidFill>
              </a:rPr>
              <a:t>SMAP / SMOS accuracy (~40 km)</a:t>
            </a:r>
            <a:endParaRPr lang="en-US" sz="1100" dirty="0"/>
          </a:p>
        </p:txBody>
      </p:sp>
      <p:sp>
        <p:nvSpPr>
          <p:cNvPr id="9" name="Text 6"/>
          <p:cNvSpPr txBox="1"/>
          <p:nvPr/>
        </p:nvSpPr>
        <p:spPr>
          <a:xfrm>
            <a:off x="9875520" y="4572000"/>
            <a:ext cx="201168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200 m</a:t>
            </a:r>
            <a:endParaRPr lang="en-US" sz="2400" dirty="0"/>
          </a:p>
        </p:txBody>
      </p:sp>
      <p:sp>
        <p:nvSpPr>
          <p:cNvPr id="10" name="Text 7"/>
          <p:cNvSpPr txBox="1"/>
          <p:nvPr/>
        </p:nvSpPr>
        <p:spPr>
          <a:xfrm>
            <a:off x="9875520" y="5120640"/>
            <a:ext cx="2011680" cy="548640"/>
          </a:xfrm>
          <a:prstGeom prst="rect">
            <a:avLst/>
          </a:prstGeom>
          <a:noFill/>
          <a:ln/>
        </p:spPr>
        <p:txBody>
          <a:bodyPr wrap="square" lIns="0" tIns="0" rIns="0" bIns="0" rtlCol="0" anchor="ctr"/>
          <a:lstStyle/>
          <a:p>
            <a:pPr algn="ctr" indent="0" marL="0">
              <a:buNone/>
            </a:pPr>
            <a:r>
              <a:rPr lang="en-US" sz="1100" dirty="0">
                <a:solidFill>
                  <a:schemeClr val="bg2"/>
                </a:solidFill>
              </a:rPr>
              <a:t>NISAR soil moisture (goal 0.06)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a microwave signal becomes a soil moisture map</a:t>
            </a:r>
            <a:endParaRPr lang="en-US" sz="3200" dirty="0"/>
          </a:p>
        </p:txBody>
      </p:sp>
      <p:sp>
        <p:nvSpPr>
          <p:cNvPr id="4" name="diagram box"/>
          <p:cNvSpPr/>
          <p:nvPr/>
        </p:nvSpPr>
        <p:spPr>
          <a:xfrm>
            <a:off x="548640" y="1417320"/>
            <a:ext cx="1691640" cy="1371600"/>
          </a:xfrm>
          <a:prstGeom prst="roundRect">
            <a:avLst>
              <a:gd name="adj" fmla="val 5333"/>
            </a:avLst>
          </a:prstGeom>
          <a:solidFill>
            <a:schemeClr val="accent2"/>
          </a:solidFill>
          <a:ln/>
        </p:spPr>
      </p:sp>
      <p:sp>
        <p:nvSpPr>
          <p:cNvPr id="5" name="Text 2"/>
          <p:cNvSpPr txBox="1"/>
          <p:nvPr/>
        </p:nvSpPr>
        <p:spPr>
          <a:xfrm>
            <a:off x="54864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Soil water</a:t>
            </a:r>
            <a:endParaRPr lang="en-US" sz="1300" dirty="0"/>
          </a:p>
          <a:p>
            <a:pPr algn="ctr" indent="0" marL="0">
              <a:buNone/>
            </a:pPr>
            <a:r>
              <a:rPr lang="en-US" sz="1300" dirty="0">
                <a:solidFill>
                  <a:schemeClr val="bg1"/>
                </a:solidFill>
              </a:rPr>
              <a:t>ε′ rises from ~3 to 25+</a:t>
            </a:r>
            <a:endParaRPr lang="en-US" sz="1300" dirty="0"/>
          </a:p>
        </p:txBody>
      </p:sp>
      <p:sp>
        <p:nvSpPr>
          <p:cNvPr id="6" name="arrow"/>
          <p:cNvSpPr/>
          <p:nvPr/>
        </p:nvSpPr>
        <p:spPr>
          <a:xfrm>
            <a:off x="2249424" y="2103120"/>
            <a:ext cx="164592" cy="0"/>
          </a:xfrm>
          <a:prstGeom prst="line">
            <a:avLst/>
          </a:prstGeom>
          <a:noFill/>
          <a:ln w="31750">
            <a:solidFill>
              <a:srgbClr val="173F5F"/>
            </a:solidFill>
            <a:prstDash val="solid"/>
            <a:tailEnd type="triangle"/>
          </a:ln>
        </p:spPr>
      </p:sp>
      <p:sp>
        <p:nvSpPr>
          <p:cNvPr id="7" name="diagram box"/>
          <p:cNvSpPr/>
          <p:nvPr/>
        </p:nvSpPr>
        <p:spPr>
          <a:xfrm>
            <a:off x="2423160" y="1417320"/>
            <a:ext cx="1691640" cy="1371600"/>
          </a:xfrm>
          <a:prstGeom prst="roundRect">
            <a:avLst>
              <a:gd name="adj" fmla="val 5333"/>
            </a:avLst>
          </a:prstGeom>
          <a:solidFill>
            <a:schemeClr val="accent5"/>
          </a:solidFill>
          <a:ln/>
        </p:spPr>
      </p:sp>
      <p:sp>
        <p:nvSpPr>
          <p:cNvPr id="8" name="Text 5"/>
          <p:cNvSpPr txBox="1"/>
          <p:nvPr/>
        </p:nvSpPr>
        <p:spPr>
          <a:xfrm>
            <a:off x="242316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Microwave signal</a:t>
            </a:r>
            <a:endParaRPr lang="en-US" sz="1300" dirty="0"/>
          </a:p>
          <a:p>
            <a:pPr algn="ctr" indent="0" marL="0">
              <a:buNone/>
            </a:pPr>
            <a:r>
              <a:rPr lang="en-US" sz="1300" dirty="0">
                <a:solidFill>
                  <a:schemeClr val="bg1"/>
                </a:solidFill>
              </a:rPr>
              <a:t>T</a:t>
            </a:r>
            <a:r>
              <a:rPr lang="en-US" sz="1300" baseline="-40000" dirty="0">
                <a:solidFill>
                  <a:schemeClr val="bg1"/>
                </a:solidFill>
              </a:rPr>
              <a:t>B</a:t>
            </a:r>
            <a:r>
              <a:rPr lang="en-US" sz="1300" dirty="0">
                <a:solidFill>
                  <a:schemeClr val="bg1"/>
                </a:solidFill>
              </a:rPr>
              <a:t> falls · σ⁰ rises</a:t>
            </a:r>
            <a:endParaRPr lang="en-US" sz="1300" dirty="0"/>
          </a:p>
        </p:txBody>
      </p:sp>
      <p:sp>
        <p:nvSpPr>
          <p:cNvPr id="9" name="arrow"/>
          <p:cNvSpPr/>
          <p:nvPr/>
        </p:nvSpPr>
        <p:spPr>
          <a:xfrm>
            <a:off x="4123944" y="2103120"/>
            <a:ext cx="164592" cy="0"/>
          </a:xfrm>
          <a:prstGeom prst="line">
            <a:avLst/>
          </a:prstGeom>
          <a:noFill/>
          <a:ln w="31750">
            <a:solidFill>
              <a:srgbClr val="173F5F"/>
            </a:solidFill>
            <a:prstDash val="solid"/>
            <a:tailEnd type="triangle"/>
          </a:ln>
        </p:spPr>
      </p:sp>
      <p:sp>
        <p:nvSpPr>
          <p:cNvPr id="10" name="diagram box"/>
          <p:cNvSpPr/>
          <p:nvPr/>
        </p:nvSpPr>
        <p:spPr>
          <a:xfrm>
            <a:off x="4297680" y="1417320"/>
            <a:ext cx="1691640" cy="1371600"/>
          </a:xfrm>
          <a:prstGeom prst="roundRect">
            <a:avLst>
              <a:gd name="adj" fmla="val 5333"/>
            </a:avLst>
          </a:prstGeom>
          <a:solidFill>
            <a:schemeClr val="accent1"/>
          </a:solidFill>
          <a:ln/>
        </p:spPr>
      </p:sp>
      <p:sp>
        <p:nvSpPr>
          <p:cNvPr id="11" name="Text 8"/>
          <p:cNvSpPr txBox="1"/>
          <p:nvPr/>
        </p:nvSpPr>
        <p:spPr>
          <a:xfrm>
            <a:off x="429768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Remove nuisances</a:t>
            </a:r>
            <a:endParaRPr lang="en-US" sz="1300" dirty="0"/>
          </a:p>
          <a:p>
            <a:pPr algn="ctr" indent="0" marL="0">
              <a:buNone/>
            </a:pPr>
            <a:r>
              <a:rPr lang="en-US" sz="1300" dirty="0">
                <a:solidFill>
                  <a:schemeClr val="bg1"/>
                </a:solidFill>
              </a:rPr>
              <a:t>roughness · vegetation · T</a:t>
            </a:r>
            <a:r>
              <a:rPr lang="en-US" sz="1300" baseline="-40000" dirty="0">
                <a:solidFill>
                  <a:schemeClr val="bg1"/>
                </a:solidFill>
              </a:rPr>
              <a:t>s</a:t>
            </a:r>
            <a:endParaRPr lang="en-US" sz="1300" dirty="0"/>
          </a:p>
        </p:txBody>
      </p:sp>
      <p:sp>
        <p:nvSpPr>
          <p:cNvPr id="12" name="arrow"/>
          <p:cNvSpPr/>
          <p:nvPr/>
        </p:nvSpPr>
        <p:spPr>
          <a:xfrm>
            <a:off x="5998464" y="2103120"/>
            <a:ext cx="164592" cy="0"/>
          </a:xfrm>
          <a:prstGeom prst="line">
            <a:avLst/>
          </a:prstGeom>
          <a:noFill/>
          <a:ln w="31750">
            <a:solidFill>
              <a:srgbClr val="173F5F"/>
            </a:solidFill>
            <a:prstDash val="solid"/>
            <a:tailEnd type="triangle"/>
          </a:ln>
        </p:spPr>
      </p:sp>
      <p:sp>
        <p:nvSpPr>
          <p:cNvPr id="13" name="diagram box"/>
          <p:cNvSpPr/>
          <p:nvPr/>
        </p:nvSpPr>
        <p:spPr>
          <a:xfrm>
            <a:off x="6172200" y="1417320"/>
            <a:ext cx="1691640" cy="1371600"/>
          </a:xfrm>
          <a:prstGeom prst="roundRect">
            <a:avLst>
              <a:gd name="adj" fmla="val 5333"/>
            </a:avLst>
          </a:prstGeom>
          <a:solidFill>
            <a:schemeClr val="accent4"/>
          </a:solidFill>
          <a:ln/>
        </p:spPr>
      </p:sp>
      <p:sp>
        <p:nvSpPr>
          <p:cNvPr id="14" name="Text 11"/>
          <p:cNvSpPr txBox="1"/>
          <p:nvPr/>
        </p:nvSpPr>
        <p:spPr>
          <a:xfrm>
            <a:off x="617220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Invert a model</a:t>
            </a:r>
            <a:endParaRPr lang="en-US" sz="1300" dirty="0"/>
          </a:p>
          <a:p>
            <a:pPr algn="ctr" indent="0" marL="0">
              <a:buNone/>
            </a:pPr>
            <a:r>
              <a:rPr lang="en-US" sz="1300" dirty="0">
                <a:solidFill>
                  <a:schemeClr val="bg1"/>
                </a:solidFill>
              </a:rPr>
              <a:t>τ-ω · IEM · WCM · change detection</a:t>
            </a:r>
            <a:endParaRPr lang="en-US" sz="1300" dirty="0"/>
          </a:p>
        </p:txBody>
      </p:sp>
      <p:sp>
        <p:nvSpPr>
          <p:cNvPr id="15" name="arrow"/>
          <p:cNvSpPr/>
          <p:nvPr/>
        </p:nvSpPr>
        <p:spPr>
          <a:xfrm>
            <a:off x="7872984" y="2103120"/>
            <a:ext cx="164592" cy="0"/>
          </a:xfrm>
          <a:prstGeom prst="line">
            <a:avLst/>
          </a:prstGeom>
          <a:noFill/>
          <a:ln w="31750">
            <a:solidFill>
              <a:srgbClr val="173F5F"/>
            </a:solidFill>
            <a:prstDash val="solid"/>
            <a:tailEnd type="triangle"/>
          </a:ln>
        </p:spPr>
      </p:sp>
      <p:sp>
        <p:nvSpPr>
          <p:cNvPr id="16" name="diagram box"/>
          <p:cNvSpPr/>
          <p:nvPr/>
        </p:nvSpPr>
        <p:spPr>
          <a:xfrm>
            <a:off x="8046720" y="1417320"/>
            <a:ext cx="1691640" cy="1371600"/>
          </a:xfrm>
          <a:prstGeom prst="roundRect">
            <a:avLst>
              <a:gd name="adj" fmla="val 5333"/>
            </a:avLst>
          </a:prstGeom>
          <a:solidFill>
            <a:schemeClr val="accent6"/>
          </a:solidFill>
          <a:ln/>
        </p:spPr>
      </p:sp>
      <p:sp>
        <p:nvSpPr>
          <p:cNvPr id="17" name="Text 14"/>
          <p:cNvSpPr txBox="1"/>
          <p:nvPr/>
        </p:nvSpPr>
        <p:spPr>
          <a:xfrm>
            <a:off x="804672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Dielectric model</a:t>
            </a:r>
            <a:endParaRPr lang="en-US" sz="1300" dirty="0"/>
          </a:p>
          <a:p>
            <a:pPr algn="ctr" indent="0" marL="0">
              <a:buNone/>
            </a:pPr>
            <a:r>
              <a:rPr lang="en-US" sz="1300" dirty="0">
                <a:solidFill>
                  <a:schemeClr val="bg1"/>
                </a:solidFill>
              </a:rPr>
              <a:t>ε′ → m</a:t>
            </a:r>
            <a:r>
              <a:rPr lang="en-US" sz="1300" baseline="-40000" dirty="0">
                <a:solidFill>
                  <a:schemeClr val="bg1"/>
                </a:solidFill>
              </a:rPr>
              <a:t>v</a:t>
            </a:r>
            <a:r>
              <a:rPr lang="en-US" sz="1300" dirty="0">
                <a:solidFill>
                  <a:schemeClr val="bg1"/>
                </a:solidFill>
              </a:rPr>
              <a:t> (Dobson, Mironov)</a:t>
            </a:r>
            <a:endParaRPr lang="en-US" sz="1300" dirty="0"/>
          </a:p>
        </p:txBody>
      </p:sp>
      <p:sp>
        <p:nvSpPr>
          <p:cNvPr id="18" name="arrow"/>
          <p:cNvSpPr/>
          <p:nvPr/>
        </p:nvSpPr>
        <p:spPr>
          <a:xfrm>
            <a:off x="9747504" y="2103120"/>
            <a:ext cx="164592" cy="0"/>
          </a:xfrm>
          <a:prstGeom prst="line">
            <a:avLst/>
          </a:prstGeom>
          <a:noFill/>
          <a:ln w="31750">
            <a:solidFill>
              <a:srgbClr val="173F5F"/>
            </a:solidFill>
            <a:prstDash val="solid"/>
            <a:tailEnd type="triangle"/>
          </a:ln>
        </p:spPr>
      </p:sp>
      <p:sp>
        <p:nvSpPr>
          <p:cNvPr id="19" name="diagram box"/>
          <p:cNvSpPr/>
          <p:nvPr/>
        </p:nvSpPr>
        <p:spPr>
          <a:xfrm>
            <a:off x="9921240" y="1417320"/>
            <a:ext cx="1691640" cy="1371600"/>
          </a:xfrm>
          <a:prstGeom prst="roundRect">
            <a:avLst>
              <a:gd name="adj" fmla="val 5333"/>
            </a:avLst>
          </a:prstGeom>
          <a:solidFill>
            <a:schemeClr val="tx2"/>
          </a:solidFill>
          <a:ln/>
        </p:spPr>
      </p:sp>
      <p:sp>
        <p:nvSpPr>
          <p:cNvPr id="20" name="Text 17"/>
          <p:cNvSpPr txBox="1"/>
          <p:nvPr/>
        </p:nvSpPr>
        <p:spPr>
          <a:xfrm>
            <a:off x="9921240" y="141732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Soil moisture</a:t>
            </a:r>
            <a:endParaRPr lang="en-US" sz="1300" dirty="0"/>
          </a:p>
          <a:p>
            <a:pPr algn="ctr" indent="0" marL="0">
              <a:buNone/>
            </a:pPr>
            <a:r>
              <a:rPr lang="en-US" sz="1300" dirty="0">
                <a:solidFill>
                  <a:schemeClr val="bg1"/>
                </a:solidFill>
              </a:rPr>
              <a:t>top ~5 cm, m³/m³</a:t>
            </a:r>
            <a:endParaRPr lang="en-US" sz="1300" dirty="0"/>
          </a:p>
        </p:txBody>
      </p:sp>
      <p:sp>
        <p:nvSpPr>
          <p:cNvPr id="21" name="card"/>
          <p:cNvSpPr/>
          <p:nvPr/>
        </p:nvSpPr>
        <p:spPr>
          <a:xfrm>
            <a:off x="548640" y="3108960"/>
            <a:ext cx="3566160" cy="3063240"/>
          </a:xfrm>
          <a:prstGeom prst="roundRect">
            <a:avLst>
              <a:gd name="adj" fmla="val 2388"/>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731520" y="3264408"/>
            <a:ext cx="420624" cy="420624"/>
          </a:xfrm>
          <a:prstGeom prst="ellipse">
            <a:avLst/>
          </a:prstGeom>
          <a:solidFill>
            <a:schemeClr val="accent2"/>
          </a:solidFill>
          <a:ln/>
        </p:spPr>
      </p:sp>
      <p:pic>
        <p:nvPicPr>
          <p:cNvPr id="23" name="Image 0" descr="SatelliteDish icon">    </p:cNvPr>
          <p:cNvPicPr>
            <a:picLocks noChangeAspect="1"/>
          </p:cNvPicPr>
          <p:nvPr/>
        </p:nvPicPr>
        <p:blipFill>
          <a:blip r:embed="rId1"/>
          <a:stretch>
            <a:fillRect/>
          </a:stretch>
        </p:blipFill>
        <p:spPr>
          <a:xfrm>
            <a:off x="840882" y="3373770"/>
            <a:ext cx="201900" cy="201900"/>
          </a:xfrm>
          <a:prstGeom prst="rect">
            <a:avLst/>
          </a:prstGeom>
        </p:spPr>
      </p:pic>
      <p:sp>
        <p:nvSpPr>
          <p:cNvPr id="24" name="Text 20"/>
          <p:cNvSpPr txBox="1"/>
          <p:nvPr/>
        </p:nvSpPr>
        <p:spPr>
          <a:xfrm>
            <a:off x="1261872" y="324612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What the sensor measures</a:t>
            </a:r>
            <a:endParaRPr lang="en-US" sz="1600" dirty="0"/>
          </a:p>
        </p:txBody>
      </p:sp>
      <p:sp>
        <p:nvSpPr>
          <p:cNvPr id="25" name="Text 21"/>
          <p:cNvSpPr txBox="1"/>
          <p:nvPr/>
        </p:nvSpPr>
        <p:spPr>
          <a:xfrm>
            <a:off x="731520" y="3794760"/>
            <a:ext cx="3200400" cy="228600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Passive</a:t>
            </a:r>
            <a:r>
              <a:rPr lang="en-US" sz="1300" dirty="0">
                <a:solidFill>
                  <a:schemeClr val="tx1"/>
                </a:solidFill>
              </a:rPr>
              <a:t> radiometer: brightness temperature T</a:t>
            </a:r>
            <a:r>
              <a:rPr lang="en-US" sz="1300" baseline="-40000" dirty="0">
                <a:solidFill>
                  <a:schemeClr val="tx1"/>
                </a:solidFill>
              </a:rPr>
              <a:t>B</a:t>
            </a:r>
            <a:r>
              <a:rPr lang="en-US" sz="1300" dirty="0">
                <a:solidFill>
                  <a:schemeClr val="tx1"/>
                </a:solidFill>
              </a:rPr>
              <a:t> (K)</a:t>
            </a:r>
            <a:endParaRPr lang="en-US" sz="1300" dirty="0"/>
          </a:p>
          <a:p>
            <a:pPr marL="177800" indent="-177800">
              <a:spcAft>
                <a:spcPts val="400"/>
              </a:spcAft>
              <a:buSzPct val="100000"/>
              <a:buChar char="•"/>
            </a:pPr>
            <a:r>
              <a:rPr lang="en-US" sz="1300" b="1" dirty="0">
                <a:solidFill>
                  <a:schemeClr val="tx1"/>
                </a:solidFill>
              </a:rPr>
              <a:t>Active</a:t>
            </a:r>
            <a:r>
              <a:rPr lang="en-US" sz="1300" dirty="0">
                <a:solidFill>
                  <a:schemeClr val="tx1"/>
                </a:solidFill>
              </a:rPr>
              <a:t> radar/SAR: backscatter coefficient σ⁰ (dB)</a:t>
            </a:r>
            <a:endParaRPr lang="en-US" sz="1300" dirty="0"/>
          </a:p>
          <a:p>
            <a:pPr marL="177800" indent="-177800">
              <a:spcAft>
                <a:spcPts val="400"/>
              </a:spcAft>
              <a:buSzPct val="100000"/>
              <a:buChar char="•"/>
            </a:pPr>
            <a:r>
              <a:rPr lang="en-US" sz="1300" dirty="0">
                <a:solidFill>
                  <a:schemeClr val="tx1"/>
                </a:solidFill>
              </a:rPr>
              <a:t>Moist soil looks </a:t>
            </a:r>
            <a:r>
              <a:rPr lang="en-US" sz="1300" i="1" dirty="0">
                <a:solidFill>
                  <a:schemeClr val="tx1"/>
                </a:solidFill>
              </a:rPr>
              <a:t>cooler</a:t>
            </a:r>
            <a:r>
              <a:rPr lang="en-US" sz="1300" dirty="0">
                <a:solidFill>
                  <a:schemeClr val="tx1"/>
                </a:solidFill>
              </a:rPr>
              <a:t> to a radiometer and </a:t>
            </a:r>
            <a:r>
              <a:rPr lang="en-US" sz="1300" i="1" dirty="0">
                <a:solidFill>
                  <a:schemeClr val="tx1"/>
                </a:solidFill>
              </a:rPr>
              <a:t>brighter</a:t>
            </a:r>
            <a:r>
              <a:rPr lang="en-US" sz="1300" dirty="0">
                <a:solidFill>
                  <a:schemeClr val="tx1"/>
                </a:solidFill>
              </a:rPr>
              <a:t> to a radar</a:t>
            </a:r>
            <a:endParaRPr lang="en-US" sz="1300" dirty="0"/>
          </a:p>
        </p:txBody>
      </p:sp>
      <p:sp>
        <p:nvSpPr>
          <p:cNvPr id="26" name="card"/>
          <p:cNvSpPr/>
          <p:nvPr/>
        </p:nvSpPr>
        <p:spPr>
          <a:xfrm>
            <a:off x="4315968" y="3108960"/>
            <a:ext cx="3566160" cy="3063240"/>
          </a:xfrm>
          <a:prstGeom prst="roundRect">
            <a:avLst>
              <a:gd name="adj" fmla="val 2388"/>
            </a:avLst>
          </a:prstGeom>
          <a:solidFill>
            <a:schemeClr val="bg2"/>
          </a:solidFill>
          <a:ln/>
          <a:effectLst>
            <a:outerShdw sx="100000" sy="100000" kx="0" ky="0" algn="bl" rotWithShape="0" blurRad="76200" dist="25400" dir="5400000">
              <a:srgbClr val="000000">
                <a:alpha val="14000"/>
              </a:srgbClr>
            </a:outerShdw>
          </a:effectLst>
        </p:spPr>
      </p:sp>
      <p:sp>
        <p:nvSpPr>
          <p:cNvPr id="27" name="icon circle"/>
          <p:cNvSpPr/>
          <p:nvPr/>
        </p:nvSpPr>
        <p:spPr>
          <a:xfrm>
            <a:off x="4498848" y="3264408"/>
            <a:ext cx="420624" cy="420624"/>
          </a:xfrm>
          <a:prstGeom prst="ellipse">
            <a:avLst/>
          </a:prstGeom>
          <a:solidFill>
            <a:schemeClr val="accent1"/>
          </a:solidFill>
          <a:ln/>
        </p:spPr>
      </p:sp>
      <p:pic>
        <p:nvPicPr>
          <p:cNvPr id="28" name="Image 1" descr="ExclamationTriangle icon">    </p:cNvPr>
          <p:cNvPicPr>
            <a:picLocks noChangeAspect="1"/>
          </p:cNvPicPr>
          <p:nvPr/>
        </p:nvPicPr>
        <p:blipFill>
          <a:blip r:embed="rId2"/>
          <a:stretch>
            <a:fillRect/>
          </a:stretch>
        </p:blipFill>
        <p:spPr>
          <a:xfrm>
            <a:off x="4608210" y="3373770"/>
            <a:ext cx="201900" cy="201900"/>
          </a:xfrm>
          <a:prstGeom prst="rect">
            <a:avLst/>
          </a:prstGeom>
        </p:spPr>
      </p:pic>
      <p:sp>
        <p:nvSpPr>
          <p:cNvPr id="29" name="Text 24"/>
          <p:cNvSpPr txBox="1"/>
          <p:nvPr/>
        </p:nvSpPr>
        <p:spPr>
          <a:xfrm>
            <a:off x="5029200" y="324612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What gets in the way</a:t>
            </a:r>
            <a:endParaRPr lang="en-US" sz="1600" dirty="0"/>
          </a:p>
        </p:txBody>
      </p:sp>
      <p:sp>
        <p:nvSpPr>
          <p:cNvPr id="30" name="Text 25"/>
          <p:cNvSpPr txBox="1"/>
          <p:nvPr/>
        </p:nvSpPr>
        <p:spPr>
          <a:xfrm>
            <a:off x="4498848" y="3794760"/>
            <a:ext cx="3200400" cy="22860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Surface roughness (h; rms height s, correlation length l)</a:t>
            </a:r>
            <a:endParaRPr lang="en-US" sz="1300" dirty="0"/>
          </a:p>
          <a:p>
            <a:pPr marL="177800" indent="-177800">
              <a:spcAft>
                <a:spcPts val="400"/>
              </a:spcAft>
              <a:buSzPct val="100000"/>
              <a:buChar char="•"/>
            </a:pPr>
            <a:r>
              <a:rPr lang="en-US" sz="1300" dirty="0">
                <a:solidFill>
                  <a:schemeClr val="tx1"/>
                </a:solidFill>
              </a:rPr>
              <a:t>Vegetation: optical depth τ, albedo ω, water content</a:t>
            </a:r>
            <a:endParaRPr lang="en-US" sz="1300" dirty="0"/>
          </a:p>
          <a:p>
            <a:pPr marL="177800" indent="-177800">
              <a:spcAft>
                <a:spcPts val="400"/>
              </a:spcAft>
              <a:buSzPct val="100000"/>
              <a:buChar char="•"/>
            </a:pPr>
            <a:r>
              <a:rPr lang="en-US" sz="1300" dirty="0">
                <a:solidFill>
                  <a:schemeClr val="tx1"/>
                </a:solidFill>
              </a:rPr>
              <a:t>Soil temperature, RFI, open water, snow, frozen soil</a:t>
            </a:r>
            <a:endParaRPr lang="en-US" sz="1300" dirty="0"/>
          </a:p>
          <a:p>
            <a:pPr marL="177800" indent="-177800">
              <a:spcAft>
                <a:spcPts val="400"/>
              </a:spcAft>
              <a:buSzPct val="100000"/>
              <a:buChar char="•"/>
            </a:pPr>
            <a:r>
              <a:rPr lang="en-US" sz="1300" dirty="0">
                <a:solidFill>
                  <a:schemeClr val="tx1"/>
                </a:solidFill>
              </a:rPr>
              <a:t>Speckle and terrain (radar)</a:t>
            </a:r>
            <a:endParaRPr lang="en-US" sz="1300" dirty="0"/>
          </a:p>
        </p:txBody>
      </p:sp>
      <p:sp>
        <p:nvSpPr>
          <p:cNvPr id="31" name="card"/>
          <p:cNvSpPr/>
          <p:nvPr/>
        </p:nvSpPr>
        <p:spPr>
          <a:xfrm>
            <a:off x="8083296" y="3108960"/>
            <a:ext cx="3557016" cy="3063240"/>
          </a:xfrm>
          <a:prstGeom prst="roundRect">
            <a:avLst>
              <a:gd name="adj" fmla="val 2388"/>
            </a:avLst>
          </a:prstGeom>
          <a:solidFill>
            <a:schemeClr val="bg2"/>
          </a:solidFill>
          <a:ln/>
          <a:effectLst>
            <a:outerShdw sx="100000" sy="100000" kx="0" ky="0" algn="bl" rotWithShape="0" blurRad="76200" dist="25400" dir="5400000">
              <a:srgbClr val="000000">
                <a:alpha val="14000"/>
              </a:srgbClr>
            </a:outerShdw>
          </a:effectLst>
        </p:spPr>
      </p:sp>
      <p:sp>
        <p:nvSpPr>
          <p:cNvPr id="32" name="icon circle"/>
          <p:cNvSpPr/>
          <p:nvPr/>
        </p:nvSpPr>
        <p:spPr>
          <a:xfrm>
            <a:off x="8266176" y="3264408"/>
            <a:ext cx="420624" cy="420624"/>
          </a:xfrm>
          <a:prstGeom prst="ellipse">
            <a:avLst/>
          </a:prstGeom>
          <a:solidFill>
            <a:schemeClr val="accent6"/>
          </a:solidFill>
          <a:ln/>
        </p:spPr>
      </p:sp>
      <p:pic>
        <p:nvPicPr>
          <p:cNvPr id="33" name="Image 2" descr="BookOpen icon">    </p:cNvPr>
          <p:cNvPicPr>
            <a:picLocks noChangeAspect="1"/>
          </p:cNvPicPr>
          <p:nvPr/>
        </p:nvPicPr>
        <p:blipFill>
          <a:blip r:embed="rId3"/>
          <a:stretch>
            <a:fillRect/>
          </a:stretch>
        </p:blipFill>
        <p:spPr>
          <a:xfrm>
            <a:off x="8375538" y="3373770"/>
            <a:ext cx="201900" cy="201900"/>
          </a:xfrm>
          <a:prstGeom prst="rect">
            <a:avLst/>
          </a:prstGeom>
        </p:spPr>
      </p:pic>
      <p:sp>
        <p:nvSpPr>
          <p:cNvPr id="34" name="Text 28"/>
          <p:cNvSpPr txBox="1"/>
          <p:nvPr/>
        </p:nvSpPr>
        <p:spPr>
          <a:xfrm>
            <a:off x="8796528" y="324612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Sources used</a:t>
            </a:r>
            <a:endParaRPr lang="en-US" sz="1600" dirty="0"/>
          </a:p>
        </p:txBody>
      </p:sp>
      <p:sp>
        <p:nvSpPr>
          <p:cNvPr id="35" name="Text 29"/>
          <p:cNvSpPr txBox="1"/>
          <p:nvPr/>
        </p:nvSpPr>
        <p:spPr>
          <a:xfrm>
            <a:off x="8266176" y="3794760"/>
            <a:ext cx="3191256" cy="22860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Karthikeyan et al. 2017 review (retrieval algorithms)</a:t>
            </a:r>
            <a:endParaRPr lang="en-US" sz="1300" dirty="0"/>
          </a:p>
          <a:p>
            <a:pPr marL="177800" indent="-177800">
              <a:spcAft>
                <a:spcPts val="400"/>
              </a:spcAft>
              <a:buSzPct val="100000"/>
              <a:buChar char="•"/>
            </a:pPr>
            <a:r>
              <a:rPr lang="en-US" sz="1300" dirty="0">
                <a:solidFill>
                  <a:schemeClr val="tx1"/>
                </a:solidFill>
              </a:rPr>
              <a:t>NISAR L3 Soil Moisture ATBD, JPL D-107679 (2023)</a:t>
            </a:r>
            <a:endParaRPr lang="en-US" sz="1300" dirty="0"/>
          </a:p>
          <a:p>
            <a:pPr marL="177800" indent="-177800">
              <a:spcAft>
                <a:spcPts val="400"/>
              </a:spcAft>
              <a:buSzPct val="100000"/>
              <a:buChar char="•"/>
            </a:pPr>
            <a:r>
              <a:rPr lang="en-US" sz="1300" dirty="0">
                <a:solidFill>
                  <a:schemeClr val="tx1"/>
                </a:solidFill>
              </a:rPr>
              <a:t>Classic papers: Njoku &amp; Entekhabi 1996; Attema &amp; Ulaby 1978; Oh 1992; Dubois 1995; Wagner 1999</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Physics basics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Why microwaves sense soil water, which band to use, and passive vs active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soil moisture, and why microwaves?</a:t>
            </a:r>
            <a:endParaRPr lang="en-US" sz="3200" dirty="0"/>
          </a:p>
        </p:txBody>
      </p:sp>
      <p:sp>
        <p:nvSpPr>
          <p:cNvPr id="4" name="card"/>
          <p:cNvSpPr/>
          <p:nvPr/>
        </p:nvSpPr>
        <p:spPr>
          <a:xfrm>
            <a:off x="548640" y="1325880"/>
            <a:ext cx="5440680" cy="3931920"/>
          </a:xfrm>
          <a:prstGeom prst="roundRect">
            <a:avLst>
              <a:gd name="adj" fmla="val 1860"/>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4"/>
          </a:solidFill>
          <a:ln/>
        </p:spPr>
      </p:sp>
      <p:pic>
        <p:nvPicPr>
          <p:cNvPr id="6" name="Image 0" descr="Tractor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Uses in agriculture</a:t>
            </a:r>
            <a:endParaRPr lang="en-US" sz="1600" dirty="0"/>
          </a:p>
        </p:txBody>
      </p:sp>
      <p:sp>
        <p:nvSpPr>
          <p:cNvPr id="8" name="Text 4"/>
          <p:cNvSpPr txBox="1"/>
          <p:nvPr/>
        </p:nvSpPr>
        <p:spPr>
          <a:xfrm>
            <a:off x="731520" y="2011680"/>
            <a:ext cx="5074920" cy="3154680"/>
          </a:xfrm>
          <a:prstGeom prst="rect">
            <a:avLst/>
          </a:prstGeom>
          <a:noFill/>
          <a:ln/>
        </p:spPr>
        <p:txBody>
          <a:bodyPr wrap="square" lIns="508" tIns="508" rIns="508" bIns="508" rtlCol="0" anchor="t"/>
          <a:lstStyle/>
          <a:p>
            <a:pPr marL="177800" indent="-177800">
              <a:spcAft>
                <a:spcPts val="400"/>
              </a:spcAft>
              <a:buSzPct val="100000"/>
              <a:buChar char="•"/>
            </a:pPr>
            <a:r>
              <a:rPr lang="en-US" sz="1400" b="1" dirty="0">
                <a:solidFill>
                  <a:schemeClr val="tx1"/>
                </a:solidFill>
              </a:rPr>
              <a:t>Drought monitoring</a:t>
            </a:r>
            <a:r>
              <a:rPr lang="en-US" sz="1400" dirty="0">
                <a:solidFill>
                  <a:schemeClr val="tx1"/>
                </a:solidFill>
              </a:rPr>
              <a:t>: soil moisture is an impact indicator in the Drought Manual 2016</a:t>
            </a:r>
            <a:endParaRPr lang="en-US" sz="1400" dirty="0"/>
          </a:p>
          <a:p>
            <a:pPr marL="177800" indent="-177800">
              <a:spcAft>
                <a:spcPts val="400"/>
              </a:spcAft>
              <a:buSzPct val="100000"/>
              <a:buChar char="•"/>
            </a:pPr>
            <a:r>
              <a:rPr lang="en-US" sz="1400" b="1" dirty="0">
                <a:solidFill>
                  <a:schemeClr val="tx1"/>
                </a:solidFill>
              </a:rPr>
              <a:t>Irrigation scheduling</a:t>
            </a:r>
            <a:r>
              <a:rPr lang="en-US" sz="1400" dirty="0">
                <a:solidFill>
                  <a:schemeClr val="tx1"/>
                </a:solidFill>
              </a:rPr>
              <a:t> and water accounting</a:t>
            </a:r>
            <a:endParaRPr lang="en-US" sz="1400" dirty="0"/>
          </a:p>
          <a:p>
            <a:pPr marL="177800" indent="-177800">
              <a:spcAft>
                <a:spcPts val="400"/>
              </a:spcAft>
              <a:buSzPct val="100000"/>
              <a:buChar char="•"/>
            </a:pPr>
            <a:r>
              <a:rPr lang="en-US" sz="1400" b="1" dirty="0">
                <a:solidFill>
                  <a:schemeClr val="tx1"/>
                </a:solidFill>
              </a:rPr>
              <a:t>Crop yield forecasting</a:t>
            </a:r>
            <a:r>
              <a:rPr lang="en-US" sz="1400" dirty="0">
                <a:solidFill>
                  <a:schemeClr val="tx1"/>
                </a:solidFill>
              </a:rPr>
              <a:t> (FASAL) and crop models via data assimilation</a:t>
            </a:r>
            <a:endParaRPr lang="en-US" sz="1400" dirty="0"/>
          </a:p>
          <a:p>
            <a:pPr marL="177800" indent="-177800">
              <a:spcAft>
                <a:spcPts val="400"/>
              </a:spcAft>
              <a:buSzPct val="100000"/>
              <a:buChar char="•"/>
            </a:pPr>
            <a:r>
              <a:rPr lang="en-US" sz="1400" b="1" dirty="0">
                <a:solidFill>
                  <a:schemeClr val="tx1"/>
                </a:solidFill>
              </a:rPr>
              <a:t>Crop insurance</a:t>
            </a:r>
            <a:r>
              <a:rPr lang="en-US" sz="1400" dirty="0">
                <a:solidFill>
                  <a:schemeClr val="tx1"/>
                </a:solidFill>
              </a:rPr>
              <a:t> (YES-TECH, PMFBY): crop condition and loss assessment</a:t>
            </a:r>
            <a:endParaRPr lang="en-US" sz="1400" dirty="0"/>
          </a:p>
          <a:p>
            <a:pPr marL="177800" indent="-177800">
              <a:spcAft>
                <a:spcPts val="400"/>
              </a:spcAft>
              <a:buSzPct val="100000"/>
              <a:buChar char="•"/>
            </a:pPr>
            <a:r>
              <a:rPr lang="en-US" sz="1400" b="1" dirty="0">
                <a:solidFill>
                  <a:schemeClr val="tx1"/>
                </a:solidFill>
              </a:rPr>
              <a:t>Weather and monsoon forecasts</a:t>
            </a:r>
            <a:r>
              <a:rPr lang="en-US" sz="1400" dirty="0">
                <a:solidFill>
                  <a:schemeClr val="tx1"/>
                </a:solidFill>
              </a:rPr>
              <a:t>, flood forecasting, root-zone moisture</a:t>
            </a:r>
            <a:endParaRPr lang="en-US" sz="1400" dirty="0"/>
          </a:p>
        </p:txBody>
      </p:sp>
      <p:sp>
        <p:nvSpPr>
          <p:cNvPr id="9" name="card"/>
          <p:cNvSpPr/>
          <p:nvPr/>
        </p:nvSpPr>
        <p:spPr>
          <a:xfrm>
            <a:off x="6199632" y="1325880"/>
            <a:ext cx="5440680" cy="3931920"/>
          </a:xfrm>
          <a:prstGeom prst="roundRect">
            <a:avLst>
              <a:gd name="adj" fmla="val 1860"/>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481328"/>
            <a:ext cx="420624" cy="420624"/>
          </a:xfrm>
          <a:prstGeom prst="ellipse">
            <a:avLst/>
          </a:prstGeom>
          <a:solidFill>
            <a:schemeClr val="accent2"/>
          </a:solidFill>
          <a:ln/>
        </p:spPr>
      </p:sp>
      <p:pic>
        <p:nvPicPr>
          <p:cNvPr id="11" name="Image 1" descr="Satellite icon">    </p:cNvPr>
          <p:cNvPicPr>
            <a:picLocks noChangeAspect="1"/>
          </p:cNvPicPr>
          <p:nvPr/>
        </p:nvPicPr>
        <p:blipFill>
          <a:blip r:embed="rId2"/>
          <a:stretch>
            <a:fillRect/>
          </a:stretch>
        </p:blipFill>
        <p:spPr>
          <a:xfrm>
            <a:off x="6491874" y="1590690"/>
            <a:ext cx="201900" cy="201900"/>
          </a:xfrm>
          <a:prstGeom prst="rect">
            <a:avLst/>
          </a:prstGeom>
        </p:spPr>
      </p:pic>
      <p:sp>
        <p:nvSpPr>
          <p:cNvPr id="12" name="Text 7"/>
          <p:cNvSpPr txBox="1"/>
          <p:nvPr/>
        </p:nvSpPr>
        <p:spPr>
          <a:xfrm>
            <a:off x="6912864"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Why microwave remote sensing</a:t>
            </a:r>
            <a:endParaRPr lang="en-US" sz="1600" dirty="0"/>
          </a:p>
        </p:txBody>
      </p:sp>
      <p:sp>
        <p:nvSpPr>
          <p:cNvPr id="13" name="Text 8"/>
          <p:cNvSpPr txBox="1"/>
          <p:nvPr/>
        </p:nvSpPr>
        <p:spPr>
          <a:xfrm>
            <a:off x="6382512" y="2011680"/>
            <a:ext cx="5074920" cy="3154680"/>
          </a:xfrm>
          <a:prstGeom prst="rect">
            <a:avLst/>
          </a:prstGeom>
          <a:noFill/>
          <a:ln/>
        </p:spPr>
        <p:txBody>
          <a:bodyPr wrap="square" lIns="508" tIns="508" rIns="508" bIns="508" rtlCol="0" anchor="t"/>
          <a:lstStyle/>
          <a:p>
            <a:pPr marL="177800" indent="-177800">
              <a:spcAft>
                <a:spcPts val="400"/>
              </a:spcAft>
              <a:buSzPct val="100000"/>
              <a:buChar char="•"/>
            </a:pPr>
            <a:r>
              <a:rPr lang="en-US" sz="1400" b="1" dirty="0">
                <a:solidFill>
                  <a:schemeClr val="tx1"/>
                </a:solidFill>
              </a:rPr>
              <a:t>Dielectric contrast</a:t>
            </a:r>
            <a:r>
              <a:rPr lang="en-US" sz="1400" dirty="0">
                <a:solidFill>
                  <a:schemeClr val="tx1"/>
                </a:solidFill>
              </a:rPr>
              <a:t>: water ε′ ≈ 80, dry soil ε′ ≈ 3–5</a:t>
            </a:r>
            <a:endParaRPr lang="en-US" sz="1400" dirty="0"/>
          </a:p>
          <a:p>
            <a:pPr marL="177800" indent="-177800">
              <a:spcAft>
                <a:spcPts val="400"/>
              </a:spcAft>
              <a:buSzPct val="100000"/>
              <a:buChar char="•"/>
            </a:pPr>
            <a:r>
              <a:rPr lang="en-US" sz="1400" b="1" dirty="0">
                <a:solidFill>
                  <a:schemeClr val="tx1"/>
                </a:solidFill>
              </a:rPr>
              <a:t>All-weather, day and night</a:t>
            </a:r>
            <a:r>
              <a:rPr lang="en-US" sz="1400" dirty="0">
                <a:solidFill>
                  <a:schemeClr val="tx1"/>
                </a:solidFill>
              </a:rPr>
              <a:t>: own energy (radar) or thermal emission</a:t>
            </a:r>
            <a:endParaRPr lang="en-US" sz="1400" dirty="0"/>
          </a:p>
          <a:p>
            <a:pPr marL="177800" indent="-177800">
              <a:spcAft>
                <a:spcPts val="400"/>
              </a:spcAft>
              <a:buSzPct val="100000"/>
              <a:buChar char="•"/>
            </a:pPr>
            <a:r>
              <a:rPr lang="en-US" sz="1400" b="1" dirty="0">
                <a:solidFill>
                  <a:schemeClr val="tx1"/>
                </a:solidFill>
              </a:rPr>
              <a:t>Little atmospheric effect</a:t>
            </a:r>
            <a:r>
              <a:rPr lang="en-US" sz="1400" dirty="0">
                <a:solidFill>
                  <a:schemeClr val="tx1"/>
                </a:solidFill>
              </a:rPr>
              <a:t> at L-, C-, X-band</a:t>
            </a:r>
            <a:endParaRPr lang="en-US" sz="1400" dirty="0"/>
          </a:p>
          <a:p>
            <a:pPr marL="177800" indent="-177800">
              <a:spcAft>
                <a:spcPts val="400"/>
              </a:spcAft>
              <a:buSzPct val="100000"/>
              <a:buChar char="•"/>
            </a:pPr>
            <a:r>
              <a:rPr lang="en-US" sz="1400" b="1" dirty="0">
                <a:solidFill>
                  <a:schemeClr val="tx1"/>
                </a:solidFill>
              </a:rPr>
              <a:t>Penetrates sparse to moderate vegetation</a:t>
            </a:r>
            <a:r>
              <a:rPr lang="en-US" sz="1400" dirty="0">
                <a:solidFill>
                  <a:schemeClr val="tx1"/>
                </a:solidFill>
              </a:rPr>
              <a:t> at low frequency</a:t>
            </a:r>
            <a:endParaRPr lang="en-US" sz="1400" dirty="0"/>
          </a:p>
          <a:p>
            <a:pPr marL="177800" indent="-177800">
              <a:spcAft>
                <a:spcPts val="400"/>
              </a:spcAft>
              <a:buSzPct val="100000"/>
              <a:buChar char="•"/>
            </a:pPr>
            <a:r>
              <a:rPr lang="en-US" sz="1400" dirty="0">
                <a:solidFill>
                  <a:schemeClr val="tx1"/>
                </a:solidFill>
              </a:rPr>
              <a:t>Limitation: senses only the top </a:t>
            </a:r>
            <a:r>
              <a:rPr lang="en-US" sz="1400" b="1" dirty="0">
                <a:solidFill>
                  <a:schemeClr val="tx1"/>
                </a:solidFill>
              </a:rPr>
              <a:t>~1–5 cm</a:t>
            </a:r>
            <a:r>
              <a:rPr lang="en-US" sz="1400" dirty="0">
                <a:solidFill>
                  <a:schemeClr val="tx1"/>
                </a:solidFill>
              </a:rPr>
              <a:t> (≈ 1/10 to 1/2 of the wavelength)</a:t>
            </a:r>
            <a:endParaRPr lang="en-US" sz="1400" dirty="0"/>
          </a:p>
        </p:txBody>
      </p:sp>
      <p:sp>
        <p:nvSpPr>
          <p:cNvPr id="14" name="insight"/>
          <p:cNvSpPr/>
          <p:nvPr/>
        </p:nvSpPr>
        <p:spPr>
          <a:xfrm>
            <a:off x="548640" y="5440680"/>
            <a:ext cx="11094415" cy="731520"/>
          </a:xfrm>
          <a:prstGeom prst="roundRect">
            <a:avLst>
              <a:gd name="adj" fmla="val 10000"/>
            </a:avLst>
          </a:prstGeom>
          <a:solidFill>
            <a:schemeClr val="bg2"/>
          </a:solidFill>
          <a:ln/>
        </p:spPr>
      </p:sp>
      <p:sp>
        <p:nvSpPr>
          <p:cNvPr id="15" name="icon circle"/>
          <p:cNvSpPr/>
          <p:nvPr/>
        </p:nvSpPr>
        <p:spPr>
          <a:xfrm>
            <a:off x="685800" y="5568696"/>
            <a:ext cx="475488" cy="475488"/>
          </a:xfrm>
          <a:prstGeom prst="ellipse">
            <a:avLst/>
          </a:prstGeom>
          <a:solidFill>
            <a:schemeClr val="accent3"/>
          </a:solidFill>
          <a:ln/>
        </p:spPr>
      </p:sp>
      <p:pic>
        <p:nvPicPr>
          <p:cNvPr id="16" name="Image 2" descr="Lightbulb icon">    </p:cNvPr>
          <p:cNvPicPr>
            <a:picLocks noChangeAspect="1"/>
          </p:cNvPicPr>
          <p:nvPr/>
        </p:nvPicPr>
        <p:blipFill>
          <a:blip r:embed="rId3"/>
          <a:stretch>
            <a:fillRect/>
          </a:stretch>
        </p:blipFill>
        <p:spPr>
          <a:xfrm>
            <a:off x="809427" y="5692323"/>
            <a:ext cx="228234" cy="228234"/>
          </a:xfrm>
          <a:prstGeom prst="rect">
            <a:avLst/>
          </a:prstGeom>
        </p:spPr>
      </p:pic>
      <p:sp>
        <p:nvSpPr>
          <p:cNvPr id="17" name="Text 11"/>
          <p:cNvSpPr txBox="1"/>
          <p:nvPr/>
        </p:nvSpPr>
        <p:spPr>
          <a:xfrm>
            <a:off x="1325880" y="5477256"/>
            <a:ext cx="10180015" cy="65836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Remember the one-line answer: </a:t>
            </a:r>
            <a:r>
              <a:rPr lang="en-US" sz="1400" b="1" dirty="0">
                <a:solidFill>
                  <a:schemeClr val="tx1"/>
                </a:solidFill>
              </a:rPr>
              <a:t>moist soil appears cooler to a radiometer and brighter to a radar</a:t>
            </a:r>
            <a:r>
              <a:rPr lang="en-US" sz="1400" dirty="0">
                <a:solidFill>
                  <a:schemeClr val="tx1"/>
                </a:solidFill>
              </a:rPr>
              <a:t> (Karthikeyan et al. 2017).</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key physics: soil dielectric constant</a:t>
            </a:r>
            <a:endParaRPr lang="en-US" sz="3200" dirty="0"/>
          </a:p>
        </p:txBody>
      </p:sp>
      <p:graphicFrame>
        <p:nvGraphicFramePr>
          <p:cNvPr id="4" name="Chart 0" descr=""/>
          <p:cNvGraphicFramePr/>
          <p:nvPr/>
        </p:nvGraphicFramePr>
        <p:xfrm>
          <a:off x="548640" y="132588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6812280" y="1325880"/>
            <a:ext cx="4828032" cy="868680"/>
          </a:xfrm>
          <a:prstGeom prst="roundRect">
            <a:avLst>
              <a:gd name="adj" fmla="val 8421"/>
            </a:avLst>
          </a:prstGeom>
          <a:solidFill>
            <a:schemeClr val="tx2"/>
          </a:solidFill>
          <a:ln/>
          <a:effectLst>
            <a:outerShdw sx="100000" sy="100000" kx="0" ky="0" algn="bl" rotWithShape="0" blurRad="76200" dist="25400" dir="5400000">
              <a:srgbClr val="000000">
                <a:alpha val="14000"/>
              </a:srgbClr>
            </a:outerShdw>
          </a:effectLst>
        </p:spPr>
      </p:sp>
      <p:sp>
        <p:nvSpPr>
          <p:cNvPr id="6" name="Text 2"/>
          <p:cNvSpPr txBox="1"/>
          <p:nvPr/>
        </p:nvSpPr>
        <p:spPr>
          <a:xfrm>
            <a:off x="6949440" y="1325880"/>
            <a:ext cx="4553712" cy="868680"/>
          </a:xfrm>
          <a:prstGeom prst="rect">
            <a:avLst/>
          </a:prstGeom>
          <a:noFill/>
          <a:ln/>
        </p:spPr>
        <p:txBody>
          <a:bodyPr wrap="square" lIns="0" tIns="0" rIns="0" bIns="0" rtlCol="0" anchor="ctr"/>
          <a:lstStyle/>
          <a:p>
            <a:pPr algn="ctr" indent="0" marL="0">
              <a:buNone/>
            </a:pPr>
            <a:r>
              <a:rPr lang="en-US" sz="1800" b="1" dirty="0">
                <a:solidFill>
                  <a:schemeClr val="bg1"/>
                </a:solidFill>
              </a:rPr>
              <a:t>ε′ = 3.03 + 9.3θ + 146θ² − 76.7θ³</a:t>
            </a:r>
            <a:endParaRPr lang="en-US" sz="1800" dirty="0"/>
          </a:p>
        </p:txBody>
      </p:sp>
      <p:sp>
        <p:nvSpPr>
          <p:cNvPr id="7" name="Text 3"/>
          <p:cNvSpPr txBox="1"/>
          <p:nvPr/>
        </p:nvSpPr>
        <p:spPr>
          <a:xfrm>
            <a:off x="6812280" y="2212848"/>
            <a:ext cx="4828032" cy="274320"/>
          </a:xfrm>
          <a:prstGeom prst="rect">
            <a:avLst/>
          </a:prstGeom>
          <a:noFill/>
          <a:ln/>
        </p:spPr>
        <p:txBody>
          <a:bodyPr wrap="square" lIns="0" tIns="0" rIns="0" bIns="0" rtlCol="0" anchor="ctr"/>
          <a:lstStyle/>
          <a:p>
            <a:pPr algn="ctr" indent="0" marL="0">
              <a:buNone/>
            </a:pPr>
            <a:r>
              <a:rPr lang="en-US" sz="1100" i="1" dirty="0">
                <a:solidFill>
                  <a:schemeClr val="accent6"/>
                </a:solidFill>
              </a:rPr>
              <a:t>Topp et al. (1980) empirical relation</a:t>
            </a:r>
            <a:endParaRPr lang="en-US" sz="1100" dirty="0"/>
          </a:p>
        </p:txBody>
      </p:sp>
      <p:sp>
        <p:nvSpPr>
          <p:cNvPr id="8" name="card"/>
          <p:cNvSpPr/>
          <p:nvPr/>
        </p:nvSpPr>
        <p:spPr>
          <a:xfrm>
            <a:off x="6812280" y="2606040"/>
            <a:ext cx="4828032" cy="356616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6995160" y="2761488"/>
            <a:ext cx="420624" cy="420624"/>
          </a:xfrm>
          <a:prstGeom prst="ellipse">
            <a:avLst/>
          </a:prstGeom>
          <a:solidFill>
            <a:schemeClr val="accent2"/>
          </a:solidFill>
          <a:ln/>
        </p:spPr>
      </p:sp>
      <p:pic>
        <p:nvPicPr>
          <p:cNvPr id="10" name="Image 0" descr="Tint icon">    </p:cNvPr>
          <p:cNvPicPr>
            <a:picLocks noChangeAspect="1"/>
          </p:cNvPicPr>
          <p:nvPr/>
        </p:nvPicPr>
        <p:blipFill>
          <a:blip r:embed="rId2"/>
          <a:stretch>
            <a:fillRect/>
          </a:stretch>
        </p:blipFill>
        <p:spPr>
          <a:xfrm>
            <a:off x="7104522" y="2870850"/>
            <a:ext cx="201900" cy="201900"/>
          </a:xfrm>
          <a:prstGeom prst="rect">
            <a:avLst/>
          </a:prstGeom>
        </p:spPr>
      </p:pic>
      <p:sp>
        <p:nvSpPr>
          <p:cNvPr id="11" name="Text 6"/>
          <p:cNvSpPr txBox="1"/>
          <p:nvPr/>
        </p:nvSpPr>
        <p:spPr>
          <a:xfrm>
            <a:off x="7525512" y="2743200"/>
            <a:ext cx="3977640" cy="457200"/>
          </a:xfrm>
          <a:prstGeom prst="rect">
            <a:avLst/>
          </a:prstGeom>
          <a:noFill/>
          <a:ln/>
        </p:spPr>
        <p:txBody>
          <a:bodyPr wrap="square" lIns="0" tIns="0" rIns="0" bIns="0" rtlCol="0" anchor="ctr"/>
          <a:lstStyle/>
          <a:p>
            <a:pPr indent="0" marL="0">
              <a:buNone/>
            </a:pPr>
            <a:r>
              <a:rPr lang="en-US" sz="1600" b="1" dirty="0">
                <a:solidFill>
                  <a:schemeClr val="tx2"/>
                </a:solidFill>
              </a:rPr>
              <a:t>What to say</a:t>
            </a:r>
            <a:endParaRPr lang="en-US" sz="1600" dirty="0"/>
          </a:p>
        </p:txBody>
      </p:sp>
      <p:sp>
        <p:nvSpPr>
          <p:cNvPr id="12" name="Text 7"/>
          <p:cNvSpPr txBox="1"/>
          <p:nvPr/>
        </p:nvSpPr>
        <p:spPr>
          <a:xfrm>
            <a:off x="6995160" y="3291840"/>
            <a:ext cx="4462272" cy="27889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Complex permittivity </a:t>
            </a:r>
            <a:r>
              <a:rPr lang="en-US" sz="1300" b="1" dirty="0">
                <a:solidFill>
                  <a:schemeClr val="tx1"/>
                </a:solidFill>
              </a:rPr>
              <a:t>ε = ε′ − jε″</a:t>
            </a:r>
            <a:r>
              <a:rPr lang="en-US" sz="1300" dirty="0">
                <a:solidFill>
                  <a:schemeClr val="tx1"/>
                </a:solidFill>
              </a:rPr>
              <a:t>; ε′ controls reflection, ε″ loss (negligible at L/C/X)</a:t>
            </a:r>
            <a:endParaRPr lang="en-US" sz="1300" dirty="0"/>
          </a:p>
          <a:p>
            <a:pPr marL="177800" indent="-177800">
              <a:spcAft>
                <a:spcPts val="400"/>
              </a:spcAft>
              <a:buSzPct val="100000"/>
              <a:buChar char="•"/>
            </a:pPr>
            <a:r>
              <a:rPr lang="en-US" sz="1300" dirty="0">
                <a:solidFill>
                  <a:schemeClr val="tx1"/>
                </a:solidFill>
              </a:rPr>
              <a:t>Water ε′ ≈ 80 vs dry soil 3–5, so a small change in water gives a big change in ε′</a:t>
            </a:r>
            <a:endParaRPr lang="en-US" sz="1300" dirty="0"/>
          </a:p>
          <a:p>
            <a:pPr marL="177800" indent="-177800">
              <a:spcAft>
                <a:spcPts val="400"/>
              </a:spcAft>
              <a:buSzPct val="100000"/>
              <a:buChar char="•"/>
            </a:pPr>
            <a:r>
              <a:rPr lang="en-US" sz="1300" dirty="0">
                <a:solidFill>
                  <a:schemeClr val="tx1"/>
                </a:solidFill>
              </a:rPr>
              <a:t>ε′ also depends on </a:t>
            </a:r>
            <a:r>
              <a:rPr lang="en-US" sz="1300" b="1" dirty="0">
                <a:solidFill>
                  <a:schemeClr val="tx1"/>
                </a:solidFill>
              </a:rPr>
              <a:t>texture (bound water), bulk density, frequency, temperature, salinity</a:t>
            </a:r>
            <a:endParaRPr lang="en-US" sz="1300" dirty="0"/>
          </a:p>
          <a:p>
            <a:pPr marL="177800" indent="-177800">
              <a:spcAft>
                <a:spcPts val="400"/>
              </a:spcAft>
              <a:buSzPct val="100000"/>
              <a:buChar char="•"/>
            </a:pPr>
            <a:r>
              <a:rPr lang="en-US" sz="1300" dirty="0">
                <a:solidFill>
                  <a:schemeClr val="tx1"/>
                </a:solidFill>
              </a:rPr>
              <a:t>Retrieval chain: signal → ε′ → </a:t>
            </a:r>
            <a:r>
              <a:rPr lang="en-US" sz="1300" b="1" dirty="0">
                <a:solidFill>
                  <a:schemeClr val="tx1"/>
                </a:solidFill>
              </a:rPr>
              <a:t>m</a:t>
            </a:r>
            <a:r>
              <a:rPr lang="en-US" sz="1300" b="1" baseline="-40000" dirty="0">
                <a:solidFill>
                  <a:schemeClr val="tx1"/>
                </a:solidFill>
              </a:rPr>
              <a:t>v</a:t>
            </a:r>
            <a:r>
              <a:rPr lang="en-US" sz="1300" dirty="0">
                <a:solidFill>
                  <a:schemeClr val="tx1"/>
                </a:solidFill>
              </a:rPr>
              <a:t> through a dielectric mixing model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Which frequency? Why L-band is preferred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40080"/>
                <a:gridCol w="2377440"/>
                <a:gridCol w="1188720"/>
                <a:gridCol w="1280160"/>
                <a:gridCol w="2743200"/>
                <a:gridCol w="2862072"/>
              </a:tblGrid>
              <a:tr h="56692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Band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Frequency (example)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Wavelength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Sensing depth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Vegetation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Missions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1.26 GHz (NISAR) · 1.41 GHz (SMAP, SMOS)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~21–24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~5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Sees through moderate crops (VWC up to ~5 kg/m²)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SMAP, SMOS, NISAR, ALOS-2 PALSAR-2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3.2 GHz (NISAR, ISRO)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~9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~2–3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NISAR S-SAR over India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5.4 GHz</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~5.6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~1–2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Sparse vegetation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Sentinel-1, EOS-04 (RISAT-1A), RADARSAT, ASCAT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X</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9.6–10.7 GHz</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&lt; 1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Mostly canopy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TerraSAR-X, AMSR2 (X channel)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card"/>
          <p:cNvSpPr/>
          <p:nvPr/>
        </p:nvSpPr>
        <p:spPr>
          <a:xfrm>
            <a:off x="548640" y="4526280"/>
            <a:ext cx="5440680"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6" name="icon circle"/>
          <p:cNvSpPr/>
          <p:nvPr/>
        </p:nvSpPr>
        <p:spPr>
          <a:xfrm>
            <a:off x="731520" y="4681728"/>
            <a:ext cx="420624" cy="420624"/>
          </a:xfrm>
          <a:prstGeom prst="ellipse">
            <a:avLst/>
          </a:prstGeom>
          <a:solidFill>
            <a:schemeClr val="accent3"/>
          </a:solidFill>
          <a:ln/>
        </p:spPr>
      </p:sp>
      <p:pic>
        <p:nvPicPr>
          <p:cNvPr id="7" name="Image 0" descr="Ruler icon">    </p:cNvPr>
          <p:cNvPicPr>
            <a:picLocks noChangeAspect="1"/>
          </p:cNvPicPr>
          <p:nvPr/>
        </p:nvPicPr>
        <p:blipFill>
          <a:blip r:embed="rId1"/>
          <a:stretch>
            <a:fillRect/>
          </a:stretch>
        </p:blipFill>
        <p:spPr>
          <a:xfrm>
            <a:off x="840882" y="4791090"/>
            <a:ext cx="201900" cy="201900"/>
          </a:xfrm>
          <a:prstGeom prst="rect">
            <a:avLst/>
          </a:prstGeom>
        </p:spPr>
      </p:pic>
      <p:sp>
        <p:nvSpPr>
          <p:cNvPr id="8" name="Text 3"/>
          <p:cNvSpPr txBox="1"/>
          <p:nvPr/>
        </p:nvSpPr>
        <p:spPr>
          <a:xfrm>
            <a:off x="1261872" y="46634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Rule of thumb</a:t>
            </a:r>
            <a:endParaRPr lang="en-US" sz="1600" dirty="0"/>
          </a:p>
        </p:txBody>
      </p:sp>
      <p:sp>
        <p:nvSpPr>
          <p:cNvPr id="9" name="Text 4"/>
          <p:cNvSpPr txBox="1"/>
          <p:nvPr/>
        </p:nvSpPr>
        <p:spPr>
          <a:xfrm>
            <a:off x="731520" y="5212080"/>
            <a:ext cx="5074920" cy="9144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Sensing depth ≈ </a:t>
            </a:r>
            <a:r>
              <a:rPr lang="en-US" sz="1300" b="1" dirty="0">
                <a:solidFill>
                  <a:schemeClr val="tx1"/>
                </a:solidFill>
              </a:rPr>
              <a:t>1/10 to 1/2 of the wavelength</a:t>
            </a:r>
            <a:r>
              <a:rPr lang="en-US" sz="1300" dirty="0">
                <a:solidFill>
                  <a:schemeClr val="tx1"/>
                </a:solidFill>
              </a:rPr>
              <a:t>. Longer wavelength → deeper emission, less vegetation and atmosphere effect.</a:t>
            </a:r>
            <a:endParaRPr lang="en-US" sz="1300" dirty="0"/>
          </a:p>
        </p:txBody>
      </p:sp>
      <p:sp>
        <p:nvSpPr>
          <p:cNvPr id="10" name="card"/>
          <p:cNvSpPr/>
          <p:nvPr/>
        </p:nvSpPr>
        <p:spPr>
          <a:xfrm>
            <a:off x="6199632" y="4526280"/>
            <a:ext cx="5440680"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6382512" y="4681728"/>
            <a:ext cx="420624" cy="420624"/>
          </a:xfrm>
          <a:prstGeom prst="ellipse">
            <a:avLst/>
          </a:prstGeom>
          <a:solidFill>
            <a:schemeClr val="accent5"/>
          </a:solidFill>
          <a:ln/>
        </p:spPr>
      </p:sp>
      <p:pic>
        <p:nvPicPr>
          <p:cNvPr id="12" name="Image 1" descr="BalanceScale icon">    </p:cNvPr>
          <p:cNvPicPr>
            <a:picLocks noChangeAspect="1"/>
          </p:cNvPicPr>
          <p:nvPr/>
        </p:nvPicPr>
        <p:blipFill>
          <a:blip r:embed="rId2"/>
          <a:stretch>
            <a:fillRect/>
          </a:stretch>
        </p:blipFill>
        <p:spPr>
          <a:xfrm>
            <a:off x="6491874" y="4791090"/>
            <a:ext cx="201900" cy="201900"/>
          </a:xfrm>
          <a:prstGeom prst="rect">
            <a:avLst/>
          </a:prstGeom>
        </p:spPr>
      </p:pic>
      <p:sp>
        <p:nvSpPr>
          <p:cNvPr id="13" name="Text 7"/>
          <p:cNvSpPr txBox="1"/>
          <p:nvPr/>
        </p:nvSpPr>
        <p:spPr>
          <a:xfrm>
            <a:off x="6912864" y="46634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Trade-off</a:t>
            </a:r>
            <a:endParaRPr lang="en-US" sz="1600" dirty="0"/>
          </a:p>
        </p:txBody>
      </p:sp>
      <p:sp>
        <p:nvSpPr>
          <p:cNvPr id="14" name="Text 8"/>
          <p:cNvSpPr txBox="1"/>
          <p:nvPr/>
        </p:nvSpPr>
        <p:spPr>
          <a:xfrm>
            <a:off x="6382512" y="5212080"/>
            <a:ext cx="5074920" cy="9144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Passive L-band needs a huge antenna → coarse pixels (~40 km). SAR synthesises an aperture → 10 m, but adds speckle and roughness effects.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Passive vs active microwave at a glance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4443984"/>
                <a:gridCol w="4453128"/>
              </a:tblGrid>
              <a:tr h="51206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Passive (radiometer)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Active (radar / 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Measures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Brightness temperature T</a:t>
                      </a:r>
                      <a:r>
                        <a:rPr lang="en-US" sz="1150" baseline="-40000" dirty="0">
                          <a:solidFill>
                            <a:schemeClr val="tx1"/>
                          </a:solidFill>
                          <a:latin typeface="Calibri" pitchFamily="34" charset="0"/>
                          <a:ea typeface="Calibri" pitchFamily="34" charset="-122"/>
                          <a:cs typeface="Calibri" pitchFamily="34" charset="-120"/>
                        </a:rPr>
                        <a:t>B</a:t>
                      </a:r>
                      <a:r>
                        <a:rPr lang="en-US" sz="1150" dirty="0">
                          <a:solidFill>
                            <a:schemeClr val="tx1"/>
                          </a:solidFill>
                          <a:latin typeface="Calibri" pitchFamily="34" charset="0"/>
                          <a:ea typeface="Calibri" pitchFamily="34" charset="-122"/>
                          <a:cs typeface="Calibri" pitchFamily="34" charset="-120"/>
                        </a:rPr>
                        <a:t> (K), natural emission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Backscatter σ⁰ (dB) of its own pulse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Effect of wet soil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Lower emissivity → lower T</a:t>
                      </a:r>
                      <a:r>
                        <a:rPr lang="en-US" sz="1150" baseline="-40000" dirty="0">
                          <a:solidFill>
                            <a:schemeClr val="tx1"/>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Higher ε′ → higher σ⁰</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Spatial resolution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Coarse: ~25–50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SAR 10 m–1 km; scatterometer 25–50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Typical accuracy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~0.04 m³/m³ (SMAP, SMOS)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~0.06 m³/m³ (NISAR goal)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Main nuisances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Vegetation τ, ω; surface temperature; roughness h; RFI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Roughness s, l; vegetation structure; speckle; terrain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Revisit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2–3 days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6–12 days (Sentinel-1, NISAR)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1206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Missions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SMMR, SSM/I, TMI, WindSat, AMSR-E, AMSR2, SMOS, SMAP</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ERS SCAT, ASCAT, Sentinel-1, RADARSAT, ALOS-2, EOS-04, NISAR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insight"/>
          <p:cNvSpPr/>
          <p:nvPr/>
        </p:nvSpPr>
        <p:spPr>
          <a:xfrm>
            <a:off x="548640" y="5486400"/>
            <a:ext cx="11094415" cy="713232"/>
          </a:xfrm>
          <a:prstGeom prst="roundRect">
            <a:avLst>
              <a:gd name="adj" fmla="val 10256"/>
            </a:avLst>
          </a:prstGeom>
          <a:solidFill>
            <a:schemeClr val="bg2"/>
          </a:solidFill>
          <a:ln/>
        </p:spPr>
      </p:sp>
      <p:sp>
        <p:nvSpPr>
          <p:cNvPr id="6" name="icon circle"/>
          <p:cNvSpPr/>
          <p:nvPr/>
        </p:nvSpPr>
        <p:spPr>
          <a:xfrm>
            <a:off x="685800" y="5605272"/>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728899"/>
            <a:ext cx="228234" cy="228234"/>
          </a:xfrm>
          <a:prstGeom prst="rect">
            <a:avLst/>
          </a:prstGeom>
        </p:spPr>
      </p:pic>
      <p:sp>
        <p:nvSpPr>
          <p:cNvPr id="8" name="Text 3"/>
          <p:cNvSpPr txBox="1"/>
          <p:nvPr/>
        </p:nvSpPr>
        <p:spPr>
          <a:xfrm>
            <a:off x="1325880" y="5522976"/>
            <a:ext cx="10180015" cy="640080"/>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Link between the two: </a:t>
            </a:r>
            <a:r>
              <a:rPr lang="en-US" sz="1400" b="1" dirty="0">
                <a:solidFill>
                  <a:schemeClr val="tx1"/>
                </a:solidFill>
              </a:rPr>
              <a:t>e = 1 − r</a:t>
            </a:r>
            <a:r>
              <a:rPr lang="en-US" sz="1400" dirty="0">
                <a:solidFill>
                  <a:schemeClr val="tx1"/>
                </a:solidFill>
              </a:rPr>
              <a:t> (Kirchhoff). The radiometer sees emissivity, the radar sees reflectivity of the same soil.</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Dielectric mixing models and Fresnel reflectivity</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737360"/>
                <a:gridCol w="2468880"/>
                <a:gridCol w="1828800"/>
              </a:tblGrid>
              <a:tr h="64008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Inputs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6400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Wang &amp; Schmugge (1980)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clay, sand, porosity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Bound-water transition point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6400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Topp (1980)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Empirical (TDR), texture independent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6400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Dobson (1985)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 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T, clay, sand, bulk &amp; particle density, salinity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Semi-empirical, 1.4–18 GHz</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6400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Mironov (2009)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clay, f</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Spectroscopic; used by SMAP and NISAR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4709160"/>
            <a:ext cx="6035040" cy="274320"/>
          </a:xfrm>
          <a:prstGeom prst="rect">
            <a:avLst/>
          </a:prstGeom>
          <a:noFill/>
          <a:ln/>
        </p:spPr>
        <p:txBody>
          <a:bodyPr wrap="square" lIns="0" tIns="0" rIns="0" bIns="0" rtlCol="0" anchor="ctr"/>
          <a:lstStyle/>
          <a:p>
            <a:pPr algn="l" indent="0" marL="0">
              <a:buNone/>
            </a:pPr>
            <a:r>
              <a:rPr lang="en-US" sz="1000" i="1" dirty="0">
                <a:solidFill>
                  <a:schemeClr val="accent6"/>
                </a:solidFill>
              </a:rPr>
              <a:t>Source: Karthikeyan et al. (2017), Adv. Water Resour. 109:106–120, Table 1</a:t>
            </a:r>
            <a:endParaRPr lang="en-US" sz="1000" dirty="0"/>
          </a:p>
        </p:txBody>
      </p:sp>
      <p:sp>
        <p:nvSpPr>
          <p:cNvPr id="6" name="card"/>
          <p:cNvSpPr/>
          <p:nvPr/>
        </p:nvSpPr>
        <p:spPr>
          <a:xfrm>
            <a:off x="6812280" y="1371600"/>
            <a:ext cx="4828032" cy="3611880"/>
          </a:xfrm>
          <a:prstGeom prst="roundRect">
            <a:avLst>
              <a:gd name="adj" fmla="val 2025"/>
            </a:avLst>
          </a:prstGeom>
          <a:solidFill>
            <a:schemeClr val="bg2"/>
          </a:solidFill>
          <a:ln/>
          <a:effectLst>
            <a:outerShdw sx="100000" sy="100000" kx="0" ky="0" algn="bl" rotWithShape="0" blurRad="76200" dist="25400" dir="5400000">
              <a:srgbClr val="000000">
                <a:alpha val="14000"/>
              </a:srgbClr>
            </a:outerShdw>
          </a:effectLst>
        </p:spPr>
      </p:sp>
      <p:sp>
        <p:nvSpPr>
          <p:cNvPr id="7" name="Text 3"/>
          <p:cNvSpPr txBox="1"/>
          <p:nvPr/>
        </p:nvSpPr>
        <p:spPr>
          <a:xfrm>
            <a:off x="6995160" y="1481328"/>
            <a:ext cx="4480560" cy="365760"/>
          </a:xfrm>
          <a:prstGeom prst="rect">
            <a:avLst/>
          </a:prstGeom>
          <a:noFill/>
          <a:ln/>
        </p:spPr>
        <p:txBody>
          <a:bodyPr wrap="square" lIns="0" tIns="0" rIns="0" bIns="0" rtlCol="0" anchor="ctr"/>
          <a:lstStyle/>
          <a:p>
            <a:pPr algn="l" indent="0" marL="0">
              <a:buNone/>
            </a:pPr>
            <a:r>
              <a:rPr lang="en-US" sz="1500" b="1" dirty="0">
                <a:solidFill>
                  <a:schemeClr val="tx2"/>
                </a:solidFill>
              </a:rPr>
              <a:t>Smooth-surface Fresnel reflectivity</a:t>
            </a:r>
            <a:endParaRPr lang="en-US" sz="1500" dirty="0"/>
          </a:p>
        </p:txBody>
      </p:sp>
      <p:sp>
        <p:nvSpPr>
          <p:cNvPr id="8" name="Text 4"/>
          <p:cNvSpPr txBox="1"/>
          <p:nvPr/>
        </p:nvSpPr>
        <p:spPr>
          <a:xfrm>
            <a:off x="6995160" y="1920240"/>
            <a:ext cx="4480560" cy="3017520"/>
          </a:xfrm>
          <a:prstGeom prst="rect">
            <a:avLst/>
          </a:prstGeom>
          <a:noFill/>
          <a:ln/>
        </p:spPr>
        <p:txBody>
          <a:bodyPr wrap="square" lIns="508" tIns="508" rIns="508" bIns="508" rtlCol="0" anchor="t"/>
          <a:lstStyle/>
          <a:p>
            <a:pPr indent="0" marL="0">
              <a:spcAft>
                <a:spcPts val="600"/>
              </a:spcAft>
              <a:buNone/>
            </a:pPr>
            <a:r>
              <a:rPr lang="en-US" sz="1350" dirty="0">
                <a:solidFill>
                  <a:schemeClr val="tx1"/>
                </a:solidFill>
              </a:rPr>
              <a:t>R</a:t>
            </a:r>
            <a:r>
              <a:rPr lang="en-US" sz="1350" baseline="-40000" dirty="0">
                <a:solidFill>
                  <a:schemeClr val="tx1"/>
                </a:solidFill>
              </a:rPr>
              <a:t>H</a:t>
            </a:r>
            <a:r>
              <a:rPr lang="en-US" sz="1350" dirty="0">
                <a:solidFill>
                  <a:schemeClr val="tx1"/>
                </a:solidFill>
              </a:rPr>
              <a:t> = | (cosθ − √(ε′ − sin²θ)) / (cosθ + √(ε′ − sin²θ)) |²</a:t>
            </a:r>
            <a:endParaRPr lang="en-US" sz="1350" dirty="0"/>
          </a:p>
          <a:p>
            <a:pPr indent="0" marL="0">
              <a:spcAft>
                <a:spcPts val="600"/>
              </a:spcAft>
              <a:buNone/>
            </a:pPr>
            <a:r>
              <a:rPr lang="en-US" sz="1350" dirty="0">
                <a:solidFill>
                  <a:schemeClr val="tx1"/>
                </a:solidFill>
              </a:rPr>
              <a:t>R</a:t>
            </a:r>
            <a:r>
              <a:rPr lang="en-US" sz="1350" baseline="-40000" dirty="0">
                <a:solidFill>
                  <a:schemeClr val="tx1"/>
                </a:solidFill>
              </a:rPr>
              <a:t>V</a:t>
            </a:r>
            <a:r>
              <a:rPr lang="en-US" sz="1350" dirty="0">
                <a:solidFill>
                  <a:schemeClr val="tx1"/>
                </a:solidFill>
              </a:rPr>
              <a:t> = | (ε′cosθ − √(ε′ − sin²θ)) / (ε′cosθ + √(ε′ − sin²θ)) |²</a:t>
            </a:r>
            <a:endParaRPr lang="en-US" sz="1350" dirty="0"/>
          </a:p>
          <a:p>
            <a:pPr indent="0" marL="0">
              <a:spcAft>
                <a:spcPts val="600"/>
              </a:spcAft>
              <a:buNone/>
            </a:pPr>
            <a:r>
              <a:rPr lang="en-US" sz="600" dirty="0">
                <a:solidFill>
                  <a:schemeClr val="tx1"/>
                </a:solidFill>
              </a:rPr>
              <a:t> </a:t>
            </a:r>
            <a:endParaRPr lang="en-US" sz="1350" dirty="0"/>
          </a:p>
          <a:p>
            <a:pPr indent="0" marL="0">
              <a:spcAft>
                <a:spcPts val="600"/>
              </a:spcAft>
              <a:buNone/>
            </a:pPr>
            <a:r>
              <a:rPr lang="en-US" sz="1500" b="1" dirty="0">
                <a:solidFill>
                  <a:schemeClr val="tx1"/>
                </a:solidFill>
              </a:rPr>
              <a:t>Emissivity</a:t>
            </a:r>
            <a:r>
              <a:rPr lang="en-US" sz="1500" dirty="0">
                <a:solidFill>
                  <a:schemeClr val="tx1"/>
                </a:solidFill>
              </a:rPr>
              <a:t> e = 1 − R  (Kirchhoff)</a:t>
            </a:r>
            <a:endParaRPr lang="en-US" sz="1350" dirty="0"/>
          </a:p>
          <a:p>
            <a:pPr indent="0" marL="0">
              <a:spcAft>
                <a:spcPts val="600"/>
              </a:spcAft>
              <a:buNone/>
            </a:pPr>
            <a:r>
              <a:rPr lang="en-US" sz="1500" b="1" dirty="0">
                <a:solidFill>
                  <a:schemeClr val="tx1"/>
                </a:solidFill>
              </a:rPr>
              <a:t>Brightness temperature</a:t>
            </a:r>
            <a:r>
              <a:rPr lang="en-US" sz="1500" dirty="0">
                <a:solidFill>
                  <a:schemeClr val="tx1"/>
                </a:solidFill>
              </a:rPr>
              <a:t> T</a:t>
            </a:r>
            <a:r>
              <a:rPr lang="en-US" sz="1500" baseline="-40000" dirty="0">
                <a:solidFill>
                  <a:schemeClr val="tx1"/>
                </a:solidFill>
              </a:rPr>
              <a:t>B</a:t>
            </a:r>
            <a:r>
              <a:rPr lang="en-US" sz="1500" dirty="0">
                <a:solidFill>
                  <a:schemeClr val="tx1"/>
                </a:solidFill>
              </a:rPr>
              <a:t> = e · T</a:t>
            </a:r>
            <a:r>
              <a:rPr lang="en-US" sz="1500" baseline="-40000" dirty="0">
                <a:solidFill>
                  <a:schemeClr val="tx1"/>
                </a:solidFill>
              </a:rPr>
              <a:t>s</a:t>
            </a:r>
            <a:endParaRPr lang="en-US" sz="1350" dirty="0"/>
          </a:p>
          <a:p>
            <a:pPr indent="0" marL="0">
              <a:spcAft>
                <a:spcPts val="600"/>
              </a:spcAft>
              <a:buNone/>
            </a:pPr>
            <a:r>
              <a:rPr lang="en-US" sz="600" dirty="0">
                <a:solidFill>
                  <a:schemeClr val="tx1"/>
                </a:solidFill>
              </a:rPr>
              <a:t> </a:t>
            </a:r>
            <a:endParaRPr lang="en-US" sz="1350" dirty="0"/>
          </a:p>
          <a:p>
            <a:pPr indent="0" marL="0">
              <a:spcAft>
                <a:spcPts val="600"/>
              </a:spcAft>
              <a:buNone/>
            </a:pPr>
            <a:r>
              <a:rPr lang="en-US" sz="1300" dirty="0">
                <a:solidFill>
                  <a:schemeClr val="accent6"/>
                </a:solidFill>
              </a:rPr>
              <a:t>Higher ε′ → higher R → lower e → lower T</a:t>
            </a:r>
            <a:r>
              <a:rPr lang="en-US" sz="1300" baseline="-40000" dirty="0">
                <a:solidFill>
                  <a:schemeClr val="accent6"/>
                </a:solidFill>
              </a:rPr>
              <a:t>B</a:t>
            </a:r>
            <a:r>
              <a:rPr lang="en-US" sz="1300" dirty="0">
                <a:solidFill>
                  <a:schemeClr val="accent6"/>
                </a:solidFill>
              </a:rPr>
              <a:t>. V-pol emissivity is higher than H-pol, and H-pol is more sensitive to soil moisture.</a:t>
            </a:r>
            <a:endParaRPr lang="en-US" sz="1350" dirty="0"/>
          </a:p>
        </p:txBody>
      </p:sp>
      <p:sp>
        <p:nvSpPr>
          <p:cNvPr id="9" name="insight"/>
          <p:cNvSpPr/>
          <p:nvPr/>
        </p:nvSpPr>
        <p:spPr>
          <a:xfrm>
            <a:off x="548640" y="5120640"/>
            <a:ext cx="11094415" cy="1051560"/>
          </a:xfrm>
          <a:prstGeom prst="roundRect">
            <a:avLst>
              <a:gd name="adj" fmla="val 6957"/>
            </a:avLst>
          </a:prstGeom>
          <a:solidFill>
            <a:schemeClr val="bg2"/>
          </a:solidFill>
          <a:ln/>
        </p:spPr>
      </p:sp>
      <p:sp>
        <p:nvSpPr>
          <p:cNvPr id="10" name="icon circle"/>
          <p:cNvSpPr/>
          <p:nvPr/>
        </p:nvSpPr>
        <p:spPr>
          <a:xfrm>
            <a:off x="685800" y="5408676"/>
            <a:ext cx="475488" cy="475488"/>
          </a:xfrm>
          <a:prstGeom prst="ellipse">
            <a:avLst/>
          </a:prstGeom>
          <a:solidFill>
            <a:schemeClr val="accent3"/>
          </a:solidFill>
          <a:ln/>
        </p:spPr>
      </p:sp>
      <p:pic>
        <p:nvPicPr>
          <p:cNvPr id="11" name="Image 0" descr="Lightbulb icon">    </p:cNvPr>
          <p:cNvPicPr>
            <a:picLocks noChangeAspect="1"/>
          </p:cNvPicPr>
          <p:nvPr/>
        </p:nvPicPr>
        <p:blipFill>
          <a:blip r:embed="rId1"/>
          <a:stretch>
            <a:fillRect/>
          </a:stretch>
        </p:blipFill>
        <p:spPr>
          <a:xfrm>
            <a:off x="809427" y="5532303"/>
            <a:ext cx="228234" cy="228234"/>
          </a:xfrm>
          <a:prstGeom prst="rect">
            <a:avLst/>
          </a:prstGeom>
        </p:spPr>
      </p:pic>
      <p:sp>
        <p:nvSpPr>
          <p:cNvPr id="12" name="Text 7"/>
          <p:cNvSpPr txBox="1"/>
          <p:nvPr/>
        </p:nvSpPr>
        <p:spPr>
          <a:xfrm>
            <a:off x="1325880" y="5157216"/>
            <a:ext cx="10180015" cy="97840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Interview tip: name </a:t>
            </a:r>
            <a:r>
              <a:rPr lang="en-US" sz="1400" b="1" dirty="0">
                <a:solidFill>
                  <a:schemeClr val="tx1"/>
                </a:solidFill>
              </a:rPr>
              <a:t>Mironov</a:t>
            </a:r>
            <a:r>
              <a:rPr lang="en-US" sz="1400" dirty="0">
                <a:solidFill>
                  <a:schemeClr val="tx1"/>
                </a:solidFill>
              </a:rPr>
              <a:t> for SMAP/NISAR and </a:t>
            </a:r>
            <a:r>
              <a:rPr lang="en-US" sz="1400" b="1" dirty="0">
                <a:solidFill>
                  <a:schemeClr val="tx1"/>
                </a:solidFill>
              </a:rPr>
              <a:t>Dobson</a:t>
            </a:r>
            <a:r>
              <a:rPr lang="en-US" sz="1400" dirty="0">
                <a:solidFill>
                  <a:schemeClr val="tx1"/>
                </a:solidFill>
              </a:rPr>
              <a:t> as the classic semi-empirical model.</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Passive retrieval</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Emissivity, roughness, the τ-ω model and the operational algorithms (SCA, DCA, LPRM, L-MEB)</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Passive step by step: emissivity, roughness, temperature</a:t>
            </a:r>
            <a:endParaRPr lang="en-US" sz="3200" dirty="0"/>
          </a:p>
        </p:txBody>
      </p:sp>
      <p:sp>
        <p:nvSpPr>
          <p:cNvPr id="4" name="card"/>
          <p:cNvSpPr/>
          <p:nvPr/>
        </p:nvSpPr>
        <p:spPr>
          <a:xfrm>
            <a:off x="548640" y="1371600"/>
            <a:ext cx="3557016" cy="3566160"/>
          </a:xfrm>
          <a:prstGeom prst="roundRect">
            <a:avLst>
              <a:gd name="adj" fmla="val 205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2"/>
          </a:solidFill>
          <a:ln/>
        </p:spPr>
      </p:sp>
      <p:pic>
        <p:nvPicPr>
          <p:cNvPr id="6" name="Image 0" descr="Tint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1 · Smooth soil</a:t>
            </a:r>
            <a:endParaRPr lang="en-US" sz="1600" dirty="0"/>
          </a:p>
        </p:txBody>
      </p:sp>
      <p:sp>
        <p:nvSpPr>
          <p:cNvPr id="8" name="Text 4"/>
          <p:cNvSpPr txBox="1"/>
          <p:nvPr/>
        </p:nvSpPr>
        <p:spPr>
          <a:xfrm>
            <a:off x="731520" y="2057400"/>
            <a:ext cx="3191256" cy="2788920"/>
          </a:xfrm>
          <a:prstGeom prst="rect">
            <a:avLst/>
          </a:prstGeom>
          <a:noFill/>
          <a:ln/>
        </p:spPr>
        <p:txBody>
          <a:bodyPr wrap="square" lIns="508" tIns="508" rIns="508" bIns="508" rtlCol="0" anchor="t"/>
          <a:lstStyle/>
          <a:p>
            <a:pPr marL="177800" indent="-177800">
              <a:spcAft>
                <a:spcPts val="400"/>
              </a:spcAft>
              <a:buSzPct val="100000"/>
              <a:buChar char="•"/>
            </a:pPr>
            <a:r>
              <a:rPr lang="en-US" sz="1350" dirty="0">
                <a:solidFill>
                  <a:schemeClr val="tx1"/>
                </a:solidFill>
              </a:rPr>
              <a:t>Fresnel R</a:t>
            </a:r>
            <a:r>
              <a:rPr lang="en-US" sz="1350" baseline="-40000" dirty="0">
                <a:solidFill>
                  <a:schemeClr val="tx1"/>
                </a:solidFill>
              </a:rPr>
              <a:t>s</a:t>
            </a:r>
            <a:r>
              <a:rPr lang="en-US" sz="1350" dirty="0">
                <a:solidFill>
                  <a:schemeClr val="tx1"/>
                </a:solidFill>
              </a:rPr>
              <a:t> from ε′ and θ</a:t>
            </a:r>
            <a:endParaRPr lang="en-US" sz="1350" dirty="0"/>
          </a:p>
          <a:p>
            <a:pPr marL="177800" indent="-177800">
              <a:spcAft>
                <a:spcPts val="400"/>
              </a:spcAft>
              <a:buSzPct val="100000"/>
              <a:buChar char="•"/>
            </a:pPr>
            <a:r>
              <a:rPr lang="en-US" sz="1350" dirty="0">
                <a:solidFill>
                  <a:schemeClr val="tx1"/>
                </a:solidFill>
              </a:rPr>
              <a:t>e</a:t>
            </a:r>
            <a:r>
              <a:rPr lang="en-US" sz="1350" baseline="-40000" dirty="0">
                <a:solidFill>
                  <a:schemeClr val="tx1"/>
                </a:solidFill>
              </a:rPr>
              <a:t>s</a:t>
            </a:r>
            <a:r>
              <a:rPr lang="en-US" sz="1350" dirty="0">
                <a:solidFill>
                  <a:schemeClr val="tx1"/>
                </a:solidFill>
              </a:rPr>
              <a:t> = 1 − R</a:t>
            </a:r>
            <a:r>
              <a:rPr lang="en-US" sz="1350" baseline="-40000" dirty="0">
                <a:solidFill>
                  <a:schemeClr val="tx1"/>
                </a:solidFill>
              </a:rPr>
              <a:t>s</a:t>
            </a:r>
            <a:endParaRPr lang="en-US" sz="1350" dirty="0"/>
          </a:p>
          <a:p>
            <a:pPr marL="177800" indent="-177800">
              <a:spcAft>
                <a:spcPts val="400"/>
              </a:spcAft>
              <a:buSzPct val="100000"/>
              <a:buChar char="•"/>
            </a:pPr>
            <a:r>
              <a:rPr lang="en-US" sz="1350" dirty="0">
                <a:solidFill>
                  <a:schemeClr val="tx1"/>
                </a:solidFill>
              </a:rPr>
              <a:t>T</a:t>
            </a:r>
            <a:r>
              <a:rPr lang="en-US" sz="1350" baseline="-40000" dirty="0">
                <a:solidFill>
                  <a:schemeClr val="tx1"/>
                </a:solidFill>
              </a:rPr>
              <a:t>B</a:t>
            </a:r>
            <a:r>
              <a:rPr lang="en-US" sz="1350" dirty="0">
                <a:solidFill>
                  <a:schemeClr val="tx1"/>
                </a:solidFill>
              </a:rPr>
              <a:t> = e</a:t>
            </a:r>
            <a:r>
              <a:rPr lang="en-US" sz="1350" baseline="-40000" dirty="0">
                <a:solidFill>
                  <a:schemeClr val="tx1"/>
                </a:solidFill>
              </a:rPr>
              <a:t>s</a:t>
            </a:r>
            <a:r>
              <a:rPr lang="en-US" sz="1350" dirty="0">
                <a:solidFill>
                  <a:schemeClr val="tx1"/>
                </a:solidFill>
              </a:rPr>
              <a:t>·T</a:t>
            </a:r>
            <a:r>
              <a:rPr lang="en-US" sz="1350" baseline="-40000" dirty="0">
                <a:solidFill>
                  <a:schemeClr val="tx1"/>
                </a:solidFill>
              </a:rPr>
              <a:t>s</a:t>
            </a:r>
            <a:endParaRPr lang="en-US" sz="1350" dirty="0"/>
          </a:p>
        </p:txBody>
      </p:sp>
      <p:sp>
        <p:nvSpPr>
          <p:cNvPr id="9" name="arrow"/>
          <p:cNvSpPr/>
          <p:nvPr/>
        </p:nvSpPr>
        <p:spPr>
          <a:xfrm>
            <a:off x="4114800" y="3154680"/>
            <a:ext cx="192024" cy="0"/>
          </a:xfrm>
          <a:prstGeom prst="line">
            <a:avLst/>
          </a:prstGeom>
          <a:noFill/>
          <a:ln w="31750">
            <a:solidFill>
              <a:srgbClr val="173F5F"/>
            </a:solidFill>
            <a:prstDash val="solid"/>
            <a:tailEnd type="triangle"/>
          </a:ln>
        </p:spPr>
      </p:sp>
      <p:sp>
        <p:nvSpPr>
          <p:cNvPr id="10" name="card"/>
          <p:cNvSpPr/>
          <p:nvPr/>
        </p:nvSpPr>
        <p:spPr>
          <a:xfrm>
            <a:off x="4315968" y="1371600"/>
            <a:ext cx="3557016" cy="3566160"/>
          </a:xfrm>
          <a:prstGeom prst="roundRect">
            <a:avLst>
              <a:gd name="adj" fmla="val 2057"/>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4498848" y="1527048"/>
            <a:ext cx="420624" cy="420624"/>
          </a:xfrm>
          <a:prstGeom prst="ellipse">
            <a:avLst/>
          </a:prstGeom>
          <a:solidFill>
            <a:schemeClr val="accent1"/>
          </a:solidFill>
          <a:ln/>
        </p:spPr>
      </p:sp>
      <p:pic>
        <p:nvPicPr>
          <p:cNvPr id="12" name="Image 1" descr="Mountain icon">    </p:cNvPr>
          <p:cNvPicPr>
            <a:picLocks noChangeAspect="1"/>
          </p:cNvPicPr>
          <p:nvPr/>
        </p:nvPicPr>
        <p:blipFill>
          <a:blip r:embed="rId2"/>
          <a:stretch>
            <a:fillRect/>
          </a:stretch>
        </p:blipFill>
        <p:spPr>
          <a:xfrm>
            <a:off x="4608210" y="1636410"/>
            <a:ext cx="201900" cy="201900"/>
          </a:xfrm>
          <a:prstGeom prst="rect">
            <a:avLst/>
          </a:prstGeom>
        </p:spPr>
      </p:pic>
      <p:sp>
        <p:nvSpPr>
          <p:cNvPr id="13" name="Text 8"/>
          <p:cNvSpPr txBox="1"/>
          <p:nvPr/>
        </p:nvSpPr>
        <p:spPr>
          <a:xfrm>
            <a:off x="5029200" y="150876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2 · Roughness (h–Q)</a:t>
            </a:r>
            <a:endParaRPr lang="en-US" sz="1600" dirty="0"/>
          </a:p>
        </p:txBody>
      </p:sp>
      <p:sp>
        <p:nvSpPr>
          <p:cNvPr id="14" name="Text 9"/>
          <p:cNvSpPr txBox="1"/>
          <p:nvPr/>
        </p:nvSpPr>
        <p:spPr>
          <a:xfrm>
            <a:off x="4498848" y="2057400"/>
            <a:ext cx="3191256" cy="2788920"/>
          </a:xfrm>
          <a:prstGeom prst="rect">
            <a:avLst/>
          </a:prstGeom>
          <a:noFill/>
          <a:ln/>
        </p:spPr>
        <p:txBody>
          <a:bodyPr wrap="square" lIns="508" tIns="508" rIns="508" bIns="508" rtlCol="0" anchor="t"/>
          <a:lstStyle/>
          <a:p>
            <a:pPr marL="177800" indent="-177800">
              <a:spcAft>
                <a:spcPts val="400"/>
              </a:spcAft>
              <a:buSzPct val="100000"/>
              <a:buChar char="•"/>
            </a:pPr>
            <a:r>
              <a:rPr lang="en-US" sz="1350" dirty="0">
                <a:solidFill>
                  <a:schemeClr val="tx1"/>
                </a:solidFill>
              </a:rPr>
              <a:t>R</a:t>
            </a:r>
            <a:r>
              <a:rPr lang="en-US" sz="1350" baseline="-40000" dirty="0">
                <a:solidFill>
                  <a:schemeClr val="tx1"/>
                </a:solidFill>
              </a:rPr>
              <a:t>r</a:t>
            </a:r>
            <a:r>
              <a:rPr lang="en-US" sz="1350" baseline="30000" dirty="0">
                <a:solidFill>
                  <a:schemeClr val="tx1"/>
                </a:solidFill>
              </a:rPr>
              <a:t>H</a:t>
            </a:r>
            <a:r>
              <a:rPr lang="en-US" sz="1350" dirty="0">
                <a:solidFill>
                  <a:schemeClr val="tx1"/>
                </a:solidFill>
              </a:rPr>
              <a:t> = [(1−Q)R</a:t>
            </a:r>
            <a:r>
              <a:rPr lang="en-US" sz="1350" baseline="-40000" dirty="0">
                <a:solidFill>
                  <a:schemeClr val="tx1"/>
                </a:solidFill>
              </a:rPr>
              <a:t>s</a:t>
            </a:r>
            <a:r>
              <a:rPr lang="en-US" sz="1350" baseline="30000" dirty="0">
                <a:solidFill>
                  <a:schemeClr val="tx1"/>
                </a:solidFill>
              </a:rPr>
              <a:t>H</a:t>
            </a:r>
            <a:r>
              <a:rPr lang="en-US" sz="1350" dirty="0">
                <a:solidFill>
                  <a:schemeClr val="tx1"/>
                </a:solidFill>
              </a:rPr>
              <a:t> + Q·R</a:t>
            </a:r>
            <a:r>
              <a:rPr lang="en-US" sz="1350" baseline="-40000" dirty="0">
                <a:solidFill>
                  <a:schemeClr val="tx1"/>
                </a:solidFill>
              </a:rPr>
              <a:t>s</a:t>
            </a:r>
            <a:r>
              <a:rPr lang="en-US" sz="1350" baseline="30000" dirty="0">
                <a:solidFill>
                  <a:schemeClr val="tx1"/>
                </a:solidFill>
              </a:rPr>
              <a:t>V</a:t>
            </a:r>
            <a:r>
              <a:rPr lang="en-US" sz="1350" dirty="0">
                <a:solidFill>
                  <a:schemeClr val="tx1"/>
                </a:solidFill>
              </a:rPr>
              <a:t>]·exp(−h·cos²θ)</a:t>
            </a:r>
            <a:endParaRPr lang="en-US" sz="1350" dirty="0"/>
          </a:p>
          <a:p>
            <a:pPr marL="177800" indent="-177800">
              <a:spcAft>
                <a:spcPts val="400"/>
              </a:spcAft>
              <a:buSzPct val="100000"/>
              <a:buChar char="•"/>
            </a:pPr>
            <a:r>
              <a:rPr lang="en-US" sz="1350" dirty="0">
                <a:solidFill>
                  <a:schemeClr val="tx1"/>
                </a:solidFill>
              </a:rPr>
              <a:t>h = roughness height, Q = polarisation mixing</a:t>
            </a:r>
            <a:endParaRPr lang="en-US" sz="1350" dirty="0"/>
          </a:p>
          <a:p>
            <a:pPr marL="177800" indent="-177800">
              <a:spcAft>
                <a:spcPts val="400"/>
              </a:spcAft>
              <a:buSzPct val="100000"/>
              <a:buChar char="•"/>
            </a:pPr>
            <a:r>
              <a:rPr lang="en-US" sz="1350" dirty="0">
                <a:solidFill>
                  <a:schemeClr val="tx1"/>
                </a:solidFill>
              </a:rPr>
              <a:t>Roughness raises e and lowers sensitivity</a:t>
            </a:r>
            <a:endParaRPr lang="en-US" sz="1350" dirty="0"/>
          </a:p>
          <a:p>
            <a:pPr marL="177800" indent="-177800">
              <a:spcAft>
                <a:spcPts val="400"/>
              </a:spcAft>
              <a:buSzPct val="100000"/>
              <a:buChar char="•"/>
            </a:pPr>
            <a:r>
              <a:rPr lang="en-US" sz="1350" dirty="0">
                <a:solidFill>
                  <a:schemeClr val="tx1"/>
                </a:solidFill>
              </a:rPr>
              <a:t>SMAP: land-cover h, Q = 0</a:t>
            </a:r>
            <a:endParaRPr lang="en-US" sz="1350" dirty="0"/>
          </a:p>
        </p:txBody>
      </p:sp>
      <p:sp>
        <p:nvSpPr>
          <p:cNvPr id="15" name="arrow"/>
          <p:cNvSpPr/>
          <p:nvPr/>
        </p:nvSpPr>
        <p:spPr>
          <a:xfrm>
            <a:off x="7882128" y="3154680"/>
            <a:ext cx="192024" cy="0"/>
          </a:xfrm>
          <a:prstGeom prst="line">
            <a:avLst/>
          </a:prstGeom>
          <a:noFill/>
          <a:ln w="31750">
            <a:solidFill>
              <a:srgbClr val="173F5F"/>
            </a:solidFill>
            <a:prstDash val="solid"/>
            <a:tailEnd type="triangle"/>
          </a:ln>
        </p:spPr>
      </p:sp>
      <p:sp>
        <p:nvSpPr>
          <p:cNvPr id="16" name="card"/>
          <p:cNvSpPr/>
          <p:nvPr/>
        </p:nvSpPr>
        <p:spPr>
          <a:xfrm>
            <a:off x="8083296" y="1371600"/>
            <a:ext cx="3557016" cy="3566160"/>
          </a:xfrm>
          <a:prstGeom prst="roundRect">
            <a:avLst>
              <a:gd name="adj" fmla="val 2057"/>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8266176" y="1527048"/>
            <a:ext cx="420624" cy="420624"/>
          </a:xfrm>
          <a:prstGeom prst="ellipse">
            <a:avLst/>
          </a:prstGeom>
          <a:solidFill>
            <a:schemeClr val="accent3"/>
          </a:solidFill>
          <a:ln/>
        </p:spPr>
      </p:sp>
      <p:pic>
        <p:nvPicPr>
          <p:cNvPr id="18" name="Image 2" descr="ThermometerHalf icon">    </p:cNvPr>
          <p:cNvPicPr>
            <a:picLocks noChangeAspect="1"/>
          </p:cNvPicPr>
          <p:nvPr/>
        </p:nvPicPr>
        <p:blipFill>
          <a:blip r:embed="rId3"/>
          <a:stretch>
            <a:fillRect/>
          </a:stretch>
        </p:blipFill>
        <p:spPr>
          <a:xfrm>
            <a:off x="8375538" y="1636410"/>
            <a:ext cx="201900" cy="201900"/>
          </a:xfrm>
          <a:prstGeom prst="rect">
            <a:avLst/>
          </a:prstGeom>
        </p:spPr>
      </p:pic>
      <p:sp>
        <p:nvSpPr>
          <p:cNvPr id="19" name="Text 13"/>
          <p:cNvSpPr txBox="1"/>
          <p:nvPr/>
        </p:nvSpPr>
        <p:spPr>
          <a:xfrm>
            <a:off x="8796528" y="150876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3 · Temperature</a:t>
            </a:r>
            <a:endParaRPr lang="en-US" sz="1600" dirty="0"/>
          </a:p>
        </p:txBody>
      </p:sp>
      <p:sp>
        <p:nvSpPr>
          <p:cNvPr id="20" name="Text 14"/>
          <p:cNvSpPr txBox="1"/>
          <p:nvPr/>
        </p:nvSpPr>
        <p:spPr>
          <a:xfrm>
            <a:off x="8266176" y="2057400"/>
            <a:ext cx="3191256" cy="2788920"/>
          </a:xfrm>
          <a:prstGeom prst="rect">
            <a:avLst/>
          </a:prstGeom>
          <a:noFill/>
          <a:ln/>
        </p:spPr>
        <p:txBody>
          <a:bodyPr wrap="square" lIns="508" tIns="508" rIns="508" bIns="508" rtlCol="0" anchor="t"/>
          <a:lstStyle/>
          <a:p>
            <a:pPr marL="177800" indent="-177800">
              <a:spcAft>
                <a:spcPts val="400"/>
              </a:spcAft>
              <a:buSzPct val="100000"/>
              <a:buChar char="•"/>
            </a:pPr>
            <a:r>
              <a:rPr lang="en-US" sz="1350" dirty="0">
                <a:solidFill>
                  <a:schemeClr val="tx1"/>
                </a:solidFill>
              </a:rPr>
              <a:t>T</a:t>
            </a:r>
            <a:r>
              <a:rPr lang="en-US" sz="1350" baseline="-40000" dirty="0">
                <a:solidFill>
                  <a:schemeClr val="tx1"/>
                </a:solidFill>
              </a:rPr>
              <a:t>s</a:t>
            </a:r>
            <a:r>
              <a:rPr lang="en-US" sz="1350" dirty="0">
                <a:solidFill>
                  <a:schemeClr val="tx1"/>
                </a:solidFill>
              </a:rPr>
              <a:t> from thermal IR, 37 GHz V-pol T</a:t>
            </a:r>
            <a:r>
              <a:rPr lang="en-US" sz="1350" baseline="-40000" dirty="0">
                <a:solidFill>
                  <a:schemeClr val="tx1"/>
                </a:solidFill>
              </a:rPr>
              <a:t>B</a:t>
            </a:r>
            <a:r>
              <a:rPr lang="en-US" sz="1350" dirty="0">
                <a:solidFill>
                  <a:schemeClr val="tx1"/>
                </a:solidFill>
              </a:rPr>
              <a:t>, or ECMWF</a:t>
            </a:r>
            <a:endParaRPr lang="en-US" sz="1350" dirty="0"/>
          </a:p>
          <a:p>
            <a:pPr marL="177800" indent="-177800">
              <a:spcAft>
                <a:spcPts val="400"/>
              </a:spcAft>
              <a:buSzPct val="100000"/>
              <a:buChar char="•"/>
            </a:pPr>
            <a:r>
              <a:rPr lang="en-US" sz="1350" dirty="0">
                <a:solidFill>
                  <a:schemeClr val="tx1"/>
                </a:solidFill>
              </a:rPr>
              <a:t>Usually T</a:t>
            </a:r>
            <a:r>
              <a:rPr lang="en-US" sz="1350" baseline="-40000" dirty="0">
                <a:solidFill>
                  <a:schemeClr val="tx1"/>
                </a:solidFill>
              </a:rPr>
              <a:t>s</a:t>
            </a:r>
            <a:r>
              <a:rPr lang="en-US" sz="1350" dirty="0">
                <a:solidFill>
                  <a:schemeClr val="tx1"/>
                </a:solidFill>
              </a:rPr>
              <a:t> ≈ T</a:t>
            </a:r>
            <a:r>
              <a:rPr lang="en-US" sz="1350" baseline="-40000" dirty="0">
                <a:solidFill>
                  <a:schemeClr val="tx1"/>
                </a:solidFill>
              </a:rPr>
              <a:t>c</a:t>
            </a:r>
            <a:r>
              <a:rPr lang="en-US" sz="1350" dirty="0">
                <a:solidFill>
                  <a:schemeClr val="tx1"/>
                </a:solidFill>
              </a:rPr>
              <a:t> (soil ≈ canopy)</a:t>
            </a:r>
            <a:endParaRPr lang="en-US" sz="1350" dirty="0"/>
          </a:p>
          <a:p>
            <a:pPr marL="177800" indent="-177800">
              <a:spcAft>
                <a:spcPts val="400"/>
              </a:spcAft>
              <a:buSzPct val="100000"/>
              <a:buChar char="•"/>
            </a:pPr>
            <a:r>
              <a:rPr lang="en-US" sz="1350" dirty="0">
                <a:solidFill>
                  <a:schemeClr val="tx1"/>
                </a:solidFill>
              </a:rPr>
              <a:t>Error of 1 K in T</a:t>
            </a:r>
            <a:r>
              <a:rPr lang="en-US" sz="1350" baseline="-40000" dirty="0">
                <a:solidFill>
                  <a:schemeClr val="tx1"/>
                </a:solidFill>
              </a:rPr>
              <a:t>s</a:t>
            </a:r>
            <a:r>
              <a:rPr lang="en-US" sz="1350" dirty="0">
                <a:solidFill>
                  <a:schemeClr val="tx1"/>
                </a:solidFill>
              </a:rPr>
              <a:t> ≈ error in T</a:t>
            </a:r>
            <a:r>
              <a:rPr lang="en-US" sz="1350" baseline="-40000" dirty="0">
                <a:solidFill>
                  <a:schemeClr val="tx1"/>
                </a:solidFill>
              </a:rPr>
              <a:t>B</a:t>
            </a:r>
            <a:endParaRPr lang="en-US" sz="1350" dirty="0"/>
          </a:p>
        </p:txBody>
      </p:sp>
      <p:sp>
        <p:nvSpPr>
          <p:cNvPr id="21" name="insight"/>
          <p:cNvSpPr/>
          <p:nvPr/>
        </p:nvSpPr>
        <p:spPr>
          <a:xfrm>
            <a:off x="548640" y="5166360"/>
            <a:ext cx="11094415" cy="1005840"/>
          </a:xfrm>
          <a:prstGeom prst="roundRect">
            <a:avLst>
              <a:gd name="adj" fmla="val 7273"/>
            </a:avLst>
          </a:prstGeom>
          <a:solidFill>
            <a:schemeClr val="bg2"/>
          </a:solidFill>
          <a:ln/>
        </p:spPr>
      </p:sp>
      <p:sp>
        <p:nvSpPr>
          <p:cNvPr id="22" name="icon circle"/>
          <p:cNvSpPr/>
          <p:nvPr/>
        </p:nvSpPr>
        <p:spPr>
          <a:xfrm>
            <a:off x="685800" y="5431536"/>
            <a:ext cx="475488" cy="475488"/>
          </a:xfrm>
          <a:prstGeom prst="ellipse">
            <a:avLst/>
          </a:prstGeom>
          <a:solidFill>
            <a:schemeClr val="accent3"/>
          </a:solidFill>
          <a:ln/>
        </p:spPr>
      </p:sp>
      <p:pic>
        <p:nvPicPr>
          <p:cNvPr id="23" name="Image 3" descr="Lightbulb icon">    </p:cNvPr>
          <p:cNvPicPr>
            <a:picLocks noChangeAspect="1"/>
          </p:cNvPicPr>
          <p:nvPr/>
        </p:nvPicPr>
        <p:blipFill>
          <a:blip r:embed="rId4"/>
          <a:stretch>
            <a:fillRect/>
          </a:stretch>
        </p:blipFill>
        <p:spPr>
          <a:xfrm>
            <a:off x="809427" y="5555163"/>
            <a:ext cx="228234" cy="228234"/>
          </a:xfrm>
          <a:prstGeom prst="rect">
            <a:avLst/>
          </a:prstGeom>
        </p:spPr>
      </p:pic>
      <p:sp>
        <p:nvSpPr>
          <p:cNvPr id="24" name="Text 17"/>
          <p:cNvSpPr txBox="1"/>
          <p:nvPr/>
        </p:nvSpPr>
        <p:spPr>
          <a:xfrm>
            <a:off x="1325880" y="5202936"/>
            <a:ext cx="10180015" cy="93268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Also flagged or corrected: </a:t>
            </a:r>
            <a:r>
              <a:rPr lang="en-US" sz="1400" b="1" dirty="0">
                <a:solidFill>
                  <a:schemeClr val="tx1"/>
                </a:solidFill>
              </a:rPr>
              <a:t>open water</a:t>
            </a:r>
            <a:r>
              <a:rPr lang="en-US" sz="1400" dirty="0">
                <a:solidFill>
                  <a:schemeClr val="tx1"/>
                </a:solidFill>
              </a:rPr>
              <a:t> in the pixel, </a:t>
            </a:r>
            <a:r>
              <a:rPr lang="en-US" sz="1400" b="1" dirty="0">
                <a:solidFill>
                  <a:schemeClr val="tx1"/>
                </a:solidFill>
              </a:rPr>
              <a:t>RFI</a:t>
            </a:r>
            <a:r>
              <a:rPr lang="en-US" sz="1400" dirty="0">
                <a:solidFill>
                  <a:schemeClr val="tx1"/>
                </a:solidFill>
              </a:rPr>
              <a:t>, snow, frozen soil, dense forest, and heavy rain. At L-band the atmosphere is almost transparent, so T</a:t>
            </a:r>
            <a:r>
              <a:rPr lang="en-US" sz="1400" baseline="-40000" dirty="0">
                <a:solidFill>
                  <a:schemeClr val="tx1"/>
                </a:solidFill>
              </a:rPr>
              <a:t>B,TOA</a:t>
            </a:r>
            <a:r>
              <a:rPr lang="en-US" sz="1400" dirty="0">
                <a:solidFill>
                  <a:schemeClr val="tx1"/>
                </a:solidFill>
              </a:rPr>
              <a:t> ≈ T</a:t>
            </a:r>
            <a:r>
              <a:rPr lang="en-US" sz="1400" baseline="-40000" dirty="0">
                <a:solidFill>
                  <a:schemeClr val="tx1"/>
                </a:solidFill>
              </a:rPr>
              <a:t>B,canopy</a:t>
            </a: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τ-ω model: how vegetation is handled</a:t>
            </a:r>
            <a:endParaRPr lang="en-US" sz="3200" dirty="0"/>
          </a:p>
        </p:txBody>
      </p:sp>
      <p:sp>
        <p:nvSpPr>
          <p:cNvPr id="4" name="canopy layer"/>
          <p:cNvSpPr/>
          <p:nvPr/>
        </p:nvSpPr>
        <p:spPr>
          <a:xfrm>
            <a:off x="548640" y="2880360"/>
            <a:ext cx="5669280" cy="1417320"/>
          </a:xfrm>
          <a:prstGeom prst="rect">
            <a:avLst/>
          </a:prstGeom>
          <a:solidFill>
            <a:srgbClr val="3F8F5A">
              <a:alpha val="28000"/>
            </a:srgbClr>
          </a:solidFill>
          <a:ln w="12700">
            <a:solidFill>
              <a:srgbClr val="3F8F5A"/>
            </a:solidFill>
            <a:prstDash val="solid"/>
          </a:ln>
        </p:spPr>
      </p:sp>
      <p:sp>
        <p:nvSpPr>
          <p:cNvPr id="5" name="Text 2"/>
          <p:cNvSpPr txBox="1"/>
          <p:nvPr/>
        </p:nvSpPr>
        <p:spPr>
          <a:xfrm>
            <a:off x="640080" y="2907792"/>
            <a:ext cx="2743200" cy="274320"/>
          </a:xfrm>
          <a:prstGeom prst="rect">
            <a:avLst/>
          </a:prstGeom>
          <a:noFill/>
          <a:ln/>
        </p:spPr>
        <p:txBody>
          <a:bodyPr wrap="square" lIns="0" tIns="0" rIns="0" bIns="0" rtlCol="0" anchor="ctr"/>
          <a:lstStyle/>
          <a:p>
            <a:pPr algn="l" indent="0" marL="0">
              <a:buNone/>
            </a:pPr>
            <a:r>
              <a:rPr lang="en-US" sz="1200" b="1" dirty="0">
                <a:solidFill>
                  <a:schemeClr val="accent4"/>
                </a:solidFill>
              </a:rPr>
              <a:t>Canopy: τ, ω, T</a:t>
            </a:r>
            <a:r>
              <a:rPr lang="en-US" sz="1200" b="1" baseline="-40000" dirty="0">
                <a:solidFill>
                  <a:schemeClr val="accent4"/>
                </a:solidFill>
              </a:rPr>
              <a:t>c</a:t>
            </a:r>
            <a:endParaRPr lang="en-US" sz="1200" dirty="0"/>
          </a:p>
        </p:txBody>
      </p:sp>
      <p:sp>
        <p:nvSpPr>
          <p:cNvPr id="6" name="stem"/>
          <p:cNvSpPr/>
          <p:nvPr/>
        </p:nvSpPr>
        <p:spPr>
          <a:xfrm>
            <a:off x="868680" y="3246120"/>
            <a:ext cx="164592" cy="868680"/>
          </a:xfrm>
          <a:prstGeom prst="line">
            <a:avLst/>
          </a:prstGeom>
          <a:noFill/>
          <a:ln w="38100">
            <a:solidFill>
              <a:srgbClr val="3F8F5A"/>
            </a:solidFill>
            <a:prstDash val="solid"/>
          </a:ln>
        </p:spPr>
      </p:sp>
      <p:sp>
        <p:nvSpPr>
          <p:cNvPr id="7" name="stem"/>
          <p:cNvSpPr/>
          <p:nvPr/>
        </p:nvSpPr>
        <p:spPr>
          <a:xfrm>
            <a:off x="1490472" y="3246120"/>
            <a:ext cx="164592" cy="868680"/>
          </a:xfrm>
          <a:prstGeom prst="line">
            <a:avLst/>
          </a:prstGeom>
          <a:noFill/>
          <a:ln w="38100">
            <a:solidFill>
              <a:srgbClr val="3F8F5A"/>
            </a:solidFill>
            <a:prstDash val="solid"/>
          </a:ln>
        </p:spPr>
      </p:sp>
      <p:sp>
        <p:nvSpPr>
          <p:cNvPr id="8" name="stem"/>
          <p:cNvSpPr/>
          <p:nvPr/>
        </p:nvSpPr>
        <p:spPr>
          <a:xfrm>
            <a:off x="2112264" y="3246120"/>
            <a:ext cx="164592" cy="868680"/>
          </a:xfrm>
          <a:prstGeom prst="line">
            <a:avLst/>
          </a:prstGeom>
          <a:noFill/>
          <a:ln w="38100">
            <a:solidFill>
              <a:srgbClr val="3F8F5A"/>
            </a:solidFill>
            <a:prstDash val="solid"/>
          </a:ln>
        </p:spPr>
      </p:sp>
      <p:sp>
        <p:nvSpPr>
          <p:cNvPr id="9" name="stem"/>
          <p:cNvSpPr/>
          <p:nvPr/>
        </p:nvSpPr>
        <p:spPr>
          <a:xfrm>
            <a:off x="2734056" y="3246120"/>
            <a:ext cx="164592" cy="868680"/>
          </a:xfrm>
          <a:prstGeom prst="line">
            <a:avLst/>
          </a:prstGeom>
          <a:noFill/>
          <a:ln w="38100">
            <a:solidFill>
              <a:srgbClr val="3F8F5A"/>
            </a:solidFill>
            <a:prstDash val="solid"/>
          </a:ln>
        </p:spPr>
      </p:sp>
      <p:sp>
        <p:nvSpPr>
          <p:cNvPr id="10" name="stem"/>
          <p:cNvSpPr/>
          <p:nvPr/>
        </p:nvSpPr>
        <p:spPr>
          <a:xfrm>
            <a:off x="3355848" y="3246120"/>
            <a:ext cx="164592" cy="868680"/>
          </a:xfrm>
          <a:prstGeom prst="line">
            <a:avLst/>
          </a:prstGeom>
          <a:noFill/>
          <a:ln w="38100">
            <a:solidFill>
              <a:srgbClr val="3F8F5A"/>
            </a:solidFill>
            <a:prstDash val="solid"/>
          </a:ln>
        </p:spPr>
      </p:sp>
      <p:sp>
        <p:nvSpPr>
          <p:cNvPr id="11" name="stem"/>
          <p:cNvSpPr/>
          <p:nvPr/>
        </p:nvSpPr>
        <p:spPr>
          <a:xfrm>
            <a:off x="3977640" y="3246120"/>
            <a:ext cx="164592" cy="868680"/>
          </a:xfrm>
          <a:prstGeom prst="line">
            <a:avLst/>
          </a:prstGeom>
          <a:noFill/>
          <a:ln w="38100">
            <a:solidFill>
              <a:srgbClr val="3F8F5A"/>
            </a:solidFill>
            <a:prstDash val="solid"/>
          </a:ln>
        </p:spPr>
      </p:sp>
      <p:sp>
        <p:nvSpPr>
          <p:cNvPr id="12" name="stem"/>
          <p:cNvSpPr/>
          <p:nvPr/>
        </p:nvSpPr>
        <p:spPr>
          <a:xfrm>
            <a:off x="4599432" y="3246120"/>
            <a:ext cx="164592" cy="868680"/>
          </a:xfrm>
          <a:prstGeom prst="line">
            <a:avLst/>
          </a:prstGeom>
          <a:noFill/>
          <a:ln w="38100">
            <a:solidFill>
              <a:srgbClr val="3F8F5A"/>
            </a:solidFill>
            <a:prstDash val="solid"/>
          </a:ln>
        </p:spPr>
      </p:sp>
      <p:sp>
        <p:nvSpPr>
          <p:cNvPr id="13" name="stem"/>
          <p:cNvSpPr/>
          <p:nvPr/>
        </p:nvSpPr>
        <p:spPr>
          <a:xfrm>
            <a:off x="5221224" y="3246120"/>
            <a:ext cx="164592" cy="868680"/>
          </a:xfrm>
          <a:prstGeom prst="line">
            <a:avLst/>
          </a:prstGeom>
          <a:noFill/>
          <a:ln w="38100">
            <a:solidFill>
              <a:srgbClr val="3F8F5A"/>
            </a:solidFill>
            <a:prstDash val="solid"/>
          </a:ln>
        </p:spPr>
      </p:sp>
      <p:sp>
        <p:nvSpPr>
          <p:cNvPr id="14" name="stem"/>
          <p:cNvSpPr/>
          <p:nvPr/>
        </p:nvSpPr>
        <p:spPr>
          <a:xfrm>
            <a:off x="5843016" y="3246120"/>
            <a:ext cx="164592" cy="868680"/>
          </a:xfrm>
          <a:prstGeom prst="line">
            <a:avLst/>
          </a:prstGeom>
          <a:noFill/>
          <a:ln w="38100">
            <a:solidFill>
              <a:srgbClr val="3F8F5A"/>
            </a:solidFill>
            <a:prstDash val="solid"/>
          </a:ln>
        </p:spPr>
      </p:sp>
      <p:sp>
        <p:nvSpPr>
          <p:cNvPr id="15" name="soil"/>
          <p:cNvSpPr/>
          <p:nvPr/>
        </p:nvSpPr>
        <p:spPr>
          <a:xfrm>
            <a:off x="548640" y="4846320"/>
            <a:ext cx="5669280" cy="1051560"/>
          </a:xfrm>
          <a:prstGeom prst="rect">
            <a:avLst/>
          </a:prstGeom>
          <a:solidFill>
            <a:srgbClr val="8C5E34">
              <a:alpha val="75000"/>
            </a:srgbClr>
          </a:solidFill>
          <a:ln/>
        </p:spPr>
      </p:sp>
      <p:sp>
        <p:nvSpPr>
          <p:cNvPr id="16" name="Text 13"/>
          <p:cNvSpPr txBox="1"/>
          <p:nvPr/>
        </p:nvSpPr>
        <p:spPr>
          <a:xfrm>
            <a:off x="640080" y="5440680"/>
            <a:ext cx="4114800" cy="365760"/>
          </a:xfrm>
          <a:prstGeom prst="rect">
            <a:avLst/>
          </a:prstGeom>
          <a:noFill/>
          <a:ln/>
        </p:spPr>
        <p:txBody>
          <a:bodyPr wrap="square" lIns="0" tIns="0" rIns="0" bIns="0" rtlCol="0" anchor="ctr"/>
          <a:lstStyle/>
          <a:p>
            <a:pPr algn="l" indent="0" marL="0">
              <a:buNone/>
            </a:pPr>
            <a:r>
              <a:rPr lang="en-US" sz="1200" b="1" dirty="0">
                <a:solidFill>
                  <a:schemeClr val="bg1"/>
                </a:solidFill>
              </a:rPr>
              <a:t>Soil: ε′ (m</a:t>
            </a:r>
            <a:r>
              <a:rPr lang="en-US" sz="1200" b="1" baseline="-40000" dirty="0">
                <a:solidFill>
                  <a:schemeClr val="bg1"/>
                </a:solidFill>
              </a:rPr>
              <a:t>v</a:t>
            </a:r>
            <a:r>
              <a:rPr lang="en-US" sz="1200" b="1" dirty="0">
                <a:solidFill>
                  <a:schemeClr val="bg1"/>
                </a:solidFill>
              </a:rPr>
              <a:t>), roughness h, T</a:t>
            </a:r>
            <a:r>
              <a:rPr lang="en-US" sz="1200" b="1" baseline="-40000" dirty="0">
                <a:solidFill>
                  <a:schemeClr val="bg1"/>
                </a:solidFill>
              </a:rPr>
              <a:t>s</a:t>
            </a:r>
            <a:endParaRPr lang="en-US" sz="1200" dirty="0"/>
          </a:p>
        </p:txBody>
      </p:sp>
      <p:sp>
        <p:nvSpPr>
          <p:cNvPr id="17" name="icon circle"/>
          <p:cNvSpPr/>
          <p:nvPr/>
        </p:nvSpPr>
        <p:spPr>
          <a:xfrm>
            <a:off x="2971800" y="1280160"/>
            <a:ext cx="640080" cy="640080"/>
          </a:xfrm>
          <a:prstGeom prst="ellipse">
            <a:avLst/>
          </a:prstGeom>
          <a:solidFill>
            <a:schemeClr val="accent2"/>
          </a:solidFill>
          <a:ln/>
        </p:spPr>
      </p:sp>
      <p:pic>
        <p:nvPicPr>
          <p:cNvPr id="18" name="Image 0" descr="Satellite icon">    </p:cNvPr>
          <p:cNvPicPr>
            <a:picLocks noChangeAspect="1"/>
          </p:cNvPicPr>
          <p:nvPr/>
        </p:nvPicPr>
        <p:blipFill>
          <a:blip r:embed="rId1"/>
          <a:stretch>
            <a:fillRect/>
          </a:stretch>
        </p:blipFill>
        <p:spPr>
          <a:xfrm>
            <a:off x="3138221" y="1446581"/>
            <a:ext cx="307238" cy="307238"/>
          </a:xfrm>
          <a:prstGeom prst="rect">
            <a:avLst/>
          </a:prstGeom>
        </p:spPr>
      </p:pic>
      <p:sp>
        <p:nvSpPr>
          <p:cNvPr id="19" name="Text 15"/>
          <p:cNvSpPr txBox="1"/>
          <p:nvPr/>
        </p:nvSpPr>
        <p:spPr>
          <a:xfrm>
            <a:off x="3703320" y="1417320"/>
            <a:ext cx="2377440" cy="365760"/>
          </a:xfrm>
          <a:prstGeom prst="rect">
            <a:avLst/>
          </a:prstGeom>
          <a:noFill/>
          <a:ln/>
        </p:spPr>
        <p:txBody>
          <a:bodyPr wrap="square" lIns="0" tIns="0" rIns="0" bIns="0" rtlCol="0" anchor="ctr"/>
          <a:lstStyle/>
          <a:p>
            <a:pPr algn="l" indent="0" marL="0">
              <a:buNone/>
            </a:pPr>
            <a:r>
              <a:rPr lang="en-US" sz="1200" b="1" dirty="0">
                <a:solidFill>
                  <a:schemeClr val="tx2"/>
                </a:solidFill>
              </a:rPr>
              <a:t>Radiometer measures T</a:t>
            </a:r>
            <a:r>
              <a:rPr lang="en-US" sz="1200" b="1" baseline="-40000" dirty="0">
                <a:solidFill>
                  <a:schemeClr val="tx2"/>
                </a:solidFill>
              </a:rPr>
              <a:t>B</a:t>
            </a:r>
            <a:endParaRPr lang="en-US" sz="1200" dirty="0"/>
          </a:p>
        </p:txBody>
      </p:sp>
      <p:sp>
        <p:nvSpPr>
          <p:cNvPr id="20" name="arrow"/>
          <p:cNvSpPr/>
          <p:nvPr/>
        </p:nvSpPr>
        <p:spPr>
          <a:xfrm flipV="1">
            <a:off x="1188720" y="2148840"/>
            <a:ext cx="0" cy="2697480"/>
          </a:xfrm>
          <a:prstGeom prst="line">
            <a:avLst/>
          </a:prstGeom>
          <a:noFill/>
          <a:ln w="38100">
            <a:solidFill>
              <a:srgbClr val="2E86AB"/>
            </a:solidFill>
            <a:prstDash val="solid"/>
            <a:tailEnd type="triangle"/>
          </a:ln>
        </p:spPr>
      </p:sp>
      <p:sp>
        <p:nvSpPr>
          <p:cNvPr id="21" name="Text 17"/>
          <p:cNvSpPr txBox="1"/>
          <p:nvPr/>
        </p:nvSpPr>
        <p:spPr>
          <a:xfrm>
            <a:off x="1280160" y="2148840"/>
            <a:ext cx="1371600" cy="274320"/>
          </a:xfrm>
          <a:prstGeom prst="rect">
            <a:avLst/>
          </a:prstGeom>
          <a:noFill/>
          <a:ln/>
        </p:spPr>
        <p:txBody>
          <a:bodyPr wrap="square" lIns="0" tIns="0" rIns="0" bIns="0" rtlCol="0" anchor="ctr"/>
          <a:lstStyle/>
          <a:p>
            <a:pPr algn="l" indent="0" marL="0">
              <a:buNone/>
            </a:pPr>
            <a:r>
              <a:rPr lang="en-US" sz="1200" b="1" dirty="0">
                <a:solidFill>
                  <a:schemeClr val="accent2"/>
                </a:solidFill>
              </a:rPr>
              <a:t>① soil × γ</a:t>
            </a:r>
            <a:endParaRPr lang="en-US" sz="1200" dirty="0"/>
          </a:p>
        </p:txBody>
      </p:sp>
      <p:sp>
        <p:nvSpPr>
          <p:cNvPr id="22" name="arrow"/>
          <p:cNvSpPr/>
          <p:nvPr/>
        </p:nvSpPr>
        <p:spPr>
          <a:xfrm flipV="1">
            <a:off x="2834640" y="2148840"/>
            <a:ext cx="0" cy="1463040"/>
          </a:xfrm>
          <a:prstGeom prst="line">
            <a:avLst/>
          </a:prstGeom>
          <a:noFill/>
          <a:ln w="38100">
            <a:solidFill>
              <a:srgbClr val="3F8F5A"/>
            </a:solidFill>
            <a:prstDash val="solid"/>
            <a:tailEnd type="triangle"/>
          </a:ln>
        </p:spPr>
      </p:sp>
      <p:sp>
        <p:nvSpPr>
          <p:cNvPr id="23" name="Text 19"/>
          <p:cNvSpPr txBox="1"/>
          <p:nvPr/>
        </p:nvSpPr>
        <p:spPr>
          <a:xfrm>
            <a:off x="2926080" y="2148840"/>
            <a:ext cx="1371600" cy="274320"/>
          </a:xfrm>
          <a:prstGeom prst="rect">
            <a:avLst/>
          </a:prstGeom>
          <a:noFill/>
          <a:ln/>
        </p:spPr>
        <p:txBody>
          <a:bodyPr wrap="square" lIns="0" tIns="0" rIns="0" bIns="0" rtlCol="0" anchor="ctr"/>
          <a:lstStyle/>
          <a:p>
            <a:pPr algn="l" indent="0" marL="0">
              <a:buNone/>
            </a:pPr>
            <a:r>
              <a:rPr lang="en-US" sz="1200" b="1" dirty="0">
                <a:solidFill>
                  <a:schemeClr val="accent4"/>
                </a:solidFill>
              </a:rPr>
              <a:t>② canopy up</a:t>
            </a:r>
            <a:endParaRPr lang="en-US" sz="1200" dirty="0"/>
          </a:p>
        </p:txBody>
      </p:sp>
      <p:sp>
        <p:nvSpPr>
          <p:cNvPr id="24" name="arrow"/>
          <p:cNvSpPr/>
          <p:nvPr/>
        </p:nvSpPr>
        <p:spPr>
          <a:xfrm>
            <a:off x="4206240" y="3840480"/>
            <a:ext cx="411480" cy="987552"/>
          </a:xfrm>
          <a:prstGeom prst="line">
            <a:avLst/>
          </a:prstGeom>
          <a:noFill/>
          <a:ln w="38100">
            <a:solidFill>
              <a:srgbClr val="6C4F9E"/>
            </a:solidFill>
            <a:prstDash val="solid"/>
            <a:tailEnd type="triangle"/>
          </a:ln>
        </p:spPr>
      </p:sp>
      <p:sp>
        <p:nvSpPr>
          <p:cNvPr id="25" name="arrow"/>
          <p:cNvSpPr/>
          <p:nvPr/>
        </p:nvSpPr>
        <p:spPr>
          <a:xfrm flipV="1">
            <a:off x="4617720" y="2148840"/>
            <a:ext cx="502920" cy="2679192"/>
          </a:xfrm>
          <a:prstGeom prst="line">
            <a:avLst/>
          </a:prstGeom>
          <a:noFill/>
          <a:ln w="38100">
            <a:solidFill>
              <a:srgbClr val="6C4F9E"/>
            </a:solidFill>
            <a:prstDash val="solid"/>
            <a:tailEnd type="triangle"/>
          </a:ln>
        </p:spPr>
      </p:sp>
      <p:sp>
        <p:nvSpPr>
          <p:cNvPr id="26" name="Text 22"/>
          <p:cNvSpPr txBox="1"/>
          <p:nvPr/>
        </p:nvSpPr>
        <p:spPr>
          <a:xfrm>
            <a:off x="4160520" y="1828800"/>
            <a:ext cx="2103120" cy="301752"/>
          </a:xfrm>
          <a:prstGeom prst="rect">
            <a:avLst/>
          </a:prstGeom>
          <a:noFill/>
          <a:ln/>
        </p:spPr>
        <p:txBody>
          <a:bodyPr wrap="square" lIns="0" tIns="0" rIns="0" bIns="0" rtlCol="0" anchor="ctr"/>
          <a:lstStyle/>
          <a:p>
            <a:pPr algn="l" indent="0" marL="0">
              <a:buNone/>
            </a:pPr>
            <a:r>
              <a:rPr lang="en-US" sz="1100" b="1" dirty="0">
                <a:solidFill>
                  <a:schemeClr val="accent5"/>
                </a:solidFill>
              </a:rPr>
              <a:t>③ canopy down, reflected by soil</a:t>
            </a:r>
            <a:endParaRPr lang="en-US" sz="1100" dirty="0"/>
          </a:p>
        </p:txBody>
      </p:sp>
      <p:sp>
        <p:nvSpPr>
          <p:cNvPr id="27" name="card"/>
          <p:cNvSpPr/>
          <p:nvPr/>
        </p:nvSpPr>
        <p:spPr>
          <a:xfrm>
            <a:off x="6583680" y="1325880"/>
            <a:ext cx="5056632" cy="960120"/>
          </a:xfrm>
          <a:prstGeom prst="roundRect">
            <a:avLst>
              <a:gd name="adj" fmla="val 7619"/>
            </a:avLst>
          </a:prstGeom>
          <a:solidFill>
            <a:schemeClr val="tx2"/>
          </a:solidFill>
          <a:ln/>
          <a:effectLst>
            <a:outerShdw sx="100000" sy="100000" kx="0" ky="0" algn="bl" rotWithShape="0" blurRad="76200" dist="25400" dir="5400000">
              <a:srgbClr val="000000">
                <a:alpha val="14000"/>
              </a:srgbClr>
            </a:outerShdw>
          </a:effectLst>
        </p:spPr>
      </p:sp>
      <p:sp>
        <p:nvSpPr>
          <p:cNvPr id="28" name="Text 24"/>
          <p:cNvSpPr txBox="1"/>
          <p:nvPr/>
        </p:nvSpPr>
        <p:spPr>
          <a:xfrm>
            <a:off x="6720840" y="1325880"/>
            <a:ext cx="4782312" cy="960120"/>
          </a:xfrm>
          <a:prstGeom prst="rect">
            <a:avLst/>
          </a:prstGeom>
          <a:noFill/>
          <a:ln/>
        </p:spPr>
        <p:txBody>
          <a:bodyPr wrap="square" lIns="0" tIns="0" rIns="0" bIns="0" rtlCol="0" anchor="ctr"/>
          <a:lstStyle/>
          <a:p>
            <a:pPr algn="ctr" indent="0" marL="0">
              <a:buNone/>
            </a:pPr>
            <a:r>
              <a:rPr lang="en-US" sz="1700" b="1" dirty="0">
                <a:solidFill>
                  <a:schemeClr val="bg1"/>
                </a:solidFill>
              </a:rPr>
              <a:t>T</a:t>
            </a:r>
            <a:r>
              <a:rPr lang="en-US" sz="1700" b="1" baseline="-40000" dirty="0">
                <a:solidFill>
                  <a:schemeClr val="bg1"/>
                </a:solidFill>
              </a:rPr>
              <a:t>B</a:t>
            </a:r>
            <a:r>
              <a:rPr lang="en-US" sz="1700" b="1" dirty="0">
                <a:solidFill>
                  <a:schemeClr val="bg1"/>
                </a:solidFill>
              </a:rPr>
              <a:t> = T</a:t>
            </a:r>
            <a:r>
              <a:rPr lang="en-US" sz="1700" b="1" baseline="-40000" dirty="0">
                <a:solidFill>
                  <a:schemeClr val="bg1"/>
                </a:solidFill>
              </a:rPr>
              <a:t>s</a:t>
            </a:r>
            <a:r>
              <a:rPr lang="en-US" sz="1700" b="1" dirty="0">
                <a:solidFill>
                  <a:schemeClr val="bg1"/>
                </a:solidFill>
              </a:rPr>
              <a:t>e</a:t>
            </a:r>
            <a:r>
              <a:rPr lang="en-US" sz="1700" b="1" baseline="-40000" dirty="0">
                <a:solidFill>
                  <a:schemeClr val="bg1"/>
                </a:solidFill>
              </a:rPr>
              <a:t>s</a:t>
            </a:r>
            <a:r>
              <a:rPr lang="en-US" sz="1700" b="1" dirty="0">
                <a:solidFill>
                  <a:schemeClr val="bg1"/>
                </a:solidFill>
              </a:rPr>
              <a:t>γ + T</a:t>
            </a:r>
            <a:r>
              <a:rPr lang="en-US" sz="1700" b="1" baseline="-40000" dirty="0">
                <a:solidFill>
                  <a:schemeClr val="bg1"/>
                </a:solidFill>
              </a:rPr>
              <a:t>c</a:t>
            </a:r>
            <a:r>
              <a:rPr lang="en-US" sz="1700" b="1" dirty="0">
                <a:solidFill>
                  <a:schemeClr val="bg1"/>
                </a:solidFill>
              </a:rPr>
              <a:t>(1−ω)(1−γ)(1 + r</a:t>
            </a:r>
            <a:r>
              <a:rPr lang="en-US" sz="1700" b="1" baseline="-40000" dirty="0">
                <a:solidFill>
                  <a:schemeClr val="bg1"/>
                </a:solidFill>
              </a:rPr>
              <a:t>s</a:t>
            </a:r>
            <a:r>
              <a:rPr lang="en-US" sz="1700" b="1" dirty="0">
                <a:solidFill>
                  <a:schemeClr val="bg1"/>
                </a:solidFill>
              </a:rPr>
              <a:t>γ)</a:t>
            </a:r>
            <a:endParaRPr lang="en-US" sz="1700" dirty="0"/>
          </a:p>
        </p:txBody>
      </p:sp>
      <p:sp>
        <p:nvSpPr>
          <p:cNvPr id="29" name="Text 25"/>
          <p:cNvSpPr txBox="1"/>
          <p:nvPr/>
        </p:nvSpPr>
        <p:spPr>
          <a:xfrm>
            <a:off x="6583680" y="2468880"/>
            <a:ext cx="5056632" cy="3108960"/>
          </a:xfrm>
          <a:prstGeom prst="rect">
            <a:avLst/>
          </a:prstGeom>
          <a:noFill/>
          <a:ln/>
        </p:spPr>
        <p:txBody>
          <a:bodyPr wrap="square" lIns="508" tIns="508" rIns="508" bIns="508" rtlCol="0" anchor="t"/>
          <a:lstStyle/>
          <a:p>
            <a:pPr marL="177800" indent="-177800">
              <a:spcAft>
                <a:spcPts val="500"/>
              </a:spcAft>
              <a:buSzPct val="100000"/>
              <a:buChar char="•"/>
            </a:pPr>
            <a:r>
              <a:rPr lang="en-US" sz="1350" b="1" dirty="0">
                <a:solidFill>
                  <a:schemeClr val="tx1"/>
                </a:solidFill>
              </a:rPr>
              <a:t>γ = exp(−τ·secθ)</a:t>
            </a:r>
            <a:r>
              <a:rPr lang="en-US" sz="1350" dirty="0">
                <a:solidFill>
                  <a:schemeClr val="tx1"/>
                </a:solidFill>
              </a:rPr>
              <a:t>: vegetation transmissivity</a:t>
            </a:r>
            <a:endParaRPr lang="en-US" sz="1350" dirty="0"/>
          </a:p>
          <a:p>
            <a:pPr marL="177800" indent="-177800">
              <a:spcAft>
                <a:spcPts val="500"/>
              </a:spcAft>
              <a:buSzPct val="100000"/>
              <a:buChar char="•"/>
            </a:pPr>
            <a:r>
              <a:rPr lang="en-US" sz="1350" b="1" dirty="0">
                <a:solidFill>
                  <a:schemeClr val="tx1"/>
                </a:solidFill>
              </a:rPr>
              <a:t>τ = b·VWC</a:t>
            </a:r>
            <a:r>
              <a:rPr lang="en-US" sz="1350" dirty="0">
                <a:solidFill>
                  <a:schemeClr val="tx1"/>
                </a:solidFill>
              </a:rPr>
              <a:t> (Jackson &amp; Schmugge 1991); b depends on crop type and frequency</a:t>
            </a:r>
            <a:endParaRPr lang="en-US" sz="1350" dirty="0"/>
          </a:p>
          <a:p>
            <a:pPr marL="177800" indent="-177800">
              <a:spcAft>
                <a:spcPts val="500"/>
              </a:spcAft>
              <a:buSzPct val="100000"/>
              <a:buChar char="•"/>
            </a:pPr>
            <a:r>
              <a:rPr lang="en-US" sz="1350" b="1" dirty="0">
                <a:solidFill>
                  <a:schemeClr val="tx1"/>
                </a:solidFill>
              </a:rPr>
              <a:t>VWC from NDVI</a:t>
            </a:r>
            <a:r>
              <a:rPr lang="en-US" sz="1350" dirty="0">
                <a:solidFill>
                  <a:schemeClr val="tx1"/>
                </a:solidFill>
              </a:rPr>
              <a:t> or LAI (SMAP uses an NDVI-based climatology)</a:t>
            </a:r>
            <a:endParaRPr lang="en-US" sz="1350" dirty="0"/>
          </a:p>
          <a:p>
            <a:pPr marL="177800" indent="-177800">
              <a:spcAft>
                <a:spcPts val="500"/>
              </a:spcAft>
              <a:buSzPct val="100000"/>
              <a:buChar char="•"/>
            </a:pPr>
            <a:r>
              <a:rPr lang="en-US" sz="1350" b="1" dirty="0">
                <a:solidFill>
                  <a:schemeClr val="tx1"/>
                </a:solidFill>
              </a:rPr>
              <a:t>ω</a:t>
            </a:r>
            <a:r>
              <a:rPr lang="en-US" sz="1350" dirty="0">
                <a:solidFill>
                  <a:schemeClr val="tx1"/>
                </a:solidFill>
              </a:rPr>
              <a:t> single-scattering albedo, small at L-band (~0–0.1)</a:t>
            </a:r>
            <a:endParaRPr lang="en-US" sz="1350" dirty="0"/>
          </a:p>
          <a:p>
            <a:pPr marL="177800" indent="-177800">
              <a:spcAft>
                <a:spcPts val="500"/>
              </a:spcAft>
              <a:buSzPct val="100000"/>
              <a:buChar char="•"/>
            </a:pPr>
            <a:r>
              <a:rPr lang="en-US" sz="1350" b="1" dirty="0">
                <a:solidFill>
                  <a:schemeClr val="tx1"/>
                </a:solidFill>
              </a:rPr>
              <a:t>r</a:t>
            </a:r>
            <a:r>
              <a:rPr lang="en-US" sz="1350" b="1" baseline="-40000" dirty="0">
                <a:solidFill>
                  <a:schemeClr val="tx1"/>
                </a:solidFill>
              </a:rPr>
              <a:t>s</a:t>
            </a:r>
            <a:r>
              <a:rPr lang="en-US" sz="1350" b="1" dirty="0">
                <a:solidFill>
                  <a:schemeClr val="tx1"/>
                </a:solidFill>
              </a:rPr>
              <a:t> = 1 − e</a:t>
            </a:r>
            <a:r>
              <a:rPr lang="en-US" sz="1350" b="1" baseline="-40000" dirty="0">
                <a:solidFill>
                  <a:schemeClr val="tx1"/>
                </a:solidFill>
              </a:rPr>
              <a:t>s</a:t>
            </a:r>
            <a:r>
              <a:rPr lang="en-US" sz="1350" dirty="0">
                <a:solidFill>
                  <a:schemeClr val="tx1"/>
                </a:solidFill>
              </a:rPr>
              <a:t> soil reflectivity; usually T</a:t>
            </a:r>
            <a:r>
              <a:rPr lang="en-US" sz="1350" baseline="-40000" dirty="0">
                <a:solidFill>
                  <a:schemeClr val="tx1"/>
                </a:solidFill>
              </a:rPr>
              <a:t>s</a:t>
            </a:r>
            <a:r>
              <a:rPr lang="en-US" sz="1350" dirty="0">
                <a:solidFill>
                  <a:schemeClr val="tx1"/>
                </a:solidFill>
              </a:rPr>
              <a:t> ≈ T</a:t>
            </a:r>
            <a:r>
              <a:rPr lang="en-US" sz="1350" baseline="-40000" dirty="0">
                <a:solidFill>
                  <a:schemeClr val="tx1"/>
                </a:solidFill>
              </a:rPr>
              <a:t>c</a:t>
            </a:r>
            <a:endParaRPr lang="en-US" sz="1350" dirty="0"/>
          </a:p>
          <a:p>
            <a:pPr marL="177800" indent="-177800">
              <a:spcAft>
                <a:spcPts val="500"/>
              </a:spcAft>
              <a:buSzPct val="100000"/>
              <a:buChar char="•"/>
            </a:pPr>
            <a:r>
              <a:rPr lang="en-US" sz="1350" dirty="0">
                <a:solidFill>
                  <a:schemeClr val="tx1"/>
                </a:solidFill>
              </a:rPr>
              <a:t>Works well for VWC &lt; ~5 kg/m²; forests attenuate too much</a:t>
            </a:r>
            <a:endParaRPr lang="en-US" sz="1350" dirty="0"/>
          </a:p>
        </p:txBody>
      </p:sp>
      <p:sp>
        <p:nvSpPr>
          <p:cNvPr id="30" name="Text 26"/>
          <p:cNvSpPr txBox="1"/>
          <p:nvPr/>
        </p:nvSpPr>
        <p:spPr>
          <a:xfrm>
            <a:off x="6583680" y="5623560"/>
            <a:ext cx="5056632" cy="548640"/>
          </a:xfrm>
          <a:prstGeom prst="rect">
            <a:avLst/>
          </a:prstGeom>
          <a:noFill/>
          <a:ln/>
        </p:spPr>
        <p:txBody>
          <a:bodyPr wrap="square" lIns="0" tIns="0" rIns="0" bIns="0" rtlCol="0" anchor="t"/>
          <a:lstStyle/>
          <a:p>
            <a:pPr algn="l" indent="0" marL="0">
              <a:buNone/>
            </a:pPr>
            <a:r>
              <a:rPr lang="en-US" sz="1100" i="1" dirty="0">
                <a:solidFill>
                  <a:schemeClr val="accent6"/>
                </a:solidFill>
              </a:rPr>
              <a:t>Terms: ① soil emission through canopy · ② direct canopy emission · ③ canopy emission reflected by soil</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Passive retrieval as a flow: forward model + optimisation</a:t>
            </a:r>
            <a:endParaRPr lang="en-US" sz="3200" dirty="0"/>
          </a:p>
        </p:txBody>
      </p:sp>
      <p:sp>
        <p:nvSpPr>
          <p:cNvPr id="4" name="diagram box"/>
          <p:cNvSpPr/>
          <p:nvPr/>
        </p:nvSpPr>
        <p:spPr>
          <a:xfrm>
            <a:off x="548640" y="1417320"/>
            <a:ext cx="2011680" cy="868680"/>
          </a:xfrm>
          <a:prstGeom prst="roundRect">
            <a:avLst>
              <a:gd name="adj" fmla="val 8421"/>
            </a:avLst>
          </a:prstGeom>
          <a:solidFill>
            <a:schemeClr val="accent6"/>
          </a:solidFill>
          <a:ln/>
        </p:spPr>
      </p:sp>
      <p:sp>
        <p:nvSpPr>
          <p:cNvPr id="5" name="Text 2"/>
          <p:cNvSpPr txBox="1"/>
          <p:nvPr/>
        </p:nvSpPr>
        <p:spPr>
          <a:xfrm>
            <a:off x="548640" y="1417320"/>
            <a:ext cx="201168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Guess m</a:t>
            </a:r>
            <a:r>
              <a:rPr lang="en-US" sz="1300" b="1" baseline="-40000" dirty="0">
                <a:solidFill>
                  <a:schemeClr val="bg1"/>
                </a:solidFill>
              </a:rPr>
              <a:t>v</a:t>
            </a:r>
            <a:endParaRPr lang="en-US" sz="1300" dirty="0"/>
          </a:p>
        </p:txBody>
      </p:sp>
      <p:sp>
        <p:nvSpPr>
          <p:cNvPr id="6" name="arrow"/>
          <p:cNvSpPr/>
          <p:nvPr/>
        </p:nvSpPr>
        <p:spPr>
          <a:xfrm>
            <a:off x="2569464" y="1847088"/>
            <a:ext cx="365760" cy="0"/>
          </a:xfrm>
          <a:prstGeom prst="line">
            <a:avLst/>
          </a:prstGeom>
          <a:noFill/>
          <a:ln w="31750">
            <a:solidFill>
              <a:srgbClr val="173F5F"/>
            </a:solidFill>
            <a:prstDash val="solid"/>
            <a:tailEnd type="triangle"/>
          </a:ln>
        </p:spPr>
      </p:sp>
      <p:sp>
        <p:nvSpPr>
          <p:cNvPr id="7" name="diagram box"/>
          <p:cNvSpPr/>
          <p:nvPr/>
        </p:nvSpPr>
        <p:spPr>
          <a:xfrm>
            <a:off x="2944368" y="1417320"/>
            <a:ext cx="2011680" cy="868680"/>
          </a:xfrm>
          <a:prstGeom prst="roundRect">
            <a:avLst>
              <a:gd name="adj" fmla="val 8421"/>
            </a:avLst>
          </a:prstGeom>
          <a:solidFill>
            <a:schemeClr val="accent2"/>
          </a:solidFill>
          <a:ln/>
        </p:spPr>
      </p:sp>
      <p:sp>
        <p:nvSpPr>
          <p:cNvPr id="8" name="Text 5"/>
          <p:cNvSpPr txBox="1"/>
          <p:nvPr/>
        </p:nvSpPr>
        <p:spPr>
          <a:xfrm>
            <a:off x="2944368" y="1417320"/>
            <a:ext cx="201168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Dielectric model → ε′</a:t>
            </a:r>
            <a:endParaRPr lang="en-US" sz="1300" dirty="0"/>
          </a:p>
        </p:txBody>
      </p:sp>
      <p:sp>
        <p:nvSpPr>
          <p:cNvPr id="9" name="arrow"/>
          <p:cNvSpPr/>
          <p:nvPr/>
        </p:nvSpPr>
        <p:spPr>
          <a:xfrm>
            <a:off x="4965192" y="1847088"/>
            <a:ext cx="365760" cy="0"/>
          </a:xfrm>
          <a:prstGeom prst="line">
            <a:avLst/>
          </a:prstGeom>
          <a:noFill/>
          <a:ln w="31750">
            <a:solidFill>
              <a:srgbClr val="173F5F"/>
            </a:solidFill>
            <a:prstDash val="solid"/>
            <a:tailEnd type="triangle"/>
          </a:ln>
        </p:spPr>
      </p:sp>
      <p:sp>
        <p:nvSpPr>
          <p:cNvPr id="10" name="diagram box"/>
          <p:cNvSpPr/>
          <p:nvPr/>
        </p:nvSpPr>
        <p:spPr>
          <a:xfrm>
            <a:off x="5340096" y="1417320"/>
            <a:ext cx="2011680" cy="868680"/>
          </a:xfrm>
          <a:prstGeom prst="roundRect">
            <a:avLst>
              <a:gd name="adj" fmla="val 8421"/>
            </a:avLst>
          </a:prstGeom>
          <a:solidFill>
            <a:schemeClr val="accent1"/>
          </a:solidFill>
          <a:ln/>
        </p:spPr>
      </p:sp>
      <p:sp>
        <p:nvSpPr>
          <p:cNvPr id="11" name="Text 8"/>
          <p:cNvSpPr txBox="1"/>
          <p:nvPr/>
        </p:nvSpPr>
        <p:spPr>
          <a:xfrm>
            <a:off x="5340096" y="1417320"/>
            <a:ext cx="201168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Fresnel + h–Q → e</a:t>
            </a:r>
            <a:r>
              <a:rPr lang="en-US" sz="1300" b="1" baseline="-40000" dirty="0">
                <a:solidFill>
                  <a:schemeClr val="bg1"/>
                </a:solidFill>
              </a:rPr>
              <a:t>s</a:t>
            </a:r>
            <a:endParaRPr lang="en-US" sz="1300" dirty="0"/>
          </a:p>
        </p:txBody>
      </p:sp>
      <p:sp>
        <p:nvSpPr>
          <p:cNvPr id="12" name="arrow"/>
          <p:cNvSpPr/>
          <p:nvPr/>
        </p:nvSpPr>
        <p:spPr>
          <a:xfrm>
            <a:off x="7360920" y="1847088"/>
            <a:ext cx="365760" cy="0"/>
          </a:xfrm>
          <a:prstGeom prst="line">
            <a:avLst/>
          </a:prstGeom>
          <a:noFill/>
          <a:ln w="31750">
            <a:solidFill>
              <a:srgbClr val="173F5F"/>
            </a:solidFill>
            <a:prstDash val="solid"/>
            <a:tailEnd type="triangle"/>
          </a:ln>
        </p:spPr>
      </p:sp>
      <p:sp>
        <p:nvSpPr>
          <p:cNvPr id="13" name="diagram box"/>
          <p:cNvSpPr/>
          <p:nvPr/>
        </p:nvSpPr>
        <p:spPr>
          <a:xfrm>
            <a:off x="7735824" y="1417320"/>
            <a:ext cx="2011680" cy="868680"/>
          </a:xfrm>
          <a:prstGeom prst="roundRect">
            <a:avLst>
              <a:gd name="adj" fmla="val 8421"/>
            </a:avLst>
          </a:prstGeom>
          <a:solidFill>
            <a:schemeClr val="accent4"/>
          </a:solidFill>
          <a:ln/>
        </p:spPr>
      </p:sp>
      <p:sp>
        <p:nvSpPr>
          <p:cNvPr id="14" name="Text 11"/>
          <p:cNvSpPr txBox="1"/>
          <p:nvPr/>
        </p:nvSpPr>
        <p:spPr>
          <a:xfrm>
            <a:off x="7735824" y="1417320"/>
            <a:ext cx="201168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τ-ω model → T</a:t>
            </a:r>
            <a:r>
              <a:rPr lang="en-US" sz="1300" b="1" baseline="-40000" dirty="0">
                <a:solidFill>
                  <a:schemeClr val="bg1"/>
                </a:solidFill>
              </a:rPr>
              <a:t>B,mod</a:t>
            </a:r>
            <a:endParaRPr lang="en-US" sz="1300" dirty="0"/>
          </a:p>
        </p:txBody>
      </p:sp>
      <p:sp>
        <p:nvSpPr>
          <p:cNvPr id="15" name="card"/>
          <p:cNvSpPr/>
          <p:nvPr/>
        </p:nvSpPr>
        <p:spPr>
          <a:xfrm>
            <a:off x="10131552" y="1325880"/>
            <a:ext cx="1508760"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16" name="Text 13"/>
          <p:cNvSpPr txBox="1"/>
          <p:nvPr/>
        </p:nvSpPr>
        <p:spPr>
          <a:xfrm>
            <a:off x="10177272" y="1353312"/>
            <a:ext cx="1417320" cy="1051560"/>
          </a:xfrm>
          <a:prstGeom prst="rect">
            <a:avLst/>
          </a:prstGeom>
          <a:noFill/>
          <a:ln/>
        </p:spPr>
        <p:txBody>
          <a:bodyPr wrap="square" lIns="0" tIns="0" rIns="0" bIns="0" rtlCol="0" anchor="ctr"/>
          <a:lstStyle/>
          <a:p>
            <a:pPr algn="ctr" indent="0" marL="0">
              <a:buNone/>
            </a:pPr>
            <a:r>
              <a:rPr lang="en-US" sz="1050" dirty="0">
                <a:solidFill>
                  <a:schemeClr val="tx2"/>
                </a:solidFill>
              </a:rPr>
              <a:t>Ancillary: NDVI→VWC, soil texture, land cover, T</a:t>
            </a:r>
            <a:r>
              <a:rPr lang="en-US" sz="1050" baseline="-40000" dirty="0">
                <a:solidFill>
                  <a:schemeClr val="tx2"/>
                </a:solidFill>
              </a:rPr>
              <a:t>s</a:t>
            </a:r>
            <a:endParaRPr lang="en-US" sz="1050" dirty="0"/>
          </a:p>
        </p:txBody>
      </p:sp>
      <p:sp>
        <p:nvSpPr>
          <p:cNvPr id="17" name="arrow"/>
          <p:cNvSpPr/>
          <p:nvPr/>
        </p:nvSpPr>
        <p:spPr>
          <a:xfrm flipH="1">
            <a:off x="9537192" y="1874520"/>
            <a:ext cx="594360" cy="0"/>
          </a:xfrm>
          <a:prstGeom prst="line">
            <a:avLst/>
          </a:prstGeom>
          <a:noFill/>
          <a:ln w="19050">
            <a:solidFill>
              <a:srgbClr val="5C6B73"/>
            </a:solidFill>
            <a:prstDash val="dash"/>
            <a:tailEnd type="triangle"/>
          </a:ln>
        </p:spPr>
      </p:sp>
      <p:sp>
        <p:nvSpPr>
          <p:cNvPr id="18" name="diagram box"/>
          <p:cNvSpPr/>
          <p:nvPr/>
        </p:nvSpPr>
        <p:spPr>
          <a:xfrm>
            <a:off x="7735824" y="2971800"/>
            <a:ext cx="2011680" cy="914400"/>
          </a:xfrm>
          <a:prstGeom prst="roundRect">
            <a:avLst>
              <a:gd name="adj" fmla="val 8000"/>
            </a:avLst>
          </a:prstGeom>
          <a:solidFill>
            <a:schemeClr val="tx2"/>
          </a:solidFill>
          <a:ln/>
        </p:spPr>
      </p:sp>
      <p:sp>
        <p:nvSpPr>
          <p:cNvPr id="19" name="Text 16"/>
          <p:cNvSpPr txBox="1"/>
          <p:nvPr/>
        </p:nvSpPr>
        <p:spPr>
          <a:xfrm>
            <a:off x="7735824" y="2971800"/>
            <a:ext cx="2011680" cy="914400"/>
          </a:xfrm>
          <a:prstGeom prst="rect">
            <a:avLst/>
          </a:prstGeom>
          <a:noFill/>
          <a:ln/>
        </p:spPr>
        <p:txBody>
          <a:bodyPr wrap="square" lIns="508" tIns="508" rIns="508" bIns="508" rtlCol="0" anchor="ctr"/>
          <a:lstStyle/>
          <a:p>
            <a:pPr algn="ctr" indent="0" marL="0">
              <a:buNone/>
            </a:pPr>
            <a:r>
              <a:rPr lang="en-US" sz="1200" b="1" dirty="0">
                <a:solidFill>
                  <a:schemeClr val="bg1"/>
                </a:solidFill>
              </a:rPr>
              <a:t>Cost J = Σ(T</a:t>
            </a:r>
            <a:r>
              <a:rPr lang="en-US" sz="1200" b="1" baseline="-40000" dirty="0">
                <a:solidFill>
                  <a:schemeClr val="bg1"/>
                </a:solidFill>
              </a:rPr>
              <a:t>B,obs</a:t>
            </a:r>
            <a:r>
              <a:rPr lang="en-US" sz="1200" b="1" dirty="0">
                <a:solidFill>
                  <a:schemeClr val="bg1"/>
                </a:solidFill>
              </a:rPr>
              <a:t> − T</a:t>
            </a:r>
            <a:r>
              <a:rPr lang="en-US" sz="1200" b="1" baseline="-40000" dirty="0">
                <a:solidFill>
                  <a:schemeClr val="bg1"/>
                </a:solidFill>
              </a:rPr>
              <a:t>B,mod</a:t>
            </a:r>
            <a:r>
              <a:rPr lang="en-US" sz="1200" b="1" dirty="0">
                <a:solidFill>
                  <a:schemeClr val="bg1"/>
                </a:solidFill>
              </a:rPr>
              <a:t>)²</a:t>
            </a:r>
            <a:endParaRPr lang="en-US" sz="1200" dirty="0"/>
          </a:p>
        </p:txBody>
      </p:sp>
      <p:sp>
        <p:nvSpPr>
          <p:cNvPr id="20" name="arrow"/>
          <p:cNvSpPr/>
          <p:nvPr/>
        </p:nvSpPr>
        <p:spPr>
          <a:xfrm>
            <a:off x="8741664" y="2286000"/>
            <a:ext cx="0" cy="676656"/>
          </a:xfrm>
          <a:prstGeom prst="line">
            <a:avLst/>
          </a:prstGeom>
          <a:noFill/>
          <a:ln w="31750">
            <a:solidFill>
              <a:srgbClr val="173F5F"/>
            </a:solidFill>
            <a:prstDash val="solid"/>
            <a:tailEnd type="triangle"/>
          </a:ln>
        </p:spPr>
      </p:sp>
      <p:sp>
        <p:nvSpPr>
          <p:cNvPr id="21" name="diagram box"/>
          <p:cNvSpPr/>
          <p:nvPr/>
        </p:nvSpPr>
        <p:spPr>
          <a:xfrm>
            <a:off x="7735824" y="4526280"/>
            <a:ext cx="2011680" cy="822960"/>
          </a:xfrm>
          <a:prstGeom prst="roundRect">
            <a:avLst>
              <a:gd name="adj" fmla="val 8889"/>
            </a:avLst>
          </a:prstGeom>
          <a:solidFill>
            <a:schemeClr val="accent5"/>
          </a:solidFill>
          <a:ln/>
        </p:spPr>
      </p:sp>
      <p:sp>
        <p:nvSpPr>
          <p:cNvPr id="22" name="Text 19"/>
          <p:cNvSpPr txBox="1"/>
          <p:nvPr/>
        </p:nvSpPr>
        <p:spPr>
          <a:xfrm>
            <a:off x="7735824" y="4526280"/>
            <a:ext cx="2011680" cy="822960"/>
          </a:xfrm>
          <a:prstGeom prst="rect">
            <a:avLst/>
          </a:prstGeom>
          <a:noFill/>
          <a:ln/>
        </p:spPr>
        <p:txBody>
          <a:bodyPr wrap="square" lIns="508" tIns="508" rIns="508" bIns="508" rtlCol="0" anchor="ctr"/>
          <a:lstStyle/>
          <a:p>
            <a:pPr algn="ctr" indent="0" marL="0">
              <a:buNone/>
            </a:pPr>
            <a:r>
              <a:rPr lang="en-US" sz="1200" b="1" dirty="0">
                <a:solidFill>
                  <a:schemeClr val="bg1"/>
                </a:solidFill>
              </a:rPr>
              <a:t>Observed T</a:t>
            </a:r>
            <a:r>
              <a:rPr lang="en-US" sz="1200" b="1" baseline="-40000" dirty="0">
                <a:solidFill>
                  <a:schemeClr val="bg1"/>
                </a:solidFill>
              </a:rPr>
              <a:t>B</a:t>
            </a:r>
            <a:r>
              <a:rPr lang="en-US" sz="1200" b="1" dirty="0">
                <a:solidFill>
                  <a:schemeClr val="bg1"/>
                </a:solidFill>
              </a:rPr>
              <a:t> (H, V; angles)</a:t>
            </a:r>
            <a:endParaRPr lang="en-US" sz="1200" dirty="0"/>
          </a:p>
        </p:txBody>
      </p:sp>
      <p:sp>
        <p:nvSpPr>
          <p:cNvPr id="23" name="arrow"/>
          <p:cNvSpPr/>
          <p:nvPr/>
        </p:nvSpPr>
        <p:spPr>
          <a:xfrm flipV="1">
            <a:off x="8741664" y="3895344"/>
            <a:ext cx="0" cy="621792"/>
          </a:xfrm>
          <a:prstGeom prst="line">
            <a:avLst/>
          </a:prstGeom>
          <a:noFill/>
          <a:ln w="31750">
            <a:solidFill>
              <a:srgbClr val="173F5F"/>
            </a:solidFill>
            <a:prstDash val="solid"/>
            <a:tailEnd type="triangle"/>
          </a:ln>
        </p:spPr>
      </p:sp>
      <p:sp>
        <p:nvSpPr>
          <p:cNvPr id="24" name="diagram box"/>
          <p:cNvSpPr/>
          <p:nvPr/>
        </p:nvSpPr>
        <p:spPr>
          <a:xfrm>
            <a:off x="4572000" y="2926080"/>
            <a:ext cx="2194560" cy="1005840"/>
          </a:xfrm>
          <a:prstGeom prst="diamond">
            <a:avLst/>
          </a:prstGeom>
          <a:solidFill>
            <a:schemeClr val="accent3"/>
          </a:solidFill>
          <a:ln/>
        </p:spPr>
      </p:sp>
      <p:sp>
        <p:nvSpPr>
          <p:cNvPr id="25" name="Text 22"/>
          <p:cNvSpPr txBox="1"/>
          <p:nvPr/>
        </p:nvSpPr>
        <p:spPr>
          <a:xfrm>
            <a:off x="4572000" y="2926080"/>
            <a:ext cx="2194560" cy="1005840"/>
          </a:xfrm>
          <a:prstGeom prst="rect">
            <a:avLst/>
          </a:prstGeom>
          <a:noFill/>
          <a:ln/>
        </p:spPr>
        <p:txBody>
          <a:bodyPr wrap="square" lIns="508" tIns="508" rIns="508" bIns="508" rtlCol="0" anchor="ctr"/>
          <a:lstStyle/>
          <a:p>
            <a:pPr algn="ctr" indent="0" marL="0">
              <a:buNone/>
            </a:pPr>
            <a:r>
              <a:rPr lang="en-US" sz="1400" b="1" dirty="0">
                <a:solidFill>
                  <a:schemeClr val="tx1"/>
                </a:solidFill>
              </a:rPr>
              <a:t>J minimum?</a:t>
            </a:r>
            <a:endParaRPr lang="en-US" sz="1400" dirty="0"/>
          </a:p>
        </p:txBody>
      </p:sp>
      <p:sp>
        <p:nvSpPr>
          <p:cNvPr id="26" name="arrow"/>
          <p:cNvSpPr/>
          <p:nvPr/>
        </p:nvSpPr>
        <p:spPr>
          <a:xfrm flipH="1">
            <a:off x="6775704" y="3429000"/>
            <a:ext cx="950976" cy="0"/>
          </a:xfrm>
          <a:prstGeom prst="line">
            <a:avLst/>
          </a:prstGeom>
          <a:noFill/>
          <a:ln w="31750">
            <a:solidFill>
              <a:srgbClr val="173F5F"/>
            </a:solidFill>
            <a:prstDash val="solid"/>
            <a:tailEnd type="triangle"/>
          </a:ln>
        </p:spPr>
      </p:sp>
      <p:sp>
        <p:nvSpPr>
          <p:cNvPr id="27" name="diagram box"/>
          <p:cNvSpPr/>
          <p:nvPr/>
        </p:nvSpPr>
        <p:spPr>
          <a:xfrm>
            <a:off x="548640" y="3017520"/>
            <a:ext cx="2011680" cy="822960"/>
          </a:xfrm>
          <a:prstGeom prst="roundRect">
            <a:avLst>
              <a:gd name="adj" fmla="val 8889"/>
            </a:avLst>
          </a:prstGeom>
          <a:solidFill>
            <a:schemeClr val="accent6"/>
          </a:solidFill>
          <a:ln/>
        </p:spPr>
      </p:sp>
      <p:sp>
        <p:nvSpPr>
          <p:cNvPr id="28" name="Text 25"/>
          <p:cNvSpPr txBox="1"/>
          <p:nvPr/>
        </p:nvSpPr>
        <p:spPr>
          <a:xfrm>
            <a:off x="548640" y="3017520"/>
            <a:ext cx="201168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Update m</a:t>
            </a:r>
            <a:r>
              <a:rPr lang="en-US" sz="1300" b="1" baseline="-40000" dirty="0">
                <a:solidFill>
                  <a:schemeClr val="bg1"/>
                </a:solidFill>
              </a:rPr>
              <a:t>v</a:t>
            </a:r>
            <a:r>
              <a:rPr lang="en-US" sz="1300" b="1" dirty="0">
                <a:solidFill>
                  <a:schemeClr val="bg1"/>
                </a:solidFill>
              </a:rPr>
              <a:t> (and τ)</a:t>
            </a:r>
            <a:endParaRPr lang="en-US" sz="1300" dirty="0"/>
          </a:p>
        </p:txBody>
      </p:sp>
      <p:sp>
        <p:nvSpPr>
          <p:cNvPr id="29" name="arrow"/>
          <p:cNvSpPr/>
          <p:nvPr/>
        </p:nvSpPr>
        <p:spPr>
          <a:xfrm flipH="1">
            <a:off x="2569464" y="3429000"/>
            <a:ext cx="1993392" cy="0"/>
          </a:xfrm>
          <a:prstGeom prst="line">
            <a:avLst/>
          </a:prstGeom>
          <a:noFill/>
          <a:ln w="31750">
            <a:solidFill>
              <a:schemeClr val="accent1"/>
            </a:solidFill>
            <a:prstDash val="solid"/>
            <a:tailEnd type="triangle"/>
          </a:ln>
        </p:spPr>
      </p:sp>
      <p:sp>
        <p:nvSpPr>
          <p:cNvPr id="30" name="Text 27"/>
          <p:cNvSpPr txBox="1"/>
          <p:nvPr/>
        </p:nvSpPr>
        <p:spPr>
          <a:xfrm>
            <a:off x="3200400" y="3108960"/>
            <a:ext cx="731520" cy="274320"/>
          </a:xfrm>
          <a:prstGeom prst="rect">
            <a:avLst/>
          </a:prstGeom>
          <a:noFill/>
          <a:ln/>
        </p:spPr>
        <p:txBody>
          <a:bodyPr wrap="square" lIns="0" tIns="0" rIns="0" bIns="0" rtlCol="0" anchor="ctr"/>
          <a:lstStyle/>
          <a:p>
            <a:pPr algn="l" indent="0" marL="0">
              <a:buNone/>
            </a:pPr>
            <a:r>
              <a:rPr lang="en-US" sz="1200" b="1" dirty="0">
                <a:solidFill>
                  <a:schemeClr val="accent1"/>
                </a:solidFill>
              </a:rPr>
              <a:t>No</a:t>
            </a:r>
            <a:endParaRPr lang="en-US" sz="1200" dirty="0"/>
          </a:p>
        </p:txBody>
      </p:sp>
      <p:sp>
        <p:nvSpPr>
          <p:cNvPr id="31" name="arrow"/>
          <p:cNvSpPr/>
          <p:nvPr/>
        </p:nvSpPr>
        <p:spPr>
          <a:xfrm flipV="1">
            <a:off x="1554480" y="2295144"/>
            <a:ext cx="0" cy="713232"/>
          </a:xfrm>
          <a:prstGeom prst="line">
            <a:avLst/>
          </a:prstGeom>
          <a:noFill/>
          <a:ln w="31750">
            <a:solidFill>
              <a:schemeClr val="accent1"/>
            </a:solidFill>
            <a:prstDash val="solid"/>
            <a:tailEnd type="triangle"/>
          </a:ln>
        </p:spPr>
      </p:sp>
      <p:sp>
        <p:nvSpPr>
          <p:cNvPr id="32" name="diagram box"/>
          <p:cNvSpPr/>
          <p:nvPr/>
        </p:nvSpPr>
        <p:spPr>
          <a:xfrm>
            <a:off x="4297680" y="4526280"/>
            <a:ext cx="2743200" cy="822960"/>
          </a:xfrm>
          <a:prstGeom prst="roundRect">
            <a:avLst>
              <a:gd name="adj" fmla="val 8889"/>
            </a:avLst>
          </a:prstGeom>
          <a:solidFill>
            <a:schemeClr val="accent4"/>
          </a:solidFill>
          <a:ln/>
        </p:spPr>
      </p:sp>
      <p:sp>
        <p:nvSpPr>
          <p:cNvPr id="33" name="Text 30"/>
          <p:cNvSpPr txBox="1"/>
          <p:nvPr/>
        </p:nvSpPr>
        <p:spPr>
          <a:xfrm>
            <a:off x="4297680" y="4526280"/>
            <a:ext cx="2743200" cy="822960"/>
          </a:xfrm>
          <a:prstGeom prst="rect">
            <a:avLst/>
          </a:prstGeom>
          <a:noFill/>
          <a:ln/>
        </p:spPr>
        <p:txBody>
          <a:bodyPr wrap="square" lIns="508" tIns="508" rIns="508" bIns="508" rtlCol="0" anchor="ctr"/>
          <a:lstStyle/>
          <a:p>
            <a:pPr algn="ctr" indent="0" marL="0">
              <a:buNone/>
            </a:pPr>
            <a:r>
              <a:rPr lang="en-US" sz="1300" b="1" dirty="0">
                <a:solidFill>
                  <a:schemeClr val="bg1"/>
                </a:solidFill>
              </a:rPr>
              <a:t>Retrieved m</a:t>
            </a:r>
            <a:r>
              <a:rPr lang="en-US" sz="1300" b="1" baseline="-40000" dirty="0">
                <a:solidFill>
                  <a:schemeClr val="bg1"/>
                </a:solidFill>
              </a:rPr>
              <a:t>v</a:t>
            </a:r>
            <a:r>
              <a:rPr lang="en-US" sz="1300" b="1" dirty="0">
                <a:solidFill>
                  <a:schemeClr val="bg1"/>
                </a:solidFill>
              </a:rPr>
              <a:t> (+ τ, flags)</a:t>
            </a:r>
            <a:endParaRPr lang="en-US" sz="1300" dirty="0"/>
          </a:p>
        </p:txBody>
      </p:sp>
      <p:sp>
        <p:nvSpPr>
          <p:cNvPr id="34" name="arrow"/>
          <p:cNvSpPr/>
          <p:nvPr/>
        </p:nvSpPr>
        <p:spPr>
          <a:xfrm>
            <a:off x="5669280" y="3941064"/>
            <a:ext cx="0" cy="576072"/>
          </a:xfrm>
          <a:prstGeom prst="line">
            <a:avLst/>
          </a:prstGeom>
          <a:noFill/>
          <a:ln w="31750">
            <a:solidFill>
              <a:schemeClr val="accent4"/>
            </a:solidFill>
            <a:prstDash val="solid"/>
            <a:tailEnd type="triangle"/>
          </a:ln>
        </p:spPr>
      </p:sp>
      <p:sp>
        <p:nvSpPr>
          <p:cNvPr id="35" name="Text 32"/>
          <p:cNvSpPr txBox="1"/>
          <p:nvPr/>
        </p:nvSpPr>
        <p:spPr>
          <a:xfrm>
            <a:off x="5760720" y="4069080"/>
            <a:ext cx="731520" cy="274320"/>
          </a:xfrm>
          <a:prstGeom prst="rect">
            <a:avLst/>
          </a:prstGeom>
          <a:noFill/>
          <a:ln/>
        </p:spPr>
        <p:txBody>
          <a:bodyPr wrap="square" lIns="0" tIns="0" rIns="0" bIns="0" rtlCol="0" anchor="ctr"/>
          <a:lstStyle/>
          <a:p>
            <a:pPr algn="l" indent="0" marL="0">
              <a:buNone/>
            </a:pPr>
            <a:r>
              <a:rPr lang="en-US" sz="1200" b="1" dirty="0">
                <a:solidFill>
                  <a:schemeClr val="accent4"/>
                </a:solidFill>
              </a:rPr>
              <a:t>Yes</a:t>
            </a:r>
            <a:endParaRPr lang="en-US" sz="1200" dirty="0"/>
          </a:p>
        </p:txBody>
      </p:sp>
      <p:sp>
        <p:nvSpPr>
          <p:cNvPr id="36" name="card"/>
          <p:cNvSpPr/>
          <p:nvPr/>
        </p:nvSpPr>
        <p:spPr>
          <a:xfrm>
            <a:off x="548640" y="4206240"/>
            <a:ext cx="3520440"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37" name="Text 34"/>
          <p:cNvSpPr txBox="1"/>
          <p:nvPr/>
        </p:nvSpPr>
        <p:spPr>
          <a:xfrm>
            <a:off x="731520" y="4343400"/>
            <a:ext cx="3200400" cy="365760"/>
          </a:xfrm>
          <a:prstGeom prst="rect">
            <a:avLst/>
          </a:prstGeom>
          <a:noFill/>
          <a:ln/>
        </p:spPr>
        <p:txBody>
          <a:bodyPr wrap="square" lIns="0" tIns="0" rIns="0" bIns="0" rtlCol="0" anchor="ctr"/>
          <a:lstStyle/>
          <a:p>
            <a:pPr indent="0" marL="0">
              <a:buNone/>
            </a:pPr>
            <a:r>
              <a:rPr lang="en-US" sz="1600" b="1" dirty="0">
                <a:solidFill>
                  <a:schemeClr val="tx2"/>
                </a:solidFill>
              </a:rPr>
              <a:t>Two ways to invert</a:t>
            </a:r>
            <a:endParaRPr lang="en-US" sz="1600" dirty="0"/>
          </a:p>
        </p:txBody>
      </p:sp>
      <p:sp>
        <p:nvSpPr>
          <p:cNvPr id="38" name="Text 35"/>
          <p:cNvSpPr txBox="1"/>
          <p:nvPr/>
        </p:nvSpPr>
        <p:spPr>
          <a:xfrm>
            <a:off x="731520" y="4754880"/>
            <a:ext cx="3154680" cy="1325880"/>
          </a:xfrm>
          <a:prstGeom prst="rect">
            <a:avLst/>
          </a:prstGeom>
          <a:noFill/>
          <a:ln/>
        </p:spPr>
        <p:txBody>
          <a:bodyPr wrap="square" lIns="508" tIns="508" rIns="508" bIns="508" rtlCol="0" anchor="t"/>
          <a:lstStyle/>
          <a:p>
            <a:pPr marL="177800" indent="-177800">
              <a:spcAft>
                <a:spcPts val="400"/>
              </a:spcAft>
              <a:buSzPct val="100000"/>
              <a:buChar char="•"/>
            </a:pPr>
            <a:r>
              <a:rPr lang="en-US" sz="1250" b="1" dirty="0">
                <a:solidFill>
                  <a:schemeClr val="tx1"/>
                </a:solidFill>
              </a:rPr>
              <a:t>Forward + optimisation</a:t>
            </a:r>
            <a:r>
              <a:rPr lang="en-US" sz="1250" dirty="0">
                <a:solidFill>
                  <a:schemeClr val="tx1"/>
                </a:solidFill>
              </a:rPr>
              <a:t> (L-MEB, LPRM, DCA)</a:t>
            </a:r>
            <a:endParaRPr lang="en-US" sz="1250" dirty="0"/>
          </a:p>
          <a:p>
            <a:pPr marL="177800" indent="-177800">
              <a:spcAft>
                <a:spcPts val="400"/>
              </a:spcAft>
              <a:buSzPct val="100000"/>
              <a:buChar char="•"/>
            </a:pPr>
            <a:r>
              <a:rPr lang="en-US" sz="1250" b="1" dirty="0">
                <a:solidFill>
                  <a:schemeClr val="tx1"/>
                </a:solidFill>
              </a:rPr>
              <a:t>Direct inversion</a:t>
            </a:r>
            <a:r>
              <a:rPr lang="en-US" sz="1250" dirty="0">
                <a:solidFill>
                  <a:schemeClr val="tx1"/>
                </a:solidFill>
              </a:rPr>
              <a:t> at one channel (SCA): T</a:t>
            </a:r>
            <a:r>
              <a:rPr lang="en-US" sz="1250" baseline="-40000" dirty="0">
                <a:solidFill>
                  <a:schemeClr val="tx1"/>
                </a:solidFill>
              </a:rPr>
              <a:t>B</a:t>
            </a:r>
            <a:r>
              <a:rPr lang="en-US" sz="1250" dirty="0">
                <a:solidFill>
                  <a:schemeClr val="tx1"/>
                </a:solidFill>
              </a:rPr>
              <a:t> → e</a:t>
            </a:r>
            <a:r>
              <a:rPr lang="en-US" sz="1250" baseline="-40000" dirty="0">
                <a:solidFill>
                  <a:schemeClr val="tx1"/>
                </a:solidFill>
              </a:rPr>
              <a:t>s</a:t>
            </a:r>
            <a:r>
              <a:rPr lang="en-US" sz="1250" dirty="0">
                <a:solidFill>
                  <a:schemeClr val="tx1"/>
                </a:solidFill>
              </a:rPr>
              <a:t> → ε′ → m</a:t>
            </a:r>
            <a:r>
              <a:rPr lang="en-US" sz="1250" baseline="-40000" dirty="0">
                <a:solidFill>
                  <a:schemeClr val="tx1"/>
                </a:solidFill>
              </a:rPr>
              <a:t>v</a:t>
            </a:r>
            <a:endParaRPr lang="en-US" sz="1250" dirty="0"/>
          </a:p>
        </p:txBody>
      </p:sp>
      <p:sp>
        <p:nvSpPr>
          <p:cNvPr id="39" name="card"/>
          <p:cNvSpPr/>
          <p:nvPr/>
        </p:nvSpPr>
        <p:spPr>
          <a:xfrm>
            <a:off x="10012680" y="2971800"/>
            <a:ext cx="1627632" cy="3200400"/>
          </a:xfrm>
          <a:prstGeom prst="roundRect">
            <a:avLst>
              <a:gd name="adj" fmla="val 4494"/>
            </a:avLst>
          </a:prstGeom>
          <a:solidFill>
            <a:schemeClr val="bg2"/>
          </a:solidFill>
          <a:ln/>
          <a:effectLst>
            <a:outerShdw sx="100000" sy="100000" kx="0" ky="0" algn="bl" rotWithShape="0" blurRad="76200" dist="25400" dir="5400000">
              <a:srgbClr val="000000">
                <a:alpha val="14000"/>
              </a:srgbClr>
            </a:outerShdw>
          </a:effectLst>
        </p:spPr>
      </p:sp>
      <p:sp>
        <p:nvSpPr>
          <p:cNvPr id="40" name="Text 37"/>
          <p:cNvSpPr txBox="1"/>
          <p:nvPr/>
        </p:nvSpPr>
        <p:spPr>
          <a:xfrm>
            <a:off x="10195560" y="3108960"/>
            <a:ext cx="1307592" cy="365760"/>
          </a:xfrm>
          <a:prstGeom prst="rect">
            <a:avLst/>
          </a:prstGeom>
          <a:noFill/>
          <a:ln/>
        </p:spPr>
        <p:txBody>
          <a:bodyPr wrap="square" lIns="0" tIns="0" rIns="0" bIns="0" rtlCol="0" anchor="ctr"/>
          <a:lstStyle/>
          <a:p>
            <a:pPr indent="0" marL="0">
              <a:buNone/>
            </a:pPr>
            <a:r>
              <a:rPr lang="en-US" sz="1400" b="1" dirty="0">
                <a:solidFill>
                  <a:schemeClr val="tx2"/>
                </a:solidFill>
              </a:rPr>
              <a:t>Output</a:t>
            </a:r>
            <a:endParaRPr lang="en-US" sz="1400" dirty="0"/>
          </a:p>
        </p:txBody>
      </p:sp>
      <p:sp>
        <p:nvSpPr>
          <p:cNvPr id="41" name="Text 38"/>
          <p:cNvSpPr txBox="1"/>
          <p:nvPr/>
        </p:nvSpPr>
        <p:spPr>
          <a:xfrm>
            <a:off x="10195560" y="3520440"/>
            <a:ext cx="1261872" cy="256032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m</a:t>
            </a:r>
            <a:r>
              <a:rPr lang="en-US" sz="1200" baseline="-40000" dirty="0">
                <a:solidFill>
                  <a:schemeClr val="tx1"/>
                </a:solidFill>
              </a:rPr>
              <a:t>v</a:t>
            </a:r>
            <a:r>
              <a:rPr lang="en-US" sz="1200" dirty="0">
                <a:solidFill>
                  <a:schemeClr val="tx1"/>
                </a:solidFill>
              </a:rPr>
              <a:t> (m³/m³)</a:t>
            </a:r>
            <a:endParaRPr lang="en-US" sz="1200" dirty="0"/>
          </a:p>
          <a:p>
            <a:pPr marL="177800" indent="-177800">
              <a:spcAft>
                <a:spcPts val="400"/>
              </a:spcAft>
              <a:buSzPct val="100000"/>
              <a:buChar char="•"/>
            </a:pPr>
            <a:r>
              <a:rPr lang="en-US" sz="1200" dirty="0">
                <a:solidFill>
                  <a:schemeClr val="tx1"/>
                </a:solidFill>
              </a:rPr>
              <a:t>VOD τ</a:t>
            </a:r>
            <a:endParaRPr lang="en-US" sz="1200" dirty="0"/>
          </a:p>
          <a:p>
            <a:pPr marL="177800" indent="-177800">
              <a:spcAft>
                <a:spcPts val="400"/>
              </a:spcAft>
              <a:buSzPct val="100000"/>
              <a:buChar char="•"/>
            </a:pPr>
            <a:r>
              <a:rPr lang="en-US" sz="1200" dirty="0">
                <a:solidFill>
                  <a:schemeClr val="tx1"/>
                </a:solidFill>
              </a:rPr>
              <a:t>Quality flags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Passive algorithms you should be able to name</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00400"/>
                <a:gridCol w="2377440"/>
                <a:gridCol w="1463040"/>
                <a:gridCol w="4050792"/>
              </a:tblGrid>
              <a:tr h="56692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Used by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Retrieves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Key idea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SCA – Single Channel Algorithm (Jackson &amp; Schmugge 1989)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SMAP baseline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One polarisation; τ from NDVI-based VWC; ancillary T</a:t>
                      </a:r>
                      <a:r>
                        <a:rPr lang="en-US" sz="1150" baseline="-40000" dirty="0">
                          <a:solidFill>
                            <a:schemeClr val="tx1"/>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DCA – Dual Channel Algorithm (Owe et al. 2001)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SMAP option, AMSR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 τ</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Uses H and V T</a:t>
                      </a:r>
                      <a:r>
                        <a:rPr lang="en-US" sz="1150" baseline="-40000" dirty="0">
                          <a:solidFill>
                            <a:schemeClr val="tx1"/>
                          </a:solidFill>
                          <a:latin typeface="Calibri" pitchFamily="34" charset="0"/>
                          <a:ea typeface="Calibri" pitchFamily="34" charset="-122"/>
                          <a:cs typeface="Calibri" pitchFamily="34" charset="-120"/>
                        </a:rPr>
                        <a:t>B</a:t>
                      </a:r>
                      <a:r>
                        <a:rPr lang="en-US" sz="1150" dirty="0">
                          <a:solidFill>
                            <a:schemeClr val="tx1"/>
                          </a:solidFill>
                          <a:latin typeface="Calibri" pitchFamily="34" charset="0"/>
                          <a:ea typeface="Calibri" pitchFamily="34" charset="-122"/>
                          <a:cs typeface="Calibri" pitchFamily="34" charset="-120"/>
                        </a:rPr>
                        <a:t> together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LPRM – Land Parameter Retrieval Model (Owe et al. 2008)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AMSR-E, AMSR2, TMI, SSM/I; ESA CCI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 τ</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Polarisation difference links τ to soil emissivity; 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from 37 GHz V-pol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L-MEB (Wigneron et al. 2007)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SMOS Level 2 (Kerr et al. 2012)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 τ (+ roughness)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Multi-angle cost-function minimisation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LSMEM (Drusch 2001; Pan 2014)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AMSR-E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 τ)</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Land surface microwave emission model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Regression / neural networks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SMOS-NN, merged products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t>
                      </a:r>
                      <a:r>
                        <a:rPr lang="en-US" sz="1150" baseline="-40000" dirty="0">
                          <a:solidFill>
                            <a:schemeClr val="tx1"/>
                          </a:solidFill>
                          <a:latin typeface="Calibri" pitchFamily="34" charset="0"/>
                          <a:ea typeface="Calibri" pitchFamily="34" charset="-122"/>
                          <a:cs typeface="Calibri" pitchFamily="34" charset="-120"/>
                        </a:rPr>
                        <a:t>v</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Statistical link between T</a:t>
                      </a:r>
                      <a:r>
                        <a:rPr lang="en-US" sz="1150" baseline="-40000" dirty="0">
                          <a:solidFill>
                            <a:schemeClr val="tx1"/>
                          </a:solidFill>
                          <a:latin typeface="Calibri" pitchFamily="34" charset="0"/>
                          <a:ea typeface="Calibri" pitchFamily="34" charset="-122"/>
                          <a:cs typeface="Calibri" pitchFamily="34" charset="-120"/>
                        </a:rPr>
                        <a:t>B</a:t>
                      </a:r>
                      <a:r>
                        <a:rPr lang="en-US" sz="1150" dirty="0">
                          <a:solidFill>
                            <a:schemeClr val="tx1"/>
                          </a:solidFill>
                          <a:latin typeface="Calibri" pitchFamily="34" charset="0"/>
                          <a:ea typeface="Calibri" pitchFamily="34" charset="-122"/>
                          <a:cs typeface="Calibri" pitchFamily="34" charset="-120"/>
                        </a:rPr>
                        <a:t> and reference soil moisture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insight"/>
          <p:cNvSpPr/>
          <p:nvPr/>
        </p:nvSpPr>
        <p:spPr>
          <a:xfrm>
            <a:off x="548640" y="5440680"/>
            <a:ext cx="11094415" cy="749808"/>
          </a:xfrm>
          <a:prstGeom prst="roundRect">
            <a:avLst>
              <a:gd name="adj" fmla="val 9756"/>
            </a:avLst>
          </a:prstGeom>
          <a:solidFill>
            <a:schemeClr val="bg2"/>
          </a:solidFill>
          <a:ln/>
        </p:spPr>
      </p:sp>
      <p:sp>
        <p:nvSpPr>
          <p:cNvPr id="6" name="icon circle"/>
          <p:cNvSpPr/>
          <p:nvPr/>
        </p:nvSpPr>
        <p:spPr>
          <a:xfrm>
            <a:off x="685800" y="5577840"/>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701467"/>
            <a:ext cx="228234" cy="228234"/>
          </a:xfrm>
          <a:prstGeom prst="rect">
            <a:avLst/>
          </a:prstGeom>
        </p:spPr>
      </p:pic>
      <p:sp>
        <p:nvSpPr>
          <p:cNvPr id="8" name="Text 3"/>
          <p:cNvSpPr txBox="1"/>
          <p:nvPr/>
        </p:nvSpPr>
        <p:spPr>
          <a:xfrm>
            <a:off x="1325880" y="5477256"/>
            <a:ext cx="10180015" cy="676656"/>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Lesson from SMOS vs SMAP: a dedicated mission, RFI-hardened hardware and a </a:t>
            </a:r>
            <a:r>
              <a:rPr lang="en-US" sz="1400" b="1" dirty="0">
                <a:solidFill>
                  <a:schemeClr val="tx1"/>
                </a:solidFill>
              </a:rPr>
              <a:t>simple algorithm (SCA)</a:t>
            </a:r>
            <a:r>
              <a:rPr lang="en-US" sz="1400" dirty="0">
                <a:solidFill>
                  <a:schemeClr val="tx1"/>
                </a:solidFill>
              </a:rPr>
              <a:t> gave the most accurate soil moisture.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Four decades of passive research in one diagram</a:t>
            </a:r>
            <a:endParaRPr lang="en-US" sz="3200" dirty="0"/>
          </a:p>
        </p:txBody>
      </p:sp>
      <p:sp>
        <p:nvSpPr>
          <p:cNvPr id="4" name="figure frame"/>
          <p:cNvSpPr/>
          <p:nvPr/>
        </p:nvSpPr>
        <p:spPr>
          <a:xfrm>
            <a:off x="548640" y="1280160"/>
            <a:ext cx="7680960" cy="4526280"/>
          </a:xfrm>
          <a:prstGeom prst="roundRect">
            <a:avLst>
              <a:gd name="adj" fmla="val 121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1 of the review: passive microwave soil moisture retrieval research, 1965–2017. Source: Karthikeyan et al. (2017), Adv. Water Resour. 109:106–120">    </p:cNvPr>
          <p:cNvPicPr>
            <a:picLocks noChangeAspect="1"/>
          </p:cNvPicPr>
          <p:nvPr/>
        </p:nvPicPr>
        <p:blipFill>
          <a:blip r:embed="rId1"/>
          <a:stretch>
            <a:fillRect/>
          </a:stretch>
        </p:blipFill>
        <p:spPr>
          <a:xfrm>
            <a:off x="640080" y="1427208"/>
            <a:ext cx="7498080" cy="4232183"/>
          </a:xfrm>
          <a:prstGeom prst="rect">
            <a:avLst/>
          </a:prstGeom>
        </p:spPr>
      </p:pic>
      <p:sp>
        <p:nvSpPr>
          <p:cNvPr id="6" name="Text 2"/>
          <p:cNvSpPr txBox="1"/>
          <p:nvPr/>
        </p:nvSpPr>
        <p:spPr>
          <a:xfrm>
            <a:off x="548640" y="5852160"/>
            <a:ext cx="7680960" cy="411480"/>
          </a:xfrm>
          <a:prstGeom prst="rect">
            <a:avLst/>
          </a:prstGeom>
          <a:noFill/>
          <a:ln/>
        </p:spPr>
        <p:txBody>
          <a:bodyPr wrap="square" lIns="0" tIns="0" rIns="0" bIns="0" rtlCol="0" anchor="t"/>
          <a:lstStyle/>
          <a:p>
            <a:pPr indent="0" marL="0">
              <a:buNone/>
            </a:pPr>
            <a:r>
              <a:rPr lang="en-US" sz="1100" i="1" dirty="0">
                <a:solidFill>
                  <a:schemeClr val="accent6"/>
                </a:solidFill>
              </a:rPr>
              <a:t>Fig. 1 of the review: passive microwave soil moisture retrieval research, 1965–2017. Source: Karthikeyan et al. (2017), Adv. Water Resour. 109:106–120</a:t>
            </a:r>
            <a:endParaRPr lang="en-US" sz="1100" dirty="0"/>
          </a:p>
        </p:txBody>
      </p:sp>
      <p:sp>
        <p:nvSpPr>
          <p:cNvPr id="7" name="card"/>
          <p:cNvSpPr/>
          <p:nvPr/>
        </p:nvSpPr>
        <p:spPr>
          <a:xfrm>
            <a:off x="8458200" y="1280160"/>
            <a:ext cx="3182112" cy="4983480"/>
          </a:xfrm>
          <a:prstGeom prst="roundRect">
            <a:avLst>
              <a:gd name="adj" fmla="val 2299"/>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8641080" y="1435608"/>
            <a:ext cx="420624" cy="420624"/>
          </a:xfrm>
          <a:prstGeom prst="ellipse">
            <a:avLst/>
          </a:prstGeom>
          <a:solidFill>
            <a:schemeClr val="accent3"/>
          </a:solidFill>
          <a:ln/>
        </p:spPr>
      </p:sp>
      <p:pic>
        <p:nvPicPr>
          <p:cNvPr id="9" name="Image 1" descr="Clock icon">    </p:cNvPr>
          <p:cNvPicPr>
            <a:picLocks noChangeAspect="1"/>
          </p:cNvPicPr>
          <p:nvPr/>
        </p:nvPicPr>
        <p:blipFill>
          <a:blip r:embed="rId2"/>
          <a:stretch>
            <a:fillRect/>
          </a:stretch>
        </p:blipFill>
        <p:spPr>
          <a:xfrm>
            <a:off x="8750442" y="1544970"/>
            <a:ext cx="201900" cy="201900"/>
          </a:xfrm>
          <a:prstGeom prst="rect">
            <a:avLst/>
          </a:prstGeom>
        </p:spPr>
      </p:pic>
      <p:sp>
        <p:nvSpPr>
          <p:cNvPr id="10" name="Text 5"/>
          <p:cNvSpPr txBox="1"/>
          <p:nvPr/>
        </p:nvSpPr>
        <p:spPr>
          <a:xfrm>
            <a:off x="9171432" y="1417320"/>
            <a:ext cx="2331720" cy="457200"/>
          </a:xfrm>
          <a:prstGeom prst="rect">
            <a:avLst/>
          </a:prstGeom>
          <a:noFill/>
          <a:ln/>
        </p:spPr>
        <p:txBody>
          <a:bodyPr wrap="square" lIns="0" tIns="0" rIns="0" bIns="0" rtlCol="0" anchor="ctr"/>
          <a:lstStyle/>
          <a:p>
            <a:pPr indent="0" marL="0">
              <a:buNone/>
            </a:pPr>
            <a:r>
              <a:rPr lang="en-US" sz="1600" b="1" dirty="0">
                <a:solidFill>
                  <a:schemeClr val="tx2"/>
                </a:solidFill>
              </a:rPr>
              <a:t>Milestones</a:t>
            </a:r>
            <a:endParaRPr lang="en-US" sz="1600" dirty="0"/>
          </a:p>
        </p:txBody>
      </p:sp>
      <p:sp>
        <p:nvSpPr>
          <p:cNvPr id="11" name="Text 6"/>
          <p:cNvSpPr txBox="1"/>
          <p:nvPr/>
        </p:nvSpPr>
        <p:spPr>
          <a:xfrm>
            <a:off x="8641080" y="1965960"/>
            <a:ext cx="2816352" cy="4206240"/>
          </a:xfrm>
          <a:prstGeom prst="rect">
            <a:avLst/>
          </a:prstGeom>
          <a:noFill/>
          <a:ln/>
        </p:spPr>
        <p:txBody>
          <a:bodyPr wrap="square" lIns="508" tIns="508" rIns="508" bIns="508" rtlCol="0" anchor="t"/>
          <a:lstStyle/>
          <a:p>
            <a:pPr marL="177800" indent="-177800">
              <a:spcAft>
                <a:spcPts val="400"/>
              </a:spcAft>
              <a:buSzPct val="100000"/>
              <a:buChar char="•"/>
            </a:pPr>
            <a:r>
              <a:rPr lang="en-US" sz="1250" b="1" dirty="0">
                <a:solidFill>
                  <a:schemeClr val="tx1"/>
                </a:solidFill>
              </a:rPr>
              <a:t>1980–85</a:t>
            </a:r>
            <a:r>
              <a:rPr lang="en-US" sz="1250" dirty="0">
                <a:solidFill>
                  <a:schemeClr val="tx1"/>
                </a:solidFill>
              </a:rPr>
              <a:t> Topp, Wang–Schmugge, Dobson dielectric models</a:t>
            </a:r>
            <a:endParaRPr lang="en-US" sz="1250" dirty="0"/>
          </a:p>
          <a:p>
            <a:pPr marL="177800" indent="-177800">
              <a:spcAft>
                <a:spcPts val="400"/>
              </a:spcAft>
              <a:buSzPct val="100000"/>
              <a:buChar char="•"/>
            </a:pPr>
            <a:r>
              <a:rPr lang="en-US" sz="1250" b="1" dirty="0">
                <a:solidFill>
                  <a:schemeClr val="tx1"/>
                </a:solidFill>
              </a:rPr>
              <a:t>1981</a:t>
            </a:r>
            <a:r>
              <a:rPr lang="en-US" sz="1250" dirty="0">
                <a:solidFill>
                  <a:schemeClr val="tx1"/>
                </a:solidFill>
              </a:rPr>
              <a:t> Wang &amp; Choudhury h–Q roughness</a:t>
            </a:r>
            <a:endParaRPr lang="en-US" sz="1250" dirty="0"/>
          </a:p>
          <a:p>
            <a:pPr marL="177800" indent="-177800">
              <a:spcAft>
                <a:spcPts val="400"/>
              </a:spcAft>
              <a:buSzPct val="100000"/>
              <a:buChar char="•"/>
            </a:pPr>
            <a:r>
              <a:rPr lang="en-US" sz="1250" b="1" dirty="0">
                <a:solidFill>
                  <a:schemeClr val="tx1"/>
                </a:solidFill>
              </a:rPr>
              <a:t>1982</a:t>
            </a:r>
            <a:r>
              <a:rPr lang="en-US" sz="1250" dirty="0">
                <a:solidFill>
                  <a:schemeClr val="tx1"/>
                </a:solidFill>
              </a:rPr>
              <a:t> Mo et al. τ-ω model</a:t>
            </a:r>
            <a:endParaRPr lang="en-US" sz="1250" dirty="0"/>
          </a:p>
          <a:p>
            <a:pPr marL="177800" indent="-177800">
              <a:spcAft>
                <a:spcPts val="400"/>
              </a:spcAft>
              <a:buSzPct val="100000"/>
              <a:buChar char="•"/>
            </a:pPr>
            <a:r>
              <a:rPr lang="en-US" sz="1250" b="1" dirty="0">
                <a:solidFill>
                  <a:schemeClr val="tx1"/>
                </a:solidFill>
              </a:rPr>
              <a:t>1989</a:t>
            </a:r>
            <a:r>
              <a:rPr lang="en-US" sz="1250" dirty="0">
                <a:solidFill>
                  <a:schemeClr val="tx1"/>
                </a:solidFill>
              </a:rPr>
              <a:t> SCA (Jackson &amp; Schmugge)</a:t>
            </a:r>
            <a:endParaRPr lang="en-US" sz="1250" dirty="0"/>
          </a:p>
          <a:p>
            <a:pPr marL="177800" indent="-177800">
              <a:spcAft>
                <a:spcPts val="400"/>
              </a:spcAft>
              <a:buSzPct val="100000"/>
              <a:buChar char="•"/>
            </a:pPr>
            <a:r>
              <a:rPr lang="en-US" sz="1250" b="1" dirty="0">
                <a:solidFill>
                  <a:schemeClr val="tx1"/>
                </a:solidFill>
              </a:rPr>
              <a:t>2001</a:t>
            </a:r>
            <a:r>
              <a:rPr lang="en-US" sz="1250" dirty="0">
                <a:solidFill>
                  <a:schemeClr val="tx1"/>
                </a:solidFill>
              </a:rPr>
              <a:t> DCA (Owe et al.)</a:t>
            </a:r>
            <a:endParaRPr lang="en-US" sz="1250" dirty="0"/>
          </a:p>
          <a:p>
            <a:pPr marL="177800" indent="-177800">
              <a:spcAft>
                <a:spcPts val="400"/>
              </a:spcAft>
              <a:buSzPct val="100000"/>
              <a:buChar char="•"/>
            </a:pPr>
            <a:r>
              <a:rPr lang="en-US" sz="1250" b="1" dirty="0">
                <a:solidFill>
                  <a:schemeClr val="tx1"/>
                </a:solidFill>
              </a:rPr>
              <a:t>2007</a:t>
            </a:r>
            <a:r>
              <a:rPr lang="en-US" sz="1250" dirty="0">
                <a:solidFill>
                  <a:schemeClr val="tx1"/>
                </a:solidFill>
              </a:rPr>
              <a:t> L-MEB (Wigneron)</a:t>
            </a:r>
            <a:endParaRPr lang="en-US" sz="1250" dirty="0"/>
          </a:p>
          <a:p>
            <a:pPr marL="177800" indent="-177800">
              <a:spcAft>
                <a:spcPts val="400"/>
              </a:spcAft>
              <a:buSzPct val="100000"/>
              <a:buChar char="•"/>
            </a:pPr>
            <a:r>
              <a:rPr lang="en-US" sz="1250" b="1" dirty="0">
                <a:solidFill>
                  <a:schemeClr val="tx1"/>
                </a:solidFill>
              </a:rPr>
              <a:t>2008</a:t>
            </a:r>
            <a:r>
              <a:rPr lang="en-US" sz="1250" dirty="0">
                <a:solidFill>
                  <a:schemeClr val="tx1"/>
                </a:solidFill>
              </a:rPr>
              <a:t> LPRM (Owe et al.)</a:t>
            </a:r>
            <a:endParaRPr lang="en-US" sz="1250" dirty="0"/>
          </a:p>
          <a:p>
            <a:pPr marL="177800" indent="-177800">
              <a:spcAft>
                <a:spcPts val="400"/>
              </a:spcAft>
              <a:buSzPct val="100000"/>
              <a:buChar char="•"/>
            </a:pPr>
            <a:r>
              <a:rPr lang="en-US" sz="1250" b="1" dirty="0">
                <a:solidFill>
                  <a:schemeClr val="tx1"/>
                </a:solidFill>
              </a:rPr>
              <a:t>2012</a:t>
            </a:r>
            <a:r>
              <a:rPr lang="en-US" sz="1250" dirty="0">
                <a:solidFill>
                  <a:schemeClr val="tx1"/>
                </a:solidFill>
              </a:rPr>
              <a:t> SMOS algorithm (Kerr)</a:t>
            </a:r>
            <a:endParaRPr lang="en-US" sz="1250" dirty="0"/>
          </a:p>
          <a:p>
            <a:pPr marL="177800" indent="-177800">
              <a:spcAft>
                <a:spcPts val="400"/>
              </a:spcAft>
              <a:buSzPct val="100000"/>
              <a:buChar char="•"/>
            </a:pPr>
            <a:r>
              <a:rPr lang="en-US" sz="1250" b="1" dirty="0">
                <a:solidFill>
                  <a:schemeClr val="tx1"/>
                </a:solidFill>
              </a:rPr>
              <a:t>2014</a:t>
            </a:r>
            <a:r>
              <a:rPr lang="en-US" sz="1250" dirty="0">
                <a:solidFill>
                  <a:schemeClr val="tx1"/>
                </a:solidFill>
              </a:rPr>
              <a:t> SMAP handbook (Entekhabi)</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Active retrieval</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Radar backscatter, physical, semi-empirical and empirical models, the water cloud model, change detection and fusion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controls radar backscatter σ⁰</a:t>
            </a:r>
            <a:endParaRPr lang="en-US" sz="3200" dirty="0"/>
          </a:p>
        </p:txBody>
      </p:sp>
      <p:sp>
        <p:nvSpPr>
          <p:cNvPr id="4" name="figure frame"/>
          <p:cNvSpPr/>
          <p:nvPr/>
        </p:nvSpPr>
        <p:spPr>
          <a:xfrm>
            <a:off x="548640" y="1280160"/>
            <a:ext cx="5394960" cy="2468880"/>
          </a:xfrm>
          <a:prstGeom prst="roundRect">
            <a:avLst>
              <a:gd name="adj" fmla="val 222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Three mechanisms: (I) vegetation volume, (II) double bounce, (III) soil surface. Source: NISAR L3 Soil Moisture ATBD, JPL D-107679 (2023)">    </p:cNvPr>
          <p:cNvPicPr>
            <a:picLocks noChangeAspect="1"/>
          </p:cNvPicPr>
          <p:nvPr/>
        </p:nvPicPr>
        <p:blipFill>
          <a:blip r:embed="rId1"/>
          <a:stretch>
            <a:fillRect/>
          </a:stretch>
        </p:blipFill>
        <p:spPr>
          <a:xfrm>
            <a:off x="640080" y="1504486"/>
            <a:ext cx="5212080" cy="2020228"/>
          </a:xfrm>
          <a:prstGeom prst="rect">
            <a:avLst/>
          </a:prstGeom>
        </p:spPr>
      </p:pic>
      <p:sp>
        <p:nvSpPr>
          <p:cNvPr id="6" name="Text 2"/>
          <p:cNvSpPr txBox="1"/>
          <p:nvPr/>
        </p:nvSpPr>
        <p:spPr>
          <a:xfrm>
            <a:off x="548640" y="3794760"/>
            <a:ext cx="5394960" cy="411480"/>
          </a:xfrm>
          <a:prstGeom prst="rect">
            <a:avLst/>
          </a:prstGeom>
          <a:noFill/>
          <a:ln/>
        </p:spPr>
        <p:txBody>
          <a:bodyPr wrap="square" lIns="0" tIns="0" rIns="0" bIns="0" rtlCol="0" anchor="t"/>
          <a:lstStyle/>
          <a:p>
            <a:pPr indent="0" marL="0">
              <a:buNone/>
            </a:pPr>
            <a:r>
              <a:rPr lang="en-US" sz="1100" i="1" dirty="0">
                <a:solidFill>
                  <a:schemeClr val="accent6"/>
                </a:solidFill>
              </a:rPr>
              <a:t>Three mechanisms: (I) vegetation volume, (II) double bounce, (III) soil surface. Source: NISAR L3 Soil Moisture ATBD, JPL D-107679 (2023)</a:t>
            </a:r>
            <a:endParaRPr lang="en-US" sz="1100" dirty="0"/>
          </a:p>
        </p:txBody>
      </p:sp>
      <p:sp>
        <p:nvSpPr>
          <p:cNvPr id="7" name="card"/>
          <p:cNvSpPr/>
          <p:nvPr/>
        </p:nvSpPr>
        <p:spPr>
          <a:xfrm>
            <a:off x="548640" y="4343400"/>
            <a:ext cx="5394960" cy="868680"/>
          </a:xfrm>
          <a:prstGeom prst="roundRect">
            <a:avLst>
              <a:gd name="adj" fmla="val 8421"/>
            </a:avLst>
          </a:prstGeom>
          <a:solidFill>
            <a:schemeClr val="tx2"/>
          </a:solidFill>
          <a:ln/>
          <a:effectLst>
            <a:outerShdw sx="100000" sy="100000" kx="0" ky="0" algn="bl" rotWithShape="0" blurRad="76200" dist="25400" dir="5400000">
              <a:srgbClr val="000000">
                <a:alpha val="14000"/>
              </a:srgbClr>
            </a:outerShdw>
          </a:effectLst>
        </p:spPr>
      </p:sp>
      <p:sp>
        <p:nvSpPr>
          <p:cNvPr id="8" name="Text 4"/>
          <p:cNvSpPr txBox="1"/>
          <p:nvPr/>
        </p:nvSpPr>
        <p:spPr>
          <a:xfrm>
            <a:off x="685800" y="4343400"/>
            <a:ext cx="5120640" cy="868680"/>
          </a:xfrm>
          <a:prstGeom prst="rect">
            <a:avLst/>
          </a:prstGeom>
          <a:noFill/>
          <a:ln/>
        </p:spPr>
        <p:txBody>
          <a:bodyPr wrap="square" lIns="0" tIns="0" rIns="0" bIns="0" rtlCol="0" anchor="ctr"/>
          <a:lstStyle/>
          <a:p>
            <a:pPr algn="ctr" indent="0" marL="0">
              <a:buNone/>
            </a:pPr>
            <a:r>
              <a:rPr lang="en-US" sz="1600" b="1" dirty="0">
                <a:solidFill>
                  <a:schemeClr val="bg1"/>
                </a:solidFill>
              </a:rPr>
              <a:t>σ⁰</a:t>
            </a:r>
            <a:r>
              <a:rPr lang="en-US" sz="1600" b="1" baseline="-40000" dirty="0">
                <a:solidFill>
                  <a:schemeClr val="bg1"/>
                </a:solidFill>
              </a:rPr>
              <a:t>pq</a:t>
            </a:r>
            <a:r>
              <a:rPr lang="en-US" sz="1600" b="1" dirty="0">
                <a:solidFill>
                  <a:schemeClr val="bg1"/>
                </a:solidFill>
              </a:rPr>
              <a:t> = σ⁰</a:t>
            </a:r>
            <a:r>
              <a:rPr lang="en-US" sz="1600" b="1" baseline="-40000" dirty="0">
                <a:solidFill>
                  <a:schemeClr val="bg1"/>
                </a:solidFill>
              </a:rPr>
              <a:t>s</a:t>
            </a:r>
            <a:r>
              <a:rPr lang="en-US" sz="1600" b="1" dirty="0">
                <a:solidFill>
                  <a:schemeClr val="bg1"/>
                </a:solidFill>
              </a:rPr>
              <a:t>(ε′, s, l)·e</a:t>
            </a:r>
            <a:r>
              <a:rPr lang="en-US" sz="1600" b="1" baseline="30000" dirty="0">
                <a:solidFill>
                  <a:schemeClr val="bg1"/>
                </a:solidFill>
              </a:rPr>
              <a:t>−τ</a:t>
            </a:r>
            <a:r>
              <a:rPr lang="en-US" sz="1600" b="1" dirty="0">
                <a:solidFill>
                  <a:schemeClr val="bg1"/>
                </a:solidFill>
              </a:rPr>
              <a:t> + σ⁰</a:t>
            </a:r>
            <a:r>
              <a:rPr lang="en-US" sz="1600" b="1" baseline="-40000" dirty="0">
                <a:solidFill>
                  <a:schemeClr val="bg1"/>
                </a:solidFill>
              </a:rPr>
              <a:t>v</a:t>
            </a:r>
            <a:r>
              <a:rPr lang="en-US" sz="1600" b="1" dirty="0">
                <a:solidFill>
                  <a:schemeClr val="bg1"/>
                </a:solidFill>
              </a:rPr>
              <a:t>(VWC) + σ⁰</a:t>
            </a:r>
            <a:r>
              <a:rPr lang="en-US" sz="1600" b="1" baseline="-40000" dirty="0">
                <a:solidFill>
                  <a:schemeClr val="bg1"/>
                </a:solidFill>
              </a:rPr>
              <a:t>sv</a:t>
            </a:r>
            <a:endParaRPr lang="en-US" sz="1600" dirty="0"/>
          </a:p>
        </p:txBody>
      </p:sp>
      <p:sp>
        <p:nvSpPr>
          <p:cNvPr id="9" name="Text 5"/>
          <p:cNvSpPr txBox="1"/>
          <p:nvPr/>
        </p:nvSpPr>
        <p:spPr>
          <a:xfrm>
            <a:off x="548640" y="5230368"/>
            <a:ext cx="5394960" cy="274320"/>
          </a:xfrm>
          <a:prstGeom prst="rect">
            <a:avLst/>
          </a:prstGeom>
          <a:noFill/>
          <a:ln/>
        </p:spPr>
        <p:txBody>
          <a:bodyPr wrap="square" lIns="0" tIns="0" rIns="0" bIns="0" rtlCol="0" anchor="ctr"/>
          <a:lstStyle/>
          <a:p>
            <a:pPr algn="ctr" indent="0" marL="0">
              <a:buNone/>
            </a:pPr>
            <a:r>
              <a:rPr lang="en-US" sz="1050" i="1" dirty="0">
                <a:solidFill>
                  <a:schemeClr val="accent6"/>
                </a:solidFill>
              </a:rPr>
              <a:t>NISAR ATBD Eq. 3.1 (distorted Born approximation, single scattering)</a:t>
            </a:r>
            <a:endParaRPr lang="en-US" sz="1050" dirty="0"/>
          </a:p>
        </p:txBody>
      </p:sp>
      <p:sp>
        <p:nvSpPr>
          <p:cNvPr id="10" name="card"/>
          <p:cNvSpPr/>
          <p:nvPr/>
        </p:nvSpPr>
        <p:spPr>
          <a:xfrm>
            <a:off x="6172200" y="1280160"/>
            <a:ext cx="5468112" cy="4206240"/>
          </a:xfrm>
          <a:prstGeom prst="roundRect">
            <a:avLst>
              <a:gd name="adj" fmla="val 1739"/>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6355080" y="1435608"/>
            <a:ext cx="420624" cy="420624"/>
          </a:xfrm>
          <a:prstGeom prst="ellipse">
            <a:avLst/>
          </a:prstGeom>
          <a:solidFill>
            <a:schemeClr val="accent5"/>
          </a:solidFill>
          <a:ln/>
        </p:spPr>
      </p:sp>
      <p:pic>
        <p:nvPicPr>
          <p:cNvPr id="12" name="Image 1" descr="BroadcastTower icon">    </p:cNvPr>
          <p:cNvPicPr>
            <a:picLocks noChangeAspect="1"/>
          </p:cNvPicPr>
          <p:nvPr/>
        </p:nvPicPr>
        <p:blipFill>
          <a:blip r:embed="rId2"/>
          <a:stretch>
            <a:fillRect/>
          </a:stretch>
        </p:blipFill>
        <p:spPr>
          <a:xfrm>
            <a:off x="6464442" y="1544970"/>
            <a:ext cx="201900" cy="201900"/>
          </a:xfrm>
          <a:prstGeom prst="rect">
            <a:avLst/>
          </a:prstGeom>
        </p:spPr>
      </p:pic>
      <p:sp>
        <p:nvSpPr>
          <p:cNvPr id="13" name="Text 8"/>
          <p:cNvSpPr txBox="1"/>
          <p:nvPr/>
        </p:nvSpPr>
        <p:spPr>
          <a:xfrm>
            <a:off x="6885432" y="1417320"/>
            <a:ext cx="4617720" cy="457200"/>
          </a:xfrm>
          <a:prstGeom prst="rect">
            <a:avLst/>
          </a:prstGeom>
          <a:noFill/>
          <a:ln/>
        </p:spPr>
        <p:txBody>
          <a:bodyPr wrap="square" lIns="0" tIns="0" rIns="0" bIns="0" rtlCol="0" anchor="ctr"/>
          <a:lstStyle/>
          <a:p>
            <a:pPr indent="0" marL="0">
              <a:buNone/>
            </a:pPr>
            <a:r>
              <a:rPr lang="en-US" sz="1600" b="1" dirty="0">
                <a:solidFill>
                  <a:schemeClr val="tx2"/>
                </a:solidFill>
              </a:rPr>
              <a:t>Factors</a:t>
            </a:r>
            <a:endParaRPr lang="en-US" sz="1600" dirty="0"/>
          </a:p>
        </p:txBody>
      </p:sp>
      <p:sp>
        <p:nvSpPr>
          <p:cNvPr id="14" name="Text 9"/>
          <p:cNvSpPr txBox="1"/>
          <p:nvPr/>
        </p:nvSpPr>
        <p:spPr>
          <a:xfrm>
            <a:off x="6355080" y="1965960"/>
            <a:ext cx="5102352" cy="3429000"/>
          </a:xfrm>
          <a:prstGeom prst="rect">
            <a:avLst/>
          </a:prstGeom>
          <a:noFill/>
          <a:ln/>
        </p:spPr>
        <p:txBody>
          <a:bodyPr wrap="square" lIns="508" tIns="508" rIns="508" bIns="508" rtlCol="0" anchor="t"/>
          <a:lstStyle/>
          <a:p>
            <a:pPr marL="177800" indent="-177800">
              <a:spcAft>
                <a:spcPts val="400"/>
              </a:spcAft>
              <a:buSzPct val="100000"/>
              <a:buChar char="•"/>
            </a:pPr>
            <a:r>
              <a:rPr lang="en-US" sz="1350" b="1" dirty="0">
                <a:solidFill>
                  <a:schemeClr val="tx1"/>
                </a:solidFill>
              </a:rPr>
              <a:t>Soil</a:t>
            </a:r>
            <a:r>
              <a:rPr lang="en-US" sz="1350" dirty="0">
                <a:solidFill>
                  <a:schemeClr val="tx1"/>
                </a:solidFill>
              </a:rPr>
              <a:t>: ε′ (m</a:t>
            </a:r>
            <a:r>
              <a:rPr lang="en-US" sz="1350" baseline="-40000" dirty="0">
                <a:solidFill>
                  <a:schemeClr val="tx1"/>
                </a:solidFill>
              </a:rPr>
              <a:t>v</a:t>
            </a:r>
            <a:r>
              <a:rPr lang="en-US" sz="1350" dirty="0">
                <a:solidFill>
                  <a:schemeClr val="tx1"/>
                </a:solidFill>
              </a:rPr>
              <a:t>), rms height s, correlation length l</a:t>
            </a:r>
            <a:endParaRPr lang="en-US" sz="1350" dirty="0"/>
          </a:p>
          <a:p>
            <a:pPr marL="177800" indent="-177800">
              <a:spcAft>
                <a:spcPts val="400"/>
              </a:spcAft>
              <a:buSzPct val="100000"/>
              <a:buChar char="•"/>
            </a:pPr>
            <a:r>
              <a:rPr lang="en-US" sz="1350" b="1" dirty="0">
                <a:solidFill>
                  <a:schemeClr val="tx1"/>
                </a:solidFill>
              </a:rPr>
              <a:t>Vegetation</a:t>
            </a:r>
            <a:r>
              <a:rPr lang="en-US" sz="1350" dirty="0">
                <a:solidFill>
                  <a:schemeClr val="tx1"/>
                </a:solidFill>
              </a:rPr>
              <a:t>: VWC, structure (stems, leaves), row direction</a:t>
            </a:r>
            <a:endParaRPr lang="en-US" sz="1350" dirty="0"/>
          </a:p>
          <a:p>
            <a:pPr marL="177800" indent="-177800">
              <a:spcAft>
                <a:spcPts val="400"/>
              </a:spcAft>
              <a:buSzPct val="100000"/>
              <a:buChar char="•"/>
            </a:pPr>
            <a:r>
              <a:rPr lang="en-US" sz="1350" b="1" dirty="0">
                <a:solidFill>
                  <a:schemeClr val="tx1"/>
                </a:solidFill>
              </a:rPr>
              <a:t>Sensor</a:t>
            </a:r>
            <a:r>
              <a:rPr lang="en-US" sz="1350" dirty="0">
                <a:solidFill>
                  <a:schemeClr val="tx1"/>
                </a:solidFill>
              </a:rPr>
              <a:t>: frequency, polarisation, incidence angle θ</a:t>
            </a:r>
            <a:endParaRPr lang="en-US" sz="1350" dirty="0"/>
          </a:p>
          <a:p>
            <a:pPr lvl="1" marL="355600" indent="-177800">
              <a:spcAft>
                <a:spcPts val="400"/>
              </a:spcAft>
              <a:buSzPct val="100000"/>
              <a:buChar char="•"/>
            </a:pPr>
            <a:r>
              <a:rPr lang="en-US" sz="1350" dirty="0">
                <a:solidFill>
                  <a:schemeClr val="tx1"/>
                </a:solidFill>
              </a:rPr>
              <a:t>Low θ → more soil-moisture sensitive; high θ → more roughness sensitive</a:t>
            </a:r>
            <a:endParaRPr lang="en-US" sz="1350" dirty="0"/>
          </a:p>
          <a:p>
            <a:pPr marL="177800" indent="-177800">
              <a:spcAft>
                <a:spcPts val="400"/>
              </a:spcAft>
              <a:buSzPct val="100000"/>
              <a:buChar char="•"/>
            </a:pPr>
            <a:r>
              <a:rPr lang="en-US" sz="1350" b="1" dirty="0">
                <a:solidFill>
                  <a:schemeClr val="tx1"/>
                </a:solidFill>
              </a:rPr>
              <a:t>Co-pol</a:t>
            </a:r>
            <a:r>
              <a:rPr lang="en-US" sz="1350" dirty="0">
                <a:solidFill>
                  <a:schemeClr val="tx1"/>
                </a:solidFill>
              </a:rPr>
              <a:t> (HH, VV) → soil; </a:t>
            </a:r>
            <a:r>
              <a:rPr lang="en-US" sz="1350" b="1" dirty="0">
                <a:solidFill>
                  <a:schemeClr val="tx1"/>
                </a:solidFill>
              </a:rPr>
              <a:t>cross-pol</a:t>
            </a:r>
            <a:r>
              <a:rPr lang="en-US" sz="1350" dirty="0">
                <a:solidFill>
                  <a:schemeClr val="tx1"/>
                </a:solidFill>
              </a:rPr>
              <a:t> (HV) → vegetation volume</a:t>
            </a:r>
            <a:endParaRPr lang="en-US" sz="1350" dirty="0"/>
          </a:p>
          <a:p>
            <a:pPr marL="177800" indent="-177800">
              <a:spcAft>
                <a:spcPts val="400"/>
              </a:spcAft>
              <a:buSzPct val="100000"/>
              <a:buChar char="•"/>
            </a:pPr>
            <a:r>
              <a:rPr lang="en-US" sz="1350" dirty="0">
                <a:solidFill>
                  <a:schemeClr val="tx1"/>
                </a:solidFill>
              </a:rPr>
              <a:t>L-band σ⁰ changes ~6–8 dB over the full soil moisture range</a:t>
            </a:r>
            <a:endParaRPr lang="en-US" sz="1350" dirty="0"/>
          </a:p>
        </p:txBody>
      </p:sp>
      <p:sp>
        <p:nvSpPr>
          <p:cNvPr id="15" name="insight"/>
          <p:cNvSpPr/>
          <p:nvPr/>
        </p:nvSpPr>
        <p:spPr>
          <a:xfrm>
            <a:off x="548640" y="5623560"/>
            <a:ext cx="11094415" cy="685800"/>
          </a:xfrm>
          <a:prstGeom prst="roundRect">
            <a:avLst>
              <a:gd name="adj" fmla="val 10667"/>
            </a:avLst>
          </a:prstGeom>
          <a:solidFill>
            <a:schemeClr val="bg2"/>
          </a:solidFill>
          <a:ln/>
        </p:spPr>
      </p:sp>
      <p:sp>
        <p:nvSpPr>
          <p:cNvPr id="16" name="icon circle"/>
          <p:cNvSpPr/>
          <p:nvPr/>
        </p:nvSpPr>
        <p:spPr>
          <a:xfrm>
            <a:off x="685800" y="5728716"/>
            <a:ext cx="475488" cy="475488"/>
          </a:xfrm>
          <a:prstGeom prst="ellipse">
            <a:avLst/>
          </a:prstGeom>
          <a:solidFill>
            <a:schemeClr val="accent3"/>
          </a:solidFill>
          <a:ln/>
        </p:spPr>
      </p:sp>
      <p:pic>
        <p:nvPicPr>
          <p:cNvPr id="17" name="Image 2" descr="Lightbulb icon">    </p:cNvPr>
          <p:cNvPicPr>
            <a:picLocks noChangeAspect="1"/>
          </p:cNvPicPr>
          <p:nvPr/>
        </p:nvPicPr>
        <p:blipFill>
          <a:blip r:embed="rId3"/>
          <a:stretch>
            <a:fillRect/>
          </a:stretch>
        </p:blipFill>
        <p:spPr>
          <a:xfrm>
            <a:off x="809427" y="5852343"/>
            <a:ext cx="228234" cy="228234"/>
          </a:xfrm>
          <a:prstGeom prst="rect">
            <a:avLst/>
          </a:prstGeom>
        </p:spPr>
      </p:pic>
      <p:sp>
        <p:nvSpPr>
          <p:cNvPr id="18" name="Text 12"/>
          <p:cNvSpPr txBox="1"/>
          <p:nvPr/>
        </p:nvSpPr>
        <p:spPr>
          <a:xfrm>
            <a:off x="1325880" y="5660136"/>
            <a:ext cx="10180015" cy="61264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The core problem: </a:t>
            </a:r>
            <a:r>
              <a:rPr lang="en-US" sz="1400" b="1" dirty="0">
                <a:solidFill>
                  <a:schemeClr val="tx1"/>
                </a:solidFill>
              </a:rPr>
              <a:t>a wet smooth field and a dry rough field can give the same σ⁰</a:t>
            </a:r>
            <a:r>
              <a:rPr lang="en-US" sz="1400" dirty="0">
                <a:solidFill>
                  <a:schemeClr val="tx1"/>
                </a:solidFill>
              </a:rPr>
              <a:t>. Multi-polarisation or a time series is needed to break this ambiguity.</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Four families of active retrieval models</a:t>
            </a:r>
            <a:endParaRPr lang="en-US" sz="3200" dirty="0"/>
          </a:p>
        </p:txBody>
      </p:sp>
      <p:sp>
        <p:nvSpPr>
          <p:cNvPr id="4" name="diagram box"/>
          <p:cNvSpPr/>
          <p:nvPr/>
        </p:nvSpPr>
        <p:spPr>
          <a:xfrm>
            <a:off x="3813048" y="1325880"/>
            <a:ext cx="4572000" cy="685800"/>
          </a:xfrm>
          <a:prstGeom prst="roundRect">
            <a:avLst>
              <a:gd name="adj" fmla="val 10667"/>
            </a:avLst>
          </a:prstGeom>
          <a:solidFill>
            <a:schemeClr val="tx2"/>
          </a:solidFill>
          <a:ln/>
        </p:spPr>
      </p:sp>
      <p:sp>
        <p:nvSpPr>
          <p:cNvPr id="5" name="Text 2"/>
          <p:cNvSpPr txBox="1"/>
          <p:nvPr/>
        </p:nvSpPr>
        <p:spPr>
          <a:xfrm>
            <a:off x="3813048" y="1325880"/>
            <a:ext cx="4572000" cy="685800"/>
          </a:xfrm>
          <a:prstGeom prst="rect">
            <a:avLst/>
          </a:prstGeom>
          <a:noFill/>
          <a:ln/>
        </p:spPr>
        <p:txBody>
          <a:bodyPr wrap="square" lIns="508" tIns="508" rIns="508" bIns="508" rtlCol="0" anchor="ctr"/>
          <a:lstStyle/>
          <a:p>
            <a:pPr algn="ctr" indent="0" marL="0">
              <a:buNone/>
            </a:pPr>
            <a:r>
              <a:rPr lang="en-US" sz="1700" b="1" dirty="0">
                <a:solidFill>
                  <a:schemeClr val="bg1"/>
                </a:solidFill>
              </a:rPr>
              <a:t>Active (radar) soil moisture models</a:t>
            </a:r>
            <a:endParaRPr lang="en-US" sz="1700" dirty="0"/>
          </a:p>
        </p:txBody>
      </p:sp>
      <p:sp>
        <p:nvSpPr>
          <p:cNvPr id="6" name="arrow"/>
          <p:cNvSpPr/>
          <p:nvPr/>
        </p:nvSpPr>
        <p:spPr>
          <a:xfrm flipH="1">
            <a:off x="1865376" y="2011680"/>
            <a:ext cx="4233672" cy="365760"/>
          </a:xfrm>
          <a:prstGeom prst="line">
            <a:avLst/>
          </a:prstGeom>
          <a:noFill/>
          <a:ln w="25400">
            <a:solidFill>
              <a:srgbClr val="173F5F"/>
            </a:solidFill>
            <a:prstDash val="solid"/>
          </a:ln>
        </p:spPr>
      </p:sp>
      <p:sp>
        <p:nvSpPr>
          <p:cNvPr id="7" name="diagram box"/>
          <p:cNvSpPr/>
          <p:nvPr/>
        </p:nvSpPr>
        <p:spPr>
          <a:xfrm>
            <a:off x="548640" y="2377440"/>
            <a:ext cx="2633472" cy="548640"/>
          </a:xfrm>
          <a:prstGeom prst="roundRect">
            <a:avLst>
              <a:gd name="adj" fmla="val 13333"/>
            </a:avLst>
          </a:prstGeom>
          <a:solidFill>
            <a:schemeClr val="accent2"/>
          </a:solidFill>
          <a:ln/>
        </p:spPr>
      </p:sp>
      <p:sp>
        <p:nvSpPr>
          <p:cNvPr id="8" name="Text 5"/>
          <p:cNvSpPr txBox="1"/>
          <p:nvPr/>
        </p:nvSpPr>
        <p:spPr>
          <a:xfrm>
            <a:off x="548640" y="2377440"/>
            <a:ext cx="2633472" cy="548640"/>
          </a:xfrm>
          <a:prstGeom prst="rect">
            <a:avLst/>
          </a:prstGeom>
          <a:noFill/>
          <a:ln/>
        </p:spPr>
        <p:txBody>
          <a:bodyPr wrap="square" lIns="508" tIns="508" rIns="508" bIns="508" rtlCol="0" anchor="ctr"/>
          <a:lstStyle/>
          <a:p>
            <a:pPr algn="ctr" indent="0" marL="0">
              <a:buNone/>
            </a:pPr>
            <a:r>
              <a:rPr lang="en-US" sz="1500" b="1" dirty="0">
                <a:solidFill>
                  <a:schemeClr val="bg1"/>
                </a:solidFill>
              </a:rPr>
              <a:t>Physical</a:t>
            </a:r>
            <a:endParaRPr lang="en-US" sz="1500" dirty="0"/>
          </a:p>
        </p:txBody>
      </p:sp>
      <p:sp>
        <p:nvSpPr>
          <p:cNvPr id="9" name="card"/>
          <p:cNvSpPr/>
          <p:nvPr/>
        </p:nvSpPr>
        <p:spPr>
          <a:xfrm>
            <a:off x="548640" y="3017520"/>
            <a:ext cx="263347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658368" y="3108960"/>
            <a:ext cx="2414016" cy="2331720"/>
          </a:xfrm>
          <a:prstGeom prst="rect">
            <a:avLst/>
          </a:prstGeom>
          <a:noFill/>
          <a:ln/>
        </p:spPr>
        <p:txBody>
          <a:bodyPr wrap="square" lIns="508" tIns="508" rIns="508" bIns="508" rtlCol="0" anchor="t"/>
          <a:lstStyle/>
          <a:p>
            <a:pPr marL="177800" indent="-177800">
              <a:spcAft>
                <a:spcPts val="500"/>
              </a:spcAft>
              <a:buSzPct val="100000"/>
              <a:buChar char="•"/>
            </a:pPr>
            <a:r>
              <a:rPr lang="en-US" sz="1250" dirty="0">
                <a:solidFill>
                  <a:schemeClr val="tx1"/>
                </a:solidFill>
              </a:rPr>
              <a:t>IEM / AIEM, SPM, GOM / POM, SSA, NMM3D</a:t>
            </a:r>
            <a:endParaRPr lang="en-US" sz="1250" dirty="0"/>
          </a:p>
          <a:p>
            <a:pPr marL="177800" indent="-177800">
              <a:spcAft>
                <a:spcPts val="500"/>
              </a:spcAft>
              <a:buSzPct val="100000"/>
              <a:buChar char="•"/>
            </a:pPr>
            <a:r>
              <a:rPr lang="en-US" sz="1250" dirty="0">
                <a:solidFill>
                  <a:schemeClr val="tx1"/>
                </a:solidFill>
              </a:rPr>
              <a:t>Inputs: ε′, s, l, f, θ, polarisation</a:t>
            </a:r>
            <a:endParaRPr lang="en-US" sz="1250" dirty="0"/>
          </a:p>
          <a:p>
            <a:pPr marL="177800" indent="-177800">
              <a:spcAft>
                <a:spcPts val="500"/>
              </a:spcAft>
              <a:buSzPct val="100000"/>
              <a:buChar char="•"/>
            </a:pPr>
            <a:r>
              <a:rPr lang="en-US" sz="1250" dirty="0">
                <a:solidFill>
                  <a:schemeClr val="tx1"/>
                </a:solidFill>
              </a:rPr>
              <a:t>+ Physically based, transferable</a:t>
            </a:r>
            <a:endParaRPr lang="en-US" sz="1250" dirty="0"/>
          </a:p>
          <a:p>
            <a:pPr marL="177800" indent="-177800">
              <a:spcAft>
                <a:spcPts val="500"/>
              </a:spcAft>
              <a:buSzPct val="100000"/>
              <a:buChar char="•"/>
            </a:pPr>
            <a:r>
              <a:rPr lang="en-US" sz="1250" dirty="0">
                <a:solidFill>
                  <a:schemeClr val="tx1"/>
                </a:solidFill>
              </a:rPr>
              <a:t>− Needs roughness data, heavy computing</a:t>
            </a:r>
            <a:endParaRPr lang="en-US" sz="1250" dirty="0"/>
          </a:p>
        </p:txBody>
      </p:sp>
      <p:sp>
        <p:nvSpPr>
          <p:cNvPr id="11" name="arrow"/>
          <p:cNvSpPr/>
          <p:nvPr/>
        </p:nvSpPr>
        <p:spPr>
          <a:xfrm flipH="1">
            <a:off x="4663440" y="2011680"/>
            <a:ext cx="1435608" cy="365760"/>
          </a:xfrm>
          <a:prstGeom prst="line">
            <a:avLst/>
          </a:prstGeom>
          <a:noFill/>
          <a:ln w="25400">
            <a:solidFill>
              <a:srgbClr val="173F5F"/>
            </a:solidFill>
            <a:prstDash val="solid"/>
          </a:ln>
        </p:spPr>
      </p:sp>
      <p:sp>
        <p:nvSpPr>
          <p:cNvPr id="12" name="diagram box"/>
          <p:cNvSpPr/>
          <p:nvPr/>
        </p:nvSpPr>
        <p:spPr>
          <a:xfrm>
            <a:off x="3346704" y="2377440"/>
            <a:ext cx="2633472" cy="548640"/>
          </a:xfrm>
          <a:prstGeom prst="roundRect">
            <a:avLst>
              <a:gd name="adj" fmla="val 13333"/>
            </a:avLst>
          </a:prstGeom>
          <a:solidFill>
            <a:schemeClr val="accent4"/>
          </a:solidFill>
          <a:ln/>
        </p:spPr>
      </p:sp>
      <p:sp>
        <p:nvSpPr>
          <p:cNvPr id="13" name="Text 10"/>
          <p:cNvSpPr txBox="1"/>
          <p:nvPr/>
        </p:nvSpPr>
        <p:spPr>
          <a:xfrm>
            <a:off x="3346704" y="2377440"/>
            <a:ext cx="2633472" cy="548640"/>
          </a:xfrm>
          <a:prstGeom prst="rect">
            <a:avLst/>
          </a:prstGeom>
          <a:noFill/>
          <a:ln/>
        </p:spPr>
        <p:txBody>
          <a:bodyPr wrap="square" lIns="508" tIns="508" rIns="508" bIns="508" rtlCol="0" anchor="ctr"/>
          <a:lstStyle/>
          <a:p>
            <a:pPr algn="ctr" indent="0" marL="0">
              <a:buNone/>
            </a:pPr>
            <a:r>
              <a:rPr lang="en-US" sz="1500" b="1" dirty="0">
                <a:solidFill>
                  <a:schemeClr val="bg1"/>
                </a:solidFill>
              </a:rPr>
              <a:t>Semi-empirical</a:t>
            </a:r>
            <a:endParaRPr lang="en-US" sz="1500" dirty="0"/>
          </a:p>
        </p:txBody>
      </p:sp>
      <p:sp>
        <p:nvSpPr>
          <p:cNvPr id="14" name="card"/>
          <p:cNvSpPr/>
          <p:nvPr/>
        </p:nvSpPr>
        <p:spPr>
          <a:xfrm>
            <a:off x="3346704" y="3017520"/>
            <a:ext cx="263347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3456432" y="3108960"/>
            <a:ext cx="2414016" cy="2331720"/>
          </a:xfrm>
          <a:prstGeom prst="rect">
            <a:avLst/>
          </a:prstGeom>
          <a:noFill/>
          <a:ln/>
        </p:spPr>
        <p:txBody>
          <a:bodyPr wrap="square" lIns="508" tIns="508" rIns="508" bIns="508" rtlCol="0" anchor="t"/>
          <a:lstStyle/>
          <a:p>
            <a:pPr marL="177800" indent="-177800">
              <a:spcAft>
                <a:spcPts val="500"/>
              </a:spcAft>
              <a:buSzPct val="100000"/>
              <a:buChar char="•"/>
            </a:pPr>
            <a:r>
              <a:rPr lang="en-US" sz="1250" dirty="0">
                <a:solidFill>
                  <a:schemeClr val="tx1"/>
                </a:solidFill>
              </a:rPr>
              <a:t>Oh (1992), Dubois (1995), calibrated IEM</a:t>
            </a:r>
            <a:endParaRPr lang="en-US" sz="1250" dirty="0"/>
          </a:p>
          <a:p>
            <a:pPr marL="177800" indent="-177800">
              <a:spcAft>
                <a:spcPts val="500"/>
              </a:spcAft>
              <a:buSzPct val="100000"/>
              <a:buChar char="•"/>
            </a:pPr>
            <a:r>
              <a:rPr lang="en-US" sz="1250" dirty="0">
                <a:solidFill>
                  <a:schemeClr val="tx1"/>
                </a:solidFill>
              </a:rPr>
              <a:t>Inputs: multi-pol σ⁰, θ, λ</a:t>
            </a:r>
            <a:endParaRPr lang="en-US" sz="1250" dirty="0"/>
          </a:p>
          <a:p>
            <a:pPr marL="177800" indent="-177800">
              <a:spcAft>
                <a:spcPts val="500"/>
              </a:spcAft>
              <a:buSzPct val="100000"/>
              <a:buChar char="•"/>
            </a:pPr>
            <a:r>
              <a:rPr lang="en-US" sz="1250" dirty="0">
                <a:solidFill>
                  <a:schemeClr val="tx1"/>
                </a:solidFill>
              </a:rPr>
              <a:t>+ Simple, no correlation length</a:t>
            </a:r>
            <a:endParaRPr lang="en-US" sz="1250" dirty="0"/>
          </a:p>
          <a:p>
            <a:pPr marL="177800" indent="-177800">
              <a:spcAft>
                <a:spcPts val="500"/>
              </a:spcAft>
              <a:buSzPct val="100000"/>
              <a:buChar char="•"/>
            </a:pPr>
            <a:r>
              <a:rPr lang="en-US" sz="1250" dirty="0">
                <a:solidFill>
                  <a:schemeClr val="tx1"/>
                </a:solidFill>
              </a:rPr>
              <a:t>− Bare / sparse soil, validity limits</a:t>
            </a:r>
            <a:endParaRPr lang="en-US" sz="1250" dirty="0"/>
          </a:p>
        </p:txBody>
      </p:sp>
      <p:sp>
        <p:nvSpPr>
          <p:cNvPr id="16" name="arrow"/>
          <p:cNvSpPr/>
          <p:nvPr/>
        </p:nvSpPr>
        <p:spPr>
          <a:xfrm>
            <a:off x="6099048" y="2011680"/>
            <a:ext cx="1362456" cy="365760"/>
          </a:xfrm>
          <a:prstGeom prst="line">
            <a:avLst/>
          </a:prstGeom>
          <a:noFill/>
          <a:ln w="25400">
            <a:solidFill>
              <a:srgbClr val="173F5F"/>
            </a:solidFill>
            <a:prstDash val="solid"/>
          </a:ln>
        </p:spPr>
      </p:sp>
      <p:sp>
        <p:nvSpPr>
          <p:cNvPr id="17" name="diagram box"/>
          <p:cNvSpPr/>
          <p:nvPr/>
        </p:nvSpPr>
        <p:spPr>
          <a:xfrm>
            <a:off x="6144768" y="2377440"/>
            <a:ext cx="2633472" cy="548640"/>
          </a:xfrm>
          <a:prstGeom prst="roundRect">
            <a:avLst>
              <a:gd name="adj" fmla="val 13333"/>
            </a:avLst>
          </a:prstGeom>
          <a:solidFill>
            <a:schemeClr val="accent1"/>
          </a:solidFill>
          <a:ln/>
        </p:spPr>
      </p:sp>
      <p:sp>
        <p:nvSpPr>
          <p:cNvPr id="18" name="Text 15"/>
          <p:cNvSpPr txBox="1"/>
          <p:nvPr/>
        </p:nvSpPr>
        <p:spPr>
          <a:xfrm>
            <a:off x="6144768" y="2377440"/>
            <a:ext cx="2633472" cy="548640"/>
          </a:xfrm>
          <a:prstGeom prst="rect">
            <a:avLst/>
          </a:prstGeom>
          <a:noFill/>
          <a:ln/>
        </p:spPr>
        <p:txBody>
          <a:bodyPr wrap="square" lIns="508" tIns="508" rIns="508" bIns="508" rtlCol="0" anchor="ctr"/>
          <a:lstStyle/>
          <a:p>
            <a:pPr algn="ctr" indent="0" marL="0">
              <a:buNone/>
            </a:pPr>
            <a:r>
              <a:rPr lang="en-US" sz="1500" b="1" dirty="0">
                <a:solidFill>
                  <a:schemeClr val="bg1"/>
                </a:solidFill>
              </a:rPr>
              <a:t>Empirical</a:t>
            </a:r>
            <a:endParaRPr lang="en-US" sz="1500" dirty="0"/>
          </a:p>
        </p:txBody>
      </p:sp>
      <p:sp>
        <p:nvSpPr>
          <p:cNvPr id="19" name="card"/>
          <p:cNvSpPr/>
          <p:nvPr/>
        </p:nvSpPr>
        <p:spPr>
          <a:xfrm>
            <a:off x="6144768" y="3017520"/>
            <a:ext cx="263347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6254496" y="3108960"/>
            <a:ext cx="2414016" cy="2331720"/>
          </a:xfrm>
          <a:prstGeom prst="rect">
            <a:avLst/>
          </a:prstGeom>
          <a:noFill/>
          <a:ln/>
        </p:spPr>
        <p:txBody>
          <a:bodyPr wrap="square" lIns="508" tIns="508" rIns="508" bIns="508" rtlCol="0" anchor="t"/>
          <a:lstStyle/>
          <a:p>
            <a:pPr marL="177800" indent="-177800">
              <a:spcAft>
                <a:spcPts val="500"/>
              </a:spcAft>
              <a:buSzPct val="100000"/>
              <a:buChar char="•"/>
            </a:pPr>
            <a:r>
              <a:rPr lang="en-US" sz="1250" dirty="0">
                <a:solidFill>
                  <a:schemeClr val="tx1"/>
                </a:solidFill>
              </a:rPr>
              <a:t>σ⁰ = a + b·m</a:t>
            </a:r>
            <a:r>
              <a:rPr lang="en-US" sz="1250" baseline="-40000" dirty="0">
                <a:solidFill>
                  <a:schemeClr val="tx1"/>
                </a:solidFill>
              </a:rPr>
              <a:t>v</a:t>
            </a:r>
            <a:endParaRPr lang="en-US" sz="1250" dirty="0"/>
          </a:p>
          <a:p>
            <a:pPr marL="177800" indent="-177800">
              <a:spcAft>
                <a:spcPts val="500"/>
              </a:spcAft>
              <a:buSzPct val="100000"/>
              <a:buChar char="•"/>
            </a:pPr>
            <a:r>
              <a:rPr lang="en-US" sz="1250" dirty="0">
                <a:solidFill>
                  <a:schemeClr val="tx1"/>
                </a:solidFill>
              </a:rPr>
              <a:t>Inputs: σ⁰ + in-situ data</a:t>
            </a:r>
            <a:endParaRPr lang="en-US" sz="1250" dirty="0"/>
          </a:p>
          <a:p>
            <a:pPr marL="177800" indent="-177800">
              <a:spcAft>
                <a:spcPts val="500"/>
              </a:spcAft>
              <a:buSzPct val="100000"/>
              <a:buChar char="•"/>
            </a:pPr>
            <a:r>
              <a:rPr lang="en-US" sz="1250" dirty="0">
                <a:solidFill>
                  <a:schemeClr val="tx1"/>
                </a:solidFill>
              </a:rPr>
              <a:t>+ Easy to apply</a:t>
            </a:r>
            <a:endParaRPr lang="en-US" sz="1250" dirty="0"/>
          </a:p>
          <a:p>
            <a:pPr marL="177800" indent="-177800">
              <a:spcAft>
                <a:spcPts val="500"/>
              </a:spcAft>
              <a:buSzPct val="100000"/>
              <a:buChar char="•"/>
            </a:pPr>
            <a:r>
              <a:rPr lang="en-US" sz="1250" dirty="0">
                <a:solidFill>
                  <a:schemeClr val="tx1"/>
                </a:solidFill>
              </a:rPr>
              <a:t>− Site- and season-specific</a:t>
            </a:r>
            <a:endParaRPr lang="en-US" sz="1250" dirty="0"/>
          </a:p>
        </p:txBody>
      </p:sp>
      <p:sp>
        <p:nvSpPr>
          <p:cNvPr id="21" name="arrow"/>
          <p:cNvSpPr/>
          <p:nvPr/>
        </p:nvSpPr>
        <p:spPr>
          <a:xfrm>
            <a:off x="6099048" y="2011680"/>
            <a:ext cx="4160520" cy="365760"/>
          </a:xfrm>
          <a:prstGeom prst="line">
            <a:avLst/>
          </a:prstGeom>
          <a:noFill/>
          <a:ln w="25400">
            <a:solidFill>
              <a:srgbClr val="173F5F"/>
            </a:solidFill>
            <a:prstDash val="solid"/>
          </a:ln>
        </p:spPr>
      </p:sp>
      <p:sp>
        <p:nvSpPr>
          <p:cNvPr id="22" name="diagram box"/>
          <p:cNvSpPr/>
          <p:nvPr/>
        </p:nvSpPr>
        <p:spPr>
          <a:xfrm>
            <a:off x="8942832" y="2377440"/>
            <a:ext cx="2633472" cy="548640"/>
          </a:xfrm>
          <a:prstGeom prst="roundRect">
            <a:avLst>
              <a:gd name="adj" fmla="val 13333"/>
            </a:avLst>
          </a:prstGeom>
          <a:solidFill>
            <a:schemeClr val="accent5"/>
          </a:solidFill>
          <a:ln/>
        </p:spPr>
      </p:sp>
      <p:sp>
        <p:nvSpPr>
          <p:cNvPr id="23" name="Text 20"/>
          <p:cNvSpPr txBox="1"/>
          <p:nvPr/>
        </p:nvSpPr>
        <p:spPr>
          <a:xfrm>
            <a:off x="8942832" y="2377440"/>
            <a:ext cx="2633472" cy="548640"/>
          </a:xfrm>
          <a:prstGeom prst="rect">
            <a:avLst/>
          </a:prstGeom>
          <a:noFill/>
          <a:ln/>
        </p:spPr>
        <p:txBody>
          <a:bodyPr wrap="square" lIns="508" tIns="508" rIns="508" bIns="508" rtlCol="0" anchor="ctr"/>
          <a:lstStyle/>
          <a:p>
            <a:pPr algn="ctr" indent="0" marL="0">
              <a:buNone/>
            </a:pPr>
            <a:r>
              <a:rPr lang="en-US" sz="1500" b="1" dirty="0">
                <a:solidFill>
                  <a:schemeClr val="bg1"/>
                </a:solidFill>
              </a:rPr>
              <a:t>Change detection</a:t>
            </a:r>
            <a:endParaRPr lang="en-US" sz="1500" dirty="0"/>
          </a:p>
        </p:txBody>
      </p:sp>
      <p:sp>
        <p:nvSpPr>
          <p:cNvPr id="24" name="card"/>
          <p:cNvSpPr/>
          <p:nvPr/>
        </p:nvSpPr>
        <p:spPr>
          <a:xfrm>
            <a:off x="8942832" y="3017520"/>
            <a:ext cx="263347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9052560" y="3108960"/>
            <a:ext cx="2414016" cy="2331720"/>
          </a:xfrm>
          <a:prstGeom prst="rect">
            <a:avLst/>
          </a:prstGeom>
          <a:noFill/>
          <a:ln/>
        </p:spPr>
        <p:txBody>
          <a:bodyPr wrap="square" lIns="508" tIns="508" rIns="508" bIns="508" rtlCol="0" anchor="t"/>
          <a:lstStyle/>
          <a:p>
            <a:pPr marL="177800" indent="-177800">
              <a:spcAft>
                <a:spcPts val="500"/>
              </a:spcAft>
              <a:buSzPct val="100000"/>
              <a:buChar char="•"/>
            </a:pPr>
            <a:r>
              <a:rPr lang="en-US" sz="1250" dirty="0">
                <a:solidFill>
                  <a:schemeClr val="tx1"/>
                </a:solidFill>
              </a:rPr>
              <a:t>TU Wien, NBMI, alpha ratio</a:t>
            </a:r>
            <a:endParaRPr lang="en-US" sz="1250" dirty="0"/>
          </a:p>
          <a:p>
            <a:pPr marL="177800" indent="-177800">
              <a:spcAft>
                <a:spcPts val="500"/>
              </a:spcAft>
              <a:buSzPct val="100000"/>
              <a:buChar char="•"/>
            </a:pPr>
            <a:r>
              <a:rPr lang="en-US" sz="1250" dirty="0">
                <a:solidFill>
                  <a:schemeClr val="tx1"/>
                </a:solidFill>
              </a:rPr>
              <a:t>Inputs: long σ⁰ time series</a:t>
            </a:r>
            <a:endParaRPr lang="en-US" sz="1250" dirty="0"/>
          </a:p>
          <a:p>
            <a:pPr marL="177800" indent="-177800">
              <a:spcAft>
                <a:spcPts val="500"/>
              </a:spcAft>
              <a:buSzPct val="100000"/>
              <a:buChar char="•"/>
            </a:pPr>
            <a:r>
              <a:rPr lang="en-US" sz="1250" dirty="0">
                <a:solidFill>
                  <a:schemeClr val="tx1"/>
                </a:solidFill>
              </a:rPr>
              <a:t>+ Roughness and vegetation cancel</a:t>
            </a:r>
            <a:endParaRPr lang="en-US" sz="1250" dirty="0"/>
          </a:p>
          <a:p>
            <a:pPr marL="177800" indent="-177800">
              <a:spcAft>
                <a:spcPts val="500"/>
              </a:spcAft>
              <a:buSzPct val="100000"/>
              <a:buChar char="•"/>
            </a:pPr>
            <a:r>
              <a:rPr lang="en-US" sz="1250" dirty="0">
                <a:solidFill>
                  <a:schemeClr val="tx1"/>
                </a:solidFill>
              </a:rPr>
              <a:t>− Gives relative wetness; needs long record</a:t>
            </a:r>
            <a:endParaRPr lang="en-US" sz="1250" dirty="0"/>
          </a:p>
        </p:txBody>
      </p:sp>
      <p:sp>
        <p:nvSpPr>
          <p:cNvPr id="26" name="insight"/>
          <p:cNvSpPr/>
          <p:nvPr/>
        </p:nvSpPr>
        <p:spPr>
          <a:xfrm>
            <a:off x="548640" y="5623560"/>
            <a:ext cx="11094415" cy="685800"/>
          </a:xfrm>
          <a:prstGeom prst="roundRect">
            <a:avLst>
              <a:gd name="adj" fmla="val 10667"/>
            </a:avLst>
          </a:prstGeom>
          <a:solidFill>
            <a:schemeClr val="bg2"/>
          </a:solidFill>
          <a:ln/>
        </p:spPr>
      </p:sp>
      <p:sp>
        <p:nvSpPr>
          <p:cNvPr id="27" name="icon circle"/>
          <p:cNvSpPr/>
          <p:nvPr/>
        </p:nvSpPr>
        <p:spPr>
          <a:xfrm>
            <a:off x="685800" y="5728716"/>
            <a:ext cx="475488" cy="475488"/>
          </a:xfrm>
          <a:prstGeom prst="ellipse">
            <a:avLst/>
          </a:prstGeom>
          <a:solidFill>
            <a:schemeClr val="accent3"/>
          </a:solidFill>
          <a:ln/>
        </p:spPr>
      </p:sp>
      <p:pic>
        <p:nvPicPr>
          <p:cNvPr id="28" name="Image 0" descr="Lightbulb icon">    </p:cNvPr>
          <p:cNvPicPr>
            <a:picLocks noChangeAspect="1"/>
          </p:cNvPicPr>
          <p:nvPr/>
        </p:nvPicPr>
        <p:blipFill>
          <a:blip r:embed="rId1"/>
          <a:stretch>
            <a:fillRect/>
          </a:stretch>
        </p:blipFill>
        <p:spPr>
          <a:xfrm>
            <a:off x="809427" y="5852343"/>
            <a:ext cx="228234" cy="228234"/>
          </a:xfrm>
          <a:prstGeom prst="rect">
            <a:avLst/>
          </a:prstGeom>
        </p:spPr>
      </p:pic>
      <p:sp>
        <p:nvSpPr>
          <p:cNvPr id="29" name="Text 25"/>
          <p:cNvSpPr txBox="1"/>
          <p:nvPr/>
        </p:nvSpPr>
        <p:spPr>
          <a:xfrm>
            <a:off x="1325880" y="5660136"/>
            <a:ext cx="10180015" cy="61264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Over crops: </a:t>
            </a:r>
            <a:r>
              <a:rPr lang="en-US" sz="1400" b="1" dirty="0">
                <a:solidFill>
                  <a:schemeClr val="tx1"/>
                </a:solidFill>
              </a:rPr>
              <a:t>bare-soil model + vegetation model</a:t>
            </a:r>
            <a:r>
              <a:rPr lang="en-US" sz="1400" dirty="0">
                <a:solidFill>
                  <a:schemeClr val="tx1"/>
                </a:solidFill>
              </a:rPr>
              <a:t> (water cloud model), or use </a:t>
            </a:r>
            <a:r>
              <a:rPr lang="en-US" sz="1400" b="1" dirty="0">
                <a:solidFill>
                  <a:schemeClr val="tx1"/>
                </a:solidFill>
              </a:rPr>
              <a:t>data cubes per crop type</a:t>
            </a:r>
            <a:r>
              <a:rPr lang="en-US" sz="1400" dirty="0">
                <a:solidFill>
                  <a:schemeClr val="tx1"/>
                </a:solidFill>
              </a:rPr>
              <a:t> as NISAR does.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Physical models: IEM and NISAR's NMM3D look-up tables</a:t>
            </a:r>
            <a:endParaRPr lang="en-US" sz="3200" dirty="0"/>
          </a:p>
        </p:txBody>
      </p:sp>
      <p:sp>
        <p:nvSpPr>
          <p:cNvPr id="4" name="card"/>
          <p:cNvSpPr/>
          <p:nvPr/>
        </p:nvSpPr>
        <p:spPr>
          <a:xfrm>
            <a:off x="548640" y="1280160"/>
            <a:ext cx="5760720" cy="1828800"/>
          </a:xfrm>
          <a:prstGeom prst="roundRect">
            <a:avLst>
              <a:gd name="adj" fmla="val 4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371600"/>
            <a:ext cx="5394960" cy="1691640"/>
          </a:xfrm>
          <a:prstGeom prst="rect">
            <a:avLst/>
          </a:prstGeom>
          <a:noFill/>
          <a:ln/>
        </p:spPr>
        <p:txBody>
          <a:bodyPr wrap="square" lIns="508" tIns="508" rIns="508" bIns="508" rtlCol="0" anchor="t"/>
          <a:lstStyle/>
          <a:p>
            <a:pPr indent="0" marL="0">
              <a:spcAft>
                <a:spcPts val="600"/>
              </a:spcAft>
              <a:buNone/>
            </a:pPr>
            <a:r>
              <a:rPr lang="en-US" sz="1400" b="1" dirty="0">
                <a:solidFill>
                  <a:schemeClr val="bg1"/>
                </a:solidFill>
              </a:rPr>
              <a:t>IEM</a:t>
            </a:r>
            <a:r>
              <a:rPr lang="en-US" sz="1400" dirty="0">
                <a:solidFill>
                  <a:schemeClr val="bg1"/>
                </a:solidFill>
              </a:rPr>
              <a:t> (Fung et al. 1992), bare soil:</a:t>
            </a:r>
            <a:endParaRPr lang="en-US" sz="1400" dirty="0"/>
          </a:p>
          <a:p>
            <a:pPr indent="0" marL="0">
              <a:spcAft>
                <a:spcPts val="600"/>
              </a:spcAft>
              <a:buNone/>
            </a:pPr>
            <a:r>
              <a:rPr lang="en-US" sz="1400" b="1" dirty="0">
                <a:solidFill>
                  <a:schemeClr val="bg1"/>
                </a:solidFill>
              </a:rPr>
              <a:t>σ⁰</a:t>
            </a:r>
            <a:r>
              <a:rPr lang="en-US" sz="1400" b="1" baseline="-40000" dirty="0">
                <a:solidFill>
                  <a:schemeClr val="bg1"/>
                </a:solidFill>
              </a:rPr>
              <a:t>pq</a:t>
            </a:r>
            <a:r>
              <a:rPr lang="en-US" sz="1400" b="1" dirty="0">
                <a:solidFill>
                  <a:schemeClr val="bg1"/>
                </a:solidFill>
              </a:rPr>
              <a:t> = (k²/2)·e</a:t>
            </a:r>
            <a:r>
              <a:rPr lang="en-US" sz="1400" b="1" baseline="30000" dirty="0">
                <a:solidFill>
                  <a:schemeClr val="bg1"/>
                </a:solidFill>
              </a:rPr>
              <a:t>−2k_{z</a:t>
            </a:r>
            <a:r>
              <a:rPr lang="en-US" sz="1400" b="1" dirty="0">
                <a:solidFill>
                  <a:schemeClr val="bg1"/>
                </a:solidFill>
              </a:rPr>
              <a:t>²s²} Σ</a:t>
            </a:r>
            <a:r>
              <a:rPr lang="en-US" sz="1400" b="1" baseline="-40000" dirty="0">
                <a:solidFill>
                  <a:schemeClr val="bg1"/>
                </a:solidFill>
              </a:rPr>
              <a:t>n=1→∞</a:t>
            </a:r>
            <a:r>
              <a:rPr lang="en-US" sz="1400" b="1" dirty="0">
                <a:solidFill>
                  <a:schemeClr val="bg1"/>
                </a:solidFill>
              </a:rPr>
              <a:t> s</a:t>
            </a:r>
            <a:r>
              <a:rPr lang="en-US" sz="1400" b="1" baseline="30000" dirty="0">
                <a:solidFill>
                  <a:schemeClr val="bg1"/>
                </a:solidFill>
              </a:rPr>
              <a:t>2n</a:t>
            </a:r>
            <a:r>
              <a:rPr lang="en-US" sz="1400" b="1" dirty="0">
                <a:solidFill>
                  <a:schemeClr val="bg1"/>
                </a:solidFill>
              </a:rPr>
              <a:t>|I</a:t>
            </a:r>
            <a:r>
              <a:rPr lang="en-US" sz="1400" b="1" baseline="30000" dirty="0">
                <a:solidFill>
                  <a:schemeClr val="bg1"/>
                </a:solidFill>
              </a:rPr>
              <a:t>n</a:t>
            </a:r>
            <a:r>
              <a:rPr lang="en-US" sz="1400" b="1" baseline="-40000" dirty="0">
                <a:solidFill>
                  <a:schemeClr val="bg1"/>
                </a:solidFill>
              </a:rPr>
              <a:t>pq</a:t>
            </a:r>
            <a:r>
              <a:rPr lang="en-US" sz="1400" b="1" dirty="0">
                <a:solidFill>
                  <a:schemeClr val="bg1"/>
                </a:solidFill>
              </a:rPr>
              <a:t>|² W</a:t>
            </a:r>
            <a:r>
              <a:rPr lang="en-US" sz="1400" b="1" baseline="30000" dirty="0">
                <a:solidFill>
                  <a:schemeClr val="bg1"/>
                </a:solidFill>
              </a:rPr>
              <a:t>(n)</a:t>
            </a:r>
            <a:r>
              <a:rPr lang="en-US" sz="1400" b="1" dirty="0">
                <a:solidFill>
                  <a:schemeClr val="bg1"/>
                </a:solidFill>
              </a:rPr>
              <a:t>(−2k</a:t>
            </a:r>
            <a:r>
              <a:rPr lang="en-US" sz="1400" b="1" baseline="-40000" dirty="0">
                <a:solidFill>
                  <a:schemeClr val="bg1"/>
                </a:solidFill>
              </a:rPr>
              <a:t>x</a:t>
            </a:r>
            <a:r>
              <a:rPr lang="en-US" sz="1400" b="1" dirty="0">
                <a:solidFill>
                  <a:schemeClr val="bg1"/>
                </a:solidFill>
              </a:rPr>
              <a:t>, 0) / n!</a:t>
            </a:r>
            <a:endParaRPr lang="en-US" sz="1400" dirty="0"/>
          </a:p>
          <a:p>
            <a:pPr indent="0" marL="0">
              <a:spcAft>
                <a:spcPts val="600"/>
              </a:spcAft>
              <a:buNone/>
            </a:pPr>
            <a:r>
              <a:rPr lang="en-US" sz="1150" dirty="0">
                <a:solidFill>
                  <a:schemeClr val="bg2"/>
                </a:solidFill>
              </a:rPr>
              <a:t>k</a:t>
            </a:r>
            <a:r>
              <a:rPr lang="en-US" sz="1150" baseline="-40000" dirty="0">
                <a:solidFill>
                  <a:schemeClr val="bg2"/>
                </a:solidFill>
              </a:rPr>
              <a:t>z</a:t>
            </a:r>
            <a:r>
              <a:rPr lang="en-US" sz="1150" dirty="0">
                <a:solidFill>
                  <a:schemeClr val="bg2"/>
                </a:solidFill>
              </a:rPr>
              <a:t> = k cosθ, k</a:t>
            </a:r>
            <a:r>
              <a:rPr lang="en-US" sz="1150" baseline="-40000" dirty="0">
                <a:solidFill>
                  <a:schemeClr val="bg2"/>
                </a:solidFill>
              </a:rPr>
              <a:t>x</a:t>
            </a:r>
            <a:r>
              <a:rPr lang="en-US" sz="1150" dirty="0">
                <a:solidFill>
                  <a:schemeClr val="bg2"/>
                </a:solidFill>
              </a:rPr>
              <a:t> = k sinθ; W</a:t>
            </a:r>
            <a:r>
              <a:rPr lang="en-US" sz="1150" baseline="30000" dirty="0">
                <a:solidFill>
                  <a:schemeClr val="bg2"/>
                </a:solidFill>
              </a:rPr>
              <a:t>(n)</a:t>
            </a:r>
            <a:r>
              <a:rPr lang="en-US" sz="1150" dirty="0">
                <a:solidFill>
                  <a:schemeClr val="bg2"/>
                </a:solidFill>
              </a:rPr>
              <a:t> = Fourier transform of the n-th power of the surface autocorrelation</a:t>
            </a:r>
            <a:endParaRPr lang="en-US" sz="1400" dirty="0"/>
          </a:p>
        </p:txBody>
      </p:sp>
      <p:sp>
        <p:nvSpPr>
          <p:cNvPr id="6" name="card"/>
          <p:cNvSpPr/>
          <p:nvPr/>
        </p:nvSpPr>
        <p:spPr>
          <a:xfrm>
            <a:off x="548640" y="3291840"/>
            <a:ext cx="5760720" cy="2880360"/>
          </a:xfrm>
          <a:prstGeom prst="roundRect">
            <a:avLst>
              <a:gd name="adj" fmla="val 2540"/>
            </a:avLst>
          </a:prstGeom>
          <a:solidFill>
            <a:schemeClr val="bg2"/>
          </a:solidFill>
          <a:ln/>
          <a:effectLst>
            <a:outerShdw sx="100000" sy="100000" kx="0" ky="0" algn="bl" rotWithShape="0" blurRad="76200" dist="25400" dir="5400000">
              <a:srgbClr val="000000">
                <a:alpha val="14000"/>
              </a:srgbClr>
            </a:outerShdw>
          </a:effectLst>
        </p:spPr>
      </p:sp>
      <p:sp>
        <p:nvSpPr>
          <p:cNvPr id="7" name="icon circle"/>
          <p:cNvSpPr/>
          <p:nvPr/>
        </p:nvSpPr>
        <p:spPr>
          <a:xfrm>
            <a:off x="731520" y="3447288"/>
            <a:ext cx="420624" cy="420624"/>
          </a:xfrm>
          <a:prstGeom prst="ellipse">
            <a:avLst/>
          </a:prstGeom>
          <a:solidFill>
            <a:schemeClr val="accent2"/>
          </a:solidFill>
          <a:ln/>
        </p:spPr>
      </p:sp>
      <p:pic>
        <p:nvPicPr>
          <p:cNvPr id="8" name="Image 0" descr="Cogs icon">    </p:cNvPr>
          <p:cNvPicPr>
            <a:picLocks noChangeAspect="1"/>
          </p:cNvPicPr>
          <p:nvPr/>
        </p:nvPicPr>
        <p:blipFill>
          <a:blip r:embed="rId1"/>
          <a:stretch>
            <a:fillRect/>
          </a:stretch>
        </p:blipFill>
        <p:spPr>
          <a:xfrm>
            <a:off x="840882" y="3556650"/>
            <a:ext cx="201900" cy="201900"/>
          </a:xfrm>
          <a:prstGeom prst="rect">
            <a:avLst/>
          </a:prstGeom>
        </p:spPr>
      </p:pic>
      <p:sp>
        <p:nvSpPr>
          <p:cNvPr id="9" name="Text 5"/>
          <p:cNvSpPr txBox="1"/>
          <p:nvPr/>
        </p:nvSpPr>
        <p:spPr>
          <a:xfrm>
            <a:off x="1261872" y="3429000"/>
            <a:ext cx="4910328" cy="457200"/>
          </a:xfrm>
          <a:prstGeom prst="rect">
            <a:avLst/>
          </a:prstGeom>
          <a:noFill/>
          <a:ln/>
        </p:spPr>
        <p:txBody>
          <a:bodyPr wrap="square" lIns="0" tIns="0" rIns="0" bIns="0" rtlCol="0" anchor="ctr"/>
          <a:lstStyle/>
          <a:p>
            <a:pPr indent="0" marL="0">
              <a:buNone/>
            </a:pPr>
            <a:r>
              <a:rPr lang="en-US" sz="1600" b="1" dirty="0">
                <a:solidFill>
                  <a:schemeClr val="tx2"/>
                </a:solidFill>
              </a:rPr>
              <a:t>How it is used</a:t>
            </a:r>
            <a:endParaRPr lang="en-US" sz="1600" dirty="0"/>
          </a:p>
        </p:txBody>
      </p:sp>
      <p:sp>
        <p:nvSpPr>
          <p:cNvPr id="10" name="Text 6"/>
          <p:cNvSpPr txBox="1"/>
          <p:nvPr/>
        </p:nvSpPr>
        <p:spPr>
          <a:xfrm>
            <a:off x="731520" y="3977640"/>
            <a:ext cx="5394960"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Valid for bare soil, single scattering; </a:t>
            </a:r>
            <a:r>
              <a:rPr lang="en-US" sz="1300" b="1" dirty="0">
                <a:solidFill>
                  <a:schemeClr val="tx1"/>
                </a:solidFill>
              </a:rPr>
              <a:t>AIEM</a:t>
            </a:r>
            <a:r>
              <a:rPr lang="en-US" sz="1300" dirty="0">
                <a:solidFill>
                  <a:schemeClr val="tx1"/>
                </a:solidFill>
              </a:rPr>
              <a:t> (Chen 2003) extends it</a:t>
            </a:r>
            <a:endParaRPr lang="en-US" sz="1300" dirty="0"/>
          </a:p>
          <a:p>
            <a:pPr marL="177800" indent="-177800">
              <a:spcAft>
                <a:spcPts val="400"/>
              </a:spcAft>
              <a:buSzPct val="100000"/>
              <a:buChar char="•"/>
            </a:pPr>
            <a:r>
              <a:rPr lang="en-US" sz="1300" dirty="0">
                <a:solidFill>
                  <a:schemeClr val="tx1"/>
                </a:solidFill>
              </a:rPr>
              <a:t>IEM best on smooth surfaces; Oh better on rough soils</a:t>
            </a:r>
            <a:endParaRPr lang="en-US" sz="1300" dirty="0"/>
          </a:p>
          <a:p>
            <a:pPr marL="177800" indent="-177800">
              <a:spcAft>
                <a:spcPts val="400"/>
              </a:spcAft>
              <a:buSzPct val="100000"/>
              <a:buChar char="•"/>
            </a:pPr>
            <a:r>
              <a:rPr lang="en-US" sz="1300" b="1" dirty="0">
                <a:solidFill>
                  <a:schemeClr val="tx1"/>
                </a:solidFill>
              </a:rPr>
              <a:t>Inversion</a:t>
            </a:r>
            <a:r>
              <a:rPr lang="en-US" sz="1300" dirty="0">
                <a:solidFill>
                  <a:schemeClr val="tx1"/>
                </a:solidFill>
              </a:rPr>
              <a:t>: forward runs → look-up table → match observed σ⁰ → (ε′, s) → m</a:t>
            </a:r>
            <a:r>
              <a:rPr lang="en-US" sz="1300" baseline="-40000" dirty="0">
                <a:solidFill>
                  <a:schemeClr val="tx1"/>
                </a:solidFill>
              </a:rPr>
              <a:t>v</a:t>
            </a:r>
            <a:endParaRPr lang="en-US" sz="1300" dirty="0"/>
          </a:p>
          <a:p>
            <a:pPr marL="177800" indent="-177800">
              <a:spcAft>
                <a:spcPts val="400"/>
              </a:spcAft>
              <a:buSzPct val="100000"/>
              <a:buChar char="•"/>
            </a:pPr>
            <a:r>
              <a:rPr lang="en-US" sz="1300" b="1" dirty="0">
                <a:solidFill>
                  <a:schemeClr val="tx1"/>
                </a:solidFill>
              </a:rPr>
              <a:t>NMM3D</a:t>
            </a:r>
            <a:r>
              <a:rPr lang="en-US" sz="1300" dirty="0">
                <a:solidFill>
                  <a:schemeClr val="tx1"/>
                </a:solidFill>
              </a:rPr>
              <a:t> (NISAR): 200 cases; s up to 0.21λ (ks = 1.32, ~5 cm at L-band); tables within 0.2 dB</a:t>
            </a:r>
            <a:endParaRPr lang="en-US" sz="1300" dirty="0"/>
          </a:p>
        </p:txBody>
      </p:sp>
      <p:sp>
        <p:nvSpPr>
          <p:cNvPr id="11" name="figure frame"/>
          <p:cNvSpPr/>
          <p:nvPr/>
        </p:nvSpPr>
        <p:spPr>
          <a:xfrm>
            <a:off x="6537960" y="1280160"/>
            <a:ext cx="5102352"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2" name="Image 1" descr="NMM3D σ⁰ (dB) for HH, VV, HV vs rms height s and ε′ (l/s = 10). Source: NISAR L3 Soil Moisture ATBD, JPL D-107679 (2023)">    </p:cNvPr>
          <p:cNvPicPr>
            <a:picLocks noChangeAspect="1"/>
          </p:cNvPicPr>
          <p:nvPr/>
        </p:nvPicPr>
        <p:blipFill>
          <a:blip r:embed="rId2"/>
          <a:stretch>
            <a:fillRect/>
          </a:stretch>
        </p:blipFill>
        <p:spPr>
          <a:xfrm>
            <a:off x="6629400" y="1646387"/>
            <a:ext cx="4919472" cy="1507826"/>
          </a:xfrm>
          <a:prstGeom prst="rect">
            <a:avLst/>
          </a:prstGeom>
        </p:spPr>
      </p:pic>
      <p:sp>
        <p:nvSpPr>
          <p:cNvPr id="13" name="Text 8"/>
          <p:cNvSpPr txBox="1"/>
          <p:nvPr/>
        </p:nvSpPr>
        <p:spPr>
          <a:xfrm>
            <a:off x="6537960" y="3566160"/>
            <a:ext cx="5102352" cy="457200"/>
          </a:xfrm>
          <a:prstGeom prst="rect">
            <a:avLst/>
          </a:prstGeom>
          <a:noFill/>
          <a:ln/>
        </p:spPr>
        <p:txBody>
          <a:bodyPr wrap="square" lIns="0" tIns="0" rIns="0" bIns="0" rtlCol="0" anchor="t"/>
          <a:lstStyle/>
          <a:p>
            <a:pPr indent="0" marL="0">
              <a:buNone/>
            </a:pPr>
            <a:r>
              <a:rPr lang="en-US" sz="1100" i="1" dirty="0">
                <a:solidFill>
                  <a:schemeClr val="accent6"/>
                </a:solidFill>
              </a:rPr>
              <a:t>NMM3D σ⁰ (dB) for HH, VV, HV vs rms height s and ε′ (l/s = 10). Source: NISAR L3 Soil Moisture ATBD, JPL D-107679 (2023)</a:t>
            </a:r>
            <a:endParaRPr lang="en-US" sz="1100" dirty="0"/>
          </a:p>
        </p:txBody>
      </p:sp>
      <p:sp>
        <p:nvSpPr>
          <p:cNvPr id="14" name="insight"/>
          <p:cNvSpPr/>
          <p:nvPr/>
        </p:nvSpPr>
        <p:spPr>
          <a:xfrm>
            <a:off x="6537960" y="4251960"/>
            <a:ext cx="5102352" cy="1920240"/>
          </a:xfrm>
          <a:prstGeom prst="roundRect">
            <a:avLst>
              <a:gd name="adj" fmla="val 3810"/>
            </a:avLst>
          </a:prstGeom>
          <a:solidFill>
            <a:schemeClr val="bg2"/>
          </a:solidFill>
          <a:ln/>
        </p:spPr>
      </p:sp>
      <p:sp>
        <p:nvSpPr>
          <p:cNvPr id="15" name="icon circle"/>
          <p:cNvSpPr/>
          <p:nvPr/>
        </p:nvSpPr>
        <p:spPr>
          <a:xfrm>
            <a:off x="6675120" y="4974336"/>
            <a:ext cx="475488" cy="475488"/>
          </a:xfrm>
          <a:prstGeom prst="ellipse">
            <a:avLst/>
          </a:prstGeom>
          <a:solidFill>
            <a:schemeClr val="accent3"/>
          </a:solidFill>
          <a:ln/>
        </p:spPr>
      </p:sp>
      <p:pic>
        <p:nvPicPr>
          <p:cNvPr id="16" name="Image 2" descr="Lightbulb icon">    </p:cNvPr>
          <p:cNvPicPr>
            <a:picLocks noChangeAspect="1"/>
          </p:cNvPicPr>
          <p:nvPr/>
        </p:nvPicPr>
        <p:blipFill>
          <a:blip r:embed="rId3"/>
          <a:stretch>
            <a:fillRect/>
          </a:stretch>
        </p:blipFill>
        <p:spPr>
          <a:xfrm>
            <a:off x="6798747" y="5097963"/>
            <a:ext cx="228234" cy="228234"/>
          </a:xfrm>
          <a:prstGeom prst="rect">
            <a:avLst/>
          </a:prstGeom>
        </p:spPr>
      </p:pic>
      <p:sp>
        <p:nvSpPr>
          <p:cNvPr id="17" name="Text 11"/>
          <p:cNvSpPr txBox="1"/>
          <p:nvPr/>
        </p:nvSpPr>
        <p:spPr>
          <a:xfrm>
            <a:off x="7315200" y="4288536"/>
            <a:ext cx="4187952" cy="184708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Read the figure: </a:t>
            </a:r>
            <a:r>
              <a:rPr lang="en-US" sz="1350" b="1" dirty="0">
                <a:solidFill>
                  <a:schemeClr val="tx1"/>
                </a:solidFill>
              </a:rPr>
              <a:t>σ⁰ rises with both ε′ (wetness) and s (roughness)</a:t>
            </a:r>
            <a:r>
              <a:rPr lang="en-US" sz="1350" dirty="0">
                <a:solidFill>
                  <a:schemeClr val="tx1"/>
                </a:solidFill>
              </a:rPr>
              <a:t>: the same colour can be reached by different combinations. That is the ambiguity.</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Semi-empirical and empirical models: Oh, Dubois, linear</a:t>
            </a:r>
            <a:endParaRPr lang="en-US" sz="3200" dirty="0"/>
          </a:p>
        </p:txBody>
      </p:sp>
      <p:sp>
        <p:nvSpPr>
          <p:cNvPr id="4" name="card"/>
          <p:cNvSpPr/>
          <p:nvPr/>
        </p:nvSpPr>
        <p:spPr>
          <a:xfrm>
            <a:off x="548640" y="1280160"/>
            <a:ext cx="3657600" cy="489204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417320"/>
            <a:ext cx="3337560" cy="365760"/>
          </a:xfrm>
          <a:prstGeom prst="rect">
            <a:avLst/>
          </a:prstGeom>
          <a:noFill/>
          <a:ln/>
        </p:spPr>
        <p:txBody>
          <a:bodyPr wrap="square" lIns="0" tIns="0" rIns="0" bIns="0" rtlCol="0" anchor="ctr"/>
          <a:lstStyle/>
          <a:p>
            <a:pPr indent="0" marL="0">
              <a:buNone/>
            </a:pPr>
            <a:r>
              <a:rPr lang="en-US" sz="1600" b="1" dirty="0">
                <a:solidFill>
                  <a:schemeClr val="accent4"/>
                </a:solidFill>
              </a:rPr>
              <a:t>Oh et al. (1992)</a:t>
            </a:r>
            <a:endParaRPr lang="en-US" sz="1600" dirty="0"/>
          </a:p>
        </p:txBody>
      </p:sp>
      <p:sp>
        <p:nvSpPr>
          <p:cNvPr id="6" name="Text 3"/>
          <p:cNvSpPr txBox="1"/>
          <p:nvPr/>
        </p:nvSpPr>
        <p:spPr>
          <a:xfrm>
            <a:off x="731520" y="1828800"/>
            <a:ext cx="3291840" cy="4251960"/>
          </a:xfrm>
          <a:prstGeom prst="rect">
            <a:avLst/>
          </a:prstGeom>
          <a:noFill/>
          <a:ln/>
        </p:spPr>
        <p:txBody>
          <a:bodyPr wrap="square" lIns="508" tIns="508" rIns="508" bIns="508" rtlCol="0" anchor="t"/>
          <a:lstStyle/>
          <a:p>
            <a:pPr indent="0" marL="0">
              <a:spcAft>
                <a:spcPts val="400"/>
              </a:spcAft>
              <a:buNone/>
            </a:pPr>
            <a:r>
              <a:rPr lang="en-US" sz="1250" b="1" dirty="0">
                <a:solidFill>
                  <a:schemeClr val="tx1"/>
                </a:solidFill>
              </a:rPr>
              <a:t>p = σ⁰</a:t>
            </a:r>
            <a:r>
              <a:rPr lang="en-US" sz="1250" b="1" baseline="-40000" dirty="0">
                <a:solidFill>
                  <a:schemeClr val="tx1"/>
                </a:solidFill>
              </a:rPr>
              <a:t>HH</a:t>
            </a:r>
            <a:r>
              <a:rPr lang="en-US" sz="1250" b="1" dirty="0">
                <a:solidFill>
                  <a:schemeClr val="tx1"/>
                </a:solidFill>
              </a:rPr>
              <a:t>/σ⁰</a:t>
            </a:r>
            <a:r>
              <a:rPr lang="en-US" sz="1250" b="1" baseline="-40000" dirty="0">
                <a:solidFill>
                  <a:schemeClr val="tx1"/>
                </a:solidFill>
              </a:rPr>
              <a:t>VV</a:t>
            </a:r>
            <a:r>
              <a:rPr lang="en-US" sz="1250" b="1" dirty="0">
                <a:solidFill>
                  <a:schemeClr val="tx1"/>
                </a:solidFill>
              </a:rPr>
              <a:t> = [1 − (2θ/π)</a:t>
            </a:r>
            <a:r>
              <a:rPr lang="en-US" sz="1250" b="1" baseline="30000" dirty="0">
                <a:solidFill>
                  <a:schemeClr val="tx1"/>
                </a:solidFill>
              </a:rPr>
              <a:t>1/(3R_{0</a:t>
            </a:r>
            <a:r>
              <a:rPr lang="en-US" sz="1250" b="1" dirty="0">
                <a:solidFill>
                  <a:schemeClr val="tx1"/>
                </a:solidFill>
              </a:rPr>
              <a:t>)}·e</a:t>
            </a:r>
            <a:r>
              <a:rPr lang="en-US" sz="1250" b="1" baseline="30000" dirty="0">
                <a:solidFill>
                  <a:schemeClr val="tx1"/>
                </a:solidFill>
              </a:rPr>
              <a:t>−ks</a:t>
            </a:r>
            <a:r>
              <a:rPr lang="en-US" sz="1250" b="1" dirty="0">
                <a:solidFill>
                  <a:schemeClr val="tx1"/>
                </a:solidFill>
              </a:rPr>
              <a:t>]²</a:t>
            </a:r>
            <a:endParaRPr lang="en-US" sz="1250" dirty="0"/>
          </a:p>
          <a:p>
            <a:pPr indent="0" marL="0">
              <a:spcAft>
                <a:spcPts val="400"/>
              </a:spcAft>
              <a:buNone/>
            </a:pPr>
            <a:r>
              <a:rPr lang="en-US" sz="1250" b="1" dirty="0">
                <a:solidFill>
                  <a:schemeClr val="tx1"/>
                </a:solidFill>
              </a:rPr>
              <a:t>q = σ⁰</a:t>
            </a:r>
            <a:r>
              <a:rPr lang="en-US" sz="1250" b="1" baseline="-40000" dirty="0">
                <a:solidFill>
                  <a:schemeClr val="tx1"/>
                </a:solidFill>
              </a:rPr>
              <a:t>HV</a:t>
            </a:r>
            <a:r>
              <a:rPr lang="en-US" sz="1250" b="1" dirty="0">
                <a:solidFill>
                  <a:schemeClr val="tx1"/>
                </a:solidFill>
              </a:rPr>
              <a:t>/σ⁰</a:t>
            </a:r>
            <a:r>
              <a:rPr lang="en-US" sz="1250" b="1" baseline="-40000" dirty="0">
                <a:solidFill>
                  <a:schemeClr val="tx1"/>
                </a:solidFill>
              </a:rPr>
              <a:t>VV</a:t>
            </a:r>
            <a:r>
              <a:rPr lang="en-US" sz="1250" b="1" dirty="0">
                <a:solidFill>
                  <a:schemeClr val="tx1"/>
                </a:solidFill>
              </a:rPr>
              <a:t> = 0.23·√R</a:t>
            </a:r>
            <a:r>
              <a:rPr lang="en-US" sz="1250" b="1" baseline="-40000" dirty="0">
                <a:solidFill>
                  <a:schemeClr val="tx1"/>
                </a:solidFill>
              </a:rPr>
              <a:t>0</a:t>
            </a:r>
            <a:r>
              <a:rPr lang="en-US" sz="1250" b="1" dirty="0">
                <a:solidFill>
                  <a:schemeClr val="tx1"/>
                </a:solidFill>
              </a:rPr>
              <a:t>·(1 − e</a:t>
            </a:r>
            <a:r>
              <a:rPr lang="en-US" sz="1250" b="1" baseline="30000" dirty="0">
                <a:solidFill>
                  <a:schemeClr val="tx1"/>
                </a:solidFill>
              </a:rPr>
              <a:t>−ks</a:t>
            </a:r>
            <a:r>
              <a:rPr lang="en-US" sz="1250" b="1" dirty="0">
                <a:solidFill>
                  <a:schemeClr val="tx1"/>
                </a:solidFill>
              </a:rPr>
              <a:t>)</a:t>
            </a:r>
            <a:endParaRPr lang="en-US" sz="1250" dirty="0"/>
          </a:p>
          <a:p>
            <a:pPr indent="0" marL="0">
              <a:spcAft>
                <a:spcPts val="400"/>
              </a:spcAft>
              <a:buNone/>
            </a:pPr>
            <a:r>
              <a:rPr lang="en-US" sz="1200" dirty="0">
                <a:solidFill>
                  <a:schemeClr val="tx1"/>
                </a:solidFill>
              </a:rPr>
              <a:t>R</a:t>
            </a:r>
            <a:r>
              <a:rPr lang="en-US" sz="1200" baseline="-40000" dirty="0">
                <a:solidFill>
                  <a:schemeClr val="tx1"/>
                </a:solidFill>
              </a:rPr>
              <a:t>0</a:t>
            </a:r>
            <a:r>
              <a:rPr lang="en-US" sz="1200" dirty="0">
                <a:solidFill>
                  <a:schemeClr val="tx1"/>
                </a:solidFill>
              </a:rPr>
              <a:t> = |(1−√ε′)/(1+√ε′)|²</a:t>
            </a:r>
            <a:endParaRPr lang="en-US" sz="1250" dirty="0"/>
          </a:p>
          <a:p>
            <a:pPr marL="177800" indent="-177800">
              <a:spcAft>
                <a:spcPts val="400"/>
              </a:spcAft>
              <a:buSzPct val="100000"/>
              <a:buChar char="•"/>
            </a:pPr>
            <a:r>
              <a:rPr lang="en-US" sz="1250" dirty="0">
                <a:solidFill>
                  <a:schemeClr val="tx1"/>
                </a:solidFill>
              </a:rPr>
              <a:t>Needs HH, VV, HV → solves m</a:t>
            </a:r>
            <a:r>
              <a:rPr lang="en-US" sz="1250" baseline="-40000" dirty="0">
                <a:solidFill>
                  <a:schemeClr val="tx1"/>
                </a:solidFill>
              </a:rPr>
              <a:t>v</a:t>
            </a:r>
            <a:r>
              <a:rPr lang="en-US" sz="1250" dirty="0">
                <a:solidFill>
                  <a:schemeClr val="tx1"/>
                </a:solidFill>
              </a:rPr>
              <a:t> and s together</a:t>
            </a:r>
            <a:endParaRPr lang="en-US" sz="1250" dirty="0"/>
          </a:p>
          <a:p>
            <a:pPr marL="177800" indent="-177800">
              <a:spcAft>
                <a:spcPts val="400"/>
              </a:spcAft>
              <a:buSzPct val="100000"/>
              <a:buChar char="•"/>
            </a:pPr>
            <a:r>
              <a:rPr lang="en-US" sz="1250" dirty="0">
                <a:solidFill>
                  <a:schemeClr val="tx1"/>
                </a:solidFill>
              </a:rPr>
              <a:t>Valid: 0.1 &lt; ks &lt; 6; 0.09 &lt; m</a:t>
            </a:r>
            <a:r>
              <a:rPr lang="en-US" sz="1250" baseline="-40000" dirty="0">
                <a:solidFill>
                  <a:schemeClr val="tx1"/>
                </a:solidFill>
              </a:rPr>
              <a:t>v</a:t>
            </a:r>
            <a:r>
              <a:rPr lang="en-US" sz="1250" dirty="0">
                <a:solidFill>
                  <a:schemeClr val="tx1"/>
                </a:solidFill>
              </a:rPr>
              <a:t> &lt; 0.31; 10°–70°</a:t>
            </a:r>
            <a:endParaRPr lang="en-US" sz="1250" dirty="0"/>
          </a:p>
          <a:p>
            <a:pPr marL="177800" indent="-177800">
              <a:spcAft>
                <a:spcPts val="400"/>
              </a:spcAft>
              <a:buSzPct val="100000"/>
              <a:buChar char="•"/>
            </a:pPr>
            <a:r>
              <a:rPr lang="en-US" sz="1250" dirty="0">
                <a:solidFill>
                  <a:schemeClr val="tx1"/>
                </a:solidFill>
              </a:rPr>
              <a:t>Only rms height needed (no correlation length)</a:t>
            </a:r>
            <a:endParaRPr lang="en-US" sz="1250" dirty="0"/>
          </a:p>
        </p:txBody>
      </p:sp>
      <p:sp>
        <p:nvSpPr>
          <p:cNvPr id="7" name="card"/>
          <p:cNvSpPr/>
          <p:nvPr/>
        </p:nvSpPr>
        <p:spPr>
          <a:xfrm>
            <a:off x="4315968" y="1280160"/>
            <a:ext cx="3657600" cy="489204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498848" y="1417320"/>
            <a:ext cx="3337560" cy="365760"/>
          </a:xfrm>
          <a:prstGeom prst="rect">
            <a:avLst/>
          </a:prstGeom>
          <a:noFill/>
          <a:ln/>
        </p:spPr>
        <p:txBody>
          <a:bodyPr wrap="square" lIns="0" tIns="0" rIns="0" bIns="0" rtlCol="0" anchor="ctr"/>
          <a:lstStyle/>
          <a:p>
            <a:pPr indent="0" marL="0">
              <a:buNone/>
            </a:pPr>
            <a:r>
              <a:rPr lang="en-US" sz="1600" b="1" dirty="0">
                <a:solidFill>
                  <a:schemeClr val="accent4"/>
                </a:solidFill>
              </a:rPr>
              <a:t>Dubois et al. (1995)</a:t>
            </a:r>
            <a:endParaRPr lang="en-US" sz="1600" dirty="0"/>
          </a:p>
        </p:txBody>
      </p:sp>
      <p:sp>
        <p:nvSpPr>
          <p:cNvPr id="9" name="Text 6"/>
          <p:cNvSpPr txBox="1"/>
          <p:nvPr/>
        </p:nvSpPr>
        <p:spPr>
          <a:xfrm>
            <a:off x="4498848" y="1828800"/>
            <a:ext cx="3291840" cy="4251960"/>
          </a:xfrm>
          <a:prstGeom prst="rect">
            <a:avLst/>
          </a:prstGeom>
          <a:noFill/>
          <a:ln/>
        </p:spPr>
        <p:txBody>
          <a:bodyPr wrap="square" lIns="508" tIns="508" rIns="508" bIns="508" rtlCol="0" anchor="t"/>
          <a:lstStyle/>
          <a:p>
            <a:pPr indent="0" marL="0">
              <a:spcAft>
                <a:spcPts val="400"/>
              </a:spcAft>
              <a:buNone/>
            </a:pPr>
            <a:r>
              <a:rPr lang="en-US" sz="1200" b="1" dirty="0">
                <a:solidFill>
                  <a:schemeClr val="tx1"/>
                </a:solidFill>
              </a:rPr>
              <a:t>σ⁰</a:t>
            </a:r>
            <a:r>
              <a:rPr lang="en-US" sz="1200" b="1" baseline="-40000" dirty="0">
                <a:solidFill>
                  <a:schemeClr val="tx1"/>
                </a:solidFill>
              </a:rPr>
              <a:t>HH</a:t>
            </a:r>
            <a:r>
              <a:rPr lang="en-US" sz="1200" b="1" dirty="0">
                <a:solidFill>
                  <a:schemeClr val="tx1"/>
                </a:solidFill>
              </a:rPr>
              <a:t> = 10</a:t>
            </a:r>
            <a:r>
              <a:rPr lang="en-US" sz="1200" b="1" baseline="30000" dirty="0">
                <a:solidFill>
                  <a:schemeClr val="tx1"/>
                </a:solidFill>
              </a:rPr>
              <a:t>−2.75</a:t>
            </a:r>
            <a:r>
              <a:rPr lang="en-US" sz="1200" b="1" dirty="0">
                <a:solidFill>
                  <a:schemeClr val="tx1"/>
                </a:solidFill>
              </a:rPr>
              <a:t>(cos</a:t>
            </a:r>
            <a:r>
              <a:rPr lang="en-US" sz="1200" b="1" baseline="30000" dirty="0">
                <a:solidFill>
                  <a:schemeClr val="tx1"/>
                </a:solidFill>
              </a:rPr>
              <a:t>1.5</a:t>
            </a:r>
            <a:r>
              <a:rPr lang="en-US" sz="1200" b="1" dirty="0">
                <a:solidFill>
                  <a:schemeClr val="tx1"/>
                </a:solidFill>
              </a:rPr>
              <a:t>θ/sin⁵θ)·10</a:t>
            </a:r>
            <a:r>
              <a:rPr lang="en-US" sz="1200" b="1" baseline="30000" dirty="0">
                <a:solidFill>
                  <a:schemeClr val="tx1"/>
                </a:solidFill>
              </a:rPr>
              <a:t>0.028ε′tanθ</a:t>
            </a:r>
            <a:r>
              <a:rPr lang="en-US" sz="1200" b="1" dirty="0">
                <a:solidFill>
                  <a:schemeClr val="tx1"/>
                </a:solidFill>
              </a:rPr>
              <a:t>·(ks·sinθ)</a:t>
            </a:r>
            <a:r>
              <a:rPr lang="en-US" sz="1200" b="1" baseline="30000" dirty="0">
                <a:solidFill>
                  <a:schemeClr val="tx1"/>
                </a:solidFill>
              </a:rPr>
              <a:t>1.4</a:t>
            </a:r>
            <a:r>
              <a:rPr lang="en-US" sz="1200" b="1" dirty="0">
                <a:solidFill>
                  <a:schemeClr val="tx1"/>
                </a:solidFill>
              </a:rPr>
              <a:t>λ</a:t>
            </a:r>
            <a:r>
              <a:rPr lang="en-US" sz="1200" b="1" baseline="30000" dirty="0">
                <a:solidFill>
                  <a:schemeClr val="tx1"/>
                </a:solidFill>
              </a:rPr>
              <a:t>0.7</a:t>
            </a:r>
            <a:endParaRPr lang="en-US" sz="1200" dirty="0"/>
          </a:p>
          <a:p>
            <a:pPr indent="0" marL="0">
              <a:spcAft>
                <a:spcPts val="400"/>
              </a:spcAft>
              <a:buNone/>
            </a:pPr>
            <a:r>
              <a:rPr lang="en-US" sz="1200" b="1" dirty="0">
                <a:solidFill>
                  <a:schemeClr val="tx1"/>
                </a:solidFill>
              </a:rPr>
              <a:t>σ⁰</a:t>
            </a:r>
            <a:r>
              <a:rPr lang="en-US" sz="1200" b="1" baseline="-40000" dirty="0">
                <a:solidFill>
                  <a:schemeClr val="tx1"/>
                </a:solidFill>
              </a:rPr>
              <a:t>VV</a:t>
            </a:r>
            <a:r>
              <a:rPr lang="en-US" sz="1200" b="1" dirty="0">
                <a:solidFill>
                  <a:schemeClr val="tx1"/>
                </a:solidFill>
              </a:rPr>
              <a:t> = 10</a:t>
            </a:r>
            <a:r>
              <a:rPr lang="en-US" sz="1200" b="1" baseline="30000" dirty="0">
                <a:solidFill>
                  <a:schemeClr val="tx1"/>
                </a:solidFill>
              </a:rPr>
              <a:t>−2.35</a:t>
            </a:r>
            <a:r>
              <a:rPr lang="en-US" sz="1200" b="1" dirty="0">
                <a:solidFill>
                  <a:schemeClr val="tx1"/>
                </a:solidFill>
              </a:rPr>
              <a:t>(cos³θ/sin³θ)·10</a:t>
            </a:r>
            <a:r>
              <a:rPr lang="en-US" sz="1200" b="1" baseline="30000" dirty="0">
                <a:solidFill>
                  <a:schemeClr val="tx1"/>
                </a:solidFill>
              </a:rPr>
              <a:t>0.046ε′tanθ</a:t>
            </a:r>
            <a:r>
              <a:rPr lang="en-US" sz="1200" b="1" dirty="0">
                <a:solidFill>
                  <a:schemeClr val="tx1"/>
                </a:solidFill>
              </a:rPr>
              <a:t>·(ks·sinθ)</a:t>
            </a:r>
            <a:r>
              <a:rPr lang="en-US" sz="1200" b="1" baseline="30000" dirty="0">
                <a:solidFill>
                  <a:schemeClr val="tx1"/>
                </a:solidFill>
              </a:rPr>
              <a:t>1.1</a:t>
            </a:r>
            <a:r>
              <a:rPr lang="en-US" sz="1200" b="1" dirty="0">
                <a:solidFill>
                  <a:schemeClr val="tx1"/>
                </a:solidFill>
              </a:rPr>
              <a:t>λ</a:t>
            </a:r>
            <a:r>
              <a:rPr lang="en-US" sz="1200" b="1" baseline="30000" dirty="0">
                <a:solidFill>
                  <a:schemeClr val="tx1"/>
                </a:solidFill>
              </a:rPr>
              <a:t>0.7</a:t>
            </a:r>
            <a:endParaRPr lang="en-US" sz="1200" dirty="0"/>
          </a:p>
          <a:p>
            <a:pPr marL="177800" indent="-177800">
              <a:spcAft>
                <a:spcPts val="400"/>
              </a:spcAft>
              <a:buSzPct val="100000"/>
              <a:buChar char="•"/>
            </a:pPr>
            <a:r>
              <a:rPr lang="en-US" sz="1250" dirty="0">
                <a:solidFill>
                  <a:schemeClr val="tx1"/>
                </a:solidFill>
              </a:rPr>
              <a:t>Two co-pol channels → ε′ and s</a:t>
            </a:r>
            <a:endParaRPr lang="en-US" sz="1200" dirty="0"/>
          </a:p>
          <a:p>
            <a:pPr marL="177800" indent="-177800">
              <a:spcAft>
                <a:spcPts val="400"/>
              </a:spcAft>
              <a:buSzPct val="100000"/>
              <a:buChar char="•"/>
            </a:pPr>
            <a:r>
              <a:rPr lang="en-US" sz="1250" dirty="0">
                <a:solidFill>
                  <a:schemeClr val="tx1"/>
                </a:solidFill>
              </a:rPr>
              <a:t>Valid: 1.5–11 GHz; s 0.3–3 cm; 30°–65°</a:t>
            </a:r>
            <a:endParaRPr lang="en-US" sz="1200" dirty="0"/>
          </a:p>
          <a:p>
            <a:pPr marL="177800" indent="-177800">
              <a:spcAft>
                <a:spcPts val="400"/>
              </a:spcAft>
              <a:buSzPct val="100000"/>
              <a:buChar char="•"/>
            </a:pPr>
            <a:r>
              <a:rPr lang="en-US" sz="1250" dirty="0">
                <a:solidFill>
                  <a:schemeClr val="tx1"/>
                </a:solidFill>
              </a:rPr>
              <a:t>Fails over vegetation with NDVI &gt; 0.4</a:t>
            </a:r>
            <a:endParaRPr lang="en-US" sz="1200" dirty="0"/>
          </a:p>
        </p:txBody>
      </p:sp>
      <p:sp>
        <p:nvSpPr>
          <p:cNvPr id="10" name="card"/>
          <p:cNvSpPr/>
          <p:nvPr/>
        </p:nvSpPr>
        <p:spPr>
          <a:xfrm>
            <a:off x="8083296" y="1280160"/>
            <a:ext cx="3557016" cy="4892040"/>
          </a:xfrm>
          <a:prstGeom prst="roundRect">
            <a:avLst>
              <a:gd name="adj" fmla="val 2057"/>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266176" y="1417320"/>
            <a:ext cx="3236976" cy="365760"/>
          </a:xfrm>
          <a:prstGeom prst="rect">
            <a:avLst/>
          </a:prstGeom>
          <a:noFill/>
          <a:ln/>
        </p:spPr>
        <p:txBody>
          <a:bodyPr wrap="square" lIns="0" tIns="0" rIns="0" bIns="0" rtlCol="0" anchor="ctr"/>
          <a:lstStyle/>
          <a:p>
            <a:pPr indent="0" marL="0">
              <a:buNone/>
            </a:pPr>
            <a:r>
              <a:rPr lang="en-US" sz="1600" b="1" dirty="0">
                <a:solidFill>
                  <a:schemeClr val="accent1"/>
                </a:solidFill>
              </a:rPr>
              <a:t>Empirical</a:t>
            </a:r>
            <a:endParaRPr lang="en-US" sz="1600" dirty="0"/>
          </a:p>
        </p:txBody>
      </p:sp>
      <p:sp>
        <p:nvSpPr>
          <p:cNvPr id="12" name="Text 9"/>
          <p:cNvSpPr txBox="1"/>
          <p:nvPr/>
        </p:nvSpPr>
        <p:spPr>
          <a:xfrm>
            <a:off x="8266176" y="1828800"/>
            <a:ext cx="3191256" cy="4251960"/>
          </a:xfrm>
          <a:prstGeom prst="rect">
            <a:avLst/>
          </a:prstGeom>
          <a:noFill/>
          <a:ln/>
        </p:spPr>
        <p:txBody>
          <a:bodyPr wrap="square" lIns="508" tIns="508" rIns="508" bIns="508" rtlCol="0" anchor="t"/>
          <a:lstStyle/>
          <a:p>
            <a:pPr indent="0" marL="0">
              <a:spcAft>
                <a:spcPts val="400"/>
              </a:spcAft>
              <a:buNone/>
            </a:pPr>
            <a:r>
              <a:rPr lang="en-US" sz="1400" b="1" dirty="0">
                <a:solidFill>
                  <a:schemeClr val="tx1"/>
                </a:solidFill>
              </a:rPr>
              <a:t>σ⁰ (dB) = a + b·m</a:t>
            </a:r>
            <a:r>
              <a:rPr lang="en-US" sz="1400" b="1" baseline="-40000" dirty="0">
                <a:solidFill>
                  <a:schemeClr val="tx1"/>
                </a:solidFill>
              </a:rPr>
              <a:t>v</a:t>
            </a:r>
            <a:endParaRPr lang="en-US" sz="1400" dirty="0"/>
          </a:p>
          <a:p>
            <a:pPr marL="177800" indent="-177800">
              <a:spcAft>
                <a:spcPts val="400"/>
              </a:spcAft>
              <a:buSzPct val="100000"/>
              <a:buChar char="•"/>
            </a:pPr>
            <a:r>
              <a:rPr lang="en-US" sz="1250" dirty="0">
                <a:solidFill>
                  <a:schemeClr val="tx1"/>
                </a:solidFill>
              </a:rPr>
              <a:t>a, b fitted from field data (fixed roughness, vegetation)</a:t>
            </a:r>
            <a:endParaRPr lang="en-US" sz="1400" dirty="0"/>
          </a:p>
          <a:p>
            <a:pPr marL="177800" indent="-177800">
              <a:spcAft>
                <a:spcPts val="400"/>
              </a:spcAft>
              <a:buSzPct val="100000"/>
              <a:buChar char="•"/>
            </a:pPr>
            <a:r>
              <a:rPr lang="en-US" sz="1250" dirty="0">
                <a:solidFill>
                  <a:schemeClr val="tx1"/>
                </a:solidFill>
              </a:rPr>
              <a:t>Add an exponential roughness term (Baghdadi)</a:t>
            </a:r>
            <a:endParaRPr lang="en-US" sz="1400" dirty="0"/>
          </a:p>
          <a:p>
            <a:pPr marL="177800" indent="-177800">
              <a:spcAft>
                <a:spcPts val="400"/>
              </a:spcAft>
              <a:buSzPct val="100000"/>
              <a:buChar char="•"/>
            </a:pPr>
            <a:r>
              <a:rPr lang="en-US" sz="1250" dirty="0">
                <a:solidFill>
                  <a:schemeClr val="tx1"/>
                </a:solidFill>
              </a:rPr>
              <a:t>Comparison studies: IEM best on smooth, Oh on rough; calibrated IEM best overall (Choker 2017)</a:t>
            </a:r>
            <a:endParaRPr lang="en-US" sz="1400" dirty="0"/>
          </a:p>
          <a:p>
            <a:pPr marL="177800" indent="-177800">
              <a:spcAft>
                <a:spcPts val="400"/>
              </a:spcAft>
              <a:buSzPct val="100000"/>
              <a:buChar char="•"/>
            </a:pPr>
            <a:r>
              <a:rPr lang="en-US" sz="1250" dirty="0">
                <a:solidFill>
                  <a:schemeClr val="tx1"/>
                </a:solidFill>
              </a:rPr>
              <a:t>Coefficients do not transfer between sites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Water cloud model: the workhorse for crops</a:t>
            </a:r>
            <a:endParaRPr lang="en-US" sz="3200" dirty="0"/>
          </a:p>
        </p:txBody>
      </p:sp>
      <p:sp>
        <p:nvSpPr>
          <p:cNvPr id="4" name="canopy layer"/>
          <p:cNvSpPr/>
          <p:nvPr/>
        </p:nvSpPr>
        <p:spPr>
          <a:xfrm>
            <a:off x="548640" y="2926080"/>
            <a:ext cx="5394960" cy="1417320"/>
          </a:xfrm>
          <a:prstGeom prst="rect">
            <a:avLst/>
          </a:prstGeom>
          <a:solidFill>
            <a:srgbClr val="3F8F5A">
              <a:alpha val="28000"/>
            </a:srgbClr>
          </a:solidFill>
          <a:ln w="12700">
            <a:solidFill>
              <a:srgbClr val="3F8F5A"/>
            </a:solidFill>
            <a:prstDash val="solid"/>
          </a:ln>
        </p:spPr>
      </p:sp>
      <p:sp>
        <p:nvSpPr>
          <p:cNvPr id="5" name="stem"/>
          <p:cNvSpPr/>
          <p:nvPr/>
        </p:nvSpPr>
        <p:spPr>
          <a:xfrm>
            <a:off x="868680" y="3246120"/>
            <a:ext cx="182880" cy="914400"/>
          </a:xfrm>
          <a:prstGeom prst="line">
            <a:avLst/>
          </a:prstGeom>
          <a:noFill/>
          <a:ln w="38100">
            <a:solidFill>
              <a:srgbClr val="3F8F5A"/>
            </a:solidFill>
            <a:prstDash val="solid"/>
          </a:ln>
        </p:spPr>
      </p:sp>
      <p:sp>
        <p:nvSpPr>
          <p:cNvPr id="6" name="stem"/>
          <p:cNvSpPr/>
          <p:nvPr/>
        </p:nvSpPr>
        <p:spPr>
          <a:xfrm>
            <a:off x="1527048" y="3246120"/>
            <a:ext cx="182880" cy="914400"/>
          </a:xfrm>
          <a:prstGeom prst="line">
            <a:avLst/>
          </a:prstGeom>
          <a:noFill/>
          <a:ln w="38100">
            <a:solidFill>
              <a:srgbClr val="3F8F5A"/>
            </a:solidFill>
            <a:prstDash val="solid"/>
          </a:ln>
        </p:spPr>
      </p:sp>
      <p:sp>
        <p:nvSpPr>
          <p:cNvPr id="7" name="stem"/>
          <p:cNvSpPr/>
          <p:nvPr/>
        </p:nvSpPr>
        <p:spPr>
          <a:xfrm>
            <a:off x="2185416" y="3246120"/>
            <a:ext cx="182880" cy="914400"/>
          </a:xfrm>
          <a:prstGeom prst="line">
            <a:avLst/>
          </a:prstGeom>
          <a:noFill/>
          <a:ln w="38100">
            <a:solidFill>
              <a:srgbClr val="3F8F5A"/>
            </a:solidFill>
            <a:prstDash val="solid"/>
          </a:ln>
        </p:spPr>
      </p:sp>
      <p:sp>
        <p:nvSpPr>
          <p:cNvPr id="8" name="stem"/>
          <p:cNvSpPr/>
          <p:nvPr/>
        </p:nvSpPr>
        <p:spPr>
          <a:xfrm>
            <a:off x="2843784" y="3246120"/>
            <a:ext cx="182880" cy="914400"/>
          </a:xfrm>
          <a:prstGeom prst="line">
            <a:avLst/>
          </a:prstGeom>
          <a:noFill/>
          <a:ln w="38100">
            <a:solidFill>
              <a:srgbClr val="3F8F5A"/>
            </a:solidFill>
            <a:prstDash val="solid"/>
          </a:ln>
        </p:spPr>
      </p:sp>
      <p:sp>
        <p:nvSpPr>
          <p:cNvPr id="9" name="stem"/>
          <p:cNvSpPr/>
          <p:nvPr/>
        </p:nvSpPr>
        <p:spPr>
          <a:xfrm>
            <a:off x="3502152" y="3246120"/>
            <a:ext cx="182880" cy="914400"/>
          </a:xfrm>
          <a:prstGeom prst="line">
            <a:avLst/>
          </a:prstGeom>
          <a:noFill/>
          <a:ln w="38100">
            <a:solidFill>
              <a:srgbClr val="3F8F5A"/>
            </a:solidFill>
            <a:prstDash val="solid"/>
          </a:ln>
        </p:spPr>
      </p:sp>
      <p:sp>
        <p:nvSpPr>
          <p:cNvPr id="10" name="stem"/>
          <p:cNvSpPr/>
          <p:nvPr/>
        </p:nvSpPr>
        <p:spPr>
          <a:xfrm>
            <a:off x="4160520" y="3246120"/>
            <a:ext cx="182880" cy="914400"/>
          </a:xfrm>
          <a:prstGeom prst="line">
            <a:avLst/>
          </a:prstGeom>
          <a:noFill/>
          <a:ln w="38100">
            <a:solidFill>
              <a:srgbClr val="3F8F5A"/>
            </a:solidFill>
            <a:prstDash val="solid"/>
          </a:ln>
        </p:spPr>
      </p:sp>
      <p:sp>
        <p:nvSpPr>
          <p:cNvPr id="11" name="stem"/>
          <p:cNvSpPr/>
          <p:nvPr/>
        </p:nvSpPr>
        <p:spPr>
          <a:xfrm>
            <a:off x="4818888" y="3246120"/>
            <a:ext cx="182880" cy="914400"/>
          </a:xfrm>
          <a:prstGeom prst="line">
            <a:avLst/>
          </a:prstGeom>
          <a:noFill/>
          <a:ln w="38100">
            <a:solidFill>
              <a:srgbClr val="3F8F5A"/>
            </a:solidFill>
            <a:prstDash val="solid"/>
          </a:ln>
        </p:spPr>
      </p:sp>
      <p:sp>
        <p:nvSpPr>
          <p:cNvPr id="12" name="stem"/>
          <p:cNvSpPr/>
          <p:nvPr/>
        </p:nvSpPr>
        <p:spPr>
          <a:xfrm>
            <a:off x="5477256" y="3246120"/>
            <a:ext cx="182880" cy="914400"/>
          </a:xfrm>
          <a:prstGeom prst="line">
            <a:avLst/>
          </a:prstGeom>
          <a:noFill/>
          <a:ln w="38100">
            <a:solidFill>
              <a:srgbClr val="3F8F5A"/>
            </a:solidFill>
            <a:prstDash val="solid"/>
          </a:ln>
        </p:spPr>
      </p:sp>
      <p:sp>
        <p:nvSpPr>
          <p:cNvPr id="13" name="Text 10"/>
          <p:cNvSpPr txBox="1"/>
          <p:nvPr/>
        </p:nvSpPr>
        <p:spPr>
          <a:xfrm>
            <a:off x="640080" y="2944368"/>
            <a:ext cx="3657600" cy="274320"/>
          </a:xfrm>
          <a:prstGeom prst="rect">
            <a:avLst/>
          </a:prstGeom>
          <a:noFill/>
          <a:ln/>
        </p:spPr>
        <p:txBody>
          <a:bodyPr wrap="square" lIns="0" tIns="0" rIns="0" bIns="0" rtlCol="0" anchor="ctr"/>
          <a:lstStyle/>
          <a:p>
            <a:pPr algn="l" indent="0" marL="0">
              <a:buNone/>
            </a:pPr>
            <a:r>
              <a:rPr lang="en-US" sz="1200" b="1" dirty="0">
                <a:solidFill>
                  <a:schemeClr val="accent4"/>
                </a:solidFill>
              </a:rPr>
              <a:t>Canopy = 'water cloud' (V</a:t>
            </a:r>
            <a:r>
              <a:rPr lang="en-US" sz="1200" b="1" baseline="-40000" dirty="0">
                <a:solidFill>
                  <a:schemeClr val="accent4"/>
                </a:solidFill>
              </a:rPr>
              <a:t>1</a:t>
            </a:r>
            <a:r>
              <a:rPr lang="en-US" sz="1200" b="1" dirty="0">
                <a:solidFill>
                  <a:schemeClr val="accent4"/>
                </a:solidFill>
              </a:rPr>
              <a:t>, V</a:t>
            </a:r>
            <a:r>
              <a:rPr lang="en-US" sz="1200" b="1" baseline="-40000" dirty="0">
                <a:solidFill>
                  <a:schemeClr val="accent4"/>
                </a:solidFill>
              </a:rPr>
              <a:t>2</a:t>
            </a:r>
            <a:r>
              <a:rPr lang="en-US" sz="1200" b="1" dirty="0">
                <a:solidFill>
                  <a:schemeClr val="accent4"/>
                </a:solidFill>
              </a:rPr>
              <a:t>)</a:t>
            </a:r>
            <a:endParaRPr lang="en-US" sz="1200" dirty="0"/>
          </a:p>
        </p:txBody>
      </p:sp>
      <p:sp>
        <p:nvSpPr>
          <p:cNvPr id="14" name="soil"/>
          <p:cNvSpPr/>
          <p:nvPr/>
        </p:nvSpPr>
        <p:spPr>
          <a:xfrm>
            <a:off x="548640" y="4892040"/>
            <a:ext cx="5394960" cy="1005840"/>
          </a:xfrm>
          <a:prstGeom prst="rect">
            <a:avLst/>
          </a:prstGeom>
          <a:solidFill>
            <a:srgbClr val="8C5E34">
              <a:alpha val="75000"/>
            </a:srgbClr>
          </a:solidFill>
          <a:ln/>
        </p:spPr>
      </p:sp>
      <p:sp>
        <p:nvSpPr>
          <p:cNvPr id="15" name="Text 12"/>
          <p:cNvSpPr txBox="1"/>
          <p:nvPr/>
        </p:nvSpPr>
        <p:spPr>
          <a:xfrm>
            <a:off x="640080" y="5440680"/>
            <a:ext cx="3657600" cy="365760"/>
          </a:xfrm>
          <a:prstGeom prst="rect">
            <a:avLst/>
          </a:prstGeom>
          <a:noFill/>
          <a:ln/>
        </p:spPr>
        <p:txBody>
          <a:bodyPr wrap="square" lIns="0" tIns="0" rIns="0" bIns="0" rtlCol="0" anchor="ctr"/>
          <a:lstStyle/>
          <a:p>
            <a:pPr algn="l" indent="0" marL="0">
              <a:buNone/>
            </a:pPr>
            <a:r>
              <a:rPr lang="en-US" sz="1200" b="1" dirty="0">
                <a:solidFill>
                  <a:schemeClr val="bg1"/>
                </a:solidFill>
              </a:rPr>
              <a:t>Soil: σ⁰</a:t>
            </a:r>
            <a:r>
              <a:rPr lang="en-US" sz="1200" b="1" baseline="-40000" dirty="0">
                <a:solidFill>
                  <a:schemeClr val="bg1"/>
                </a:solidFill>
              </a:rPr>
              <a:t>soil</a:t>
            </a:r>
            <a:r>
              <a:rPr lang="en-US" sz="1200" b="1" dirty="0">
                <a:solidFill>
                  <a:schemeClr val="bg1"/>
                </a:solidFill>
              </a:rPr>
              <a:t> = C + D·m</a:t>
            </a:r>
            <a:r>
              <a:rPr lang="en-US" sz="1200" b="1" baseline="-40000" dirty="0">
                <a:solidFill>
                  <a:schemeClr val="bg1"/>
                </a:solidFill>
              </a:rPr>
              <a:t>v</a:t>
            </a:r>
            <a:endParaRPr lang="en-US" sz="1200" dirty="0"/>
          </a:p>
        </p:txBody>
      </p:sp>
      <p:sp>
        <p:nvSpPr>
          <p:cNvPr id="16" name="icon circle"/>
          <p:cNvSpPr/>
          <p:nvPr/>
        </p:nvSpPr>
        <p:spPr>
          <a:xfrm>
            <a:off x="2697480" y="1280160"/>
            <a:ext cx="640080" cy="640080"/>
          </a:xfrm>
          <a:prstGeom prst="ellipse">
            <a:avLst/>
          </a:prstGeom>
          <a:solidFill>
            <a:schemeClr val="accent2"/>
          </a:solidFill>
          <a:ln/>
        </p:spPr>
      </p:sp>
      <p:pic>
        <p:nvPicPr>
          <p:cNvPr id="17" name="Image 0" descr="Satellite icon">    </p:cNvPr>
          <p:cNvPicPr>
            <a:picLocks noChangeAspect="1"/>
          </p:cNvPicPr>
          <p:nvPr/>
        </p:nvPicPr>
        <p:blipFill>
          <a:blip r:embed="rId1"/>
          <a:stretch>
            <a:fillRect/>
          </a:stretch>
        </p:blipFill>
        <p:spPr>
          <a:xfrm>
            <a:off x="2863901" y="1446581"/>
            <a:ext cx="307238" cy="307238"/>
          </a:xfrm>
          <a:prstGeom prst="rect">
            <a:avLst/>
          </a:prstGeom>
        </p:spPr>
      </p:pic>
      <p:sp>
        <p:nvSpPr>
          <p:cNvPr id="18" name="arrow"/>
          <p:cNvSpPr/>
          <p:nvPr/>
        </p:nvSpPr>
        <p:spPr>
          <a:xfrm flipH="1">
            <a:off x="1371600" y="2011680"/>
            <a:ext cx="914400" cy="1554480"/>
          </a:xfrm>
          <a:prstGeom prst="line">
            <a:avLst/>
          </a:prstGeom>
          <a:noFill/>
          <a:ln w="31750">
            <a:solidFill>
              <a:srgbClr val="5C6B73"/>
            </a:solidFill>
            <a:prstDash val="solid"/>
            <a:tailEnd type="triangle"/>
          </a:ln>
        </p:spPr>
      </p:sp>
      <p:sp>
        <p:nvSpPr>
          <p:cNvPr id="19" name="arrow"/>
          <p:cNvSpPr/>
          <p:nvPr/>
        </p:nvSpPr>
        <p:spPr>
          <a:xfrm flipH="1" flipV="1">
            <a:off x="914400" y="2057400"/>
            <a:ext cx="457200" cy="1508760"/>
          </a:xfrm>
          <a:prstGeom prst="line">
            <a:avLst/>
          </a:prstGeom>
          <a:noFill/>
          <a:ln w="38100">
            <a:solidFill>
              <a:srgbClr val="3F8F5A"/>
            </a:solidFill>
            <a:prstDash val="solid"/>
            <a:tailEnd type="triangle"/>
          </a:ln>
        </p:spPr>
      </p:sp>
      <p:sp>
        <p:nvSpPr>
          <p:cNvPr id="20" name="Text 16"/>
          <p:cNvSpPr txBox="1"/>
          <p:nvPr/>
        </p:nvSpPr>
        <p:spPr>
          <a:xfrm>
            <a:off x="868680" y="1783080"/>
            <a:ext cx="914400" cy="274320"/>
          </a:xfrm>
          <a:prstGeom prst="rect">
            <a:avLst/>
          </a:prstGeom>
          <a:noFill/>
          <a:ln/>
        </p:spPr>
        <p:txBody>
          <a:bodyPr wrap="square" lIns="0" tIns="0" rIns="0" bIns="0" rtlCol="0" anchor="ctr"/>
          <a:lstStyle/>
          <a:p>
            <a:pPr algn="l" indent="0" marL="0">
              <a:buNone/>
            </a:pPr>
            <a:r>
              <a:rPr lang="en-US" sz="1200" b="1" dirty="0">
                <a:solidFill>
                  <a:schemeClr val="accent4"/>
                </a:solidFill>
              </a:rPr>
              <a:t>σ⁰</a:t>
            </a:r>
            <a:r>
              <a:rPr lang="en-US" sz="1200" b="1" baseline="-40000" dirty="0">
                <a:solidFill>
                  <a:schemeClr val="accent4"/>
                </a:solidFill>
              </a:rPr>
              <a:t>veg</a:t>
            </a:r>
            <a:endParaRPr lang="en-US" sz="1200" dirty="0"/>
          </a:p>
        </p:txBody>
      </p:sp>
      <p:sp>
        <p:nvSpPr>
          <p:cNvPr id="21" name="arrow"/>
          <p:cNvSpPr/>
          <p:nvPr/>
        </p:nvSpPr>
        <p:spPr>
          <a:xfrm>
            <a:off x="3383280" y="2011680"/>
            <a:ext cx="548640" cy="2862072"/>
          </a:xfrm>
          <a:prstGeom prst="line">
            <a:avLst/>
          </a:prstGeom>
          <a:noFill/>
          <a:ln w="31750">
            <a:solidFill>
              <a:srgbClr val="5C6B73"/>
            </a:solidFill>
            <a:prstDash val="solid"/>
            <a:tailEnd type="triangle"/>
          </a:ln>
        </p:spPr>
      </p:sp>
      <p:sp>
        <p:nvSpPr>
          <p:cNvPr id="22" name="arrow"/>
          <p:cNvSpPr/>
          <p:nvPr/>
        </p:nvSpPr>
        <p:spPr>
          <a:xfrm flipV="1">
            <a:off x="3931920" y="2057400"/>
            <a:ext cx="822960" cy="2816352"/>
          </a:xfrm>
          <a:prstGeom prst="line">
            <a:avLst/>
          </a:prstGeom>
          <a:noFill/>
          <a:ln w="38100">
            <a:solidFill>
              <a:srgbClr val="2E86AB"/>
            </a:solidFill>
            <a:prstDash val="solid"/>
            <a:tailEnd type="triangle"/>
          </a:ln>
        </p:spPr>
      </p:sp>
      <p:sp>
        <p:nvSpPr>
          <p:cNvPr id="23" name="Text 19"/>
          <p:cNvSpPr txBox="1"/>
          <p:nvPr/>
        </p:nvSpPr>
        <p:spPr>
          <a:xfrm>
            <a:off x="4572000" y="1783080"/>
            <a:ext cx="1280160" cy="274320"/>
          </a:xfrm>
          <a:prstGeom prst="rect">
            <a:avLst/>
          </a:prstGeom>
          <a:noFill/>
          <a:ln/>
        </p:spPr>
        <p:txBody>
          <a:bodyPr wrap="square" lIns="0" tIns="0" rIns="0" bIns="0" rtlCol="0" anchor="ctr"/>
          <a:lstStyle/>
          <a:p>
            <a:pPr algn="l" indent="0" marL="0">
              <a:buNone/>
            </a:pPr>
            <a:r>
              <a:rPr lang="en-US" sz="1200" b="1" dirty="0">
                <a:solidFill>
                  <a:schemeClr val="accent2"/>
                </a:solidFill>
              </a:rPr>
              <a:t>δ²·σ⁰</a:t>
            </a:r>
            <a:r>
              <a:rPr lang="en-US" sz="1200" b="1" baseline="-40000" dirty="0">
                <a:solidFill>
                  <a:schemeClr val="accent2"/>
                </a:solidFill>
              </a:rPr>
              <a:t>soil</a:t>
            </a:r>
            <a:endParaRPr lang="en-US" sz="1200" dirty="0"/>
          </a:p>
        </p:txBody>
      </p:sp>
      <p:sp>
        <p:nvSpPr>
          <p:cNvPr id="24" name="card"/>
          <p:cNvSpPr/>
          <p:nvPr/>
        </p:nvSpPr>
        <p:spPr>
          <a:xfrm>
            <a:off x="6172200" y="1280160"/>
            <a:ext cx="5468112"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25" name="Text 21"/>
          <p:cNvSpPr txBox="1"/>
          <p:nvPr/>
        </p:nvSpPr>
        <p:spPr>
          <a:xfrm>
            <a:off x="6309360" y="1280160"/>
            <a:ext cx="5193792" cy="731520"/>
          </a:xfrm>
          <a:prstGeom prst="rect">
            <a:avLst/>
          </a:prstGeom>
          <a:noFill/>
          <a:ln/>
        </p:spPr>
        <p:txBody>
          <a:bodyPr wrap="square" lIns="0" tIns="0" rIns="0" bIns="0" rtlCol="0" anchor="ctr"/>
          <a:lstStyle/>
          <a:p>
            <a:pPr algn="ctr" indent="0" marL="0">
              <a:buNone/>
            </a:pPr>
            <a:r>
              <a:rPr lang="en-US" sz="1800" b="1" dirty="0">
                <a:solidFill>
                  <a:schemeClr val="bg1"/>
                </a:solidFill>
              </a:rPr>
              <a:t>σ⁰ = σ⁰</a:t>
            </a:r>
            <a:r>
              <a:rPr lang="en-US" sz="1800" b="1" baseline="-40000" dirty="0">
                <a:solidFill>
                  <a:schemeClr val="bg1"/>
                </a:solidFill>
              </a:rPr>
              <a:t>veg</a:t>
            </a:r>
            <a:r>
              <a:rPr lang="en-US" sz="1800" b="1" dirty="0">
                <a:solidFill>
                  <a:schemeClr val="bg1"/>
                </a:solidFill>
              </a:rPr>
              <a:t> + δ²·σ⁰</a:t>
            </a:r>
            <a:r>
              <a:rPr lang="en-US" sz="1800" b="1" baseline="-40000" dirty="0">
                <a:solidFill>
                  <a:schemeClr val="bg1"/>
                </a:solidFill>
              </a:rPr>
              <a:t>soil</a:t>
            </a:r>
            <a:endParaRPr lang="en-US" sz="1800" dirty="0"/>
          </a:p>
        </p:txBody>
      </p:sp>
      <p:sp>
        <p:nvSpPr>
          <p:cNvPr id="26" name="Text 22"/>
          <p:cNvSpPr txBox="1"/>
          <p:nvPr/>
        </p:nvSpPr>
        <p:spPr>
          <a:xfrm>
            <a:off x="6263640" y="2148840"/>
            <a:ext cx="5303520" cy="1234440"/>
          </a:xfrm>
          <a:prstGeom prst="rect">
            <a:avLst/>
          </a:prstGeom>
          <a:noFill/>
          <a:ln/>
        </p:spPr>
        <p:txBody>
          <a:bodyPr wrap="square" lIns="508" tIns="508" rIns="508" bIns="508" rtlCol="0" anchor="t"/>
          <a:lstStyle/>
          <a:p>
            <a:pPr indent="0" marL="0">
              <a:spcAft>
                <a:spcPts val="600"/>
              </a:spcAft>
              <a:buNone/>
            </a:pPr>
            <a:r>
              <a:rPr lang="en-US" sz="1500" b="1" dirty="0">
                <a:solidFill>
                  <a:schemeClr val="tx2"/>
                </a:solidFill>
              </a:rPr>
              <a:t>σ⁰</a:t>
            </a:r>
            <a:r>
              <a:rPr lang="en-US" sz="1500" b="1" baseline="-40000" dirty="0">
                <a:solidFill>
                  <a:schemeClr val="tx2"/>
                </a:solidFill>
              </a:rPr>
              <a:t>veg</a:t>
            </a:r>
            <a:r>
              <a:rPr lang="en-US" sz="1500" b="1" dirty="0">
                <a:solidFill>
                  <a:schemeClr val="tx2"/>
                </a:solidFill>
              </a:rPr>
              <a:t> = A·V</a:t>
            </a:r>
            <a:r>
              <a:rPr lang="en-US" sz="1500" b="1" baseline="-40000" dirty="0">
                <a:solidFill>
                  <a:schemeClr val="tx2"/>
                </a:solidFill>
              </a:rPr>
              <a:t>1</a:t>
            </a:r>
            <a:r>
              <a:rPr lang="en-US" sz="1500" b="1" dirty="0">
                <a:solidFill>
                  <a:schemeClr val="tx2"/>
                </a:solidFill>
              </a:rPr>
              <a:t>·cosθ·(1 − δ²)</a:t>
            </a:r>
            <a:endParaRPr lang="en-US" sz="1500" dirty="0"/>
          </a:p>
          <a:p>
            <a:pPr indent="0" marL="0">
              <a:spcAft>
                <a:spcPts val="600"/>
              </a:spcAft>
              <a:buNone/>
            </a:pPr>
            <a:r>
              <a:rPr lang="en-US" sz="1500" b="1" dirty="0">
                <a:solidFill>
                  <a:schemeClr val="tx2"/>
                </a:solidFill>
              </a:rPr>
              <a:t>δ² = exp(−2B·V</a:t>
            </a:r>
            <a:r>
              <a:rPr lang="en-US" sz="1500" b="1" baseline="-40000" dirty="0">
                <a:solidFill>
                  <a:schemeClr val="tx2"/>
                </a:solidFill>
              </a:rPr>
              <a:t>2</a:t>
            </a:r>
            <a:r>
              <a:rPr lang="en-US" sz="1500" b="1" dirty="0">
                <a:solidFill>
                  <a:schemeClr val="tx2"/>
                </a:solidFill>
              </a:rPr>
              <a:t>·secθ)   (two-way attenuation)</a:t>
            </a:r>
            <a:endParaRPr lang="en-US" sz="1500" dirty="0"/>
          </a:p>
          <a:p>
            <a:pPr indent="0" marL="0">
              <a:spcAft>
                <a:spcPts val="600"/>
              </a:spcAft>
              <a:buNone/>
            </a:pPr>
            <a:r>
              <a:rPr lang="en-US" sz="1500" b="1" dirty="0">
                <a:solidFill>
                  <a:schemeClr val="tx2"/>
                </a:solidFill>
              </a:rPr>
              <a:t>σ⁰</a:t>
            </a:r>
            <a:r>
              <a:rPr lang="en-US" sz="1500" b="1" baseline="-40000" dirty="0">
                <a:solidFill>
                  <a:schemeClr val="tx2"/>
                </a:solidFill>
              </a:rPr>
              <a:t>soil</a:t>
            </a:r>
            <a:r>
              <a:rPr lang="en-US" sz="1500" b="1" dirty="0">
                <a:solidFill>
                  <a:schemeClr val="tx2"/>
                </a:solidFill>
              </a:rPr>
              <a:t> = C + D·m</a:t>
            </a:r>
            <a:r>
              <a:rPr lang="en-US" sz="1500" b="1" baseline="-40000" dirty="0">
                <a:solidFill>
                  <a:schemeClr val="tx2"/>
                </a:solidFill>
              </a:rPr>
              <a:t>v</a:t>
            </a:r>
            <a:r>
              <a:rPr lang="en-US" sz="1500" b="1" dirty="0">
                <a:solidFill>
                  <a:schemeClr val="tx2"/>
                </a:solidFill>
              </a:rPr>
              <a:t>   (or IEM / Oh / Dubois)</a:t>
            </a:r>
            <a:endParaRPr lang="en-US" sz="1500" dirty="0"/>
          </a:p>
        </p:txBody>
      </p:sp>
      <p:sp>
        <p:nvSpPr>
          <p:cNvPr id="27" name="card"/>
          <p:cNvSpPr/>
          <p:nvPr/>
        </p:nvSpPr>
        <p:spPr>
          <a:xfrm>
            <a:off x="6172200" y="3429000"/>
            <a:ext cx="5468112" cy="2697480"/>
          </a:xfrm>
          <a:prstGeom prst="roundRect">
            <a:avLst>
              <a:gd name="adj" fmla="val 2712"/>
            </a:avLst>
          </a:prstGeom>
          <a:solidFill>
            <a:schemeClr val="bg2"/>
          </a:solidFill>
          <a:ln/>
          <a:effectLst>
            <a:outerShdw sx="100000" sy="100000" kx="0" ky="0" algn="bl" rotWithShape="0" blurRad="76200" dist="25400" dir="5400000">
              <a:srgbClr val="000000">
                <a:alpha val="14000"/>
              </a:srgbClr>
            </a:outerShdw>
          </a:effectLst>
        </p:spPr>
      </p:sp>
      <p:sp>
        <p:nvSpPr>
          <p:cNvPr id="28" name="icon circle"/>
          <p:cNvSpPr/>
          <p:nvPr/>
        </p:nvSpPr>
        <p:spPr>
          <a:xfrm>
            <a:off x="6355080" y="3584448"/>
            <a:ext cx="420624" cy="420624"/>
          </a:xfrm>
          <a:prstGeom prst="ellipse">
            <a:avLst/>
          </a:prstGeom>
          <a:solidFill>
            <a:schemeClr val="accent4"/>
          </a:solidFill>
          <a:ln/>
        </p:spPr>
      </p:sp>
      <p:pic>
        <p:nvPicPr>
          <p:cNvPr id="29" name="Image 1" descr="Seedling icon">    </p:cNvPr>
          <p:cNvPicPr>
            <a:picLocks noChangeAspect="1"/>
          </p:cNvPicPr>
          <p:nvPr/>
        </p:nvPicPr>
        <p:blipFill>
          <a:blip r:embed="rId2"/>
          <a:stretch>
            <a:fillRect/>
          </a:stretch>
        </p:blipFill>
        <p:spPr>
          <a:xfrm>
            <a:off x="6464442" y="3693810"/>
            <a:ext cx="201900" cy="201900"/>
          </a:xfrm>
          <a:prstGeom prst="rect">
            <a:avLst/>
          </a:prstGeom>
        </p:spPr>
      </p:pic>
      <p:sp>
        <p:nvSpPr>
          <p:cNvPr id="30" name="Text 25"/>
          <p:cNvSpPr txBox="1"/>
          <p:nvPr/>
        </p:nvSpPr>
        <p:spPr>
          <a:xfrm>
            <a:off x="6885432" y="3566160"/>
            <a:ext cx="4617720" cy="457200"/>
          </a:xfrm>
          <a:prstGeom prst="rect">
            <a:avLst/>
          </a:prstGeom>
          <a:noFill/>
          <a:ln/>
        </p:spPr>
        <p:txBody>
          <a:bodyPr wrap="square" lIns="0" tIns="0" rIns="0" bIns="0" rtlCol="0" anchor="ctr"/>
          <a:lstStyle/>
          <a:p>
            <a:pPr indent="0" marL="0">
              <a:buNone/>
            </a:pPr>
            <a:r>
              <a:rPr lang="en-US" sz="1600" b="1" dirty="0">
                <a:solidFill>
                  <a:schemeClr val="tx2"/>
                </a:solidFill>
              </a:rPr>
              <a:t>Notes</a:t>
            </a:r>
            <a:endParaRPr lang="en-US" sz="1600" dirty="0"/>
          </a:p>
        </p:txBody>
      </p:sp>
      <p:sp>
        <p:nvSpPr>
          <p:cNvPr id="31" name="Text 26"/>
          <p:cNvSpPr txBox="1"/>
          <p:nvPr/>
        </p:nvSpPr>
        <p:spPr>
          <a:xfrm>
            <a:off x="6355080" y="4114800"/>
            <a:ext cx="5102352" cy="1920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V</a:t>
            </a:r>
            <a:r>
              <a:rPr lang="en-US" sz="1300" baseline="-40000" dirty="0">
                <a:solidFill>
                  <a:schemeClr val="tx1"/>
                </a:solidFill>
              </a:rPr>
              <a:t>1</a:t>
            </a:r>
            <a:r>
              <a:rPr lang="en-US" sz="1300" dirty="0">
                <a:solidFill>
                  <a:schemeClr val="tx1"/>
                </a:solidFill>
              </a:rPr>
              <a:t>, V</a:t>
            </a:r>
            <a:r>
              <a:rPr lang="en-US" sz="1300" baseline="-40000" dirty="0">
                <a:solidFill>
                  <a:schemeClr val="tx1"/>
                </a:solidFill>
              </a:rPr>
              <a:t>2</a:t>
            </a:r>
            <a:r>
              <a:rPr lang="en-US" sz="1300" dirty="0">
                <a:solidFill>
                  <a:schemeClr val="tx1"/>
                </a:solidFill>
              </a:rPr>
              <a:t>: VWC, LAI, NDVI, or SAR-based (RVI, VH/VV)</a:t>
            </a:r>
            <a:endParaRPr lang="en-US" sz="1300" dirty="0"/>
          </a:p>
          <a:p>
            <a:pPr marL="177800" indent="-177800">
              <a:spcAft>
                <a:spcPts val="400"/>
              </a:spcAft>
              <a:buSzPct val="100000"/>
              <a:buChar char="•"/>
            </a:pPr>
            <a:r>
              <a:rPr lang="en-US" sz="1300" dirty="0">
                <a:solidFill>
                  <a:schemeClr val="tx1"/>
                </a:solidFill>
              </a:rPr>
              <a:t>A, B (vegetation) and C, D (soil) are calibrated by least squares for each crop</a:t>
            </a:r>
            <a:endParaRPr lang="en-US" sz="1300" dirty="0"/>
          </a:p>
          <a:p>
            <a:pPr marL="177800" indent="-177800">
              <a:spcAft>
                <a:spcPts val="400"/>
              </a:spcAft>
              <a:buSzPct val="100000"/>
              <a:buChar char="•"/>
            </a:pPr>
            <a:r>
              <a:rPr lang="en-US" sz="1300" dirty="0">
                <a:solidFill>
                  <a:schemeClr val="tx1"/>
                </a:solidFill>
              </a:rPr>
              <a:t>Use σ⁰ in </a:t>
            </a:r>
            <a:r>
              <a:rPr lang="en-US" sz="1300" b="1" dirty="0">
                <a:solidFill>
                  <a:schemeClr val="tx1"/>
                </a:solidFill>
              </a:rPr>
              <a:t>linear units</a:t>
            </a:r>
            <a:r>
              <a:rPr lang="en-US" sz="1300" dirty="0">
                <a:solidFill>
                  <a:schemeClr val="tx1"/>
                </a:solidFill>
              </a:rPr>
              <a:t> inside the equation, not dB</a:t>
            </a:r>
            <a:endParaRPr lang="en-US" sz="1300" dirty="0"/>
          </a:p>
          <a:p>
            <a:pPr marL="177800" indent="-177800">
              <a:spcAft>
                <a:spcPts val="400"/>
              </a:spcAft>
              <a:buSzPct val="100000"/>
              <a:buChar char="•"/>
            </a:pPr>
            <a:r>
              <a:rPr lang="en-US" sz="1300" dirty="0">
                <a:solidFill>
                  <a:schemeClr val="tx1"/>
                </a:solidFill>
              </a:rPr>
              <a:t>Neglects soil–vegetation interaction: fine for co-pol, low–medium biomass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Crop-field workflow: Sentinel-1 / EOS-04 + Sentinel-2 + WCM</a:t>
            </a:r>
            <a:endParaRPr lang="en-US" sz="3200" dirty="0"/>
          </a:p>
        </p:txBody>
      </p:sp>
      <p:sp>
        <p:nvSpPr>
          <p:cNvPr id="4" name="card"/>
          <p:cNvSpPr/>
          <p:nvPr/>
        </p:nvSpPr>
        <p:spPr>
          <a:xfrm>
            <a:off x="548640" y="1280160"/>
            <a:ext cx="4206240" cy="1536192"/>
          </a:xfrm>
          <a:prstGeom prst="roundRect">
            <a:avLst>
              <a:gd name="adj" fmla="val 4762"/>
            </a:avLst>
          </a:prstGeom>
          <a:solidFill>
            <a:schemeClr val="bg2"/>
          </a:solidFill>
          <a:ln/>
          <a:effectLst>
            <a:outerShdw sx="100000" sy="100000" kx="0" ky="0" algn="bl" rotWithShape="0" blurRad="76200" dist="25400" dir="5400000">
              <a:srgbClr val="000000">
                <a:alpha val="14000"/>
              </a:srgbClr>
            </a:outerShdw>
          </a:effectLst>
        </p:spPr>
      </p:sp>
      <p:sp>
        <p:nvSpPr>
          <p:cNvPr id="5" name="lane colour"/>
          <p:cNvSpPr/>
          <p:nvPr/>
        </p:nvSpPr>
        <p:spPr>
          <a:xfrm>
            <a:off x="548640" y="1280160"/>
            <a:ext cx="109728" cy="1536192"/>
          </a:xfrm>
          <a:prstGeom prst="rect">
            <a:avLst/>
          </a:prstGeom>
          <a:solidFill>
            <a:schemeClr val="accent2"/>
          </a:solidFill>
          <a:ln/>
        </p:spPr>
      </p:sp>
      <p:sp>
        <p:nvSpPr>
          <p:cNvPr id="6" name="Text 3"/>
          <p:cNvSpPr txBox="1"/>
          <p:nvPr/>
        </p:nvSpPr>
        <p:spPr>
          <a:xfrm>
            <a:off x="777240" y="1335024"/>
            <a:ext cx="3886200" cy="320040"/>
          </a:xfrm>
          <a:prstGeom prst="rect">
            <a:avLst/>
          </a:prstGeom>
          <a:noFill/>
          <a:ln/>
        </p:spPr>
        <p:txBody>
          <a:bodyPr wrap="square" lIns="0" tIns="0" rIns="0" bIns="0" rtlCol="0" anchor="ctr"/>
          <a:lstStyle/>
          <a:p>
            <a:pPr algn="l" indent="0" marL="0">
              <a:buNone/>
            </a:pPr>
            <a:r>
              <a:rPr lang="en-US" sz="1350" b="1" dirty="0">
                <a:solidFill>
                  <a:schemeClr val="tx2"/>
                </a:solidFill>
              </a:rPr>
              <a:t>SAR (Sentinel-1 / EOS-04 GRD)</a:t>
            </a:r>
            <a:endParaRPr lang="en-US" sz="1350" dirty="0"/>
          </a:p>
        </p:txBody>
      </p:sp>
      <p:sp>
        <p:nvSpPr>
          <p:cNvPr id="7" name="Text 4"/>
          <p:cNvSpPr txBox="1"/>
          <p:nvPr/>
        </p:nvSpPr>
        <p:spPr>
          <a:xfrm>
            <a:off x="777240" y="1664208"/>
            <a:ext cx="3886200" cy="1124712"/>
          </a:xfrm>
          <a:prstGeom prst="rect">
            <a:avLst/>
          </a:prstGeom>
          <a:noFill/>
          <a:ln/>
        </p:spPr>
        <p:txBody>
          <a:bodyPr wrap="square" lIns="508" tIns="508" rIns="508" bIns="508" rtlCol="0" anchor="t"/>
          <a:lstStyle/>
          <a:p>
            <a:pPr marL="177800" indent="-177800">
              <a:spcAft>
                <a:spcPts val="200"/>
              </a:spcAft>
              <a:buSzPct val="100000"/>
              <a:buChar char="•"/>
            </a:pPr>
            <a:r>
              <a:rPr lang="en-US" sz="1200" dirty="0">
                <a:solidFill>
                  <a:schemeClr val="tx1"/>
                </a:solidFill>
              </a:rPr>
              <a:t>Orbit file, thermal noise removal</a:t>
            </a:r>
            <a:endParaRPr lang="en-US" sz="1200" dirty="0"/>
          </a:p>
          <a:p>
            <a:pPr marL="177800" indent="-177800">
              <a:spcAft>
                <a:spcPts val="200"/>
              </a:spcAft>
              <a:buSzPct val="100000"/>
              <a:buChar char="•"/>
            </a:pPr>
            <a:r>
              <a:rPr lang="en-US" sz="1200" dirty="0">
                <a:solidFill>
                  <a:schemeClr val="tx1"/>
                </a:solidFill>
              </a:rPr>
              <a:t>Radiometric calibration → σ⁰</a:t>
            </a:r>
            <a:endParaRPr lang="en-US" sz="1200" dirty="0"/>
          </a:p>
          <a:p>
            <a:pPr marL="177800" indent="-177800">
              <a:spcAft>
                <a:spcPts val="200"/>
              </a:spcAft>
              <a:buSzPct val="100000"/>
              <a:buChar char="•"/>
            </a:pPr>
            <a:r>
              <a:rPr lang="en-US" sz="1200" dirty="0">
                <a:solidFill>
                  <a:schemeClr val="tx1"/>
                </a:solidFill>
              </a:rPr>
              <a:t>Speckle filter (Lee), terrain correction</a:t>
            </a:r>
            <a:endParaRPr lang="en-US" sz="1200" dirty="0"/>
          </a:p>
          <a:p>
            <a:pPr marL="177800" indent="-177800">
              <a:spcAft>
                <a:spcPts val="200"/>
              </a:spcAft>
              <a:buSzPct val="100000"/>
              <a:buChar char="•"/>
            </a:pPr>
            <a:r>
              <a:rPr lang="en-US" sz="1200" dirty="0">
                <a:solidFill>
                  <a:schemeClr val="tx1"/>
                </a:solidFill>
              </a:rPr>
              <a:t>VV, VH in linear units</a:t>
            </a:r>
            <a:endParaRPr lang="en-US" sz="1200" dirty="0"/>
          </a:p>
        </p:txBody>
      </p:sp>
      <p:sp>
        <p:nvSpPr>
          <p:cNvPr id="8" name="arrow"/>
          <p:cNvSpPr/>
          <p:nvPr/>
        </p:nvSpPr>
        <p:spPr>
          <a:xfrm flipV="1">
            <a:off x="4773168" y="1664208"/>
            <a:ext cx="484632" cy="384048"/>
          </a:xfrm>
          <a:prstGeom prst="line">
            <a:avLst/>
          </a:prstGeom>
          <a:noFill/>
          <a:ln w="22225">
            <a:solidFill>
              <a:srgbClr val="5C6B73"/>
            </a:solidFill>
            <a:prstDash val="solid"/>
            <a:tailEnd type="triangle"/>
          </a:ln>
        </p:spPr>
      </p:sp>
      <p:sp>
        <p:nvSpPr>
          <p:cNvPr id="9" name="card"/>
          <p:cNvSpPr/>
          <p:nvPr/>
        </p:nvSpPr>
        <p:spPr>
          <a:xfrm>
            <a:off x="548640" y="2944368"/>
            <a:ext cx="4206240" cy="1536192"/>
          </a:xfrm>
          <a:prstGeom prst="roundRect">
            <a:avLst>
              <a:gd name="adj" fmla="val 4762"/>
            </a:avLst>
          </a:prstGeom>
          <a:solidFill>
            <a:schemeClr val="bg2"/>
          </a:solidFill>
          <a:ln/>
          <a:effectLst>
            <a:outerShdw sx="100000" sy="100000" kx="0" ky="0" algn="bl" rotWithShape="0" blurRad="76200" dist="25400" dir="5400000">
              <a:srgbClr val="000000">
                <a:alpha val="14000"/>
              </a:srgbClr>
            </a:outerShdw>
          </a:effectLst>
        </p:spPr>
      </p:sp>
      <p:sp>
        <p:nvSpPr>
          <p:cNvPr id="10" name="lane colour"/>
          <p:cNvSpPr/>
          <p:nvPr/>
        </p:nvSpPr>
        <p:spPr>
          <a:xfrm>
            <a:off x="548640" y="2944368"/>
            <a:ext cx="109728" cy="1536192"/>
          </a:xfrm>
          <a:prstGeom prst="rect">
            <a:avLst/>
          </a:prstGeom>
          <a:solidFill>
            <a:schemeClr val="accent4"/>
          </a:solidFill>
          <a:ln/>
        </p:spPr>
      </p:sp>
      <p:sp>
        <p:nvSpPr>
          <p:cNvPr id="11" name="Text 8"/>
          <p:cNvSpPr txBox="1"/>
          <p:nvPr/>
        </p:nvSpPr>
        <p:spPr>
          <a:xfrm>
            <a:off x="777240" y="2999232"/>
            <a:ext cx="3886200" cy="320040"/>
          </a:xfrm>
          <a:prstGeom prst="rect">
            <a:avLst/>
          </a:prstGeom>
          <a:noFill/>
          <a:ln/>
        </p:spPr>
        <p:txBody>
          <a:bodyPr wrap="square" lIns="0" tIns="0" rIns="0" bIns="0" rtlCol="0" anchor="ctr"/>
          <a:lstStyle/>
          <a:p>
            <a:pPr algn="l" indent="0" marL="0">
              <a:buNone/>
            </a:pPr>
            <a:r>
              <a:rPr lang="en-US" sz="1350" b="1" dirty="0">
                <a:solidFill>
                  <a:schemeClr val="tx2"/>
                </a:solidFill>
              </a:rPr>
              <a:t>Optical (Sentinel-2 L2A)</a:t>
            </a:r>
            <a:endParaRPr lang="en-US" sz="1350" dirty="0"/>
          </a:p>
        </p:txBody>
      </p:sp>
      <p:sp>
        <p:nvSpPr>
          <p:cNvPr id="12" name="Text 9"/>
          <p:cNvSpPr txBox="1"/>
          <p:nvPr/>
        </p:nvSpPr>
        <p:spPr>
          <a:xfrm>
            <a:off x="777240" y="3328416"/>
            <a:ext cx="3886200" cy="1124712"/>
          </a:xfrm>
          <a:prstGeom prst="rect">
            <a:avLst/>
          </a:prstGeom>
          <a:noFill/>
          <a:ln/>
        </p:spPr>
        <p:txBody>
          <a:bodyPr wrap="square" lIns="508" tIns="508" rIns="508" bIns="508" rtlCol="0" anchor="t"/>
          <a:lstStyle/>
          <a:p>
            <a:pPr marL="177800" indent="-177800">
              <a:spcAft>
                <a:spcPts val="200"/>
              </a:spcAft>
              <a:buSzPct val="100000"/>
              <a:buChar char="•"/>
            </a:pPr>
            <a:r>
              <a:rPr lang="en-US" sz="1200" dirty="0">
                <a:solidFill>
                  <a:schemeClr val="tx1"/>
                </a:solidFill>
              </a:rPr>
              <a:t>Cloud mask, same date ± few days</a:t>
            </a:r>
            <a:endParaRPr lang="en-US" sz="1200" dirty="0"/>
          </a:p>
          <a:p>
            <a:pPr marL="177800" indent="-177800">
              <a:spcAft>
                <a:spcPts val="200"/>
              </a:spcAft>
              <a:buSzPct val="100000"/>
              <a:buChar char="•"/>
            </a:pPr>
            <a:r>
              <a:rPr lang="en-US" sz="1200" dirty="0">
                <a:solidFill>
                  <a:schemeClr val="tx1"/>
                </a:solidFill>
              </a:rPr>
              <a:t>NDVI, LAI, NDWI → V</a:t>
            </a:r>
            <a:r>
              <a:rPr lang="en-US" sz="1200" baseline="-40000" dirty="0">
                <a:solidFill>
                  <a:schemeClr val="tx1"/>
                </a:solidFill>
              </a:rPr>
              <a:t>1</a:t>
            </a:r>
            <a:r>
              <a:rPr lang="en-US" sz="1200" dirty="0">
                <a:solidFill>
                  <a:schemeClr val="tx1"/>
                </a:solidFill>
              </a:rPr>
              <a:t>, V</a:t>
            </a:r>
            <a:r>
              <a:rPr lang="en-US" sz="1200" baseline="-40000" dirty="0">
                <a:solidFill>
                  <a:schemeClr val="tx1"/>
                </a:solidFill>
              </a:rPr>
              <a:t>2</a:t>
            </a:r>
            <a:endParaRPr lang="en-US" sz="1200" dirty="0"/>
          </a:p>
        </p:txBody>
      </p:sp>
      <p:sp>
        <p:nvSpPr>
          <p:cNvPr id="13" name="arrow"/>
          <p:cNvSpPr/>
          <p:nvPr/>
        </p:nvSpPr>
        <p:spPr>
          <a:xfrm flipV="1">
            <a:off x="4773168" y="1664208"/>
            <a:ext cx="484632" cy="2048256"/>
          </a:xfrm>
          <a:prstGeom prst="line">
            <a:avLst/>
          </a:prstGeom>
          <a:noFill/>
          <a:ln w="22225">
            <a:solidFill>
              <a:srgbClr val="5C6B73"/>
            </a:solidFill>
            <a:prstDash val="solid"/>
            <a:tailEnd type="triangle"/>
          </a:ln>
        </p:spPr>
      </p:sp>
      <p:sp>
        <p:nvSpPr>
          <p:cNvPr id="14" name="card"/>
          <p:cNvSpPr/>
          <p:nvPr/>
        </p:nvSpPr>
        <p:spPr>
          <a:xfrm>
            <a:off x="548640" y="4608576"/>
            <a:ext cx="4206240" cy="1536192"/>
          </a:xfrm>
          <a:prstGeom prst="roundRect">
            <a:avLst>
              <a:gd name="adj" fmla="val 4762"/>
            </a:avLst>
          </a:prstGeom>
          <a:solidFill>
            <a:schemeClr val="bg2"/>
          </a:solidFill>
          <a:ln/>
          <a:effectLst>
            <a:outerShdw sx="100000" sy="100000" kx="0" ky="0" algn="bl" rotWithShape="0" blurRad="76200" dist="25400" dir="5400000">
              <a:srgbClr val="000000">
                <a:alpha val="14000"/>
              </a:srgbClr>
            </a:outerShdw>
          </a:effectLst>
        </p:spPr>
      </p:sp>
      <p:sp>
        <p:nvSpPr>
          <p:cNvPr id="15" name="lane colour"/>
          <p:cNvSpPr/>
          <p:nvPr/>
        </p:nvSpPr>
        <p:spPr>
          <a:xfrm>
            <a:off x="548640" y="4608576"/>
            <a:ext cx="109728" cy="1536192"/>
          </a:xfrm>
          <a:prstGeom prst="rect">
            <a:avLst/>
          </a:prstGeom>
          <a:solidFill>
            <a:schemeClr val="accent1"/>
          </a:solidFill>
          <a:ln/>
        </p:spPr>
      </p:sp>
      <p:sp>
        <p:nvSpPr>
          <p:cNvPr id="16" name="Text 13"/>
          <p:cNvSpPr txBox="1"/>
          <p:nvPr/>
        </p:nvSpPr>
        <p:spPr>
          <a:xfrm>
            <a:off x="777240" y="4663440"/>
            <a:ext cx="3886200" cy="320040"/>
          </a:xfrm>
          <a:prstGeom prst="rect">
            <a:avLst/>
          </a:prstGeom>
          <a:noFill/>
          <a:ln/>
        </p:spPr>
        <p:txBody>
          <a:bodyPr wrap="square" lIns="0" tIns="0" rIns="0" bIns="0" rtlCol="0" anchor="ctr"/>
          <a:lstStyle/>
          <a:p>
            <a:pPr algn="l" indent="0" marL="0">
              <a:buNone/>
            </a:pPr>
            <a:r>
              <a:rPr lang="en-US" sz="1350" b="1" dirty="0">
                <a:solidFill>
                  <a:schemeClr val="tx2"/>
                </a:solidFill>
              </a:rPr>
              <a:t>Field campaign</a:t>
            </a:r>
            <a:endParaRPr lang="en-US" sz="1350" dirty="0"/>
          </a:p>
        </p:txBody>
      </p:sp>
      <p:sp>
        <p:nvSpPr>
          <p:cNvPr id="17" name="Text 14"/>
          <p:cNvSpPr txBox="1"/>
          <p:nvPr/>
        </p:nvSpPr>
        <p:spPr>
          <a:xfrm>
            <a:off x="777240" y="4992624"/>
            <a:ext cx="3886200" cy="1124712"/>
          </a:xfrm>
          <a:prstGeom prst="rect">
            <a:avLst/>
          </a:prstGeom>
          <a:noFill/>
          <a:ln/>
        </p:spPr>
        <p:txBody>
          <a:bodyPr wrap="square" lIns="508" tIns="508" rIns="508" bIns="508" rtlCol="0" anchor="t"/>
          <a:lstStyle/>
          <a:p>
            <a:pPr marL="177800" indent="-177800">
              <a:spcAft>
                <a:spcPts val="200"/>
              </a:spcAft>
              <a:buSzPct val="100000"/>
              <a:buChar char="•"/>
            </a:pPr>
            <a:r>
              <a:rPr lang="en-US" sz="1200" dirty="0">
                <a:solidFill>
                  <a:schemeClr val="tx1"/>
                </a:solidFill>
              </a:rPr>
              <a:t>Gravimetric / TDR m</a:t>
            </a:r>
            <a:r>
              <a:rPr lang="en-US" sz="1200" baseline="-40000" dirty="0">
                <a:solidFill>
                  <a:schemeClr val="tx1"/>
                </a:solidFill>
              </a:rPr>
              <a:t>v</a:t>
            </a:r>
            <a:r>
              <a:rPr lang="en-US" sz="1200" dirty="0">
                <a:solidFill>
                  <a:schemeClr val="tx1"/>
                </a:solidFill>
              </a:rPr>
              <a:t> (0–5 cm)</a:t>
            </a:r>
            <a:endParaRPr lang="en-US" sz="1200" dirty="0"/>
          </a:p>
          <a:p>
            <a:pPr marL="177800" indent="-177800">
              <a:spcAft>
                <a:spcPts val="200"/>
              </a:spcAft>
              <a:buSzPct val="100000"/>
              <a:buChar char="•"/>
            </a:pPr>
            <a:r>
              <a:rPr lang="en-US" sz="1200" dirty="0">
                <a:solidFill>
                  <a:schemeClr val="tx1"/>
                </a:solidFill>
              </a:rPr>
              <a:t>Plant sampling → VWC; roughness</a:t>
            </a:r>
            <a:endParaRPr lang="en-US" sz="1200" dirty="0"/>
          </a:p>
          <a:p>
            <a:pPr marL="177800" indent="-177800">
              <a:spcAft>
                <a:spcPts val="200"/>
              </a:spcAft>
              <a:buSzPct val="100000"/>
              <a:buChar char="•"/>
            </a:pPr>
            <a:r>
              <a:rPr lang="en-US" sz="1200" dirty="0">
                <a:solidFill>
                  <a:schemeClr val="tx1"/>
                </a:solidFill>
              </a:rPr>
              <a:t>Split into calibration / validation</a:t>
            </a:r>
            <a:endParaRPr lang="en-US" sz="1200" dirty="0"/>
          </a:p>
        </p:txBody>
      </p:sp>
      <p:sp>
        <p:nvSpPr>
          <p:cNvPr id="18" name="arrow"/>
          <p:cNvSpPr/>
          <p:nvPr/>
        </p:nvSpPr>
        <p:spPr>
          <a:xfrm flipV="1">
            <a:off x="4773168" y="1664208"/>
            <a:ext cx="484632" cy="3712464"/>
          </a:xfrm>
          <a:prstGeom prst="line">
            <a:avLst/>
          </a:prstGeom>
          <a:noFill/>
          <a:ln w="22225">
            <a:solidFill>
              <a:srgbClr val="5C6B73"/>
            </a:solidFill>
            <a:prstDash val="solid"/>
            <a:tailEnd type="triangle"/>
          </a:ln>
        </p:spPr>
      </p:sp>
      <p:sp>
        <p:nvSpPr>
          <p:cNvPr id="19" name="diagram box"/>
          <p:cNvSpPr/>
          <p:nvPr/>
        </p:nvSpPr>
        <p:spPr>
          <a:xfrm>
            <a:off x="5285232" y="1280160"/>
            <a:ext cx="3246120" cy="777240"/>
          </a:xfrm>
          <a:prstGeom prst="roundRect">
            <a:avLst>
              <a:gd name="adj" fmla="val 9412"/>
            </a:avLst>
          </a:prstGeom>
          <a:solidFill>
            <a:schemeClr val="tx2"/>
          </a:solidFill>
          <a:ln/>
        </p:spPr>
      </p:sp>
      <p:sp>
        <p:nvSpPr>
          <p:cNvPr id="20" name="Text 17"/>
          <p:cNvSpPr txBox="1"/>
          <p:nvPr/>
        </p:nvSpPr>
        <p:spPr>
          <a:xfrm>
            <a:off x="5285232" y="1280160"/>
            <a:ext cx="3246120" cy="777240"/>
          </a:xfrm>
          <a:prstGeom prst="rect">
            <a:avLst/>
          </a:prstGeom>
          <a:noFill/>
          <a:ln/>
        </p:spPr>
        <p:txBody>
          <a:bodyPr wrap="square" lIns="508" tIns="508" rIns="508" bIns="508" rtlCol="0" anchor="ctr"/>
          <a:lstStyle/>
          <a:p>
            <a:pPr algn="ctr" indent="0" marL="0">
              <a:buNone/>
            </a:pPr>
            <a:r>
              <a:rPr lang="en-US" sz="1250" b="1" dirty="0">
                <a:solidFill>
                  <a:schemeClr val="bg1"/>
                </a:solidFill>
              </a:rPr>
              <a:t>Calibrate WCM: fit A, B, C, D</a:t>
            </a:r>
            <a:endParaRPr lang="en-US" sz="1250" dirty="0"/>
          </a:p>
        </p:txBody>
      </p:sp>
      <p:sp>
        <p:nvSpPr>
          <p:cNvPr id="21" name="arrow"/>
          <p:cNvSpPr/>
          <p:nvPr/>
        </p:nvSpPr>
        <p:spPr>
          <a:xfrm>
            <a:off x="6903720" y="2066544"/>
            <a:ext cx="0" cy="192024"/>
          </a:xfrm>
          <a:prstGeom prst="line">
            <a:avLst/>
          </a:prstGeom>
          <a:noFill/>
          <a:ln w="31750">
            <a:solidFill>
              <a:srgbClr val="173F5F"/>
            </a:solidFill>
            <a:prstDash val="solid"/>
            <a:tailEnd type="triangle"/>
          </a:ln>
        </p:spPr>
      </p:sp>
      <p:sp>
        <p:nvSpPr>
          <p:cNvPr id="22" name="diagram box"/>
          <p:cNvSpPr/>
          <p:nvPr/>
        </p:nvSpPr>
        <p:spPr>
          <a:xfrm>
            <a:off x="5285232" y="2267712"/>
            <a:ext cx="3246120" cy="777240"/>
          </a:xfrm>
          <a:prstGeom prst="roundRect">
            <a:avLst>
              <a:gd name="adj" fmla="val 9412"/>
            </a:avLst>
          </a:prstGeom>
          <a:solidFill>
            <a:schemeClr val="accent4"/>
          </a:solidFill>
          <a:ln/>
        </p:spPr>
      </p:sp>
      <p:sp>
        <p:nvSpPr>
          <p:cNvPr id="23" name="Text 20"/>
          <p:cNvSpPr txBox="1"/>
          <p:nvPr/>
        </p:nvSpPr>
        <p:spPr>
          <a:xfrm>
            <a:off x="5285232" y="2267712"/>
            <a:ext cx="3246120" cy="777240"/>
          </a:xfrm>
          <a:prstGeom prst="rect">
            <a:avLst/>
          </a:prstGeom>
          <a:noFill/>
          <a:ln/>
        </p:spPr>
        <p:txBody>
          <a:bodyPr wrap="square" lIns="508" tIns="508" rIns="508" bIns="508" rtlCol="0" anchor="ctr"/>
          <a:lstStyle/>
          <a:p>
            <a:pPr algn="ctr" indent="0" marL="0">
              <a:buNone/>
            </a:pPr>
            <a:r>
              <a:rPr lang="en-US" sz="1250" b="1" dirty="0">
                <a:solidFill>
                  <a:schemeClr val="bg1"/>
                </a:solidFill>
              </a:rPr>
              <a:t>Remove vegetation: σ⁰</a:t>
            </a:r>
            <a:r>
              <a:rPr lang="en-US" sz="1250" b="1" baseline="-40000" dirty="0">
                <a:solidFill>
                  <a:schemeClr val="bg1"/>
                </a:solidFill>
              </a:rPr>
              <a:t>soil</a:t>
            </a:r>
            <a:r>
              <a:rPr lang="en-US" sz="1250" b="1" dirty="0">
                <a:solidFill>
                  <a:schemeClr val="bg1"/>
                </a:solidFill>
              </a:rPr>
              <a:t> = (σ⁰ − σ⁰</a:t>
            </a:r>
            <a:r>
              <a:rPr lang="en-US" sz="1250" b="1" baseline="-40000" dirty="0">
                <a:solidFill>
                  <a:schemeClr val="bg1"/>
                </a:solidFill>
              </a:rPr>
              <a:t>veg</a:t>
            </a:r>
            <a:r>
              <a:rPr lang="en-US" sz="1250" b="1" dirty="0">
                <a:solidFill>
                  <a:schemeClr val="bg1"/>
                </a:solidFill>
              </a:rPr>
              <a:t>) / δ²</a:t>
            </a:r>
            <a:endParaRPr lang="en-US" sz="1250" dirty="0"/>
          </a:p>
        </p:txBody>
      </p:sp>
      <p:sp>
        <p:nvSpPr>
          <p:cNvPr id="24" name="arrow"/>
          <p:cNvSpPr/>
          <p:nvPr/>
        </p:nvSpPr>
        <p:spPr>
          <a:xfrm>
            <a:off x="6903720" y="3054096"/>
            <a:ext cx="0" cy="192024"/>
          </a:xfrm>
          <a:prstGeom prst="line">
            <a:avLst/>
          </a:prstGeom>
          <a:noFill/>
          <a:ln w="31750">
            <a:solidFill>
              <a:srgbClr val="173F5F"/>
            </a:solidFill>
            <a:prstDash val="solid"/>
            <a:tailEnd type="triangle"/>
          </a:ln>
        </p:spPr>
      </p:sp>
      <p:sp>
        <p:nvSpPr>
          <p:cNvPr id="25" name="diagram box"/>
          <p:cNvSpPr/>
          <p:nvPr/>
        </p:nvSpPr>
        <p:spPr>
          <a:xfrm>
            <a:off x="5285232" y="3255264"/>
            <a:ext cx="3246120" cy="777240"/>
          </a:xfrm>
          <a:prstGeom prst="roundRect">
            <a:avLst>
              <a:gd name="adj" fmla="val 9412"/>
            </a:avLst>
          </a:prstGeom>
          <a:solidFill>
            <a:schemeClr val="accent2"/>
          </a:solidFill>
          <a:ln/>
        </p:spPr>
      </p:sp>
      <p:sp>
        <p:nvSpPr>
          <p:cNvPr id="26" name="Text 23"/>
          <p:cNvSpPr txBox="1"/>
          <p:nvPr/>
        </p:nvSpPr>
        <p:spPr>
          <a:xfrm>
            <a:off x="5285232" y="3255264"/>
            <a:ext cx="3246120" cy="777240"/>
          </a:xfrm>
          <a:prstGeom prst="rect">
            <a:avLst/>
          </a:prstGeom>
          <a:noFill/>
          <a:ln/>
        </p:spPr>
        <p:txBody>
          <a:bodyPr wrap="square" lIns="508" tIns="508" rIns="508" bIns="508" rtlCol="0" anchor="ctr"/>
          <a:lstStyle/>
          <a:p>
            <a:pPr algn="ctr" indent="0" marL="0">
              <a:buNone/>
            </a:pPr>
            <a:r>
              <a:rPr lang="en-US" sz="1250" b="1" dirty="0">
                <a:solidFill>
                  <a:schemeClr val="bg1"/>
                </a:solidFill>
              </a:rPr>
              <a:t>Invert: m</a:t>
            </a:r>
            <a:r>
              <a:rPr lang="en-US" sz="1250" b="1" baseline="-40000" dirty="0">
                <a:solidFill>
                  <a:schemeClr val="bg1"/>
                </a:solidFill>
              </a:rPr>
              <a:t>v</a:t>
            </a:r>
            <a:r>
              <a:rPr lang="en-US" sz="1250" b="1" dirty="0">
                <a:solidFill>
                  <a:schemeClr val="bg1"/>
                </a:solidFill>
              </a:rPr>
              <a:t> = (σ⁰</a:t>
            </a:r>
            <a:r>
              <a:rPr lang="en-US" sz="1250" b="1" baseline="-40000" dirty="0">
                <a:solidFill>
                  <a:schemeClr val="bg1"/>
                </a:solidFill>
              </a:rPr>
              <a:t>soil</a:t>
            </a:r>
            <a:r>
              <a:rPr lang="en-US" sz="1250" b="1" dirty="0">
                <a:solidFill>
                  <a:schemeClr val="bg1"/>
                </a:solidFill>
              </a:rPr>
              <a:t> − C) / D</a:t>
            </a:r>
            <a:endParaRPr lang="en-US" sz="1250" dirty="0"/>
          </a:p>
        </p:txBody>
      </p:sp>
      <p:sp>
        <p:nvSpPr>
          <p:cNvPr id="27" name="arrow"/>
          <p:cNvSpPr/>
          <p:nvPr/>
        </p:nvSpPr>
        <p:spPr>
          <a:xfrm>
            <a:off x="6903720" y="4041648"/>
            <a:ext cx="0" cy="192024"/>
          </a:xfrm>
          <a:prstGeom prst="line">
            <a:avLst/>
          </a:prstGeom>
          <a:noFill/>
          <a:ln w="31750">
            <a:solidFill>
              <a:srgbClr val="173F5F"/>
            </a:solidFill>
            <a:prstDash val="solid"/>
            <a:tailEnd type="triangle"/>
          </a:ln>
        </p:spPr>
      </p:sp>
      <p:sp>
        <p:nvSpPr>
          <p:cNvPr id="28" name="diagram box"/>
          <p:cNvSpPr/>
          <p:nvPr/>
        </p:nvSpPr>
        <p:spPr>
          <a:xfrm>
            <a:off x="5285232" y="4242816"/>
            <a:ext cx="3246120" cy="777240"/>
          </a:xfrm>
          <a:prstGeom prst="roundRect">
            <a:avLst>
              <a:gd name="adj" fmla="val 9412"/>
            </a:avLst>
          </a:prstGeom>
          <a:solidFill>
            <a:schemeClr val="accent6"/>
          </a:solidFill>
          <a:ln/>
        </p:spPr>
      </p:sp>
      <p:sp>
        <p:nvSpPr>
          <p:cNvPr id="29" name="Text 26"/>
          <p:cNvSpPr txBox="1"/>
          <p:nvPr/>
        </p:nvSpPr>
        <p:spPr>
          <a:xfrm>
            <a:off x="5285232" y="4242816"/>
            <a:ext cx="3246120" cy="777240"/>
          </a:xfrm>
          <a:prstGeom prst="rect">
            <a:avLst/>
          </a:prstGeom>
          <a:noFill/>
          <a:ln/>
        </p:spPr>
        <p:txBody>
          <a:bodyPr wrap="square" lIns="508" tIns="508" rIns="508" bIns="508" rtlCol="0" anchor="ctr"/>
          <a:lstStyle/>
          <a:p>
            <a:pPr algn="ctr" indent="0" marL="0">
              <a:buNone/>
            </a:pPr>
            <a:r>
              <a:rPr lang="en-US" sz="1250" b="1" dirty="0">
                <a:solidFill>
                  <a:schemeClr val="bg1"/>
                </a:solidFill>
              </a:rPr>
              <a:t>Mask urban, water, dense crop → map</a:t>
            </a:r>
            <a:endParaRPr lang="en-US" sz="1250" dirty="0"/>
          </a:p>
        </p:txBody>
      </p:sp>
      <p:sp>
        <p:nvSpPr>
          <p:cNvPr id="30" name="arrow"/>
          <p:cNvSpPr/>
          <p:nvPr/>
        </p:nvSpPr>
        <p:spPr>
          <a:xfrm>
            <a:off x="6903720" y="5029200"/>
            <a:ext cx="0" cy="192024"/>
          </a:xfrm>
          <a:prstGeom prst="line">
            <a:avLst/>
          </a:prstGeom>
          <a:noFill/>
          <a:ln w="31750">
            <a:solidFill>
              <a:srgbClr val="173F5F"/>
            </a:solidFill>
            <a:prstDash val="solid"/>
            <a:tailEnd type="triangle"/>
          </a:ln>
        </p:spPr>
      </p:sp>
      <p:sp>
        <p:nvSpPr>
          <p:cNvPr id="31" name="diagram box"/>
          <p:cNvSpPr/>
          <p:nvPr/>
        </p:nvSpPr>
        <p:spPr>
          <a:xfrm>
            <a:off x="5285232" y="5230368"/>
            <a:ext cx="3246120" cy="777240"/>
          </a:xfrm>
          <a:prstGeom prst="roundRect">
            <a:avLst>
              <a:gd name="adj" fmla="val 9412"/>
            </a:avLst>
          </a:prstGeom>
          <a:solidFill>
            <a:schemeClr val="accent1"/>
          </a:solidFill>
          <a:ln/>
        </p:spPr>
      </p:sp>
      <p:sp>
        <p:nvSpPr>
          <p:cNvPr id="32" name="Text 29"/>
          <p:cNvSpPr txBox="1"/>
          <p:nvPr/>
        </p:nvSpPr>
        <p:spPr>
          <a:xfrm>
            <a:off x="5285232" y="5230368"/>
            <a:ext cx="3246120" cy="777240"/>
          </a:xfrm>
          <a:prstGeom prst="rect">
            <a:avLst/>
          </a:prstGeom>
          <a:noFill/>
          <a:ln/>
        </p:spPr>
        <p:txBody>
          <a:bodyPr wrap="square" lIns="508" tIns="508" rIns="508" bIns="508" rtlCol="0" anchor="ctr"/>
          <a:lstStyle/>
          <a:p>
            <a:pPr algn="ctr" indent="0" marL="0">
              <a:buNone/>
            </a:pPr>
            <a:r>
              <a:rPr lang="en-US" sz="1250" b="1" dirty="0">
                <a:solidFill>
                  <a:schemeClr val="bg1"/>
                </a:solidFill>
              </a:rPr>
              <a:t>Validate: R, bias, RMSE, ubRMSE</a:t>
            </a:r>
            <a:endParaRPr lang="en-US" sz="1250" dirty="0"/>
          </a:p>
        </p:txBody>
      </p:sp>
      <p:sp>
        <p:nvSpPr>
          <p:cNvPr id="33" name="card"/>
          <p:cNvSpPr/>
          <p:nvPr/>
        </p:nvSpPr>
        <p:spPr>
          <a:xfrm>
            <a:off x="8732520" y="1280160"/>
            <a:ext cx="2907792" cy="4892040"/>
          </a:xfrm>
          <a:prstGeom prst="roundRect">
            <a:avLst>
              <a:gd name="adj" fmla="val 2516"/>
            </a:avLst>
          </a:prstGeom>
          <a:solidFill>
            <a:schemeClr val="bg2"/>
          </a:solidFill>
          <a:ln/>
          <a:effectLst>
            <a:outerShdw sx="100000" sy="100000" kx="0" ky="0" algn="bl" rotWithShape="0" blurRad="76200" dist="25400" dir="5400000">
              <a:srgbClr val="000000">
                <a:alpha val="14000"/>
              </a:srgbClr>
            </a:outerShdw>
          </a:effectLst>
        </p:spPr>
      </p:sp>
      <p:sp>
        <p:nvSpPr>
          <p:cNvPr id="34" name="icon circle"/>
          <p:cNvSpPr/>
          <p:nvPr/>
        </p:nvSpPr>
        <p:spPr>
          <a:xfrm>
            <a:off x="8915400" y="1435608"/>
            <a:ext cx="420624" cy="420624"/>
          </a:xfrm>
          <a:prstGeom prst="ellipse">
            <a:avLst/>
          </a:prstGeom>
          <a:solidFill>
            <a:schemeClr val="accent4"/>
          </a:solidFill>
          <a:ln/>
        </p:spPr>
      </p:sp>
      <p:pic>
        <p:nvPicPr>
          <p:cNvPr id="35" name="Image 0" descr="Check icon">    </p:cNvPr>
          <p:cNvPicPr>
            <a:picLocks noChangeAspect="1"/>
          </p:cNvPicPr>
          <p:nvPr/>
        </p:nvPicPr>
        <p:blipFill>
          <a:blip r:embed="rId1"/>
          <a:stretch>
            <a:fillRect/>
          </a:stretch>
        </p:blipFill>
        <p:spPr>
          <a:xfrm>
            <a:off x="9024762" y="1544970"/>
            <a:ext cx="201900" cy="201900"/>
          </a:xfrm>
          <a:prstGeom prst="rect">
            <a:avLst/>
          </a:prstGeom>
        </p:spPr>
      </p:pic>
      <p:sp>
        <p:nvSpPr>
          <p:cNvPr id="36" name="Text 32"/>
          <p:cNvSpPr txBox="1"/>
          <p:nvPr/>
        </p:nvSpPr>
        <p:spPr>
          <a:xfrm>
            <a:off x="9445752" y="1417320"/>
            <a:ext cx="2057400" cy="457200"/>
          </a:xfrm>
          <a:prstGeom prst="rect">
            <a:avLst/>
          </a:prstGeom>
          <a:noFill/>
          <a:ln/>
        </p:spPr>
        <p:txBody>
          <a:bodyPr wrap="square" lIns="0" tIns="0" rIns="0" bIns="0" rtlCol="0" anchor="ctr"/>
          <a:lstStyle/>
          <a:p>
            <a:pPr indent="0" marL="0">
              <a:buNone/>
            </a:pPr>
            <a:r>
              <a:rPr lang="en-US" sz="1600" b="1" dirty="0">
                <a:solidFill>
                  <a:schemeClr val="tx2"/>
                </a:solidFill>
              </a:rPr>
              <a:t>Practical tips</a:t>
            </a:r>
            <a:endParaRPr lang="en-US" sz="1600" dirty="0"/>
          </a:p>
        </p:txBody>
      </p:sp>
      <p:sp>
        <p:nvSpPr>
          <p:cNvPr id="37" name="Text 33"/>
          <p:cNvSpPr txBox="1"/>
          <p:nvPr/>
        </p:nvSpPr>
        <p:spPr>
          <a:xfrm>
            <a:off x="8915400" y="1965960"/>
            <a:ext cx="2542032" cy="411480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Use one orbit and incidence angle per time series</a:t>
            </a:r>
            <a:endParaRPr lang="en-US" sz="1200" dirty="0"/>
          </a:p>
          <a:p>
            <a:pPr marL="177800" indent="-177800">
              <a:spcAft>
                <a:spcPts val="400"/>
              </a:spcAft>
              <a:buSzPct val="100000"/>
              <a:buChar char="•"/>
            </a:pPr>
            <a:r>
              <a:rPr lang="en-US" sz="1200" dirty="0">
                <a:solidFill>
                  <a:schemeClr val="tx1"/>
                </a:solidFill>
              </a:rPr>
              <a:t>VV is usually more soil-sensitive than HH at C-band; VH tracks vegetation</a:t>
            </a:r>
            <a:endParaRPr lang="en-US" sz="1200" dirty="0"/>
          </a:p>
          <a:p>
            <a:pPr marL="177800" indent="-177800">
              <a:spcAft>
                <a:spcPts val="400"/>
              </a:spcAft>
              <a:buSzPct val="100000"/>
              <a:buChar char="•"/>
            </a:pPr>
            <a:r>
              <a:rPr lang="en-US" sz="1200" dirty="0">
                <a:solidFill>
                  <a:schemeClr val="tx1"/>
                </a:solidFill>
              </a:rPr>
              <a:t>Calibrate per crop and growth stage</a:t>
            </a:r>
            <a:endParaRPr lang="en-US" sz="1200" dirty="0"/>
          </a:p>
          <a:p>
            <a:pPr marL="177800" indent="-177800">
              <a:spcAft>
                <a:spcPts val="400"/>
              </a:spcAft>
              <a:buSzPct val="100000"/>
              <a:buChar char="•"/>
            </a:pPr>
            <a:r>
              <a:rPr lang="en-US" sz="1200" dirty="0">
                <a:solidFill>
                  <a:schemeClr val="tx1"/>
                </a:solidFill>
              </a:rPr>
              <a:t>Alternative: machine learning (RF, ANN) with σ⁰, θ, NDVI as inputs</a:t>
            </a:r>
            <a:endParaRPr lang="en-US" sz="1200" dirty="0"/>
          </a:p>
          <a:p>
            <a:pPr marL="177800" indent="-177800">
              <a:spcAft>
                <a:spcPts val="400"/>
              </a:spcAft>
              <a:buSzPct val="100000"/>
              <a:buChar char="•"/>
            </a:pPr>
            <a:r>
              <a:rPr lang="en-US" sz="1200" dirty="0">
                <a:solidFill>
                  <a:schemeClr val="tx1"/>
                </a:solidFill>
              </a:rPr>
              <a:t>ubRMSE = √(RMSE² − bias²)</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Change detection: let time cancel roughness and vegetation</a:t>
            </a:r>
            <a:endParaRPr lang="en-US" sz="3200" dirty="0"/>
          </a:p>
        </p:txBody>
      </p:sp>
      <p:graphicFrame>
        <p:nvGraphicFramePr>
          <p:cNvPr id="4" name="Chart 0" descr=""/>
          <p:cNvGraphicFramePr/>
          <p:nvPr/>
        </p:nvGraphicFramePr>
        <p:xfrm>
          <a:off x="548640" y="1280160"/>
          <a:ext cx="5852160" cy="38404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138928"/>
            <a:ext cx="5852160" cy="274320"/>
          </a:xfrm>
          <a:prstGeom prst="rect">
            <a:avLst/>
          </a:prstGeom>
          <a:noFill/>
          <a:ln/>
        </p:spPr>
        <p:txBody>
          <a:bodyPr wrap="square" lIns="0" tIns="0" rIns="0" bIns="0" rtlCol="0" anchor="ctr"/>
          <a:lstStyle/>
          <a:p>
            <a:pPr algn="l" indent="0" marL="0">
              <a:buNone/>
            </a:pPr>
            <a:r>
              <a:rPr lang="en-US" sz="1050" i="1" dirty="0">
                <a:solidFill>
                  <a:schemeClr val="accent6"/>
                </a:solidFill>
              </a:rPr>
              <a:t>Illustrative series: wet spells after rain push σ⁰ towards the wet reference.</a:t>
            </a:r>
            <a:endParaRPr lang="en-US" sz="1050" dirty="0"/>
          </a:p>
        </p:txBody>
      </p:sp>
      <p:sp>
        <p:nvSpPr>
          <p:cNvPr id="6" name="card"/>
          <p:cNvSpPr/>
          <p:nvPr/>
        </p:nvSpPr>
        <p:spPr>
          <a:xfrm>
            <a:off x="6629400" y="1280160"/>
            <a:ext cx="5010912" cy="868680"/>
          </a:xfrm>
          <a:prstGeom prst="roundRect">
            <a:avLst>
              <a:gd name="adj" fmla="val 8421"/>
            </a:avLst>
          </a:prstGeom>
          <a:solidFill>
            <a:schemeClr val="tx2"/>
          </a:solidFill>
          <a:ln/>
          <a:effectLst>
            <a:outerShdw sx="100000" sy="100000" kx="0" ky="0" algn="bl" rotWithShape="0" blurRad="76200" dist="25400" dir="5400000">
              <a:srgbClr val="000000">
                <a:alpha val="14000"/>
              </a:srgbClr>
            </a:outerShdw>
          </a:effectLst>
        </p:spPr>
      </p:sp>
      <p:sp>
        <p:nvSpPr>
          <p:cNvPr id="7" name="Text 3"/>
          <p:cNvSpPr txBox="1"/>
          <p:nvPr/>
        </p:nvSpPr>
        <p:spPr>
          <a:xfrm>
            <a:off x="6766560" y="1280160"/>
            <a:ext cx="4736592" cy="868680"/>
          </a:xfrm>
          <a:prstGeom prst="rect">
            <a:avLst/>
          </a:prstGeom>
          <a:noFill/>
          <a:ln/>
        </p:spPr>
        <p:txBody>
          <a:bodyPr wrap="square" lIns="0" tIns="0" rIns="0" bIns="0" rtlCol="0" anchor="ctr"/>
          <a:lstStyle/>
          <a:p>
            <a:pPr algn="ctr" indent="0" marL="0">
              <a:buNone/>
            </a:pPr>
            <a:r>
              <a:rPr lang="en-US" sz="1450" b="1" dirty="0">
                <a:solidFill>
                  <a:schemeClr val="bg1"/>
                </a:solidFill>
              </a:rPr>
              <a:t>m</a:t>
            </a:r>
            <a:r>
              <a:rPr lang="en-US" sz="1450" b="1" baseline="-40000" dirty="0">
                <a:solidFill>
                  <a:schemeClr val="bg1"/>
                </a:solidFill>
              </a:rPr>
              <a:t>s</a:t>
            </a:r>
            <a:r>
              <a:rPr lang="en-US" sz="1450" b="1" dirty="0">
                <a:solidFill>
                  <a:schemeClr val="bg1"/>
                </a:solidFill>
              </a:rPr>
              <a:t>(t) = [σ⁰(t, θ</a:t>
            </a:r>
            <a:r>
              <a:rPr lang="en-US" sz="1450" b="1" baseline="-40000" dirty="0">
                <a:solidFill>
                  <a:schemeClr val="bg1"/>
                </a:solidFill>
              </a:rPr>
              <a:t>ref</a:t>
            </a:r>
            <a:r>
              <a:rPr lang="en-US" sz="1450" b="1" dirty="0">
                <a:solidFill>
                  <a:schemeClr val="bg1"/>
                </a:solidFill>
              </a:rPr>
              <a:t>) − σ⁰</a:t>
            </a:r>
            <a:r>
              <a:rPr lang="en-US" sz="1450" b="1" baseline="-40000" dirty="0">
                <a:solidFill>
                  <a:schemeClr val="bg1"/>
                </a:solidFill>
              </a:rPr>
              <a:t>dry</a:t>
            </a:r>
            <a:r>
              <a:rPr lang="en-US" sz="1450" b="1" dirty="0">
                <a:solidFill>
                  <a:schemeClr val="bg1"/>
                </a:solidFill>
              </a:rPr>
              <a:t>] / [σ⁰</a:t>
            </a:r>
            <a:r>
              <a:rPr lang="en-US" sz="1450" b="1" baseline="-40000" dirty="0">
                <a:solidFill>
                  <a:schemeClr val="bg1"/>
                </a:solidFill>
              </a:rPr>
              <a:t>wet</a:t>
            </a:r>
            <a:r>
              <a:rPr lang="en-US" sz="1450" b="1" dirty="0">
                <a:solidFill>
                  <a:schemeClr val="bg1"/>
                </a:solidFill>
              </a:rPr>
              <a:t> − σ⁰</a:t>
            </a:r>
            <a:r>
              <a:rPr lang="en-US" sz="1450" b="1" baseline="-40000" dirty="0">
                <a:solidFill>
                  <a:schemeClr val="bg1"/>
                </a:solidFill>
              </a:rPr>
              <a:t>dry</a:t>
            </a:r>
            <a:r>
              <a:rPr lang="en-US" sz="1450" b="1" dirty="0">
                <a:solidFill>
                  <a:schemeClr val="bg1"/>
                </a:solidFill>
              </a:rPr>
              <a:t>] × 100</a:t>
            </a:r>
            <a:endParaRPr lang="en-US" sz="1450" dirty="0"/>
          </a:p>
        </p:txBody>
      </p:sp>
      <p:sp>
        <p:nvSpPr>
          <p:cNvPr id="8" name="Text 4"/>
          <p:cNvSpPr txBox="1"/>
          <p:nvPr/>
        </p:nvSpPr>
        <p:spPr>
          <a:xfrm>
            <a:off x="6629400" y="2286000"/>
            <a:ext cx="5010912" cy="3931920"/>
          </a:xfrm>
          <a:prstGeom prst="rect">
            <a:avLst/>
          </a:prstGeom>
          <a:noFill/>
          <a:ln/>
        </p:spPr>
        <p:txBody>
          <a:bodyPr wrap="square" lIns="508" tIns="508" rIns="508" bIns="508" rtlCol="0" anchor="t"/>
          <a:lstStyle/>
          <a:p>
            <a:pPr marL="177800" indent="-177800">
              <a:spcAft>
                <a:spcPts val="500"/>
              </a:spcAft>
              <a:buSzPct val="100000"/>
              <a:buChar char="•"/>
            </a:pPr>
            <a:r>
              <a:rPr lang="en-US" sz="1300" b="1" dirty="0">
                <a:solidFill>
                  <a:schemeClr val="tx1"/>
                </a:solidFill>
              </a:rPr>
              <a:t>TU Wien</a:t>
            </a:r>
            <a:r>
              <a:rPr lang="en-US" sz="1300" dirty="0">
                <a:solidFill>
                  <a:schemeClr val="tx1"/>
                </a:solidFill>
              </a:rPr>
              <a:t> (Wagner et al. 1999): relative wetness 0–100% (degree of saturation); θ</a:t>
            </a:r>
            <a:r>
              <a:rPr lang="en-US" sz="1300" baseline="-40000" dirty="0">
                <a:solidFill>
                  <a:schemeClr val="tx1"/>
                </a:solidFill>
              </a:rPr>
              <a:t>ref</a:t>
            </a:r>
            <a:r>
              <a:rPr lang="en-US" sz="1300" dirty="0">
                <a:solidFill>
                  <a:schemeClr val="tx1"/>
                </a:solidFill>
              </a:rPr>
              <a:t> = 40°</a:t>
            </a:r>
            <a:endParaRPr lang="en-US" sz="1300" dirty="0"/>
          </a:p>
          <a:p>
            <a:pPr marL="177800" indent="-177800">
              <a:spcAft>
                <a:spcPts val="500"/>
              </a:spcAft>
              <a:buSzPct val="100000"/>
              <a:buChar char="•"/>
            </a:pPr>
            <a:r>
              <a:rPr lang="en-US" sz="1300" b="1" dirty="0">
                <a:solidFill>
                  <a:schemeClr val="tx1"/>
                </a:solidFill>
              </a:rPr>
              <a:t>NBMI</a:t>
            </a:r>
            <a:r>
              <a:rPr lang="en-US" sz="1300" dirty="0">
                <a:solidFill>
                  <a:schemeClr val="tx1"/>
                </a:solidFill>
              </a:rPr>
              <a:t> (Shoshany 2000) = (σ⁰</a:t>
            </a:r>
            <a:r>
              <a:rPr lang="en-US" sz="1300" baseline="-40000" dirty="0">
                <a:solidFill>
                  <a:schemeClr val="tx1"/>
                </a:solidFill>
              </a:rPr>
              <a:t>t1</a:t>
            </a:r>
            <a:r>
              <a:rPr lang="en-US" sz="1300" dirty="0">
                <a:solidFill>
                  <a:schemeClr val="tx1"/>
                </a:solidFill>
              </a:rPr>
              <a:t> − σ⁰</a:t>
            </a:r>
            <a:r>
              <a:rPr lang="en-US" sz="1300" baseline="-40000" dirty="0">
                <a:solidFill>
                  <a:schemeClr val="tx1"/>
                </a:solidFill>
              </a:rPr>
              <a:t>t2</a:t>
            </a:r>
            <a:r>
              <a:rPr lang="en-US" sz="1300" dirty="0">
                <a:solidFill>
                  <a:schemeClr val="tx1"/>
                </a:solidFill>
              </a:rPr>
              <a:t>) / (σ⁰</a:t>
            </a:r>
            <a:r>
              <a:rPr lang="en-US" sz="1300" baseline="-40000" dirty="0">
                <a:solidFill>
                  <a:schemeClr val="tx1"/>
                </a:solidFill>
              </a:rPr>
              <a:t>t1</a:t>
            </a:r>
            <a:r>
              <a:rPr lang="en-US" sz="1300" dirty="0">
                <a:solidFill>
                  <a:schemeClr val="tx1"/>
                </a:solidFill>
              </a:rPr>
              <a:t> + σ⁰</a:t>
            </a:r>
            <a:r>
              <a:rPr lang="en-US" sz="1300" baseline="-40000" dirty="0">
                <a:solidFill>
                  <a:schemeClr val="tx1"/>
                </a:solidFill>
              </a:rPr>
              <a:t>t2</a:t>
            </a:r>
            <a:r>
              <a:rPr lang="en-US" sz="1300" dirty="0">
                <a:solidFill>
                  <a:schemeClr val="tx1"/>
                </a:solidFill>
              </a:rPr>
              <a:t>)</a:t>
            </a:r>
            <a:endParaRPr lang="en-US" sz="1300" dirty="0"/>
          </a:p>
          <a:p>
            <a:pPr marL="177800" indent="-177800">
              <a:spcAft>
                <a:spcPts val="500"/>
              </a:spcAft>
              <a:buSzPct val="100000"/>
              <a:buChar char="•"/>
            </a:pPr>
            <a:r>
              <a:rPr lang="en-US" sz="1300" b="1" dirty="0">
                <a:solidFill>
                  <a:schemeClr val="tx1"/>
                </a:solidFill>
              </a:rPr>
              <a:t>Alpha ratio</a:t>
            </a:r>
            <a:r>
              <a:rPr lang="en-US" sz="1300" dirty="0">
                <a:solidFill>
                  <a:schemeClr val="tx1"/>
                </a:solidFill>
              </a:rPr>
              <a:t>: σ⁰(t</a:t>
            </a:r>
            <a:r>
              <a:rPr lang="en-US" sz="1300" baseline="-40000" dirty="0">
                <a:solidFill>
                  <a:schemeClr val="tx1"/>
                </a:solidFill>
              </a:rPr>
              <a:t>2</a:t>
            </a:r>
            <a:r>
              <a:rPr lang="en-US" sz="1300" dirty="0">
                <a:solidFill>
                  <a:schemeClr val="tx1"/>
                </a:solidFill>
              </a:rPr>
              <a:t>)/σ⁰(t</a:t>
            </a:r>
            <a:r>
              <a:rPr lang="en-US" sz="1300" baseline="-40000" dirty="0">
                <a:solidFill>
                  <a:schemeClr val="tx1"/>
                </a:solidFill>
              </a:rPr>
              <a:t>1</a:t>
            </a:r>
            <a:r>
              <a:rPr lang="en-US" sz="1300" dirty="0">
                <a:solidFill>
                  <a:schemeClr val="tx1"/>
                </a:solidFill>
              </a:rPr>
              <a:t>) ≈ |α(t</a:t>
            </a:r>
            <a:r>
              <a:rPr lang="en-US" sz="1300" baseline="-40000" dirty="0">
                <a:solidFill>
                  <a:schemeClr val="tx1"/>
                </a:solidFill>
              </a:rPr>
              <a:t>2</a:t>
            </a:r>
            <a:r>
              <a:rPr lang="en-US" sz="1300" dirty="0">
                <a:solidFill>
                  <a:schemeClr val="tx1"/>
                </a:solidFill>
              </a:rPr>
              <a:t>)/α(t</a:t>
            </a:r>
            <a:r>
              <a:rPr lang="en-US" sz="1300" baseline="-40000" dirty="0">
                <a:solidFill>
                  <a:schemeClr val="tx1"/>
                </a:solidFill>
              </a:rPr>
              <a:t>1</a:t>
            </a:r>
            <a:r>
              <a:rPr lang="en-US" sz="1300" dirty="0">
                <a:solidFill>
                  <a:schemeClr val="tx1"/>
                </a:solidFill>
              </a:rPr>
              <a:t>)|² (used by NISAR)</a:t>
            </a:r>
            <a:endParaRPr lang="en-US" sz="1300" dirty="0"/>
          </a:p>
          <a:p>
            <a:pPr marL="177800" indent="-177800">
              <a:spcAft>
                <a:spcPts val="500"/>
              </a:spcAft>
              <a:buSzPct val="100000"/>
              <a:buChar char="•"/>
            </a:pPr>
            <a:r>
              <a:rPr lang="en-US" sz="1300" dirty="0">
                <a:solidFill>
                  <a:schemeClr val="tx1"/>
                </a:solidFill>
              </a:rPr>
              <a:t>Assumes roughness and vegetation change slower than m</a:t>
            </a:r>
            <a:r>
              <a:rPr lang="en-US" sz="1300" baseline="-40000" dirty="0">
                <a:solidFill>
                  <a:schemeClr val="tx1"/>
                </a:solidFill>
              </a:rPr>
              <a:t>v</a:t>
            </a:r>
            <a:endParaRPr lang="en-US" sz="1300" dirty="0"/>
          </a:p>
          <a:p>
            <a:pPr marL="177800" indent="-177800">
              <a:spcAft>
                <a:spcPts val="500"/>
              </a:spcAft>
              <a:buSzPct val="100000"/>
              <a:buChar char="•"/>
            </a:pPr>
            <a:r>
              <a:rPr lang="en-US" sz="1300" dirty="0">
                <a:solidFill>
                  <a:schemeClr val="tx1"/>
                </a:solidFill>
              </a:rPr>
              <a:t>Needs a long record and the same geometry; × porosity → m³/m³</a:t>
            </a:r>
            <a:endParaRPr lang="en-US" sz="1300" dirty="0"/>
          </a:p>
          <a:p>
            <a:pPr marL="177800" indent="-177800">
              <a:spcAft>
                <a:spcPts val="500"/>
              </a:spcAft>
              <a:buSzPct val="100000"/>
              <a:buChar char="•"/>
            </a:pPr>
            <a:r>
              <a:rPr lang="en-US" sz="1300" dirty="0">
                <a:solidFill>
                  <a:schemeClr val="tx1"/>
                </a:solidFill>
              </a:rPr>
              <a:t>Operational: ASCAT (WARP, H SAF); Copernicus Sentinel-1 1 km (Bauer-Marschallinger 2019)</a:t>
            </a:r>
            <a:endParaRPr lang="en-US" sz="1300" dirty="0"/>
          </a:p>
        </p:txBody>
      </p:sp>
      <p:sp>
        <p:nvSpPr>
          <p:cNvPr id="9" name="insight"/>
          <p:cNvSpPr/>
          <p:nvPr/>
        </p:nvSpPr>
        <p:spPr>
          <a:xfrm>
            <a:off x="548640" y="5486400"/>
            <a:ext cx="11094415" cy="685800"/>
          </a:xfrm>
          <a:prstGeom prst="roundRect">
            <a:avLst>
              <a:gd name="adj" fmla="val 10667"/>
            </a:avLst>
          </a:prstGeom>
          <a:solidFill>
            <a:schemeClr val="bg2"/>
          </a:solidFill>
          <a:ln/>
        </p:spPr>
      </p:sp>
      <p:sp>
        <p:nvSpPr>
          <p:cNvPr id="10" name="icon circle"/>
          <p:cNvSpPr/>
          <p:nvPr/>
        </p:nvSpPr>
        <p:spPr>
          <a:xfrm>
            <a:off x="685800" y="5591556"/>
            <a:ext cx="475488" cy="475488"/>
          </a:xfrm>
          <a:prstGeom prst="ellipse">
            <a:avLst/>
          </a:prstGeom>
          <a:solidFill>
            <a:schemeClr val="accent3"/>
          </a:solidFill>
          <a:ln/>
        </p:spPr>
      </p:sp>
      <p:pic>
        <p:nvPicPr>
          <p:cNvPr id="11" name="Image 0" descr="Lightbulb icon">    </p:cNvPr>
          <p:cNvPicPr>
            <a:picLocks noChangeAspect="1"/>
          </p:cNvPicPr>
          <p:nvPr/>
        </p:nvPicPr>
        <p:blipFill>
          <a:blip r:embed="rId2"/>
          <a:stretch>
            <a:fillRect/>
          </a:stretch>
        </p:blipFill>
        <p:spPr>
          <a:xfrm>
            <a:off x="809427" y="5715183"/>
            <a:ext cx="228234" cy="228234"/>
          </a:xfrm>
          <a:prstGeom prst="rect">
            <a:avLst/>
          </a:prstGeom>
        </p:spPr>
      </p:pic>
      <p:sp>
        <p:nvSpPr>
          <p:cNvPr id="12" name="Text 7"/>
          <p:cNvSpPr txBox="1"/>
          <p:nvPr/>
        </p:nvSpPr>
        <p:spPr>
          <a:xfrm>
            <a:off x="1325880" y="5522976"/>
            <a:ext cx="10180015" cy="61264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Strength: no roughness data needed. Weakness: crop growth changes σ⁰ too.</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Four decades of active research in one diagram</a:t>
            </a:r>
            <a:endParaRPr lang="en-US" sz="3200" dirty="0"/>
          </a:p>
        </p:txBody>
      </p:sp>
      <p:sp>
        <p:nvSpPr>
          <p:cNvPr id="4" name="figure frame"/>
          <p:cNvSpPr/>
          <p:nvPr/>
        </p:nvSpPr>
        <p:spPr>
          <a:xfrm>
            <a:off x="548640" y="1280160"/>
            <a:ext cx="7680960" cy="4526280"/>
          </a:xfrm>
          <a:prstGeom prst="roundRect">
            <a:avLst>
              <a:gd name="adj" fmla="val 121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2 of the review: active microwave soil moisture retrieval research, 1965–2017. Source: Karthikeyan et al. (2017), Adv. Water Resour. 109:106–120">    </p:cNvPr>
          <p:cNvPicPr>
            <a:picLocks noChangeAspect="1"/>
          </p:cNvPicPr>
          <p:nvPr/>
        </p:nvPicPr>
        <p:blipFill>
          <a:blip r:embed="rId1"/>
          <a:stretch>
            <a:fillRect/>
          </a:stretch>
        </p:blipFill>
        <p:spPr>
          <a:xfrm>
            <a:off x="640080" y="1427208"/>
            <a:ext cx="7498080" cy="4232183"/>
          </a:xfrm>
          <a:prstGeom prst="rect">
            <a:avLst/>
          </a:prstGeom>
        </p:spPr>
      </p:pic>
      <p:sp>
        <p:nvSpPr>
          <p:cNvPr id="6" name="Text 2"/>
          <p:cNvSpPr txBox="1"/>
          <p:nvPr/>
        </p:nvSpPr>
        <p:spPr>
          <a:xfrm>
            <a:off x="548640" y="5852160"/>
            <a:ext cx="7680960" cy="411480"/>
          </a:xfrm>
          <a:prstGeom prst="rect">
            <a:avLst/>
          </a:prstGeom>
          <a:noFill/>
          <a:ln/>
        </p:spPr>
        <p:txBody>
          <a:bodyPr wrap="square" lIns="0" tIns="0" rIns="0" bIns="0" rtlCol="0" anchor="t"/>
          <a:lstStyle/>
          <a:p>
            <a:pPr indent="0" marL="0">
              <a:buNone/>
            </a:pPr>
            <a:r>
              <a:rPr lang="en-US" sz="1100" i="1" dirty="0">
                <a:solidFill>
                  <a:schemeClr val="accent6"/>
                </a:solidFill>
              </a:rPr>
              <a:t>Fig. 2 of the review: active microwave soil moisture retrieval research, 1965–2017. Source: Karthikeyan et al. (2017), Adv. Water Resour. 109:106–120</a:t>
            </a:r>
            <a:endParaRPr lang="en-US" sz="1100" dirty="0"/>
          </a:p>
        </p:txBody>
      </p:sp>
      <p:sp>
        <p:nvSpPr>
          <p:cNvPr id="7" name="card"/>
          <p:cNvSpPr/>
          <p:nvPr/>
        </p:nvSpPr>
        <p:spPr>
          <a:xfrm>
            <a:off x="8458200" y="1280160"/>
            <a:ext cx="3182112" cy="4983480"/>
          </a:xfrm>
          <a:prstGeom prst="roundRect">
            <a:avLst>
              <a:gd name="adj" fmla="val 2299"/>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8641080" y="1435608"/>
            <a:ext cx="420624" cy="420624"/>
          </a:xfrm>
          <a:prstGeom prst="ellipse">
            <a:avLst/>
          </a:prstGeom>
          <a:solidFill>
            <a:schemeClr val="accent3"/>
          </a:solidFill>
          <a:ln/>
        </p:spPr>
      </p:sp>
      <p:pic>
        <p:nvPicPr>
          <p:cNvPr id="9" name="Image 1" descr="Clock icon">    </p:cNvPr>
          <p:cNvPicPr>
            <a:picLocks noChangeAspect="1"/>
          </p:cNvPicPr>
          <p:nvPr/>
        </p:nvPicPr>
        <p:blipFill>
          <a:blip r:embed="rId2"/>
          <a:stretch>
            <a:fillRect/>
          </a:stretch>
        </p:blipFill>
        <p:spPr>
          <a:xfrm>
            <a:off x="8750442" y="1544970"/>
            <a:ext cx="201900" cy="201900"/>
          </a:xfrm>
          <a:prstGeom prst="rect">
            <a:avLst/>
          </a:prstGeom>
        </p:spPr>
      </p:pic>
      <p:sp>
        <p:nvSpPr>
          <p:cNvPr id="10" name="Text 5"/>
          <p:cNvSpPr txBox="1"/>
          <p:nvPr/>
        </p:nvSpPr>
        <p:spPr>
          <a:xfrm>
            <a:off x="9171432" y="1417320"/>
            <a:ext cx="2331720" cy="457200"/>
          </a:xfrm>
          <a:prstGeom prst="rect">
            <a:avLst/>
          </a:prstGeom>
          <a:noFill/>
          <a:ln/>
        </p:spPr>
        <p:txBody>
          <a:bodyPr wrap="square" lIns="0" tIns="0" rIns="0" bIns="0" rtlCol="0" anchor="ctr"/>
          <a:lstStyle/>
          <a:p>
            <a:pPr indent="0" marL="0">
              <a:buNone/>
            </a:pPr>
            <a:r>
              <a:rPr lang="en-US" sz="1600" b="1" dirty="0">
                <a:solidFill>
                  <a:schemeClr val="tx2"/>
                </a:solidFill>
              </a:rPr>
              <a:t>Milestones</a:t>
            </a:r>
            <a:endParaRPr lang="en-US" sz="1600" dirty="0"/>
          </a:p>
        </p:txBody>
      </p:sp>
      <p:sp>
        <p:nvSpPr>
          <p:cNvPr id="11" name="Text 6"/>
          <p:cNvSpPr txBox="1"/>
          <p:nvPr/>
        </p:nvSpPr>
        <p:spPr>
          <a:xfrm>
            <a:off x="8641080" y="1965960"/>
            <a:ext cx="2816352" cy="4206240"/>
          </a:xfrm>
          <a:prstGeom prst="rect">
            <a:avLst/>
          </a:prstGeom>
          <a:noFill/>
          <a:ln/>
        </p:spPr>
        <p:txBody>
          <a:bodyPr wrap="square" lIns="508" tIns="508" rIns="508" bIns="508" rtlCol="0" anchor="t"/>
          <a:lstStyle/>
          <a:p>
            <a:pPr marL="177800" indent="-177800">
              <a:spcAft>
                <a:spcPts val="400"/>
              </a:spcAft>
              <a:buSzPct val="100000"/>
              <a:buChar char="•"/>
            </a:pPr>
            <a:r>
              <a:rPr lang="en-US" sz="1250" b="1" dirty="0">
                <a:solidFill>
                  <a:schemeClr val="tx1"/>
                </a:solidFill>
              </a:rPr>
              <a:t>1978</a:t>
            </a:r>
            <a:r>
              <a:rPr lang="en-US" sz="1250" dirty="0">
                <a:solidFill>
                  <a:schemeClr val="tx1"/>
                </a:solidFill>
              </a:rPr>
              <a:t> Attema &amp; Ulaby water cloud model</a:t>
            </a:r>
            <a:endParaRPr lang="en-US" sz="1250" dirty="0"/>
          </a:p>
          <a:p>
            <a:pPr marL="177800" indent="-177800">
              <a:spcAft>
                <a:spcPts val="400"/>
              </a:spcAft>
              <a:buSzPct val="100000"/>
              <a:buChar char="•"/>
            </a:pPr>
            <a:r>
              <a:rPr lang="en-US" sz="1250" b="1" dirty="0">
                <a:solidFill>
                  <a:schemeClr val="tx1"/>
                </a:solidFill>
              </a:rPr>
              <a:t>1990</a:t>
            </a:r>
            <a:r>
              <a:rPr lang="en-US" sz="1250" dirty="0">
                <a:solidFill>
                  <a:schemeClr val="tx1"/>
                </a:solidFill>
              </a:rPr>
              <a:t> MIMICS canopy model</a:t>
            </a:r>
            <a:endParaRPr lang="en-US" sz="1250" dirty="0"/>
          </a:p>
          <a:p>
            <a:pPr marL="177800" indent="-177800">
              <a:spcAft>
                <a:spcPts val="400"/>
              </a:spcAft>
              <a:buSzPct val="100000"/>
              <a:buChar char="•"/>
            </a:pPr>
            <a:r>
              <a:rPr lang="en-US" sz="1250" b="1" dirty="0">
                <a:solidFill>
                  <a:schemeClr val="tx1"/>
                </a:solidFill>
              </a:rPr>
              <a:t>1992</a:t>
            </a:r>
            <a:r>
              <a:rPr lang="en-US" sz="1250" dirty="0">
                <a:solidFill>
                  <a:schemeClr val="tx1"/>
                </a:solidFill>
              </a:rPr>
              <a:t> Fung IEM; Oh model</a:t>
            </a:r>
            <a:endParaRPr lang="en-US" sz="1250" dirty="0"/>
          </a:p>
          <a:p>
            <a:pPr marL="177800" indent="-177800">
              <a:spcAft>
                <a:spcPts val="400"/>
              </a:spcAft>
              <a:buSzPct val="100000"/>
              <a:buChar char="•"/>
            </a:pPr>
            <a:r>
              <a:rPr lang="en-US" sz="1250" b="1" dirty="0">
                <a:solidFill>
                  <a:schemeClr val="tx1"/>
                </a:solidFill>
              </a:rPr>
              <a:t>1995</a:t>
            </a:r>
            <a:r>
              <a:rPr lang="en-US" sz="1250" dirty="0">
                <a:solidFill>
                  <a:schemeClr val="tx1"/>
                </a:solidFill>
              </a:rPr>
              <a:t> Dubois model</a:t>
            </a:r>
            <a:endParaRPr lang="en-US" sz="1250" dirty="0"/>
          </a:p>
          <a:p>
            <a:pPr marL="177800" indent="-177800">
              <a:spcAft>
                <a:spcPts val="400"/>
              </a:spcAft>
              <a:buSzPct val="100000"/>
              <a:buChar char="•"/>
            </a:pPr>
            <a:r>
              <a:rPr lang="en-US" sz="1250" b="1" dirty="0">
                <a:solidFill>
                  <a:schemeClr val="tx1"/>
                </a:solidFill>
              </a:rPr>
              <a:t>1999</a:t>
            </a:r>
            <a:r>
              <a:rPr lang="en-US" sz="1250" dirty="0">
                <a:solidFill>
                  <a:schemeClr val="tx1"/>
                </a:solidFill>
              </a:rPr>
              <a:t> Wagner change detection</a:t>
            </a:r>
            <a:endParaRPr lang="en-US" sz="1250" dirty="0"/>
          </a:p>
          <a:p>
            <a:pPr marL="177800" indent="-177800">
              <a:spcAft>
                <a:spcPts val="400"/>
              </a:spcAft>
              <a:buSzPct val="100000"/>
              <a:buChar char="•"/>
            </a:pPr>
            <a:r>
              <a:rPr lang="en-US" sz="1250" b="1" dirty="0">
                <a:solidFill>
                  <a:schemeClr val="tx1"/>
                </a:solidFill>
              </a:rPr>
              <a:t>2003</a:t>
            </a:r>
            <a:r>
              <a:rPr lang="en-US" sz="1250" dirty="0">
                <a:solidFill>
                  <a:schemeClr val="tx1"/>
                </a:solidFill>
              </a:rPr>
              <a:t> AIEM (Chen et al.)</a:t>
            </a:r>
            <a:endParaRPr lang="en-US" sz="1250" dirty="0"/>
          </a:p>
          <a:p>
            <a:pPr marL="177800" indent="-177800">
              <a:spcAft>
                <a:spcPts val="400"/>
              </a:spcAft>
              <a:buSzPct val="100000"/>
              <a:buChar char="•"/>
            </a:pPr>
            <a:r>
              <a:rPr lang="en-US" sz="1250" b="1" dirty="0">
                <a:solidFill>
                  <a:schemeClr val="tx1"/>
                </a:solidFill>
              </a:rPr>
              <a:t>2007–09</a:t>
            </a:r>
            <a:r>
              <a:rPr lang="en-US" sz="1250" dirty="0">
                <a:solidFill>
                  <a:schemeClr val="tx1"/>
                </a:solidFill>
              </a:rPr>
              <a:t> WARP for ASCAT</a:t>
            </a:r>
            <a:endParaRPr lang="en-US" sz="1250" dirty="0"/>
          </a:p>
          <a:p>
            <a:pPr marL="177800" indent="-177800">
              <a:spcAft>
                <a:spcPts val="400"/>
              </a:spcAft>
              <a:buSzPct val="100000"/>
              <a:buChar char="•"/>
            </a:pPr>
            <a:r>
              <a:rPr lang="en-US" sz="1250" b="1" dirty="0">
                <a:solidFill>
                  <a:schemeClr val="tx1"/>
                </a:solidFill>
              </a:rPr>
              <a:t>2015+</a:t>
            </a:r>
            <a:r>
              <a:rPr lang="en-US" sz="1250" dirty="0">
                <a:solidFill>
                  <a:schemeClr val="tx1"/>
                </a:solidFill>
              </a:rPr>
              <a:t> Sentinel-1 with WCM + IEM</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Active–passive fusion and downscaling</a:t>
            </a:r>
            <a:endParaRPr lang="en-US" sz="3200" dirty="0"/>
          </a:p>
        </p:txBody>
      </p:sp>
      <p:sp>
        <p:nvSpPr>
          <p:cNvPr id="4" name="figure frame"/>
          <p:cNvSpPr/>
          <p:nvPr/>
        </p:nvSpPr>
        <p:spPr>
          <a:xfrm>
            <a:off x="548640" y="1280160"/>
            <a:ext cx="3840480" cy="3337560"/>
          </a:xfrm>
          <a:prstGeom prst="roundRect">
            <a:avLst>
              <a:gd name="adj" fmla="val 164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One 9 km cell holds 45 × 45 = 2025 cells of 200 m. Source: NISAR L3 Soil Moisture ATBD, JPL D-107679 (2023)">    </p:cNvPr>
          <p:cNvPicPr>
            <a:picLocks noChangeAspect="1"/>
          </p:cNvPicPr>
          <p:nvPr/>
        </p:nvPicPr>
        <p:blipFill>
          <a:blip r:embed="rId1"/>
          <a:stretch>
            <a:fillRect/>
          </a:stretch>
        </p:blipFill>
        <p:spPr>
          <a:xfrm>
            <a:off x="828968" y="1371600"/>
            <a:ext cx="3279824" cy="3154680"/>
          </a:xfrm>
          <a:prstGeom prst="rect">
            <a:avLst/>
          </a:prstGeom>
        </p:spPr>
      </p:pic>
      <p:sp>
        <p:nvSpPr>
          <p:cNvPr id="6" name="Text 2"/>
          <p:cNvSpPr txBox="1"/>
          <p:nvPr/>
        </p:nvSpPr>
        <p:spPr>
          <a:xfrm>
            <a:off x="548640" y="4663440"/>
            <a:ext cx="3840480" cy="457200"/>
          </a:xfrm>
          <a:prstGeom prst="rect">
            <a:avLst/>
          </a:prstGeom>
          <a:noFill/>
          <a:ln/>
        </p:spPr>
        <p:txBody>
          <a:bodyPr wrap="square" lIns="0" tIns="0" rIns="0" bIns="0" rtlCol="0" anchor="t"/>
          <a:lstStyle/>
          <a:p>
            <a:pPr indent="0" marL="0">
              <a:buNone/>
            </a:pPr>
            <a:r>
              <a:rPr lang="en-US" sz="1100" i="1" dirty="0">
                <a:solidFill>
                  <a:schemeClr val="accent6"/>
                </a:solidFill>
              </a:rPr>
              <a:t>One 9 km cell holds 45 × 45 = 2025 cells of 200 m. Source: NISAR L3 Soil Moisture ATBD, JPL D-107679 (2023)</a:t>
            </a:r>
            <a:endParaRPr lang="en-US" sz="1100" dirty="0"/>
          </a:p>
        </p:txBody>
      </p:sp>
      <p:sp>
        <p:nvSpPr>
          <p:cNvPr id="7" name="card"/>
          <p:cNvSpPr/>
          <p:nvPr/>
        </p:nvSpPr>
        <p:spPr>
          <a:xfrm>
            <a:off x="4617720" y="1280160"/>
            <a:ext cx="7022592" cy="868680"/>
          </a:xfrm>
          <a:prstGeom prst="roundRect">
            <a:avLst>
              <a:gd name="adj" fmla="val 8421"/>
            </a:avLst>
          </a:prstGeom>
          <a:solidFill>
            <a:schemeClr val="tx2"/>
          </a:solidFill>
          <a:ln/>
          <a:effectLst>
            <a:outerShdw sx="100000" sy="100000" kx="0" ky="0" algn="bl" rotWithShape="0" blurRad="76200" dist="25400" dir="5400000">
              <a:srgbClr val="000000">
                <a:alpha val="14000"/>
              </a:srgbClr>
            </a:outerShdw>
          </a:effectLst>
        </p:spPr>
      </p:sp>
      <p:sp>
        <p:nvSpPr>
          <p:cNvPr id="8" name="Text 4"/>
          <p:cNvSpPr txBox="1"/>
          <p:nvPr/>
        </p:nvSpPr>
        <p:spPr>
          <a:xfrm>
            <a:off x="4754880" y="1280160"/>
            <a:ext cx="6748272" cy="868680"/>
          </a:xfrm>
          <a:prstGeom prst="rect">
            <a:avLst/>
          </a:prstGeom>
          <a:noFill/>
          <a:ln/>
        </p:spPr>
        <p:txBody>
          <a:bodyPr wrap="square" lIns="0" tIns="0" rIns="0" bIns="0" rtlCol="0" anchor="ctr"/>
          <a:lstStyle/>
          <a:p>
            <a:pPr algn="ctr" indent="0" marL="0">
              <a:buNone/>
            </a:pPr>
            <a:r>
              <a:rPr lang="en-US" sz="1600" b="1" dirty="0">
                <a:solidFill>
                  <a:schemeClr val="bg1"/>
                </a:solidFill>
              </a:rPr>
              <a:t>fine = coarse + β·[σ</a:t>
            </a:r>
            <a:r>
              <a:rPr lang="en-US" sz="1600" b="1" baseline="-40000" dirty="0">
                <a:solidFill>
                  <a:schemeClr val="bg1"/>
                </a:solidFill>
              </a:rPr>
              <a:t>fine</a:t>
            </a:r>
            <a:r>
              <a:rPr lang="en-US" sz="1600" b="1" dirty="0">
                <a:solidFill>
                  <a:schemeClr val="bg1"/>
                </a:solidFill>
              </a:rPr>
              <a:t> − σ</a:t>
            </a:r>
            <a:r>
              <a:rPr lang="en-US" sz="1600" b="1" baseline="-40000" dirty="0">
                <a:solidFill>
                  <a:schemeClr val="bg1"/>
                </a:solidFill>
              </a:rPr>
              <a:t>coarse</a:t>
            </a:r>
            <a:r>
              <a:rPr lang="en-US" sz="1600" b="1" dirty="0">
                <a:solidFill>
                  <a:schemeClr val="bg1"/>
                </a:solidFill>
              </a:rPr>
              <a:t>] + heterogeneity term</a:t>
            </a:r>
            <a:endParaRPr lang="en-US" sz="1600" dirty="0"/>
          </a:p>
        </p:txBody>
      </p:sp>
      <p:sp>
        <p:nvSpPr>
          <p:cNvPr id="9" name="card"/>
          <p:cNvSpPr/>
          <p:nvPr/>
        </p:nvSpPr>
        <p:spPr>
          <a:xfrm>
            <a:off x="4617720" y="2286000"/>
            <a:ext cx="3410712" cy="2834640"/>
          </a:xfrm>
          <a:prstGeom prst="roundRect">
            <a:avLst>
              <a:gd name="adj" fmla="val 2581"/>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800600" y="2441448"/>
            <a:ext cx="420624" cy="420624"/>
          </a:xfrm>
          <a:prstGeom prst="ellipse">
            <a:avLst/>
          </a:prstGeom>
          <a:solidFill>
            <a:schemeClr val="accent2"/>
          </a:solidFill>
          <a:ln/>
        </p:spPr>
      </p:sp>
      <p:pic>
        <p:nvPicPr>
          <p:cNvPr id="11" name="Image 1" descr="Satellite icon">    </p:cNvPr>
          <p:cNvPicPr>
            <a:picLocks noChangeAspect="1"/>
          </p:cNvPicPr>
          <p:nvPr/>
        </p:nvPicPr>
        <p:blipFill>
          <a:blip r:embed="rId2"/>
          <a:stretch>
            <a:fillRect/>
          </a:stretch>
        </p:blipFill>
        <p:spPr>
          <a:xfrm>
            <a:off x="4909962" y="2550810"/>
            <a:ext cx="201900" cy="201900"/>
          </a:xfrm>
          <a:prstGeom prst="rect">
            <a:avLst/>
          </a:prstGeom>
        </p:spPr>
      </p:pic>
      <p:sp>
        <p:nvSpPr>
          <p:cNvPr id="12" name="Text 7"/>
          <p:cNvSpPr txBox="1"/>
          <p:nvPr/>
        </p:nvSpPr>
        <p:spPr>
          <a:xfrm>
            <a:off x="5330952" y="2423160"/>
            <a:ext cx="2560320" cy="457200"/>
          </a:xfrm>
          <a:prstGeom prst="rect">
            <a:avLst/>
          </a:prstGeom>
          <a:noFill/>
          <a:ln/>
        </p:spPr>
        <p:txBody>
          <a:bodyPr wrap="square" lIns="0" tIns="0" rIns="0" bIns="0" rtlCol="0" anchor="ctr"/>
          <a:lstStyle/>
          <a:p>
            <a:pPr indent="0" marL="0">
              <a:buNone/>
            </a:pPr>
            <a:r>
              <a:rPr lang="en-US" sz="1600" b="1" dirty="0">
                <a:solidFill>
                  <a:schemeClr val="tx2"/>
                </a:solidFill>
              </a:rPr>
              <a:t>SMAP heritage</a:t>
            </a:r>
            <a:endParaRPr lang="en-US" sz="1600" dirty="0"/>
          </a:p>
        </p:txBody>
      </p:sp>
      <p:sp>
        <p:nvSpPr>
          <p:cNvPr id="13" name="Text 8"/>
          <p:cNvSpPr txBox="1"/>
          <p:nvPr/>
        </p:nvSpPr>
        <p:spPr>
          <a:xfrm>
            <a:off x="4800600" y="2971800"/>
            <a:ext cx="3044952" cy="20574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Radiometer 36 km + radar 3 km → 9 km (2015)</a:t>
            </a:r>
            <a:endParaRPr lang="en-US" sz="1250" dirty="0"/>
          </a:p>
          <a:p>
            <a:pPr marL="177800" indent="-177800">
              <a:spcAft>
                <a:spcPts val="400"/>
              </a:spcAft>
              <a:buSzPct val="100000"/>
              <a:buChar char="•"/>
            </a:pPr>
            <a:r>
              <a:rPr lang="en-US" sz="1250" dirty="0">
                <a:solidFill>
                  <a:schemeClr val="tx1"/>
                </a:solidFill>
              </a:rPr>
              <a:t>Radar failed July 2015</a:t>
            </a:r>
            <a:endParaRPr lang="en-US" sz="1250" dirty="0"/>
          </a:p>
          <a:p>
            <a:pPr marL="177800" indent="-177800">
              <a:spcAft>
                <a:spcPts val="400"/>
              </a:spcAft>
              <a:buSzPct val="100000"/>
              <a:buChar char="•"/>
            </a:pPr>
            <a:r>
              <a:rPr lang="en-US" sz="1250" dirty="0">
                <a:solidFill>
                  <a:schemeClr val="tx1"/>
                </a:solidFill>
              </a:rPr>
              <a:t>SMAP/Sentinel-1 product: 3 km and 1 km</a:t>
            </a:r>
            <a:endParaRPr lang="en-US" sz="1250" dirty="0"/>
          </a:p>
        </p:txBody>
      </p:sp>
      <p:sp>
        <p:nvSpPr>
          <p:cNvPr id="14" name="card"/>
          <p:cNvSpPr/>
          <p:nvPr/>
        </p:nvSpPr>
        <p:spPr>
          <a:xfrm>
            <a:off x="8229600" y="2286000"/>
            <a:ext cx="3410712" cy="2834640"/>
          </a:xfrm>
          <a:prstGeom prst="roundRect">
            <a:avLst>
              <a:gd name="adj" fmla="val 2581"/>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412480" y="2441448"/>
            <a:ext cx="420624" cy="420624"/>
          </a:xfrm>
          <a:prstGeom prst="ellipse">
            <a:avLst/>
          </a:prstGeom>
          <a:solidFill>
            <a:schemeClr val="accent5"/>
          </a:solidFill>
          <a:ln/>
        </p:spPr>
      </p:sp>
      <p:pic>
        <p:nvPicPr>
          <p:cNvPr id="16" name="Image 2" descr="ProjectDiagram icon">    </p:cNvPr>
          <p:cNvPicPr>
            <a:picLocks noChangeAspect="1"/>
          </p:cNvPicPr>
          <p:nvPr/>
        </p:nvPicPr>
        <p:blipFill>
          <a:blip r:embed="rId3"/>
          <a:stretch>
            <a:fillRect/>
          </a:stretch>
        </p:blipFill>
        <p:spPr>
          <a:xfrm>
            <a:off x="8521842" y="2550810"/>
            <a:ext cx="201900" cy="201900"/>
          </a:xfrm>
          <a:prstGeom prst="rect">
            <a:avLst/>
          </a:prstGeom>
        </p:spPr>
      </p:pic>
      <p:sp>
        <p:nvSpPr>
          <p:cNvPr id="17" name="Text 11"/>
          <p:cNvSpPr txBox="1"/>
          <p:nvPr/>
        </p:nvSpPr>
        <p:spPr>
          <a:xfrm>
            <a:off x="8942832" y="2423160"/>
            <a:ext cx="2560320" cy="457200"/>
          </a:xfrm>
          <a:prstGeom prst="rect">
            <a:avLst/>
          </a:prstGeom>
          <a:noFill/>
          <a:ln/>
        </p:spPr>
        <p:txBody>
          <a:bodyPr wrap="square" lIns="0" tIns="0" rIns="0" bIns="0" rtlCol="0" anchor="ctr"/>
          <a:lstStyle/>
          <a:p>
            <a:pPr indent="0" marL="0">
              <a:buNone/>
            </a:pPr>
            <a:r>
              <a:rPr lang="en-US" sz="1600" b="1" dirty="0">
                <a:solidFill>
                  <a:schemeClr val="tx2"/>
                </a:solidFill>
              </a:rPr>
              <a:t>Physics link</a:t>
            </a:r>
            <a:endParaRPr lang="en-US" sz="1600" dirty="0"/>
          </a:p>
        </p:txBody>
      </p:sp>
      <p:sp>
        <p:nvSpPr>
          <p:cNvPr id="18" name="Text 12"/>
          <p:cNvSpPr txBox="1"/>
          <p:nvPr/>
        </p:nvSpPr>
        <p:spPr>
          <a:xfrm>
            <a:off x="8412480" y="2971800"/>
            <a:ext cx="3044952" cy="20574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e = 1 − r: emissivity and radar reflectivity are two views of the same soil</a:t>
            </a:r>
            <a:endParaRPr lang="en-US" sz="1250" dirty="0"/>
          </a:p>
          <a:p>
            <a:pPr marL="177800" indent="-177800">
              <a:spcAft>
                <a:spcPts val="400"/>
              </a:spcAft>
              <a:buSzPct val="100000"/>
              <a:buChar char="•"/>
            </a:pPr>
            <a:r>
              <a:rPr lang="en-US" sz="1250" dirty="0">
                <a:solidFill>
                  <a:schemeClr val="tx1"/>
                </a:solidFill>
              </a:rPr>
              <a:t>β = sensitivity of soil moisture (or T</a:t>
            </a:r>
            <a:r>
              <a:rPr lang="en-US" sz="1250" baseline="-40000" dirty="0">
                <a:solidFill>
                  <a:schemeClr val="tx1"/>
                </a:solidFill>
              </a:rPr>
              <a:t>B</a:t>
            </a:r>
            <a:r>
              <a:rPr lang="en-US" sz="1250" dirty="0">
                <a:solidFill>
                  <a:schemeClr val="tx1"/>
                </a:solidFill>
              </a:rPr>
              <a:t>) to σ⁰ within a coarse cell</a:t>
            </a:r>
            <a:endParaRPr lang="en-US" sz="1250" dirty="0"/>
          </a:p>
        </p:txBody>
      </p:sp>
      <p:sp>
        <p:nvSpPr>
          <p:cNvPr id="19" name="insight"/>
          <p:cNvSpPr/>
          <p:nvPr/>
        </p:nvSpPr>
        <p:spPr>
          <a:xfrm>
            <a:off x="548640" y="5349240"/>
            <a:ext cx="11094415" cy="822960"/>
          </a:xfrm>
          <a:prstGeom prst="roundRect">
            <a:avLst>
              <a:gd name="adj" fmla="val 8889"/>
            </a:avLst>
          </a:prstGeom>
          <a:solidFill>
            <a:schemeClr val="bg2"/>
          </a:solidFill>
          <a:ln/>
        </p:spPr>
      </p:sp>
      <p:sp>
        <p:nvSpPr>
          <p:cNvPr id="20" name="icon circle"/>
          <p:cNvSpPr/>
          <p:nvPr/>
        </p:nvSpPr>
        <p:spPr>
          <a:xfrm>
            <a:off x="685800" y="5522976"/>
            <a:ext cx="475488" cy="475488"/>
          </a:xfrm>
          <a:prstGeom prst="ellipse">
            <a:avLst/>
          </a:prstGeom>
          <a:solidFill>
            <a:schemeClr val="accent3"/>
          </a:solidFill>
          <a:ln/>
        </p:spPr>
      </p:sp>
      <p:pic>
        <p:nvPicPr>
          <p:cNvPr id="21" name="Image 3" descr="Lightbulb icon">    </p:cNvPr>
          <p:cNvPicPr>
            <a:picLocks noChangeAspect="1"/>
          </p:cNvPicPr>
          <p:nvPr/>
        </p:nvPicPr>
        <p:blipFill>
          <a:blip r:embed="rId4"/>
          <a:stretch>
            <a:fillRect/>
          </a:stretch>
        </p:blipFill>
        <p:spPr>
          <a:xfrm>
            <a:off x="809427" y="5646603"/>
            <a:ext cx="228234" cy="228234"/>
          </a:xfrm>
          <a:prstGeom prst="rect">
            <a:avLst/>
          </a:prstGeom>
        </p:spPr>
      </p:pic>
      <p:sp>
        <p:nvSpPr>
          <p:cNvPr id="22" name="Text 15"/>
          <p:cNvSpPr txBox="1"/>
          <p:nvPr/>
        </p:nvSpPr>
        <p:spPr>
          <a:xfrm>
            <a:off x="1325880" y="5385816"/>
            <a:ext cx="10180015" cy="74980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Other downscaling routes: </a:t>
            </a:r>
            <a:r>
              <a:rPr lang="en-US" sz="1400" b="1" dirty="0">
                <a:solidFill>
                  <a:schemeClr val="tx1"/>
                </a:solidFill>
              </a:rPr>
              <a:t>optical/thermal</a:t>
            </a:r>
            <a:r>
              <a:rPr lang="en-US" sz="1400" dirty="0">
                <a:solidFill>
                  <a:schemeClr val="tx1"/>
                </a:solidFill>
              </a:rPr>
              <a:t> (soil evaporative efficiency, DISPATCH; LST–NDVI triangle) and </a:t>
            </a:r>
            <a:r>
              <a:rPr lang="en-US" sz="1400" b="1" dirty="0">
                <a:solidFill>
                  <a:schemeClr val="tx1"/>
                </a:solidFill>
              </a:rPr>
              <a:t>machine learning</a:t>
            </a:r>
            <a:r>
              <a:rPr lang="en-US" sz="1400" dirty="0">
                <a:solidFill>
                  <a:schemeClr val="tx1"/>
                </a:solidFill>
              </a:rPr>
              <a:t> with terrain, soil and vegetation covariates.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NISAR and the ISRO angle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Mission, soil moisture product, the three retrieval algorithms, tests over India, and the processing workflow</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NASA-ISRO Synthetic Aperture Radar</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760720" cy="914400"/>
        </p:xfrm>
        <a:graphic>
          <a:graphicData uri="http://schemas.openxmlformats.org/drawingml/2006/table">
            <a:tbl>
              <a:tblPr/>
              <a:tblGrid>
                <a:gridCol w="1737360"/>
                <a:gridCol w="4023360"/>
              </a:tblGrid>
              <a:tr h="402336">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Agencies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NASA (L-band SAR) + ISRO (S-band SAR, bus, launch)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Launch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30 July 2025, GSLV-F16, Sriharikota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Orbit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747 km, sun-synchronous, 98.5°, 6 AM / 6 PM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Repeat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12 days (6 days asc + desc)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Swath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240 km (SweepSAR, 12 m reflector)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L-band 1.26 GHz; S-band 3.2 GHz</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Incidence angle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34°–48°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Polarisation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Dual-pol HH + HV global; quad-pol in parts of India and USA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~8 m azimuth; soil moisture at 200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figure frame"/>
          <p:cNvSpPr/>
          <p:nvPr/>
        </p:nvSpPr>
        <p:spPr>
          <a:xfrm>
            <a:off x="6537960" y="1280160"/>
            <a:ext cx="5102352" cy="3520440"/>
          </a:xfrm>
          <a:prstGeom prst="roundRect">
            <a:avLst>
              <a:gd name="adj" fmla="val 1558"/>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6" name="Image 0" descr="NISAR observation plan: note the 'India Agriculture' and 'India Coastal Ocean' target modes. Source: NISAR L3 Soil Moisture ATBD, JPL D-107679 (2023)">    </p:cNvPr>
          <p:cNvPicPr>
            <a:picLocks noChangeAspect="1"/>
          </p:cNvPicPr>
          <p:nvPr/>
        </p:nvPicPr>
        <p:blipFill>
          <a:blip r:embed="rId1"/>
          <a:stretch>
            <a:fillRect/>
          </a:stretch>
        </p:blipFill>
        <p:spPr>
          <a:xfrm>
            <a:off x="6629400" y="1520052"/>
            <a:ext cx="4919472" cy="3040657"/>
          </a:xfrm>
          <a:prstGeom prst="rect">
            <a:avLst/>
          </a:prstGeom>
        </p:spPr>
      </p:pic>
      <p:sp>
        <p:nvSpPr>
          <p:cNvPr id="7" name="Text 2"/>
          <p:cNvSpPr txBox="1"/>
          <p:nvPr/>
        </p:nvSpPr>
        <p:spPr>
          <a:xfrm>
            <a:off x="6537960" y="4846320"/>
            <a:ext cx="5102352" cy="457200"/>
          </a:xfrm>
          <a:prstGeom prst="rect">
            <a:avLst/>
          </a:prstGeom>
          <a:noFill/>
          <a:ln/>
        </p:spPr>
        <p:txBody>
          <a:bodyPr wrap="square" lIns="0" tIns="0" rIns="0" bIns="0" rtlCol="0" anchor="t"/>
          <a:lstStyle/>
          <a:p>
            <a:pPr indent="0" marL="0">
              <a:buNone/>
            </a:pPr>
            <a:r>
              <a:rPr lang="en-US" sz="1100" i="1" dirty="0">
                <a:solidFill>
                  <a:schemeClr val="accent6"/>
                </a:solidFill>
              </a:rPr>
              <a:t>NISAR observation plan: note the 'India Agriculture' and 'India Coastal Ocean' target modes. Source: NISAR L3 Soil Moisture ATBD, JPL D-107679 (2023)</a:t>
            </a:r>
            <a:endParaRPr lang="en-US" sz="1100" dirty="0"/>
          </a:p>
        </p:txBody>
      </p:sp>
      <p:sp>
        <p:nvSpPr>
          <p:cNvPr id="8" name="insight"/>
          <p:cNvSpPr/>
          <p:nvPr/>
        </p:nvSpPr>
        <p:spPr>
          <a:xfrm>
            <a:off x="548640" y="5532120"/>
            <a:ext cx="11094415" cy="685800"/>
          </a:xfrm>
          <a:prstGeom prst="roundRect">
            <a:avLst>
              <a:gd name="adj" fmla="val 10667"/>
            </a:avLst>
          </a:prstGeom>
          <a:solidFill>
            <a:schemeClr val="bg2"/>
          </a:solidFill>
          <a:ln/>
        </p:spPr>
      </p:sp>
      <p:sp>
        <p:nvSpPr>
          <p:cNvPr id="9" name="icon circle"/>
          <p:cNvSpPr/>
          <p:nvPr/>
        </p:nvSpPr>
        <p:spPr>
          <a:xfrm>
            <a:off x="685800" y="5637276"/>
            <a:ext cx="475488" cy="475488"/>
          </a:xfrm>
          <a:prstGeom prst="ellipse">
            <a:avLst/>
          </a:prstGeom>
          <a:solidFill>
            <a:schemeClr val="accent3"/>
          </a:solidFill>
          <a:ln/>
        </p:spPr>
      </p:sp>
      <p:pic>
        <p:nvPicPr>
          <p:cNvPr id="10" name="Image 1" descr="Lightbulb icon">    </p:cNvPr>
          <p:cNvPicPr>
            <a:picLocks noChangeAspect="1"/>
          </p:cNvPicPr>
          <p:nvPr/>
        </p:nvPicPr>
        <p:blipFill>
          <a:blip r:embed="rId2"/>
          <a:stretch>
            <a:fillRect/>
          </a:stretch>
        </p:blipFill>
        <p:spPr>
          <a:xfrm>
            <a:off x="809427" y="5760903"/>
            <a:ext cx="228234" cy="228234"/>
          </a:xfrm>
          <a:prstGeom prst="rect">
            <a:avLst/>
          </a:prstGeom>
        </p:spPr>
      </p:pic>
      <p:sp>
        <p:nvSpPr>
          <p:cNvPr id="11" name="Text 5"/>
          <p:cNvSpPr txBox="1"/>
          <p:nvPr/>
        </p:nvSpPr>
        <p:spPr>
          <a:xfrm>
            <a:off x="1325880" y="5568696"/>
            <a:ext cx="10180015" cy="61264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ISRO angle: </a:t>
            </a:r>
            <a:r>
              <a:rPr lang="en-US" sz="1400" b="1" dirty="0">
                <a:solidFill>
                  <a:schemeClr val="tx1"/>
                </a:solidFill>
              </a:rPr>
              <a:t>S-band + L-band over India</a:t>
            </a:r>
            <a:r>
              <a:rPr lang="en-US" sz="1400" dirty="0">
                <a:solidFill>
                  <a:schemeClr val="tx1"/>
                </a:solidFill>
              </a:rPr>
              <a:t> improved crop retrievals (corn ubRMSE better by up to 0.010 m³/m³ in SMEX02 tests).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soil moisture product (L3_SME2)</a:t>
            </a:r>
            <a:endParaRPr lang="en-US" sz="3200" dirty="0"/>
          </a:p>
        </p:txBody>
      </p:sp>
      <p:sp>
        <p:nvSpPr>
          <p:cNvPr id="4" name="card"/>
          <p:cNvSpPr/>
          <p:nvPr/>
        </p:nvSpPr>
        <p:spPr>
          <a:xfrm>
            <a:off x="548640" y="1280160"/>
            <a:ext cx="18288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353312"/>
            <a:ext cx="182880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200 m</a:t>
            </a:r>
            <a:endParaRPr lang="en-US" sz="2400" dirty="0"/>
          </a:p>
        </p:txBody>
      </p:sp>
      <p:sp>
        <p:nvSpPr>
          <p:cNvPr id="6" name="Text 3"/>
          <p:cNvSpPr txBox="1"/>
          <p:nvPr/>
        </p:nvSpPr>
        <p:spPr>
          <a:xfrm>
            <a:off x="640080" y="1883664"/>
            <a:ext cx="1645920" cy="384048"/>
          </a:xfrm>
          <a:prstGeom prst="rect">
            <a:avLst/>
          </a:prstGeom>
          <a:noFill/>
          <a:ln/>
        </p:spPr>
        <p:txBody>
          <a:bodyPr wrap="square" lIns="0" tIns="0" rIns="0" bIns="0" rtlCol="0" anchor="t"/>
          <a:lstStyle/>
          <a:p>
            <a:pPr algn="ctr" indent="0" marL="0">
              <a:buNone/>
            </a:pPr>
            <a:r>
              <a:rPr lang="en-US" sz="1100" dirty="0">
                <a:solidFill>
                  <a:schemeClr val="accent6"/>
                </a:solidFill>
              </a:rPr>
              <a:t>spatial resolution (EASE-Grid 2.0)</a:t>
            </a:r>
            <a:endParaRPr lang="en-US" sz="1100" dirty="0"/>
          </a:p>
        </p:txBody>
      </p:sp>
      <p:sp>
        <p:nvSpPr>
          <p:cNvPr id="7" name="card"/>
          <p:cNvSpPr/>
          <p:nvPr/>
        </p:nvSpPr>
        <p:spPr>
          <a:xfrm>
            <a:off x="2468880" y="1280160"/>
            <a:ext cx="18288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2468880" y="1353312"/>
            <a:ext cx="182880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Cambria" pitchFamily="34" charset="0"/>
                <a:ea typeface="Cambria" pitchFamily="34" charset="-122"/>
                <a:cs typeface="Cambria" pitchFamily="34" charset="-120"/>
              </a:rPr>
              <a:t>12 (6) d</a:t>
            </a:r>
            <a:endParaRPr lang="en-US" sz="2400" dirty="0"/>
          </a:p>
        </p:txBody>
      </p:sp>
      <p:sp>
        <p:nvSpPr>
          <p:cNvPr id="9" name="Text 6"/>
          <p:cNvSpPr txBox="1"/>
          <p:nvPr/>
        </p:nvSpPr>
        <p:spPr>
          <a:xfrm>
            <a:off x="2560320" y="1883664"/>
            <a:ext cx="1645920" cy="384048"/>
          </a:xfrm>
          <a:prstGeom prst="rect">
            <a:avLst/>
          </a:prstGeom>
          <a:noFill/>
          <a:ln/>
        </p:spPr>
        <p:txBody>
          <a:bodyPr wrap="square" lIns="0" tIns="0" rIns="0" bIns="0" rtlCol="0" anchor="t"/>
          <a:lstStyle/>
          <a:p>
            <a:pPr algn="ctr" indent="0" marL="0">
              <a:buNone/>
            </a:pPr>
            <a:r>
              <a:rPr lang="en-US" sz="1100" dirty="0">
                <a:solidFill>
                  <a:schemeClr val="accent6"/>
                </a:solidFill>
              </a:rPr>
              <a:t>repeat; 6 days with asc + desc</a:t>
            </a:r>
            <a:endParaRPr lang="en-US" sz="1100" dirty="0"/>
          </a:p>
        </p:txBody>
      </p:sp>
      <p:sp>
        <p:nvSpPr>
          <p:cNvPr id="10" name="card"/>
          <p:cNvSpPr/>
          <p:nvPr/>
        </p:nvSpPr>
        <p:spPr>
          <a:xfrm>
            <a:off x="4389120" y="1280160"/>
            <a:ext cx="18288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4389120" y="1353312"/>
            <a:ext cx="1828800" cy="548640"/>
          </a:xfrm>
          <a:prstGeom prst="rect">
            <a:avLst/>
          </a:prstGeom>
          <a:noFill/>
          <a:ln/>
        </p:spPr>
        <p:txBody>
          <a:bodyPr wrap="square" lIns="0" tIns="0" rIns="0" bIns="0" rtlCol="0" anchor="ctr"/>
          <a:lstStyle/>
          <a:p>
            <a:pPr algn="ctr" indent="0" marL="0">
              <a:buNone/>
            </a:pPr>
            <a:r>
              <a:rPr lang="en-US" sz="2400" b="1" dirty="0">
                <a:solidFill>
                  <a:schemeClr val="accent5"/>
                </a:solidFill>
                <a:latin typeface="Cambria" pitchFamily="34" charset="0"/>
                <a:ea typeface="Cambria" pitchFamily="34" charset="-122"/>
                <a:cs typeface="Cambria" pitchFamily="34" charset="-120"/>
              </a:rPr>
              <a:t>72 h</a:t>
            </a:r>
            <a:endParaRPr lang="en-US" sz="2400" dirty="0"/>
          </a:p>
        </p:txBody>
      </p:sp>
      <p:sp>
        <p:nvSpPr>
          <p:cNvPr id="12" name="Text 9"/>
          <p:cNvSpPr txBox="1"/>
          <p:nvPr/>
        </p:nvSpPr>
        <p:spPr>
          <a:xfrm>
            <a:off x="4480560" y="1883664"/>
            <a:ext cx="1645920" cy="384048"/>
          </a:xfrm>
          <a:prstGeom prst="rect">
            <a:avLst/>
          </a:prstGeom>
          <a:noFill/>
          <a:ln/>
        </p:spPr>
        <p:txBody>
          <a:bodyPr wrap="square" lIns="0" tIns="0" rIns="0" bIns="0" rtlCol="0" anchor="t"/>
          <a:lstStyle/>
          <a:p>
            <a:pPr algn="ctr" indent="0" marL="0">
              <a:buNone/>
            </a:pPr>
            <a:r>
              <a:rPr lang="en-US" sz="1100" dirty="0">
                <a:solidFill>
                  <a:schemeClr val="accent6"/>
                </a:solidFill>
              </a:rPr>
              <a:t>latency</a:t>
            </a:r>
            <a:endParaRPr lang="en-US" sz="1100" dirty="0"/>
          </a:p>
        </p:txBody>
      </p:sp>
      <p:sp>
        <p:nvSpPr>
          <p:cNvPr id="13" name="card"/>
          <p:cNvSpPr/>
          <p:nvPr/>
        </p:nvSpPr>
        <p:spPr>
          <a:xfrm>
            <a:off x="6309360" y="1280160"/>
            <a:ext cx="18288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309360" y="1353312"/>
            <a:ext cx="182880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0.06</a:t>
            </a:r>
            <a:endParaRPr lang="en-US" sz="2400" dirty="0"/>
          </a:p>
        </p:txBody>
      </p:sp>
      <p:sp>
        <p:nvSpPr>
          <p:cNvPr id="15" name="Text 12"/>
          <p:cNvSpPr txBox="1"/>
          <p:nvPr/>
        </p:nvSpPr>
        <p:spPr>
          <a:xfrm>
            <a:off x="6400800" y="1883664"/>
            <a:ext cx="1645920" cy="384048"/>
          </a:xfrm>
          <a:prstGeom prst="rect">
            <a:avLst/>
          </a:prstGeom>
          <a:noFill/>
          <a:ln/>
        </p:spPr>
        <p:txBody>
          <a:bodyPr wrap="square" lIns="0" tIns="0" rIns="0" bIns="0" rtlCol="0" anchor="t"/>
          <a:lstStyle/>
          <a:p>
            <a:pPr algn="ctr" indent="0" marL="0">
              <a:buNone/>
            </a:pPr>
            <a:r>
              <a:rPr lang="en-US" sz="1100" dirty="0">
                <a:solidFill>
                  <a:schemeClr val="accent6"/>
                </a:solidFill>
              </a:rPr>
              <a:t>m³/m³ goal (VWC &lt; 5 kg/m²)</a:t>
            </a:r>
            <a:endParaRPr lang="en-US" sz="1100" dirty="0"/>
          </a:p>
        </p:txBody>
      </p:sp>
      <p:sp>
        <p:nvSpPr>
          <p:cNvPr id="16" name="card"/>
          <p:cNvSpPr/>
          <p:nvPr/>
        </p:nvSpPr>
        <p:spPr>
          <a:xfrm>
            <a:off x="548640" y="2514600"/>
            <a:ext cx="7589520" cy="365760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31520" y="2670048"/>
            <a:ext cx="420624" cy="420624"/>
          </a:xfrm>
          <a:prstGeom prst="ellipse">
            <a:avLst/>
          </a:prstGeom>
          <a:solidFill>
            <a:schemeClr val="accent1"/>
          </a:solidFill>
          <a:ln/>
        </p:spPr>
      </p:sp>
      <p:pic>
        <p:nvPicPr>
          <p:cNvPr id="18" name="Image 0" descr="LayerGroup icon">    </p:cNvPr>
          <p:cNvPicPr>
            <a:picLocks noChangeAspect="1"/>
          </p:cNvPicPr>
          <p:nvPr/>
        </p:nvPicPr>
        <p:blipFill>
          <a:blip r:embed="rId1"/>
          <a:stretch>
            <a:fillRect/>
          </a:stretch>
        </p:blipFill>
        <p:spPr>
          <a:xfrm>
            <a:off x="840882" y="2779410"/>
            <a:ext cx="201900" cy="201900"/>
          </a:xfrm>
          <a:prstGeom prst="rect">
            <a:avLst/>
          </a:prstGeom>
        </p:spPr>
      </p:pic>
      <p:sp>
        <p:nvSpPr>
          <p:cNvPr id="19" name="Text 15"/>
          <p:cNvSpPr txBox="1"/>
          <p:nvPr/>
        </p:nvSpPr>
        <p:spPr>
          <a:xfrm>
            <a:off x="1261872" y="2651760"/>
            <a:ext cx="6739128" cy="457200"/>
          </a:xfrm>
          <a:prstGeom prst="rect">
            <a:avLst/>
          </a:prstGeom>
          <a:noFill/>
          <a:ln/>
        </p:spPr>
        <p:txBody>
          <a:bodyPr wrap="square" lIns="0" tIns="0" rIns="0" bIns="0" rtlCol="0" anchor="ctr"/>
          <a:lstStyle/>
          <a:p>
            <a:pPr indent="0" marL="0">
              <a:buNone/>
            </a:pPr>
            <a:r>
              <a:rPr lang="en-US" sz="1600" b="1" dirty="0">
                <a:solidFill>
                  <a:schemeClr val="tx2"/>
                </a:solidFill>
              </a:rPr>
              <a:t>Three algorithms in one product</a:t>
            </a:r>
            <a:endParaRPr lang="en-US" sz="1600" dirty="0"/>
          </a:p>
        </p:txBody>
      </p:sp>
      <p:sp>
        <p:nvSpPr>
          <p:cNvPr id="20" name="Text 16"/>
          <p:cNvSpPr txBox="1"/>
          <p:nvPr/>
        </p:nvSpPr>
        <p:spPr>
          <a:xfrm>
            <a:off x="731520" y="3200400"/>
            <a:ext cx="7223760" cy="2880360"/>
          </a:xfrm>
          <a:prstGeom prst="rect">
            <a:avLst/>
          </a:prstGeom>
          <a:noFill/>
          <a:ln/>
        </p:spPr>
        <p:txBody>
          <a:bodyPr wrap="square" lIns="508" tIns="508" rIns="508" bIns="508" rtlCol="0" anchor="t"/>
          <a:lstStyle/>
          <a:p>
            <a:pPr marL="177800" indent="-177800">
              <a:spcAft>
                <a:spcPts val="400"/>
              </a:spcAft>
              <a:buSzPct val="100000"/>
              <a:buChar char="•"/>
            </a:pPr>
            <a:r>
              <a:rPr lang="en-US" sz="1350" b="1" dirty="0">
                <a:solidFill>
                  <a:schemeClr val="tx1"/>
                </a:solidFill>
              </a:rPr>
              <a:t>PMI – Physical Model Inversion</a:t>
            </a:r>
            <a:r>
              <a:rPr lang="en-US" sz="1350" dirty="0">
                <a:solidFill>
                  <a:schemeClr val="tx1"/>
                </a:solidFill>
              </a:rPr>
              <a:t>: invert per-crop scattering 'data cubes' with a time series</a:t>
            </a:r>
            <a:endParaRPr lang="en-US" sz="1350" dirty="0"/>
          </a:p>
          <a:p>
            <a:pPr marL="177800" indent="-177800">
              <a:spcAft>
                <a:spcPts val="400"/>
              </a:spcAft>
              <a:buSzPct val="100000"/>
              <a:buChar char="•"/>
            </a:pPr>
            <a:r>
              <a:rPr lang="en-US" sz="1350" b="1" dirty="0">
                <a:solidFill>
                  <a:schemeClr val="tx1"/>
                </a:solidFill>
              </a:rPr>
              <a:t>TSR – Time-Series Ratio</a:t>
            </a:r>
            <a:r>
              <a:rPr lang="en-US" sz="1350" dirty="0">
                <a:solidFill>
                  <a:schemeClr val="tx1"/>
                </a:solidFill>
              </a:rPr>
              <a:t> (alpha method): ratios of successive σ⁰</a:t>
            </a:r>
            <a:endParaRPr lang="en-US" sz="1350" dirty="0"/>
          </a:p>
          <a:p>
            <a:pPr marL="177800" indent="-177800">
              <a:spcAft>
                <a:spcPts val="400"/>
              </a:spcAft>
              <a:buSzPct val="100000"/>
              <a:buChar char="•"/>
            </a:pPr>
            <a:r>
              <a:rPr lang="en-US" sz="1350" b="1" dirty="0">
                <a:solidFill>
                  <a:schemeClr val="tx1"/>
                </a:solidFill>
              </a:rPr>
              <a:t>DSG / Multiscale fusion</a:t>
            </a:r>
            <a:r>
              <a:rPr lang="en-US" sz="1350" dirty="0">
                <a:solidFill>
                  <a:schemeClr val="tx1"/>
                </a:solidFill>
              </a:rPr>
              <a:t>: disaggregate 9 km ECMWF / SMAP soil moisture with NISAR HH and HV</a:t>
            </a:r>
            <a:endParaRPr lang="en-US" sz="1350" dirty="0"/>
          </a:p>
          <a:p>
            <a:pPr marL="177800" indent="-177800">
              <a:spcAft>
                <a:spcPts val="400"/>
              </a:spcAft>
              <a:buSzPct val="100000"/>
              <a:buChar char="•"/>
            </a:pPr>
            <a:r>
              <a:rPr lang="en-US" sz="1350" dirty="0">
                <a:solidFill>
                  <a:schemeClr val="tx1"/>
                </a:solidFill>
              </a:rPr>
              <a:t>Flags: urban, permanent snow/ice, water → </a:t>
            </a:r>
            <a:r>
              <a:rPr lang="en-US" sz="1350" b="1" dirty="0">
                <a:solidFill>
                  <a:schemeClr val="tx1"/>
                </a:solidFill>
              </a:rPr>
              <a:t>no retrieval</a:t>
            </a:r>
            <a:r>
              <a:rPr lang="en-US" sz="1350" dirty="0">
                <a:solidFill>
                  <a:schemeClr val="tx1"/>
                </a:solidFill>
              </a:rPr>
              <a:t>; VWC &gt; 5 kg/m² → </a:t>
            </a:r>
            <a:r>
              <a:rPr lang="en-US" sz="1350" b="1" dirty="0">
                <a:solidFill>
                  <a:schemeClr val="tx1"/>
                </a:solidFill>
              </a:rPr>
              <a:t>retrieved, flagged</a:t>
            </a:r>
            <a:r>
              <a:rPr lang="en-US" sz="1350" dirty="0">
                <a:solidFill>
                  <a:schemeClr val="tx1"/>
                </a:solidFill>
              </a:rPr>
              <a:t>; heavy rain, frozen soil, snow → skip</a:t>
            </a:r>
            <a:endParaRPr lang="en-US" sz="1350" dirty="0"/>
          </a:p>
        </p:txBody>
      </p:sp>
      <p:sp>
        <p:nvSpPr>
          <p:cNvPr id="21" name="figure frame"/>
          <p:cNvSpPr/>
          <p:nvPr/>
        </p:nvSpPr>
        <p:spPr>
          <a:xfrm>
            <a:off x="8321040" y="1280160"/>
            <a:ext cx="3319272" cy="2423160"/>
          </a:xfrm>
          <a:prstGeom prst="roundRect">
            <a:avLst>
              <a:gd name="adj" fmla="val 226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2" name="Image 1" descr="Coverage: grey = VWC &gt; 5 kg/m² (flagged); red = no retrieval. Source: NISAR L3 Soil Moisture ATBD, JPL D-107679 (2023)">    </p:cNvPr>
          <p:cNvPicPr>
            <a:picLocks noChangeAspect="1"/>
          </p:cNvPicPr>
          <p:nvPr/>
        </p:nvPicPr>
        <p:blipFill>
          <a:blip r:embed="rId2"/>
          <a:stretch>
            <a:fillRect/>
          </a:stretch>
        </p:blipFill>
        <p:spPr>
          <a:xfrm>
            <a:off x="8412480" y="1846012"/>
            <a:ext cx="3136392" cy="1291456"/>
          </a:xfrm>
          <a:prstGeom prst="rect">
            <a:avLst/>
          </a:prstGeom>
        </p:spPr>
      </p:pic>
      <p:sp>
        <p:nvSpPr>
          <p:cNvPr id="23" name="Text 18"/>
          <p:cNvSpPr txBox="1"/>
          <p:nvPr/>
        </p:nvSpPr>
        <p:spPr>
          <a:xfrm>
            <a:off x="8321040" y="3749040"/>
            <a:ext cx="3319272" cy="640080"/>
          </a:xfrm>
          <a:prstGeom prst="rect">
            <a:avLst/>
          </a:prstGeom>
          <a:noFill/>
          <a:ln/>
        </p:spPr>
        <p:txBody>
          <a:bodyPr wrap="square" lIns="0" tIns="0" rIns="0" bIns="0" rtlCol="0" anchor="t"/>
          <a:lstStyle/>
          <a:p>
            <a:pPr indent="0" marL="0">
              <a:buNone/>
            </a:pPr>
            <a:r>
              <a:rPr lang="en-US" sz="1100" i="1" dirty="0">
                <a:solidFill>
                  <a:schemeClr val="accent6"/>
                </a:solidFill>
              </a:rPr>
              <a:t>Coverage: grey = VWC &gt; 5 kg/m² (flagged); red = no retrieval. Source: NISAR L3 Soil Moisture ATBD, JPL D-107679 (2023)</a:t>
            </a:r>
            <a:endParaRPr lang="en-US" sz="1100" dirty="0"/>
          </a:p>
        </p:txBody>
      </p:sp>
      <p:sp>
        <p:nvSpPr>
          <p:cNvPr id="24" name="card"/>
          <p:cNvSpPr/>
          <p:nvPr/>
        </p:nvSpPr>
        <p:spPr>
          <a:xfrm>
            <a:off x="8321040" y="4572000"/>
            <a:ext cx="33192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5" name="Text 20"/>
          <p:cNvSpPr txBox="1"/>
          <p:nvPr/>
        </p:nvSpPr>
        <p:spPr>
          <a:xfrm>
            <a:off x="8458200" y="4663440"/>
            <a:ext cx="3063240" cy="1417320"/>
          </a:xfrm>
          <a:prstGeom prst="rect">
            <a:avLst/>
          </a:prstGeom>
          <a:noFill/>
          <a:ln/>
        </p:spPr>
        <p:txBody>
          <a:bodyPr wrap="square" lIns="508" tIns="508" rIns="508" bIns="508" rtlCol="0" anchor="t"/>
          <a:lstStyle/>
          <a:p>
            <a:pPr indent="0" marL="0">
              <a:spcAft>
                <a:spcPts val="600"/>
              </a:spcAft>
              <a:buNone/>
            </a:pPr>
            <a:r>
              <a:rPr lang="en-US" sz="1250" b="1" dirty="0">
                <a:solidFill>
                  <a:schemeClr val="tx1"/>
                </a:solidFill>
              </a:rPr>
              <a:t>Product</a:t>
            </a:r>
            <a:r>
              <a:rPr lang="en-US" sz="1250" dirty="0">
                <a:solidFill>
                  <a:schemeClr val="tx1"/>
                </a:solidFill>
              </a:rPr>
              <a:t>: top ~5 cm volumetric soil moisture + uncertainty + quality flags (HDF5)</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algorithm 1: Physical Model Inversion (PMI)</a:t>
            </a:r>
            <a:endParaRPr lang="en-US" sz="3200" dirty="0"/>
          </a:p>
        </p:txBody>
      </p:sp>
      <p:sp>
        <p:nvSpPr>
          <p:cNvPr id="4" name="step number"/>
          <p:cNvSpPr/>
          <p:nvPr/>
        </p:nvSpPr>
        <p:spPr>
          <a:xfrm>
            <a:off x="548640" y="1527048"/>
            <a:ext cx="384048" cy="384048"/>
          </a:xfrm>
          <a:prstGeom prst="ellipse">
            <a:avLst/>
          </a:prstGeom>
          <a:solidFill>
            <a:schemeClr val="accent2"/>
          </a:solidFill>
          <a:ln/>
        </p:spPr>
      </p:sp>
      <p:sp>
        <p:nvSpPr>
          <p:cNvPr id="5" name="Text 2"/>
          <p:cNvSpPr txBox="1"/>
          <p:nvPr/>
        </p:nvSpPr>
        <p:spPr>
          <a:xfrm>
            <a:off x="548640" y="15270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25880"/>
            <a:ext cx="4617720" cy="740664"/>
          </a:xfrm>
          <a:prstGeom prst="rect">
            <a:avLst/>
          </a:prstGeom>
          <a:noFill/>
          <a:ln/>
        </p:spPr>
        <p:txBody>
          <a:bodyPr wrap="square" lIns="0" tIns="0" rIns="0" bIns="0" rtlCol="0" anchor="ctr"/>
          <a:lstStyle/>
          <a:p>
            <a:pPr indent="0" marL="0">
              <a:buNone/>
            </a:pPr>
            <a:r>
              <a:rPr lang="en-US" sz="1350" dirty="0">
                <a:solidFill>
                  <a:schemeClr val="tx1"/>
                </a:solidFill>
              </a:rPr>
              <a:t>Forward models per cover type → </a:t>
            </a:r>
            <a:r>
              <a:rPr lang="en-US" sz="1350" b="1" dirty="0">
                <a:solidFill>
                  <a:schemeClr val="tx1"/>
                </a:solidFill>
              </a:rPr>
              <a:t>data cube</a:t>
            </a:r>
            <a:r>
              <a:rPr lang="en-US" sz="1350" dirty="0">
                <a:solidFill>
                  <a:schemeClr val="tx1"/>
                </a:solidFill>
              </a:rPr>
              <a:t> (s, ε′, VWC)</a:t>
            </a:r>
            <a:endParaRPr lang="en-US" sz="1350" dirty="0"/>
          </a:p>
        </p:txBody>
      </p:sp>
      <p:sp>
        <p:nvSpPr>
          <p:cNvPr id="7" name="step number"/>
          <p:cNvSpPr/>
          <p:nvPr/>
        </p:nvSpPr>
        <p:spPr>
          <a:xfrm>
            <a:off x="548640" y="2313432"/>
            <a:ext cx="384048" cy="384048"/>
          </a:xfrm>
          <a:prstGeom prst="ellipse">
            <a:avLst/>
          </a:prstGeom>
          <a:solidFill>
            <a:schemeClr val="accent2"/>
          </a:solidFill>
          <a:ln/>
        </p:spPr>
      </p:sp>
      <p:sp>
        <p:nvSpPr>
          <p:cNvPr id="8" name="Text 5"/>
          <p:cNvSpPr txBox="1"/>
          <p:nvPr/>
        </p:nvSpPr>
        <p:spPr>
          <a:xfrm>
            <a:off x="548640" y="2313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112264"/>
            <a:ext cx="4617720" cy="740664"/>
          </a:xfrm>
          <a:prstGeom prst="rect">
            <a:avLst/>
          </a:prstGeom>
          <a:noFill/>
          <a:ln/>
        </p:spPr>
        <p:txBody>
          <a:bodyPr wrap="square" lIns="0" tIns="0" rIns="0" bIns="0" rtlCol="0" anchor="ctr"/>
          <a:lstStyle/>
          <a:p>
            <a:pPr indent="0" marL="0">
              <a:buNone/>
            </a:pPr>
            <a:r>
              <a:rPr lang="en-US" sz="1350" dirty="0">
                <a:solidFill>
                  <a:schemeClr val="tx1"/>
                </a:solidFill>
              </a:rPr>
              <a:t>Pick cube from land cover / crop map; </a:t>
            </a:r>
            <a:r>
              <a:rPr lang="en-US" sz="1350" b="1" dirty="0">
                <a:solidFill>
                  <a:schemeClr val="tx1"/>
                </a:solidFill>
              </a:rPr>
              <a:t>VWC</a:t>
            </a:r>
            <a:r>
              <a:rPr lang="en-US" sz="1350" dirty="0">
                <a:solidFill>
                  <a:schemeClr val="tx1"/>
                </a:solidFill>
              </a:rPr>
              <a:t> from ancillary or HV</a:t>
            </a:r>
            <a:endParaRPr lang="en-US" sz="1350" dirty="0"/>
          </a:p>
        </p:txBody>
      </p:sp>
      <p:sp>
        <p:nvSpPr>
          <p:cNvPr id="10" name="step number"/>
          <p:cNvSpPr/>
          <p:nvPr/>
        </p:nvSpPr>
        <p:spPr>
          <a:xfrm>
            <a:off x="548640" y="3099816"/>
            <a:ext cx="384048" cy="384048"/>
          </a:xfrm>
          <a:prstGeom prst="ellipse">
            <a:avLst/>
          </a:prstGeom>
          <a:solidFill>
            <a:schemeClr val="accent2"/>
          </a:solidFill>
          <a:ln/>
        </p:spPr>
      </p:sp>
      <p:sp>
        <p:nvSpPr>
          <p:cNvPr id="11" name="Text 8"/>
          <p:cNvSpPr txBox="1"/>
          <p:nvPr/>
        </p:nvSpPr>
        <p:spPr>
          <a:xfrm>
            <a:off x="548640" y="30998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898648"/>
            <a:ext cx="4617720" cy="740664"/>
          </a:xfrm>
          <a:prstGeom prst="rect">
            <a:avLst/>
          </a:prstGeom>
          <a:noFill/>
          <a:ln/>
        </p:spPr>
        <p:txBody>
          <a:bodyPr wrap="square" lIns="0" tIns="0" rIns="0" bIns="0" rtlCol="0" anchor="ctr"/>
          <a:lstStyle/>
          <a:p>
            <a:pPr indent="0" marL="0">
              <a:buNone/>
            </a:pPr>
            <a:r>
              <a:rPr lang="en-US" sz="1350" dirty="0">
                <a:solidFill>
                  <a:schemeClr val="tx1"/>
                </a:solidFill>
              </a:rPr>
              <a:t>Time series of σ⁰ (N = 3 NISAR dates baseline)</a:t>
            </a:r>
            <a:endParaRPr lang="en-US" sz="1350" dirty="0"/>
          </a:p>
        </p:txBody>
      </p:sp>
      <p:sp>
        <p:nvSpPr>
          <p:cNvPr id="13" name="step number"/>
          <p:cNvSpPr/>
          <p:nvPr/>
        </p:nvSpPr>
        <p:spPr>
          <a:xfrm>
            <a:off x="548640" y="3886200"/>
            <a:ext cx="384048" cy="384048"/>
          </a:xfrm>
          <a:prstGeom prst="ellipse">
            <a:avLst/>
          </a:prstGeom>
          <a:solidFill>
            <a:schemeClr val="accent2"/>
          </a:solidFill>
          <a:ln/>
        </p:spPr>
      </p:sp>
      <p:sp>
        <p:nvSpPr>
          <p:cNvPr id="14" name="Text 11"/>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685032"/>
            <a:ext cx="4617720" cy="740664"/>
          </a:xfrm>
          <a:prstGeom prst="rect">
            <a:avLst/>
          </a:prstGeom>
          <a:noFill/>
          <a:ln/>
        </p:spPr>
        <p:txBody>
          <a:bodyPr wrap="square" lIns="0" tIns="0" rIns="0" bIns="0" rtlCol="0" anchor="ctr"/>
          <a:lstStyle/>
          <a:p>
            <a:pPr indent="0" marL="0">
              <a:buNone/>
            </a:pPr>
            <a:r>
              <a:rPr lang="en-US" sz="1350" dirty="0">
                <a:solidFill>
                  <a:schemeClr val="tx1"/>
                </a:solidFill>
              </a:rPr>
              <a:t>Minimise </a:t>
            </a:r>
            <a:r>
              <a:rPr lang="en-US" sz="1350" b="1" dirty="0">
                <a:solidFill>
                  <a:schemeClr val="tx1"/>
                </a:solidFill>
              </a:rPr>
              <a:t>C = Σ</a:t>
            </a:r>
            <a:r>
              <a:rPr lang="en-US" sz="1350" b="1" baseline="-40000" dirty="0">
                <a:solidFill>
                  <a:schemeClr val="tx1"/>
                </a:solidFill>
              </a:rPr>
              <a:t>t</a:t>
            </a:r>
            <a:r>
              <a:rPr lang="en-US" sz="1350" b="1" dirty="0">
                <a:solidFill>
                  <a:schemeClr val="tx1"/>
                </a:solidFill>
              </a:rPr>
              <a:t> w[σ⁰</a:t>
            </a:r>
            <a:r>
              <a:rPr lang="en-US" sz="1350" b="1" baseline="-40000" dirty="0">
                <a:solidFill>
                  <a:schemeClr val="tx1"/>
                </a:solidFill>
              </a:rPr>
              <a:t>obs</a:t>
            </a:r>
            <a:r>
              <a:rPr lang="en-US" sz="1350" b="1" dirty="0">
                <a:solidFill>
                  <a:schemeClr val="tx1"/>
                </a:solidFill>
              </a:rPr>
              <a:t>(t) − σ⁰</a:t>
            </a:r>
            <a:r>
              <a:rPr lang="en-US" sz="1350" b="1" baseline="-40000" dirty="0">
                <a:solidFill>
                  <a:schemeClr val="tx1"/>
                </a:solidFill>
              </a:rPr>
              <a:t>fwd</a:t>
            </a:r>
            <a:r>
              <a:rPr lang="en-US" sz="1350" b="1" dirty="0">
                <a:solidFill>
                  <a:schemeClr val="tx1"/>
                </a:solidFill>
              </a:rPr>
              <a:t>(s, VWC</a:t>
            </a:r>
            <a:r>
              <a:rPr lang="en-US" sz="1350" b="1" baseline="-40000" dirty="0">
                <a:solidFill>
                  <a:schemeClr val="tx1"/>
                </a:solidFill>
              </a:rPr>
              <a:t>t</a:t>
            </a:r>
            <a:r>
              <a:rPr lang="en-US" sz="1350" b="1" dirty="0">
                <a:solidFill>
                  <a:schemeClr val="tx1"/>
                </a:solidFill>
              </a:rPr>
              <a:t>, ε′</a:t>
            </a:r>
            <a:r>
              <a:rPr lang="en-US" sz="1350" b="1" baseline="-40000" dirty="0">
                <a:solidFill>
                  <a:schemeClr val="tx1"/>
                </a:solidFill>
              </a:rPr>
              <a:t>t</a:t>
            </a:r>
            <a:r>
              <a:rPr lang="en-US" sz="1350" b="1" dirty="0">
                <a:solidFill>
                  <a:schemeClr val="tx1"/>
                </a:solidFill>
              </a:rPr>
              <a:t>)]²</a:t>
            </a:r>
            <a:endParaRPr lang="en-US" sz="1350" dirty="0"/>
          </a:p>
        </p:txBody>
      </p:sp>
      <p:sp>
        <p:nvSpPr>
          <p:cNvPr id="16" name="step number"/>
          <p:cNvSpPr/>
          <p:nvPr/>
        </p:nvSpPr>
        <p:spPr>
          <a:xfrm>
            <a:off x="548640" y="4672584"/>
            <a:ext cx="384048" cy="384048"/>
          </a:xfrm>
          <a:prstGeom prst="ellipse">
            <a:avLst/>
          </a:prstGeom>
          <a:solidFill>
            <a:schemeClr val="accent2"/>
          </a:solidFill>
          <a:ln/>
        </p:spPr>
      </p:sp>
      <p:sp>
        <p:nvSpPr>
          <p:cNvPr id="17" name="Text 14"/>
          <p:cNvSpPr txBox="1"/>
          <p:nvPr/>
        </p:nvSpPr>
        <p:spPr>
          <a:xfrm>
            <a:off x="548640" y="46725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471416"/>
            <a:ext cx="4617720" cy="740664"/>
          </a:xfrm>
          <a:prstGeom prst="rect">
            <a:avLst/>
          </a:prstGeom>
          <a:noFill/>
          <a:ln/>
        </p:spPr>
        <p:txBody>
          <a:bodyPr wrap="square" lIns="0" tIns="0" rIns="0" bIns="0" rtlCol="0" anchor="ctr"/>
          <a:lstStyle/>
          <a:p>
            <a:pPr indent="0" marL="0">
              <a:buNone/>
            </a:pPr>
            <a:r>
              <a:rPr lang="en-US" sz="1350" dirty="0">
                <a:solidFill>
                  <a:schemeClr val="tx1"/>
                </a:solidFill>
              </a:rPr>
              <a:t>One roughness s for the series, one ε′ per date</a:t>
            </a:r>
            <a:endParaRPr lang="en-US" sz="1350" dirty="0"/>
          </a:p>
        </p:txBody>
      </p:sp>
      <p:sp>
        <p:nvSpPr>
          <p:cNvPr id="19" name="step number"/>
          <p:cNvSpPr/>
          <p:nvPr/>
        </p:nvSpPr>
        <p:spPr>
          <a:xfrm>
            <a:off x="548640" y="5458968"/>
            <a:ext cx="384048" cy="384048"/>
          </a:xfrm>
          <a:prstGeom prst="ellipse">
            <a:avLst/>
          </a:prstGeom>
          <a:solidFill>
            <a:schemeClr val="accent2"/>
          </a:solidFill>
          <a:ln/>
        </p:spPr>
      </p:sp>
      <p:sp>
        <p:nvSpPr>
          <p:cNvPr id="20" name="Text 17"/>
          <p:cNvSpPr txBox="1"/>
          <p:nvPr/>
        </p:nvSpPr>
        <p:spPr>
          <a:xfrm>
            <a:off x="548640" y="54589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5257800"/>
            <a:ext cx="4617720" cy="740664"/>
          </a:xfrm>
          <a:prstGeom prst="rect">
            <a:avLst/>
          </a:prstGeom>
          <a:noFill/>
          <a:ln/>
        </p:spPr>
        <p:txBody>
          <a:bodyPr wrap="square" lIns="0" tIns="0" rIns="0" bIns="0" rtlCol="0" anchor="ctr"/>
          <a:lstStyle/>
          <a:p>
            <a:pPr indent="0" marL="0">
              <a:buNone/>
            </a:pPr>
            <a:r>
              <a:rPr lang="en-US" sz="1350" dirty="0">
                <a:solidFill>
                  <a:schemeClr val="tx1"/>
                </a:solidFill>
              </a:rPr>
              <a:t>ε′ → m</a:t>
            </a:r>
            <a:r>
              <a:rPr lang="en-US" sz="1350" baseline="-40000" dirty="0">
                <a:solidFill>
                  <a:schemeClr val="tx1"/>
                </a:solidFill>
              </a:rPr>
              <a:t>v</a:t>
            </a:r>
            <a:r>
              <a:rPr lang="en-US" sz="1350" dirty="0">
                <a:solidFill>
                  <a:schemeClr val="tx1"/>
                </a:solidFill>
              </a:rPr>
              <a:t> with a dielectric model</a:t>
            </a:r>
            <a:endParaRPr lang="en-US" sz="1350" dirty="0"/>
          </a:p>
        </p:txBody>
      </p:sp>
      <p:sp>
        <p:nvSpPr>
          <p:cNvPr id="22" name="figure frame"/>
          <p:cNvSpPr/>
          <p:nvPr/>
        </p:nvSpPr>
        <p:spPr>
          <a:xfrm>
            <a:off x="5897880" y="1280160"/>
            <a:ext cx="5742432" cy="1783080"/>
          </a:xfrm>
          <a:prstGeom prst="roundRect">
            <a:avLst>
              <a:gd name="adj" fmla="val 307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3" name="Image 0" descr="L-band data cubes (HH, HV, VV). Source: NISAR L3 Soil Moisture ATBD, JPL D-107679 (2023)">    </p:cNvPr>
          <p:cNvPicPr>
            <a:picLocks noChangeAspect="1"/>
          </p:cNvPicPr>
          <p:nvPr/>
        </p:nvPicPr>
        <p:blipFill>
          <a:blip r:embed="rId1"/>
          <a:stretch>
            <a:fillRect/>
          </a:stretch>
        </p:blipFill>
        <p:spPr>
          <a:xfrm>
            <a:off x="6581410" y="1371600"/>
            <a:ext cx="4375372" cy="1600200"/>
          </a:xfrm>
          <a:prstGeom prst="rect">
            <a:avLst/>
          </a:prstGeom>
        </p:spPr>
      </p:pic>
      <p:sp>
        <p:nvSpPr>
          <p:cNvPr id="24" name="Text 20"/>
          <p:cNvSpPr txBox="1"/>
          <p:nvPr/>
        </p:nvSpPr>
        <p:spPr>
          <a:xfrm>
            <a:off x="5897880" y="3108960"/>
            <a:ext cx="5742432" cy="320040"/>
          </a:xfrm>
          <a:prstGeom prst="rect">
            <a:avLst/>
          </a:prstGeom>
          <a:noFill/>
          <a:ln/>
        </p:spPr>
        <p:txBody>
          <a:bodyPr wrap="square" lIns="0" tIns="0" rIns="0" bIns="0" rtlCol="0" anchor="t"/>
          <a:lstStyle/>
          <a:p>
            <a:pPr indent="0" marL="0">
              <a:buNone/>
            </a:pPr>
            <a:r>
              <a:rPr lang="en-US" sz="1100" i="1" dirty="0">
                <a:solidFill>
                  <a:schemeClr val="accent6"/>
                </a:solidFill>
              </a:rPr>
              <a:t>L-band data cubes (HH, HV, VV). Source: NISAR L3 Soil Moisture ATBD, JPL D-107679 (2023)</a:t>
            </a:r>
            <a:endParaRPr lang="en-US" sz="1100" dirty="0"/>
          </a:p>
        </p:txBody>
      </p:sp>
      <p:sp>
        <p:nvSpPr>
          <p:cNvPr id="25" name="figure frame"/>
          <p:cNvSpPr/>
          <p:nvPr/>
        </p:nvSpPr>
        <p:spPr>
          <a:xfrm>
            <a:off x="5897880" y="3566160"/>
            <a:ext cx="5742432"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6" name="Image 1" descr="Overall flow of the PMI algorithm. Source: NISAR L3 Soil Moisture ATBD, JPL D-107679 (2023)">    </p:cNvPr>
          <p:cNvPicPr>
            <a:picLocks noChangeAspect="1"/>
          </p:cNvPicPr>
          <p:nvPr/>
        </p:nvPicPr>
        <p:blipFill>
          <a:blip r:embed="rId2"/>
          <a:stretch>
            <a:fillRect/>
          </a:stretch>
        </p:blipFill>
        <p:spPr>
          <a:xfrm>
            <a:off x="5989320" y="4011796"/>
            <a:ext cx="5559552" cy="1349009"/>
          </a:xfrm>
          <a:prstGeom prst="rect">
            <a:avLst/>
          </a:prstGeom>
        </p:spPr>
      </p:pic>
      <p:sp>
        <p:nvSpPr>
          <p:cNvPr id="27" name="Text 22"/>
          <p:cNvSpPr txBox="1"/>
          <p:nvPr/>
        </p:nvSpPr>
        <p:spPr>
          <a:xfrm>
            <a:off x="5897880" y="5852160"/>
            <a:ext cx="5742432" cy="320040"/>
          </a:xfrm>
          <a:prstGeom prst="rect">
            <a:avLst/>
          </a:prstGeom>
          <a:noFill/>
          <a:ln/>
        </p:spPr>
        <p:txBody>
          <a:bodyPr wrap="square" lIns="0" tIns="0" rIns="0" bIns="0" rtlCol="0" anchor="t"/>
          <a:lstStyle/>
          <a:p>
            <a:pPr indent="0" marL="0">
              <a:buNone/>
            </a:pPr>
            <a:r>
              <a:rPr lang="en-US" sz="1100" i="1" dirty="0">
                <a:solidFill>
                  <a:schemeClr val="accent6"/>
                </a:solidFill>
              </a:rPr>
              <a:t>Overall flow of the PMI algorithm. Source: NISAR L3 Soil Moisture ATBD, JPL D-107679 (2023)</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a time series, and how well PMI works over crops</a:t>
            </a:r>
            <a:endParaRPr lang="en-US" sz="3200" dirty="0"/>
          </a:p>
        </p:txBody>
      </p:sp>
      <p:sp>
        <p:nvSpPr>
          <p:cNvPr id="4" name="figure frame"/>
          <p:cNvSpPr/>
          <p:nvPr/>
        </p:nvSpPr>
        <p:spPr>
          <a:xfrm>
            <a:off x="548640" y="1280160"/>
            <a:ext cx="4206240"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Retrieval error: time series (left) vs snapshot (right). Source: NISAR L3 Soil Moisture ATBD, JPL D-107679 (2023)">    </p:cNvPr>
          <p:cNvPicPr>
            <a:picLocks noChangeAspect="1"/>
          </p:cNvPicPr>
          <p:nvPr/>
        </p:nvPicPr>
        <p:blipFill>
          <a:blip r:embed="rId1"/>
          <a:stretch>
            <a:fillRect/>
          </a:stretch>
        </p:blipFill>
        <p:spPr>
          <a:xfrm>
            <a:off x="640080" y="1492355"/>
            <a:ext cx="4023360" cy="1815891"/>
          </a:xfrm>
          <a:prstGeom prst="rect">
            <a:avLst/>
          </a:prstGeom>
        </p:spPr>
      </p:pic>
      <p:sp>
        <p:nvSpPr>
          <p:cNvPr id="6" name="Text 2"/>
          <p:cNvSpPr txBox="1"/>
          <p:nvPr/>
        </p:nvSpPr>
        <p:spPr>
          <a:xfrm>
            <a:off x="548640" y="3566160"/>
            <a:ext cx="4206240" cy="411480"/>
          </a:xfrm>
          <a:prstGeom prst="rect">
            <a:avLst/>
          </a:prstGeom>
          <a:noFill/>
          <a:ln/>
        </p:spPr>
        <p:txBody>
          <a:bodyPr wrap="square" lIns="0" tIns="0" rIns="0" bIns="0" rtlCol="0" anchor="t"/>
          <a:lstStyle/>
          <a:p>
            <a:pPr indent="0" marL="0">
              <a:buNone/>
            </a:pPr>
            <a:r>
              <a:rPr lang="en-US" sz="1100" i="1" dirty="0">
                <a:solidFill>
                  <a:schemeClr val="accent6"/>
                </a:solidFill>
              </a:rPr>
              <a:t>Retrieval error: time series (left) vs snapshot (right). Source: NISAR L3 Soil Moisture ATBD, JPL D-107679 (2023)</a:t>
            </a:r>
            <a:endParaRPr lang="en-US" sz="1100" dirty="0"/>
          </a:p>
        </p:txBody>
      </p:sp>
      <p:sp>
        <p:nvSpPr>
          <p:cNvPr id="7" name="figure frame"/>
          <p:cNvSpPr/>
          <p:nvPr/>
        </p:nvSpPr>
        <p:spPr>
          <a:xfrm>
            <a:off x="4892040" y="1280160"/>
            <a:ext cx="6748272"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PMI retrievals vs in-situ over pasture, soybean and wheat (SMAPVEX12). Source: NISAR L3 Soil Moisture ATBD, JPL D-107679 (2023)">    </p:cNvPr>
          <p:cNvPicPr>
            <a:picLocks noChangeAspect="1"/>
          </p:cNvPicPr>
          <p:nvPr/>
        </p:nvPicPr>
        <p:blipFill>
          <a:blip r:embed="rId2"/>
          <a:stretch>
            <a:fillRect/>
          </a:stretch>
        </p:blipFill>
        <p:spPr>
          <a:xfrm>
            <a:off x="4983480" y="1424770"/>
            <a:ext cx="6565392" cy="1951060"/>
          </a:xfrm>
          <a:prstGeom prst="rect">
            <a:avLst/>
          </a:prstGeom>
        </p:spPr>
      </p:pic>
      <p:sp>
        <p:nvSpPr>
          <p:cNvPr id="9" name="Text 4"/>
          <p:cNvSpPr txBox="1"/>
          <p:nvPr/>
        </p:nvSpPr>
        <p:spPr>
          <a:xfrm>
            <a:off x="4892040" y="3566160"/>
            <a:ext cx="6748272" cy="411480"/>
          </a:xfrm>
          <a:prstGeom prst="rect">
            <a:avLst/>
          </a:prstGeom>
          <a:noFill/>
          <a:ln/>
        </p:spPr>
        <p:txBody>
          <a:bodyPr wrap="square" lIns="0" tIns="0" rIns="0" bIns="0" rtlCol="0" anchor="t"/>
          <a:lstStyle/>
          <a:p>
            <a:pPr indent="0" marL="0">
              <a:buNone/>
            </a:pPr>
            <a:r>
              <a:rPr lang="en-US" sz="1100" i="1" dirty="0">
                <a:solidFill>
                  <a:schemeClr val="accent6"/>
                </a:solidFill>
              </a:rPr>
              <a:t>PMI retrievals vs in-situ over pasture, soybean and wheat (SMAPVEX12). Source: NISAR L3 Soil Moisture ATBD, JPL D-107679 (2023)</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675120" cy="914400"/>
        </p:xfrm>
        <a:graphic>
          <a:graphicData uri="http://schemas.openxmlformats.org/drawingml/2006/table">
            <a:tbl>
              <a:tblPr/>
              <a:tblGrid>
                <a:gridCol w="2377440"/>
                <a:gridCol w="2194560"/>
                <a:gridCol w="2103120"/>
              </a:tblGrid>
              <a:tr h="41148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Test data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Crop / cover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ubRMSE (m³/m³)</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SMAPVEX12 UAVSAR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Grass · wheat · soybean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0.041 · 0.059 · 0.060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SMEX02 L + S band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Corn · soybean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0.031 · 0.057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ALOS PALSAR-2 (AMPM 2019)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Corn · soybean · cotton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0.057 · 0.067 · 0.070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SMAP radar, 3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Cropland average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0.067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11" name="card"/>
          <p:cNvSpPr/>
          <p:nvPr/>
        </p:nvSpPr>
        <p:spPr>
          <a:xfrm>
            <a:off x="7406640" y="4160520"/>
            <a:ext cx="4233672" cy="2011680"/>
          </a:xfrm>
          <a:prstGeom prst="roundRect">
            <a:avLst>
              <a:gd name="adj" fmla="val 3636"/>
            </a:avLst>
          </a:prstGeom>
          <a:solidFill>
            <a:schemeClr val="bg2"/>
          </a:solidFill>
          <a:ln/>
          <a:effectLst>
            <a:outerShdw sx="100000" sy="100000" kx="0" ky="0" algn="bl" rotWithShape="0" blurRad="76200" dist="25400" dir="5400000">
              <a:srgbClr val="000000">
                <a:alpha val="14000"/>
              </a:srgbClr>
            </a:outerShdw>
          </a:effectLst>
        </p:spPr>
      </p:sp>
      <p:sp>
        <p:nvSpPr>
          <p:cNvPr id="12" name="Text 6"/>
          <p:cNvSpPr txBox="1"/>
          <p:nvPr/>
        </p:nvSpPr>
        <p:spPr>
          <a:xfrm>
            <a:off x="7589520" y="4297680"/>
            <a:ext cx="3913632" cy="365760"/>
          </a:xfrm>
          <a:prstGeom prst="rect">
            <a:avLst/>
          </a:prstGeom>
          <a:noFill/>
          <a:ln/>
        </p:spPr>
        <p:txBody>
          <a:bodyPr wrap="square" lIns="0" tIns="0" rIns="0" bIns="0" rtlCol="0" anchor="ctr"/>
          <a:lstStyle/>
          <a:p>
            <a:pPr indent="0" marL="0">
              <a:buNone/>
            </a:pPr>
            <a:r>
              <a:rPr lang="en-US" sz="1600" b="1" dirty="0">
                <a:solidFill>
                  <a:schemeClr val="tx2"/>
                </a:solidFill>
              </a:rPr>
              <a:t>Takeaways</a:t>
            </a:r>
            <a:endParaRPr lang="en-US" sz="1600" dirty="0"/>
          </a:p>
        </p:txBody>
      </p:sp>
      <p:sp>
        <p:nvSpPr>
          <p:cNvPr id="13" name="Text 7"/>
          <p:cNvSpPr txBox="1"/>
          <p:nvPr/>
        </p:nvSpPr>
        <p:spPr>
          <a:xfrm>
            <a:off x="7589520" y="4709160"/>
            <a:ext cx="3867912" cy="13716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Meets the 0.06 goal for most crops</a:t>
            </a:r>
            <a:endParaRPr lang="en-US" sz="1250" dirty="0"/>
          </a:p>
          <a:p>
            <a:pPr marL="177800" indent="-177800">
              <a:spcAft>
                <a:spcPts val="400"/>
              </a:spcAft>
              <a:buSzPct val="100000"/>
              <a:buChar char="•"/>
            </a:pPr>
            <a:r>
              <a:rPr lang="en-US" sz="1250" dirty="0">
                <a:solidFill>
                  <a:schemeClr val="tx1"/>
                </a:solidFill>
              </a:rPr>
              <a:t>Wrong crop cube → error up to +0.024 (corn): </a:t>
            </a:r>
            <a:r>
              <a:rPr lang="en-US" sz="1250" b="1" dirty="0">
                <a:solidFill>
                  <a:schemeClr val="tx1"/>
                </a:solidFill>
              </a:rPr>
              <a:t>crop maps matter</a:t>
            </a:r>
            <a:endParaRPr lang="en-US" sz="1250" dirty="0"/>
          </a:p>
          <a:p>
            <a:pPr marL="177800" indent="-177800">
              <a:spcAft>
                <a:spcPts val="400"/>
              </a:spcAft>
              <a:buSzPct val="100000"/>
              <a:buChar char="•"/>
            </a:pPr>
            <a:r>
              <a:rPr lang="en-US" sz="1250" dirty="0">
                <a:solidFill>
                  <a:schemeClr val="tx1"/>
                </a:solidFill>
              </a:rPr>
              <a:t>HH alone works with soil-texture bounds</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algorithm 2: Time-Series Ratio (alpha method)</a:t>
            </a:r>
            <a:endParaRPr lang="en-US" sz="3200" dirty="0"/>
          </a:p>
        </p:txBody>
      </p:sp>
      <p:sp>
        <p:nvSpPr>
          <p:cNvPr id="4" name="card"/>
          <p:cNvSpPr/>
          <p:nvPr/>
        </p:nvSpPr>
        <p:spPr>
          <a:xfrm>
            <a:off x="548640" y="1280160"/>
            <a:ext cx="5760720"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486400" cy="777240"/>
          </a:xfrm>
          <a:prstGeom prst="rect">
            <a:avLst/>
          </a:prstGeom>
          <a:noFill/>
          <a:ln/>
        </p:spPr>
        <p:txBody>
          <a:bodyPr wrap="square" lIns="0" tIns="0" rIns="0" bIns="0" rtlCol="0" anchor="ctr"/>
          <a:lstStyle/>
          <a:p>
            <a:pPr algn="ctr" indent="0" marL="0">
              <a:buNone/>
            </a:pPr>
            <a:r>
              <a:rPr lang="en-US" sz="1500" b="1" dirty="0">
                <a:solidFill>
                  <a:schemeClr val="bg1"/>
                </a:solidFill>
              </a:rPr>
              <a:t>σ⁰</a:t>
            </a:r>
            <a:r>
              <a:rPr lang="en-US" sz="1500" b="1" baseline="-40000" dirty="0">
                <a:solidFill>
                  <a:schemeClr val="bg1"/>
                </a:solidFill>
              </a:rPr>
              <a:t>pp</a:t>
            </a:r>
            <a:r>
              <a:rPr lang="en-US" sz="1500" b="1" dirty="0">
                <a:solidFill>
                  <a:schemeClr val="bg1"/>
                </a:solidFill>
              </a:rPr>
              <a:t> = 4πk⁴h²cos⁴θ·|α</a:t>
            </a:r>
            <a:r>
              <a:rPr lang="en-US" sz="1500" b="1" baseline="-40000" dirty="0">
                <a:solidFill>
                  <a:schemeClr val="bg1"/>
                </a:solidFill>
              </a:rPr>
              <a:t>pp</a:t>
            </a:r>
            <a:r>
              <a:rPr lang="en-US" sz="1500" b="1" dirty="0">
                <a:solidFill>
                  <a:schemeClr val="bg1"/>
                </a:solidFill>
              </a:rPr>
              <a:t>|²·W(2k·sinθ, 0)</a:t>
            </a:r>
            <a:endParaRPr lang="en-US" sz="1500" dirty="0"/>
          </a:p>
        </p:txBody>
      </p:sp>
      <p:sp>
        <p:nvSpPr>
          <p:cNvPr id="6" name="card"/>
          <p:cNvSpPr/>
          <p:nvPr/>
        </p:nvSpPr>
        <p:spPr>
          <a:xfrm>
            <a:off x="548640" y="2148840"/>
            <a:ext cx="5760720" cy="777240"/>
          </a:xfrm>
          <a:prstGeom prst="roundRect">
            <a:avLst>
              <a:gd name="adj" fmla="val 9412"/>
            </a:avLst>
          </a:prstGeom>
          <a:solidFill>
            <a:schemeClr val="accent2"/>
          </a:solidFill>
          <a:ln/>
          <a:effectLst>
            <a:outerShdw sx="100000" sy="100000" kx="0" ky="0" algn="bl" rotWithShape="0" blurRad="76200" dist="25400" dir="5400000">
              <a:srgbClr val="000000">
                <a:alpha val="14000"/>
              </a:srgbClr>
            </a:outerShdw>
          </a:effectLst>
        </p:spPr>
      </p:sp>
      <p:sp>
        <p:nvSpPr>
          <p:cNvPr id="7" name="Text 4"/>
          <p:cNvSpPr txBox="1"/>
          <p:nvPr/>
        </p:nvSpPr>
        <p:spPr>
          <a:xfrm>
            <a:off x="685800" y="2148840"/>
            <a:ext cx="5486400" cy="777240"/>
          </a:xfrm>
          <a:prstGeom prst="rect">
            <a:avLst/>
          </a:prstGeom>
          <a:noFill/>
          <a:ln/>
        </p:spPr>
        <p:txBody>
          <a:bodyPr wrap="square" lIns="0" tIns="0" rIns="0" bIns="0" rtlCol="0" anchor="ctr"/>
          <a:lstStyle/>
          <a:p>
            <a:pPr algn="ctr" indent="0" marL="0">
              <a:buNone/>
            </a:pPr>
            <a:r>
              <a:rPr lang="en-US" sz="1500" b="1" dirty="0">
                <a:solidFill>
                  <a:schemeClr val="bg1"/>
                </a:solidFill>
              </a:rPr>
              <a:t>σ⁰</a:t>
            </a:r>
            <a:r>
              <a:rPr lang="en-US" sz="1500" b="1" baseline="-40000" dirty="0">
                <a:solidFill>
                  <a:schemeClr val="bg1"/>
                </a:solidFill>
              </a:rPr>
              <a:t>pp</a:t>
            </a:r>
            <a:r>
              <a:rPr lang="en-US" sz="1500" b="1" dirty="0">
                <a:solidFill>
                  <a:schemeClr val="bg1"/>
                </a:solidFill>
              </a:rPr>
              <a:t>(t</a:t>
            </a:r>
            <a:r>
              <a:rPr lang="en-US" sz="1500" b="1" baseline="-40000" dirty="0">
                <a:solidFill>
                  <a:schemeClr val="bg1"/>
                </a:solidFill>
              </a:rPr>
              <a:t>2</a:t>
            </a:r>
            <a:r>
              <a:rPr lang="en-US" sz="1500" b="1" dirty="0">
                <a:solidFill>
                  <a:schemeClr val="bg1"/>
                </a:solidFill>
              </a:rPr>
              <a:t>) / σ⁰</a:t>
            </a:r>
            <a:r>
              <a:rPr lang="en-US" sz="1500" b="1" baseline="-40000" dirty="0">
                <a:solidFill>
                  <a:schemeClr val="bg1"/>
                </a:solidFill>
              </a:rPr>
              <a:t>pp</a:t>
            </a:r>
            <a:r>
              <a:rPr lang="en-US" sz="1500" b="1" dirty="0">
                <a:solidFill>
                  <a:schemeClr val="bg1"/>
                </a:solidFill>
              </a:rPr>
              <a:t>(t</a:t>
            </a:r>
            <a:r>
              <a:rPr lang="en-US" sz="1500" b="1" baseline="-40000" dirty="0">
                <a:solidFill>
                  <a:schemeClr val="bg1"/>
                </a:solidFill>
              </a:rPr>
              <a:t>1</a:t>
            </a:r>
            <a:r>
              <a:rPr lang="en-US" sz="1500" b="1" dirty="0">
                <a:solidFill>
                  <a:schemeClr val="bg1"/>
                </a:solidFill>
              </a:rPr>
              <a:t>) ≈ |α</a:t>
            </a:r>
            <a:r>
              <a:rPr lang="en-US" sz="1500" b="1" baseline="-40000" dirty="0">
                <a:solidFill>
                  <a:schemeClr val="bg1"/>
                </a:solidFill>
              </a:rPr>
              <a:t>pp</a:t>
            </a:r>
            <a:r>
              <a:rPr lang="en-US" sz="1500" b="1" dirty="0">
                <a:solidFill>
                  <a:schemeClr val="bg1"/>
                </a:solidFill>
              </a:rPr>
              <a:t>(t</a:t>
            </a:r>
            <a:r>
              <a:rPr lang="en-US" sz="1500" b="1" baseline="-40000" dirty="0">
                <a:solidFill>
                  <a:schemeClr val="bg1"/>
                </a:solidFill>
              </a:rPr>
              <a:t>2</a:t>
            </a:r>
            <a:r>
              <a:rPr lang="en-US" sz="1500" b="1" dirty="0">
                <a:solidFill>
                  <a:schemeClr val="bg1"/>
                </a:solidFill>
              </a:rPr>
              <a:t>) / α</a:t>
            </a:r>
            <a:r>
              <a:rPr lang="en-US" sz="1500" b="1" baseline="-40000" dirty="0">
                <a:solidFill>
                  <a:schemeClr val="bg1"/>
                </a:solidFill>
              </a:rPr>
              <a:t>pp</a:t>
            </a:r>
            <a:r>
              <a:rPr lang="en-US" sz="1500" b="1" dirty="0">
                <a:solidFill>
                  <a:schemeClr val="bg1"/>
                </a:solidFill>
              </a:rPr>
              <a:t>(t</a:t>
            </a:r>
            <a:r>
              <a:rPr lang="en-US" sz="1500" b="1" baseline="-40000" dirty="0">
                <a:solidFill>
                  <a:schemeClr val="bg1"/>
                </a:solidFill>
              </a:rPr>
              <a:t>1</a:t>
            </a:r>
            <a:r>
              <a:rPr lang="en-US" sz="1500" b="1" dirty="0">
                <a:solidFill>
                  <a:schemeClr val="bg1"/>
                </a:solidFill>
              </a:rPr>
              <a:t>)|²</a:t>
            </a:r>
            <a:endParaRPr lang="en-US" sz="1500" dirty="0"/>
          </a:p>
        </p:txBody>
      </p:sp>
      <p:sp>
        <p:nvSpPr>
          <p:cNvPr id="8" name="step number"/>
          <p:cNvSpPr/>
          <p:nvPr/>
        </p:nvSpPr>
        <p:spPr>
          <a:xfrm>
            <a:off x="548640" y="3218688"/>
            <a:ext cx="384048" cy="384048"/>
          </a:xfrm>
          <a:prstGeom prst="ellipse">
            <a:avLst/>
          </a:prstGeom>
          <a:solidFill>
            <a:schemeClr val="accent2"/>
          </a:solidFill>
          <a:ln/>
        </p:spPr>
      </p:sp>
      <p:sp>
        <p:nvSpPr>
          <p:cNvPr id="9" name="Text 6"/>
          <p:cNvSpPr txBox="1"/>
          <p:nvPr/>
        </p:nvSpPr>
        <p:spPr>
          <a:xfrm>
            <a:off x="548640" y="32186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1051560" y="3108960"/>
            <a:ext cx="5257800" cy="557784"/>
          </a:xfrm>
          <a:prstGeom prst="rect">
            <a:avLst/>
          </a:prstGeom>
          <a:noFill/>
          <a:ln/>
        </p:spPr>
        <p:txBody>
          <a:bodyPr wrap="square" lIns="0" tIns="0" rIns="0" bIns="0" rtlCol="0" anchor="ctr"/>
          <a:lstStyle/>
          <a:p>
            <a:pPr indent="0" marL="0">
              <a:buNone/>
            </a:pPr>
            <a:r>
              <a:rPr lang="en-US" sz="1300" dirty="0">
                <a:solidFill>
                  <a:schemeClr val="tx1"/>
                </a:solidFill>
              </a:rPr>
              <a:t>N acquisitions (same geometry) → </a:t>
            </a:r>
            <a:r>
              <a:rPr lang="en-US" sz="1300" b="1" dirty="0">
                <a:solidFill>
                  <a:schemeClr val="tx1"/>
                </a:solidFill>
              </a:rPr>
              <a:t>N − 1 ratios</a:t>
            </a:r>
            <a:endParaRPr lang="en-US" sz="1300" dirty="0"/>
          </a:p>
        </p:txBody>
      </p:sp>
      <p:sp>
        <p:nvSpPr>
          <p:cNvPr id="11" name="step number"/>
          <p:cNvSpPr/>
          <p:nvPr/>
        </p:nvSpPr>
        <p:spPr>
          <a:xfrm>
            <a:off x="548640" y="3822192"/>
            <a:ext cx="384048" cy="384048"/>
          </a:xfrm>
          <a:prstGeom prst="ellipse">
            <a:avLst/>
          </a:prstGeom>
          <a:solidFill>
            <a:schemeClr val="accent2"/>
          </a:solidFill>
          <a:ln/>
        </p:spPr>
      </p:sp>
      <p:sp>
        <p:nvSpPr>
          <p:cNvPr id="12" name="Text 9"/>
          <p:cNvSpPr txBox="1"/>
          <p:nvPr/>
        </p:nvSpPr>
        <p:spPr>
          <a:xfrm>
            <a:off x="548640" y="38221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0"/>
          <p:cNvSpPr txBox="1"/>
          <p:nvPr/>
        </p:nvSpPr>
        <p:spPr>
          <a:xfrm>
            <a:off x="1051560" y="3712464"/>
            <a:ext cx="5257800" cy="557784"/>
          </a:xfrm>
          <a:prstGeom prst="rect">
            <a:avLst/>
          </a:prstGeom>
          <a:noFill/>
          <a:ln/>
        </p:spPr>
        <p:txBody>
          <a:bodyPr wrap="square" lIns="0" tIns="0" rIns="0" bIns="0" rtlCol="0" anchor="ctr"/>
          <a:lstStyle/>
          <a:p>
            <a:pPr indent="0" marL="0">
              <a:buNone/>
            </a:pPr>
            <a:r>
              <a:rPr lang="en-US" sz="1300" dirty="0">
                <a:solidFill>
                  <a:schemeClr val="tx1"/>
                </a:solidFill>
              </a:rPr>
              <a:t>Add </a:t>
            </a:r>
            <a:r>
              <a:rPr lang="en-US" sz="1300" b="1" dirty="0">
                <a:solidFill>
                  <a:schemeClr val="tx1"/>
                </a:solidFill>
              </a:rPr>
              <a:t>α</a:t>
            </a:r>
            <a:r>
              <a:rPr lang="en-US" sz="1300" b="1" baseline="-40000" dirty="0">
                <a:solidFill>
                  <a:schemeClr val="tx1"/>
                </a:solidFill>
              </a:rPr>
              <a:t>min</a:t>
            </a:r>
            <a:r>
              <a:rPr lang="en-US" sz="1300" b="1" dirty="0">
                <a:solidFill>
                  <a:schemeClr val="tx1"/>
                </a:solidFill>
              </a:rPr>
              <a:t>, α</a:t>
            </a:r>
            <a:r>
              <a:rPr lang="en-US" sz="1300" b="1" baseline="-40000" dirty="0">
                <a:solidFill>
                  <a:schemeClr val="tx1"/>
                </a:solidFill>
              </a:rPr>
              <a:t>max</a:t>
            </a:r>
            <a:r>
              <a:rPr lang="en-US" sz="1300" b="1" dirty="0">
                <a:solidFill>
                  <a:schemeClr val="tx1"/>
                </a:solidFill>
              </a:rPr>
              <a:t> bounds</a:t>
            </a:r>
            <a:r>
              <a:rPr lang="en-US" sz="1300" dirty="0">
                <a:solidFill>
                  <a:schemeClr val="tx1"/>
                </a:solidFill>
              </a:rPr>
              <a:t> from SMAP climatology</a:t>
            </a:r>
            <a:endParaRPr lang="en-US" sz="1300" dirty="0"/>
          </a:p>
        </p:txBody>
      </p:sp>
      <p:sp>
        <p:nvSpPr>
          <p:cNvPr id="14" name="step number"/>
          <p:cNvSpPr/>
          <p:nvPr/>
        </p:nvSpPr>
        <p:spPr>
          <a:xfrm>
            <a:off x="548640" y="4425696"/>
            <a:ext cx="384048" cy="384048"/>
          </a:xfrm>
          <a:prstGeom prst="ellipse">
            <a:avLst/>
          </a:prstGeom>
          <a:solidFill>
            <a:schemeClr val="accent2"/>
          </a:solidFill>
          <a:ln/>
        </p:spPr>
      </p:sp>
      <p:sp>
        <p:nvSpPr>
          <p:cNvPr id="15" name="Text 12"/>
          <p:cNvSpPr txBox="1"/>
          <p:nvPr/>
        </p:nvSpPr>
        <p:spPr>
          <a:xfrm>
            <a:off x="548640"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3"/>
          <p:cNvSpPr txBox="1"/>
          <p:nvPr/>
        </p:nvSpPr>
        <p:spPr>
          <a:xfrm>
            <a:off x="1051560" y="4315968"/>
            <a:ext cx="5257800" cy="557784"/>
          </a:xfrm>
          <a:prstGeom prst="rect">
            <a:avLst/>
          </a:prstGeom>
          <a:noFill/>
          <a:ln/>
        </p:spPr>
        <p:txBody>
          <a:bodyPr wrap="square" lIns="0" tIns="0" rIns="0" bIns="0" rtlCol="0" anchor="ctr"/>
          <a:lstStyle/>
          <a:p>
            <a:pPr indent="0" marL="0">
              <a:buNone/>
            </a:pPr>
            <a:r>
              <a:rPr lang="en-US" sz="1300" dirty="0">
                <a:solidFill>
                  <a:schemeClr val="tx1"/>
                </a:solidFill>
              </a:rPr>
              <a:t>Least squares → α</a:t>
            </a:r>
            <a:r>
              <a:rPr lang="en-US" sz="1300" baseline="-40000" dirty="0">
                <a:solidFill>
                  <a:schemeClr val="tx1"/>
                </a:solidFill>
              </a:rPr>
              <a:t>pp</a:t>
            </a:r>
            <a:r>
              <a:rPr lang="en-US" sz="1300" dirty="0">
                <a:solidFill>
                  <a:schemeClr val="tx1"/>
                </a:solidFill>
              </a:rPr>
              <a:t>(t) for each date</a:t>
            </a:r>
            <a:endParaRPr lang="en-US" sz="1300" dirty="0"/>
          </a:p>
        </p:txBody>
      </p:sp>
      <p:sp>
        <p:nvSpPr>
          <p:cNvPr id="17" name="step number"/>
          <p:cNvSpPr/>
          <p:nvPr/>
        </p:nvSpPr>
        <p:spPr>
          <a:xfrm>
            <a:off x="548640" y="5029200"/>
            <a:ext cx="384048" cy="384048"/>
          </a:xfrm>
          <a:prstGeom prst="ellipse">
            <a:avLst/>
          </a:prstGeom>
          <a:solidFill>
            <a:schemeClr val="accent2"/>
          </a:solidFill>
          <a:ln/>
        </p:spPr>
      </p:sp>
      <p:sp>
        <p:nvSpPr>
          <p:cNvPr id="18" name="Text 15"/>
          <p:cNvSpPr txBox="1"/>
          <p:nvPr/>
        </p:nvSpPr>
        <p:spPr>
          <a:xfrm>
            <a:off x="548640" y="50292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 16"/>
          <p:cNvSpPr txBox="1"/>
          <p:nvPr/>
        </p:nvSpPr>
        <p:spPr>
          <a:xfrm>
            <a:off x="1051560" y="4919472"/>
            <a:ext cx="5257800" cy="557784"/>
          </a:xfrm>
          <a:prstGeom prst="rect">
            <a:avLst/>
          </a:prstGeom>
          <a:noFill/>
          <a:ln/>
        </p:spPr>
        <p:txBody>
          <a:bodyPr wrap="square" lIns="0" tIns="0" rIns="0" bIns="0" rtlCol="0" anchor="ctr"/>
          <a:lstStyle/>
          <a:p>
            <a:pPr indent="0" marL="0">
              <a:buNone/>
            </a:pPr>
            <a:r>
              <a:rPr lang="en-US" sz="1300" dirty="0">
                <a:solidFill>
                  <a:schemeClr val="tx1"/>
                </a:solidFill>
              </a:rPr>
              <a:t>α → m</a:t>
            </a:r>
            <a:r>
              <a:rPr lang="en-US" sz="1300" baseline="-40000" dirty="0">
                <a:solidFill>
                  <a:schemeClr val="tx1"/>
                </a:solidFill>
              </a:rPr>
              <a:t>v</a:t>
            </a:r>
            <a:r>
              <a:rPr lang="en-US" sz="1300" dirty="0">
                <a:solidFill>
                  <a:schemeClr val="tx1"/>
                </a:solidFill>
              </a:rPr>
              <a:t> with </a:t>
            </a:r>
            <a:r>
              <a:rPr lang="en-US" sz="1300" b="1" dirty="0">
                <a:solidFill>
                  <a:schemeClr val="tx1"/>
                </a:solidFill>
              </a:rPr>
              <a:t>Mironov</a:t>
            </a:r>
            <a:r>
              <a:rPr lang="en-US" sz="1300" dirty="0">
                <a:solidFill>
                  <a:schemeClr val="tx1"/>
                </a:solidFill>
              </a:rPr>
              <a:t> dielectric model and soil texture</a:t>
            </a:r>
            <a:endParaRPr lang="en-US" sz="1300" dirty="0"/>
          </a:p>
        </p:txBody>
      </p:sp>
      <p:sp>
        <p:nvSpPr>
          <p:cNvPr id="20" name="step number"/>
          <p:cNvSpPr/>
          <p:nvPr/>
        </p:nvSpPr>
        <p:spPr>
          <a:xfrm>
            <a:off x="548640" y="5632704"/>
            <a:ext cx="384048" cy="384048"/>
          </a:xfrm>
          <a:prstGeom prst="ellipse">
            <a:avLst/>
          </a:prstGeom>
          <a:solidFill>
            <a:schemeClr val="accent2"/>
          </a:solidFill>
          <a:ln/>
        </p:spPr>
      </p:sp>
      <p:sp>
        <p:nvSpPr>
          <p:cNvPr id="21" name="Text 18"/>
          <p:cNvSpPr txBox="1"/>
          <p:nvPr/>
        </p:nvSpPr>
        <p:spPr>
          <a:xfrm>
            <a:off x="548640" y="56327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19"/>
          <p:cNvSpPr txBox="1"/>
          <p:nvPr/>
        </p:nvSpPr>
        <p:spPr>
          <a:xfrm>
            <a:off x="1051560" y="5522976"/>
            <a:ext cx="5257800" cy="557784"/>
          </a:xfrm>
          <a:prstGeom prst="rect">
            <a:avLst/>
          </a:prstGeom>
          <a:noFill/>
          <a:ln/>
        </p:spPr>
        <p:txBody>
          <a:bodyPr wrap="square" lIns="0" tIns="0" rIns="0" bIns="0" rtlCol="0" anchor="ctr"/>
          <a:lstStyle/>
          <a:p>
            <a:pPr indent="0" marL="0">
              <a:buNone/>
            </a:pPr>
            <a:r>
              <a:rPr lang="en-US" sz="1300" dirty="0">
                <a:solidFill>
                  <a:schemeClr val="tx1"/>
                </a:solidFill>
              </a:rPr>
              <a:t>Products: 'rapid' (latest date) and 'averaged'</a:t>
            </a:r>
            <a:endParaRPr lang="en-US" sz="1300" dirty="0"/>
          </a:p>
        </p:txBody>
      </p:sp>
      <p:sp>
        <p:nvSpPr>
          <p:cNvPr id="23" name="figure frame"/>
          <p:cNvSpPr/>
          <p:nvPr/>
        </p:nvSpPr>
        <p:spPr>
          <a:xfrm>
            <a:off x="6537960" y="1280160"/>
            <a:ext cx="5102352" cy="3017520"/>
          </a:xfrm>
          <a:prstGeom prst="roundRect">
            <a:avLst>
              <a:gd name="adj" fmla="val 1818"/>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4" name="Image 0" descr="|α_{HH}| (a) and |α_{VV}| (b) vs soil moisture, 30–50°: VV has a wider dynamic range. Source: NISAR L3 Soil Moisture ATBD, JPL D-107679 (2023)">    </p:cNvPr>
          <p:cNvPicPr>
            <a:picLocks noChangeAspect="1"/>
          </p:cNvPicPr>
          <p:nvPr/>
        </p:nvPicPr>
        <p:blipFill>
          <a:blip r:embed="rId1"/>
          <a:stretch>
            <a:fillRect/>
          </a:stretch>
        </p:blipFill>
        <p:spPr>
          <a:xfrm>
            <a:off x="6629400" y="1580115"/>
            <a:ext cx="4919472" cy="2417611"/>
          </a:xfrm>
          <a:prstGeom prst="rect">
            <a:avLst/>
          </a:prstGeom>
        </p:spPr>
      </p:pic>
      <p:sp>
        <p:nvSpPr>
          <p:cNvPr id="25" name="Text 21"/>
          <p:cNvSpPr txBox="1"/>
          <p:nvPr/>
        </p:nvSpPr>
        <p:spPr>
          <a:xfrm>
            <a:off x="6537960" y="4343400"/>
            <a:ext cx="5102352" cy="502920"/>
          </a:xfrm>
          <a:prstGeom prst="rect">
            <a:avLst/>
          </a:prstGeom>
          <a:noFill/>
          <a:ln/>
        </p:spPr>
        <p:txBody>
          <a:bodyPr wrap="square" lIns="0" tIns="0" rIns="0" bIns="0" rtlCol="0" anchor="t"/>
          <a:lstStyle/>
          <a:p>
            <a:pPr indent="0" marL="0">
              <a:buNone/>
            </a:pPr>
            <a:r>
              <a:rPr lang="en-US" sz="1100" i="1" dirty="0">
                <a:solidFill>
                  <a:schemeClr val="accent6"/>
                </a:solidFill>
              </a:rPr>
              <a:t>|α</a:t>
            </a:r>
            <a:r>
              <a:rPr lang="en-US" sz="1100" i="1" baseline="-40000" dirty="0">
                <a:solidFill>
                  <a:schemeClr val="accent6"/>
                </a:solidFill>
              </a:rPr>
              <a:t>HH</a:t>
            </a:r>
            <a:r>
              <a:rPr lang="en-US" sz="1100" i="1" dirty="0">
                <a:solidFill>
                  <a:schemeClr val="accent6"/>
                </a:solidFill>
              </a:rPr>
              <a:t>| (a) and |α</a:t>
            </a:r>
            <a:r>
              <a:rPr lang="en-US" sz="1100" i="1" baseline="-40000" dirty="0">
                <a:solidFill>
                  <a:schemeClr val="accent6"/>
                </a:solidFill>
              </a:rPr>
              <a:t>VV</a:t>
            </a:r>
            <a:r>
              <a:rPr lang="en-US" sz="1100" i="1" dirty="0">
                <a:solidFill>
                  <a:schemeClr val="accent6"/>
                </a:solidFill>
              </a:rPr>
              <a:t>| (b) vs soil moisture, 30–50°: VV has a wider dynamic range. Source: NISAR L3 Soil Moisture ATBD, JPL D-107679 (2023)</a:t>
            </a:r>
            <a:endParaRPr lang="en-US" sz="1100" dirty="0"/>
          </a:p>
        </p:txBody>
      </p:sp>
      <p:sp>
        <p:nvSpPr>
          <p:cNvPr id="26" name="card"/>
          <p:cNvSpPr/>
          <p:nvPr/>
        </p:nvSpPr>
        <p:spPr>
          <a:xfrm>
            <a:off x="6537960" y="4983480"/>
            <a:ext cx="510235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7" name="Text 23"/>
          <p:cNvSpPr txBox="1"/>
          <p:nvPr/>
        </p:nvSpPr>
        <p:spPr>
          <a:xfrm>
            <a:off x="6720840" y="5120640"/>
            <a:ext cx="4782312" cy="365760"/>
          </a:xfrm>
          <a:prstGeom prst="rect">
            <a:avLst/>
          </a:prstGeom>
          <a:noFill/>
          <a:ln/>
        </p:spPr>
        <p:txBody>
          <a:bodyPr wrap="square" lIns="0" tIns="0" rIns="0" bIns="0" rtlCol="0" anchor="ctr"/>
          <a:lstStyle/>
          <a:p>
            <a:pPr indent="0" marL="0">
              <a:buNone/>
            </a:pPr>
            <a:r>
              <a:rPr lang="en-US" sz="1600" b="1" dirty="0">
                <a:solidFill>
                  <a:schemeClr val="tx2"/>
                </a:solidFill>
              </a:rPr>
              <a:t>Performance (SMAP radar, 3 km)</a:t>
            </a:r>
            <a:endParaRPr lang="en-US" sz="1600" dirty="0"/>
          </a:p>
        </p:txBody>
      </p:sp>
      <p:sp>
        <p:nvSpPr>
          <p:cNvPr id="28" name="Text 24"/>
          <p:cNvSpPr txBox="1"/>
          <p:nvPr/>
        </p:nvSpPr>
        <p:spPr>
          <a:xfrm>
            <a:off x="6720840" y="5532120"/>
            <a:ext cx="4736592" cy="548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ubRMSE 0.054 (VV), 0.067 (HH) m³/m³; R ≈ 0.7–0.8</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algorithm 3: Multiscale fusion (disaggregation)</a:t>
            </a:r>
            <a:endParaRPr lang="en-US" sz="3200" dirty="0"/>
          </a:p>
        </p:txBody>
      </p:sp>
      <p:sp>
        <p:nvSpPr>
          <p:cNvPr id="4" name="card"/>
          <p:cNvSpPr/>
          <p:nvPr/>
        </p:nvSpPr>
        <p:spPr>
          <a:xfrm>
            <a:off x="548640" y="1280160"/>
            <a:ext cx="5943600"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669280" cy="731520"/>
          </a:xfrm>
          <a:prstGeom prst="rect">
            <a:avLst/>
          </a:prstGeom>
          <a:noFill/>
          <a:ln/>
        </p:spPr>
        <p:txBody>
          <a:bodyPr wrap="square" lIns="0" tIns="0" rIns="0" bIns="0" rtlCol="0" anchor="ctr"/>
          <a:lstStyle/>
          <a:p>
            <a:pPr algn="ctr" indent="0" marL="0">
              <a:buNone/>
            </a:pPr>
            <a:r>
              <a:rPr lang="en-US" sz="1450" b="1" dirty="0">
                <a:solidFill>
                  <a:schemeClr val="bg1"/>
                </a:solidFill>
              </a:rPr>
              <a:t>SM(C, t) = α(C) + β(C)·σ</a:t>
            </a:r>
            <a:r>
              <a:rPr lang="en-US" sz="1450" b="1" baseline="-40000" dirty="0">
                <a:solidFill>
                  <a:schemeClr val="bg1"/>
                </a:solidFill>
              </a:rPr>
              <a:t>HH</a:t>
            </a:r>
            <a:r>
              <a:rPr lang="en-US" sz="1450" b="1" dirty="0">
                <a:solidFill>
                  <a:schemeClr val="bg1"/>
                </a:solidFill>
              </a:rPr>
              <a:t>(C, t)   [9 km, dB]</a:t>
            </a:r>
            <a:endParaRPr lang="en-US" sz="1450" dirty="0"/>
          </a:p>
        </p:txBody>
      </p:sp>
      <p:sp>
        <p:nvSpPr>
          <p:cNvPr id="6" name="card"/>
          <p:cNvSpPr/>
          <p:nvPr/>
        </p:nvSpPr>
        <p:spPr>
          <a:xfrm>
            <a:off x="548640" y="2103120"/>
            <a:ext cx="5943600" cy="1051560"/>
          </a:xfrm>
          <a:prstGeom prst="roundRect">
            <a:avLst>
              <a:gd name="adj" fmla="val 6957"/>
            </a:avLst>
          </a:prstGeom>
          <a:solidFill>
            <a:schemeClr val="accent4"/>
          </a:solidFill>
          <a:ln/>
          <a:effectLst>
            <a:outerShdw sx="100000" sy="100000" kx="0" ky="0" algn="bl" rotWithShape="0" blurRad="76200" dist="25400" dir="5400000">
              <a:srgbClr val="000000">
                <a:alpha val="14000"/>
              </a:srgbClr>
            </a:outerShdw>
          </a:effectLst>
        </p:spPr>
      </p:sp>
      <p:sp>
        <p:nvSpPr>
          <p:cNvPr id="7" name="Text 4"/>
          <p:cNvSpPr txBox="1"/>
          <p:nvPr/>
        </p:nvSpPr>
        <p:spPr>
          <a:xfrm>
            <a:off x="685800" y="2103120"/>
            <a:ext cx="5669280" cy="1051560"/>
          </a:xfrm>
          <a:prstGeom prst="rect">
            <a:avLst/>
          </a:prstGeom>
          <a:noFill/>
          <a:ln/>
        </p:spPr>
        <p:txBody>
          <a:bodyPr wrap="square" lIns="0" tIns="0" rIns="0" bIns="0" rtlCol="0" anchor="ctr"/>
          <a:lstStyle/>
          <a:p>
            <a:pPr algn="ctr" indent="0" marL="0">
              <a:buNone/>
            </a:pPr>
            <a:r>
              <a:rPr lang="en-US" sz="1400" b="1" dirty="0">
                <a:solidFill>
                  <a:schemeClr val="bg1"/>
                </a:solidFill>
              </a:rPr>
              <a:t>SM(F, t) = SM(C, t) + β(C)·{[σ</a:t>
            </a:r>
            <a:r>
              <a:rPr lang="en-US" sz="1400" b="1" baseline="-40000" dirty="0">
                <a:solidFill>
                  <a:schemeClr val="bg1"/>
                </a:solidFill>
              </a:rPr>
              <a:t>HH</a:t>
            </a:r>
            <a:r>
              <a:rPr lang="en-US" sz="1400" b="1" dirty="0">
                <a:solidFill>
                  <a:schemeClr val="bg1"/>
                </a:solidFill>
              </a:rPr>
              <a:t>(F, t) − σ</a:t>
            </a:r>
            <a:r>
              <a:rPr lang="en-US" sz="1400" b="1" baseline="-40000" dirty="0">
                <a:solidFill>
                  <a:schemeClr val="bg1"/>
                </a:solidFill>
              </a:rPr>
              <a:t>HH</a:t>
            </a:r>
            <a:r>
              <a:rPr lang="en-US" sz="1400" b="1" dirty="0">
                <a:solidFill>
                  <a:schemeClr val="bg1"/>
                </a:solidFill>
              </a:rPr>
              <a:t>(C, t)] + Γ·[σ</a:t>
            </a:r>
            <a:r>
              <a:rPr lang="en-US" sz="1400" b="1" baseline="-40000" dirty="0">
                <a:solidFill>
                  <a:schemeClr val="bg1"/>
                </a:solidFill>
              </a:rPr>
              <a:t>HV</a:t>
            </a:r>
            <a:r>
              <a:rPr lang="en-US" sz="1400" b="1" dirty="0">
                <a:solidFill>
                  <a:schemeClr val="bg1"/>
                </a:solidFill>
              </a:rPr>
              <a:t>(C) − σ</a:t>
            </a:r>
            <a:r>
              <a:rPr lang="en-US" sz="1400" b="1" baseline="-40000" dirty="0">
                <a:solidFill>
                  <a:schemeClr val="bg1"/>
                </a:solidFill>
              </a:rPr>
              <a:t>HV</a:t>
            </a:r>
            <a:r>
              <a:rPr lang="en-US" sz="1400" b="1" dirty="0">
                <a:solidFill>
                  <a:schemeClr val="bg1"/>
                </a:solidFill>
              </a:rPr>
              <a:t>(F)]}</a:t>
            </a:r>
            <a:endParaRPr lang="en-US" sz="1400" dirty="0"/>
          </a:p>
        </p:txBody>
      </p:sp>
      <p:sp>
        <p:nvSpPr>
          <p:cNvPr id="8" name="Text 5"/>
          <p:cNvSpPr txBox="1"/>
          <p:nvPr/>
        </p:nvSpPr>
        <p:spPr>
          <a:xfrm>
            <a:off x="548640" y="3291840"/>
            <a:ext cx="5943600" cy="2926080"/>
          </a:xfrm>
          <a:prstGeom prst="rect">
            <a:avLst/>
          </a:prstGeom>
          <a:noFill/>
          <a:ln/>
        </p:spPr>
        <p:txBody>
          <a:bodyPr wrap="square" lIns="508" tIns="508" rIns="508" bIns="508" rtlCol="0" anchor="t"/>
          <a:lstStyle/>
          <a:p>
            <a:pPr marL="177800" indent="-177800">
              <a:spcAft>
                <a:spcPts val="500"/>
              </a:spcAft>
              <a:buSzPct val="100000"/>
              <a:buChar char="•"/>
            </a:pPr>
            <a:r>
              <a:rPr lang="en-US" sz="1300" b="1" dirty="0">
                <a:solidFill>
                  <a:schemeClr val="tx1"/>
                </a:solidFill>
              </a:rPr>
              <a:t>C</a:t>
            </a:r>
            <a:r>
              <a:rPr lang="en-US" sz="1300" dirty="0">
                <a:solidFill>
                  <a:schemeClr val="tx1"/>
                </a:solidFill>
              </a:rPr>
              <a:t> = 9 km coarse cell (ECMWF / SMAP); </a:t>
            </a:r>
            <a:r>
              <a:rPr lang="en-US" sz="1300" b="1" dirty="0">
                <a:solidFill>
                  <a:schemeClr val="tx1"/>
                </a:solidFill>
              </a:rPr>
              <a:t>F</a:t>
            </a:r>
            <a:r>
              <a:rPr lang="en-US" sz="1300" dirty="0">
                <a:solidFill>
                  <a:schemeClr val="tx1"/>
                </a:solidFill>
              </a:rPr>
              <a:t> = 200 m fine cell; 2025 F per C</a:t>
            </a:r>
            <a:endParaRPr lang="en-US" sz="1300" dirty="0"/>
          </a:p>
          <a:p>
            <a:pPr marL="177800" indent="-177800">
              <a:spcAft>
                <a:spcPts val="500"/>
              </a:spcAft>
              <a:buSzPct val="100000"/>
              <a:buChar char="•"/>
            </a:pPr>
            <a:r>
              <a:rPr lang="en-US" sz="1300" b="1" dirty="0">
                <a:solidFill>
                  <a:schemeClr val="tx1"/>
                </a:solidFill>
              </a:rPr>
              <a:t>β(C)</a:t>
            </a:r>
            <a:r>
              <a:rPr lang="en-US" sz="1300" dirty="0">
                <a:solidFill>
                  <a:schemeClr val="tx1"/>
                </a:solidFill>
              </a:rPr>
              <a:t>: from time-series regression of coarse SM on aggregated HH (look-up per land cover pre-launch)</a:t>
            </a:r>
            <a:endParaRPr lang="en-US" sz="1300" dirty="0"/>
          </a:p>
          <a:p>
            <a:pPr marL="177800" indent="-177800">
              <a:spcAft>
                <a:spcPts val="500"/>
              </a:spcAft>
              <a:buSzPct val="100000"/>
              <a:buChar char="•"/>
            </a:pPr>
            <a:r>
              <a:rPr lang="en-US" sz="1300" b="1" dirty="0">
                <a:solidFill>
                  <a:schemeClr val="tx1"/>
                </a:solidFill>
              </a:rPr>
              <a:t>Γ = ∂σ</a:t>
            </a:r>
            <a:r>
              <a:rPr lang="en-US" sz="1300" b="1" baseline="-40000" dirty="0">
                <a:solidFill>
                  <a:schemeClr val="tx1"/>
                </a:solidFill>
              </a:rPr>
              <a:t>HH</a:t>
            </a:r>
            <a:r>
              <a:rPr lang="en-US" sz="1300" b="1" dirty="0">
                <a:solidFill>
                  <a:schemeClr val="tx1"/>
                </a:solidFill>
              </a:rPr>
              <a:t>/∂σ</a:t>
            </a:r>
            <a:r>
              <a:rPr lang="en-US" sz="1300" b="1" baseline="-40000" dirty="0">
                <a:solidFill>
                  <a:schemeClr val="tx1"/>
                </a:solidFill>
              </a:rPr>
              <a:t>HV</a:t>
            </a:r>
            <a:r>
              <a:rPr lang="en-US" sz="1300" dirty="0">
                <a:solidFill>
                  <a:schemeClr val="tx1"/>
                </a:solidFill>
              </a:rPr>
              <a:t> within the cell: converts HV vegetation/roughness heterogeneity to HH space</a:t>
            </a:r>
            <a:endParaRPr lang="en-US" sz="1300" dirty="0"/>
          </a:p>
          <a:p>
            <a:pPr marL="177800" indent="-177800">
              <a:spcAft>
                <a:spcPts val="500"/>
              </a:spcAft>
              <a:buSzPct val="100000"/>
              <a:buChar char="•"/>
            </a:pPr>
            <a:r>
              <a:rPr lang="en-US" sz="1300" dirty="0">
                <a:solidFill>
                  <a:schemeClr val="tx1"/>
                </a:solidFill>
              </a:rPr>
              <a:t>Very few free parameters; purely data-driven once β is known</a:t>
            </a:r>
            <a:endParaRPr lang="en-US" sz="1300" dirty="0"/>
          </a:p>
          <a:p>
            <a:pPr marL="177800" indent="-177800">
              <a:spcAft>
                <a:spcPts val="500"/>
              </a:spcAft>
              <a:buSzPct val="100000"/>
              <a:buChar char="•"/>
            </a:pPr>
            <a:r>
              <a:rPr lang="en-US" sz="1300" dirty="0">
                <a:solidFill>
                  <a:schemeClr val="tx1"/>
                </a:solidFill>
              </a:rPr>
              <a:t>Same 12-day track only (no asc/desc mixing) so incidence angle is constant</a:t>
            </a:r>
            <a:endParaRPr lang="en-US" sz="1300" dirty="0"/>
          </a:p>
        </p:txBody>
      </p:sp>
      <p:sp>
        <p:nvSpPr>
          <p:cNvPr id="9" name="figure frame"/>
          <p:cNvSpPr/>
          <p:nvPr/>
        </p:nvSpPr>
        <p:spPr>
          <a:xfrm>
            <a:off x="6720840" y="1280160"/>
            <a:ext cx="4919472" cy="4480560"/>
          </a:xfrm>
          <a:prstGeom prst="roundRect">
            <a:avLst>
              <a:gd name="adj" fmla="val 122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0" name="Image 0" descr="Process flow of the multiscale fusion algorithm. Source: NISAR L3 Soil Moisture ATBD, JPL D-107679 (2023)">    </p:cNvPr>
          <p:cNvPicPr>
            <a:picLocks noChangeAspect="1"/>
          </p:cNvPicPr>
          <p:nvPr/>
        </p:nvPicPr>
        <p:blipFill>
          <a:blip r:embed="rId1"/>
          <a:stretch>
            <a:fillRect/>
          </a:stretch>
        </p:blipFill>
        <p:spPr>
          <a:xfrm>
            <a:off x="6812280" y="2223771"/>
            <a:ext cx="4736592" cy="2593338"/>
          </a:xfrm>
          <a:prstGeom prst="rect">
            <a:avLst/>
          </a:prstGeom>
        </p:spPr>
      </p:pic>
      <p:sp>
        <p:nvSpPr>
          <p:cNvPr id="11" name="Text 7"/>
          <p:cNvSpPr txBox="1"/>
          <p:nvPr/>
        </p:nvSpPr>
        <p:spPr>
          <a:xfrm>
            <a:off x="6720840" y="5806440"/>
            <a:ext cx="4919472" cy="365760"/>
          </a:xfrm>
          <a:prstGeom prst="rect">
            <a:avLst/>
          </a:prstGeom>
          <a:noFill/>
          <a:ln/>
        </p:spPr>
        <p:txBody>
          <a:bodyPr wrap="square" lIns="0" tIns="0" rIns="0" bIns="0" rtlCol="0" anchor="t"/>
          <a:lstStyle/>
          <a:p>
            <a:pPr indent="0" marL="0">
              <a:buNone/>
            </a:pPr>
            <a:r>
              <a:rPr lang="en-US" sz="1100" i="1" dirty="0">
                <a:solidFill>
                  <a:schemeClr val="accent6"/>
                </a:solidFill>
              </a:rPr>
              <a:t>Process flow of the multiscale fusion algorithm. Source: NISAR L3 Soil Moisture ATBD, JPL D-107679 (2023)</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Fusion tested over India: Punjab, Haryana and Central India</a:t>
            </a:r>
            <a:endParaRPr lang="en-US" sz="3200" dirty="0"/>
          </a:p>
        </p:txBody>
      </p:sp>
      <p:sp>
        <p:nvSpPr>
          <p:cNvPr id="4" name="figure frame"/>
          <p:cNvSpPr/>
          <p:nvPr/>
        </p:nvSpPr>
        <p:spPr>
          <a:xfrm>
            <a:off x="548640" y="1280160"/>
            <a:ext cx="3749040" cy="4206240"/>
          </a:xfrm>
          <a:prstGeom prst="roundRect">
            <a:avLst>
              <a:gd name="adj" fmla="val 14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ERA5 9 km (left) vs 200 m retrieval (right): North India, Central India, California. Source: NISAR L3 Soil Moisture ATBD, JPL D-107679 (2023)">    </p:cNvPr>
          <p:cNvPicPr>
            <a:picLocks noChangeAspect="1"/>
          </p:cNvPicPr>
          <p:nvPr/>
        </p:nvPicPr>
        <p:blipFill>
          <a:blip r:embed="rId1"/>
          <a:stretch>
            <a:fillRect/>
          </a:stretch>
        </p:blipFill>
        <p:spPr>
          <a:xfrm>
            <a:off x="992051" y="1371600"/>
            <a:ext cx="2862217" cy="4023360"/>
          </a:xfrm>
          <a:prstGeom prst="rect">
            <a:avLst/>
          </a:prstGeom>
        </p:spPr>
      </p:pic>
      <p:sp>
        <p:nvSpPr>
          <p:cNvPr id="6" name="Text 2"/>
          <p:cNvSpPr txBox="1"/>
          <p:nvPr/>
        </p:nvSpPr>
        <p:spPr>
          <a:xfrm>
            <a:off x="548640" y="5532120"/>
            <a:ext cx="3749040" cy="640080"/>
          </a:xfrm>
          <a:prstGeom prst="rect">
            <a:avLst/>
          </a:prstGeom>
          <a:noFill/>
          <a:ln/>
        </p:spPr>
        <p:txBody>
          <a:bodyPr wrap="square" lIns="0" tIns="0" rIns="0" bIns="0" rtlCol="0" anchor="t"/>
          <a:lstStyle/>
          <a:p>
            <a:pPr indent="0" marL="0">
              <a:buNone/>
            </a:pPr>
            <a:r>
              <a:rPr lang="en-US" sz="1100" i="1" dirty="0">
                <a:solidFill>
                  <a:schemeClr val="accent6"/>
                </a:solidFill>
              </a:rPr>
              <a:t>ERA5 9 km (left) vs 200 m retrieval (right): North India, Central India, California. Source: NISAR L3 Soil Moisture ATBD, JPL D-107679 (2023)</a:t>
            </a:r>
            <a:endParaRPr lang="en-US" sz="1100" dirty="0"/>
          </a:p>
        </p:txBody>
      </p:sp>
      <p:sp>
        <p:nvSpPr>
          <p:cNvPr id="7" name="figure frame"/>
          <p:cNvSpPr/>
          <p:nvPr/>
        </p:nvSpPr>
        <p:spPr>
          <a:xfrm>
            <a:off x="4480560" y="1280160"/>
            <a:ext cx="3474720" cy="2971800"/>
          </a:xfrm>
          <a:prstGeom prst="roundRect">
            <a:avLst>
              <a:gd name="adj" fmla="val 1846"/>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13 fields near Ludhiana, Punjab: RMSE 0.063, ubRMSE 0.037 m³/m³. Source: NISAR L3 Soil Moisture ATBD, JPL D-107679 (2023)">    </p:cNvPr>
          <p:cNvPicPr>
            <a:picLocks noChangeAspect="1"/>
          </p:cNvPicPr>
          <p:nvPr/>
        </p:nvPicPr>
        <p:blipFill>
          <a:blip r:embed="rId2"/>
          <a:stretch>
            <a:fillRect/>
          </a:stretch>
        </p:blipFill>
        <p:spPr>
          <a:xfrm>
            <a:off x="4845645" y="1371600"/>
            <a:ext cx="2744551" cy="2788920"/>
          </a:xfrm>
          <a:prstGeom prst="rect">
            <a:avLst/>
          </a:prstGeom>
        </p:spPr>
      </p:pic>
      <p:sp>
        <p:nvSpPr>
          <p:cNvPr id="9" name="Text 4"/>
          <p:cNvSpPr txBox="1"/>
          <p:nvPr/>
        </p:nvSpPr>
        <p:spPr>
          <a:xfrm>
            <a:off x="4480560" y="4297680"/>
            <a:ext cx="3474720" cy="640080"/>
          </a:xfrm>
          <a:prstGeom prst="rect">
            <a:avLst/>
          </a:prstGeom>
          <a:noFill/>
          <a:ln/>
        </p:spPr>
        <p:txBody>
          <a:bodyPr wrap="square" lIns="0" tIns="0" rIns="0" bIns="0" rtlCol="0" anchor="t"/>
          <a:lstStyle/>
          <a:p>
            <a:pPr indent="0" marL="0">
              <a:buNone/>
            </a:pPr>
            <a:r>
              <a:rPr lang="en-US" sz="1100" i="1" dirty="0">
                <a:solidFill>
                  <a:schemeClr val="accent6"/>
                </a:solidFill>
              </a:rPr>
              <a:t>13 fields near Ludhiana, Punjab: RMSE 0.063, ubRMSE 0.037 m³/m³. Source: NISAR L3 Soil Moisture ATBD, JPL D-107679 (2023)</a:t>
            </a:r>
            <a:endParaRPr lang="en-US" sz="1100" dirty="0"/>
          </a:p>
        </p:txBody>
      </p:sp>
      <p:sp>
        <p:nvSpPr>
          <p:cNvPr id="10" name="card"/>
          <p:cNvSpPr/>
          <p:nvPr/>
        </p:nvSpPr>
        <p:spPr>
          <a:xfrm>
            <a:off x="8138160" y="1280160"/>
            <a:ext cx="3502152" cy="4892040"/>
          </a:xfrm>
          <a:prstGeom prst="roundRect">
            <a:avLst>
              <a:gd name="adj" fmla="val 2089"/>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8321040" y="1435608"/>
            <a:ext cx="420624" cy="420624"/>
          </a:xfrm>
          <a:prstGeom prst="ellipse">
            <a:avLst/>
          </a:prstGeom>
          <a:solidFill>
            <a:schemeClr val="accent1"/>
          </a:solidFill>
          <a:ln/>
        </p:spPr>
      </p:sp>
      <p:pic>
        <p:nvPicPr>
          <p:cNvPr id="12" name="Image 2" descr="MapMarkedAlt icon">    </p:cNvPr>
          <p:cNvPicPr>
            <a:picLocks noChangeAspect="1"/>
          </p:cNvPicPr>
          <p:nvPr/>
        </p:nvPicPr>
        <p:blipFill>
          <a:blip r:embed="rId3"/>
          <a:stretch>
            <a:fillRect/>
          </a:stretch>
        </p:blipFill>
        <p:spPr>
          <a:xfrm>
            <a:off x="8430402" y="1544970"/>
            <a:ext cx="201900" cy="201900"/>
          </a:xfrm>
          <a:prstGeom prst="rect">
            <a:avLst/>
          </a:prstGeom>
        </p:spPr>
      </p:pic>
      <p:sp>
        <p:nvSpPr>
          <p:cNvPr id="13" name="Text 7"/>
          <p:cNvSpPr txBox="1"/>
          <p:nvPr/>
        </p:nvSpPr>
        <p:spPr>
          <a:xfrm>
            <a:off x="8851392" y="141732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What to say</a:t>
            </a:r>
            <a:endParaRPr lang="en-US" sz="1600" dirty="0"/>
          </a:p>
        </p:txBody>
      </p:sp>
      <p:sp>
        <p:nvSpPr>
          <p:cNvPr id="14" name="Text 8"/>
          <p:cNvSpPr txBox="1"/>
          <p:nvPr/>
        </p:nvSpPr>
        <p:spPr>
          <a:xfrm>
            <a:off x="8321040" y="1965960"/>
            <a:ext cx="3136392" cy="41148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Tested with </a:t>
            </a:r>
            <a:r>
              <a:rPr lang="en-US" sz="1250" b="1" dirty="0">
                <a:solidFill>
                  <a:schemeClr val="tx1"/>
                </a:solidFill>
              </a:rPr>
              <a:t>ALOS PALSAR-2</a:t>
            </a:r>
            <a:r>
              <a:rPr lang="en-US" sz="1250" dirty="0">
                <a:solidFill>
                  <a:schemeClr val="tx1"/>
                </a:solidFill>
              </a:rPr>
              <a:t> L-band as NISAR proxy</a:t>
            </a:r>
            <a:endParaRPr lang="en-US" sz="1250" dirty="0"/>
          </a:p>
          <a:p>
            <a:pPr marL="177800" indent="-177800">
              <a:spcAft>
                <a:spcPts val="400"/>
              </a:spcAft>
              <a:buSzPct val="100000"/>
              <a:buChar char="•"/>
            </a:pPr>
            <a:r>
              <a:rPr lang="en-US" sz="1250" dirty="0">
                <a:solidFill>
                  <a:schemeClr val="tx1"/>
                </a:solidFill>
              </a:rPr>
              <a:t>Regions: </a:t>
            </a:r>
            <a:r>
              <a:rPr lang="en-US" sz="1250" b="1" dirty="0">
                <a:solidFill>
                  <a:schemeClr val="tx1"/>
                </a:solidFill>
              </a:rPr>
              <a:t>North India</a:t>
            </a:r>
            <a:r>
              <a:rPr lang="en-US" sz="1250" dirty="0">
                <a:solidFill>
                  <a:schemeClr val="tx1"/>
                </a:solidFill>
              </a:rPr>
              <a:t> (Punjab–Haryana, Oct 2020), </a:t>
            </a:r>
            <a:r>
              <a:rPr lang="en-US" sz="1250" b="1" dirty="0">
                <a:solidFill>
                  <a:schemeClr val="tx1"/>
                </a:solidFill>
              </a:rPr>
              <a:t>Central India</a:t>
            </a:r>
            <a:r>
              <a:rPr lang="en-US" sz="1250" dirty="0">
                <a:solidFill>
                  <a:schemeClr val="tx1"/>
                </a:solidFill>
              </a:rPr>
              <a:t> (Hoshangabad, Mar 2016)</a:t>
            </a:r>
            <a:endParaRPr lang="en-US" sz="1250" dirty="0"/>
          </a:p>
          <a:p>
            <a:pPr marL="177800" indent="-177800">
              <a:spcAft>
                <a:spcPts val="400"/>
              </a:spcAft>
              <a:buSzPct val="100000"/>
              <a:buChar char="•"/>
            </a:pPr>
            <a:r>
              <a:rPr lang="en-US" sz="1250" dirty="0">
                <a:solidFill>
                  <a:schemeClr val="tx1"/>
                </a:solidFill>
              </a:rPr>
              <a:t>Punjab validation </a:t>
            </a:r>
            <a:r>
              <a:rPr lang="en-US" sz="1250" b="1" dirty="0">
                <a:solidFill>
                  <a:schemeClr val="tx1"/>
                </a:solidFill>
              </a:rPr>
              <a:t>ubRMSE 0.037 m³/m³</a:t>
            </a:r>
            <a:endParaRPr lang="en-US" sz="1250" dirty="0"/>
          </a:p>
          <a:p>
            <a:pPr marL="177800" indent="-177800">
              <a:spcAft>
                <a:spcPts val="400"/>
              </a:spcAft>
              <a:buSzPct val="100000"/>
              <a:buChar char="•"/>
            </a:pPr>
            <a:r>
              <a:rPr lang="en-US" sz="1250" dirty="0">
                <a:solidFill>
                  <a:schemeClr val="tx1"/>
                </a:solidFill>
              </a:rPr>
              <a:t>Compared with SMAP/Sentinel-1 1 km: PALSAR-2 slightly wetter, because L-band senses deeper than C-band</a:t>
            </a:r>
            <a:endParaRPr lang="en-US" sz="1250" dirty="0"/>
          </a:p>
        </p:txBody>
      </p:sp>
      <p:sp>
        <p:nvSpPr>
          <p:cNvPr id="15" name="insight"/>
          <p:cNvSpPr/>
          <p:nvPr/>
        </p:nvSpPr>
        <p:spPr>
          <a:xfrm>
            <a:off x="4480560" y="5074920"/>
            <a:ext cx="3474720" cy="1097280"/>
          </a:xfrm>
          <a:prstGeom prst="roundRect">
            <a:avLst>
              <a:gd name="adj" fmla="val 6667"/>
            </a:avLst>
          </a:prstGeom>
          <a:solidFill>
            <a:schemeClr val="bg2"/>
          </a:solidFill>
          <a:ln/>
        </p:spPr>
      </p:sp>
      <p:sp>
        <p:nvSpPr>
          <p:cNvPr id="16" name="icon circle"/>
          <p:cNvSpPr/>
          <p:nvPr/>
        </p:nvSpPr>
        <p:spPr>
          <a:xfrm>
            <a:off x="4617720" y="5385816"/>
            <a:ext cx="475488" cy="475488"/>
          </a:xfrm>
          <a:prstGeom prst="ellipse">
            <a:avLst/>
          </a:prstGeom>
          <a:solidFill>
            <a:schemeClr val="accent3"/>
          </a:solidFill>
          <a:ln/>
        </p:spPr>
      </p:sp>
      <p:pic>
        <p:nvPicPr>
          <p:cNvPr id="17" name="Image 3" descr="Lightbulb icon">    </p:cNvPr>
          <p:cNvPicPr>
            <a:picLocks noChangeAspect="1"/>
          </p:cNvPicPr>
          <p:nvPr/>
        </p:nvPicPr>
        <p:blipFill>
          <a:blip r:embed="rId4"/>
          <a:stretch>
            <a:fillRect/>
          </a:stretch>
        </p:blipFill>
        <p:spPr>
          <a:xfrm>
            <a:off x="4741347" y="5509443"/>
            <a:ext cx="228234" cy="228234"/>
          </a:xfrm>
          <a:prstGeom prst="rect">
            <a:avLst/>
          </a:prstGeom>
        </p:spPr>
      </p:pic>
      <p:sp>
        <p:nvSpPr>
          <p:cNvPr id="18" name="Text 11"/>
          <p:cNvSpPr txBox="1"/>
          <p:nvPr/>
        </p:nvSpPr>
        <p:spPr>
          <a:xfrm>
            <a:off x="5257800" y="5111496"/>
            <a:ext cx="2560320" cy="102412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Use for India: field-scale soil moisture for </a:t>
            </a:r>
            <a:r>
              <a:rPr lang="en-US" sz="1350" b="1" dirty="0">
                <a:solidFill>
                  <a:schemeClr val="tx1"/>
                </a:solidFill>
              </a:rPr>
              <a:t>drought, irrigation and crop insurance</a:t>
            </a:r>
            <a:r>
              <a:rPr lang="en-US" sz="1350" dirty="0">
                <a:solidFill>
                  <a:schemeClr val="tx1"/>
                </a:solidFill>
              </a:rPr>
              <a:t>, through kharif clouds.</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NISAR end-to-end processing workflow</a:t>
            </a:r>
            <a:endParaRPr lang="en-US" sz="3200" dirty="0"/>
          </a:p>
        </p:txBody>
      </p:sp>
      <p:sp>
        <p:nvSpPr>
          <p:cNvPr id="4" name="figure frame"/>
          <p:cNvSpPr/>
          <p:nvPr/>
        </p:nvSpPr>
        <p:spPr>
          <a:xfrm>
            <a:off x="548640" y="1280160"/>
            <a:ext cx="5212080" cy="3429000"/>
          </a:xfrm>
          <a:prstGeom prst="roundRect">
            <a:avLst>
              <a:gd name="adj" fmla="val 16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Algorithm flow of the NISAR L3 soil moisture product. Source: NISAR L3 Soil Moisture ATBD, JPL D-107679 (2023)">    </p:cNvPr>
          <p:cNvPicPr>
            <a:picLocks noChangeAspect="1"/>
          </p:cNvPicPr>
          <p:nvPr/>
        </p:nvPicPr>
        <p:blipFill>
          <a:blip r:embed="rId1"/>
          <a:stretch>
            <a:fillRect/>
          </a:stretch>
        </p:blipFill>
        <p:spPr>
          <a:xfrm>
            <a:off x="640080" y="1408758"/>
            <a:ext cx="5029200" cy="3171804"/>
          </a:xfrm>
          <a:prstGeom prst="rect">
            <a:avLst/>
          </a:prstGeom>
        </p:spPr>
      </p:pic>
      <p:sp>
        <p:nvSpPr>
          <p:cNvPr id="6" name="Text 2"/>
          <p:cNvSpPr txBox="1"/>
          <p:nvPr/>
        </p:nvSpPr>
        <p:spPr>
          <a:xfrm>
            <a:off x="548640" y="4754880"/>
            <a:ext cx="5212080" cy="365760"/>
          </a:xfrm>
          <a:prstGeom prst="rect">
            <a:avLst/>
          </a:prstGeom>
          <a:noFill/>
          <a:ln/>
        </p:spPr>
        <p:txBody>
          <a:bodyPr wrap="square" lIns="0" tIns="0" rIns="0" bIns="0" rtlCol="0" anchor="t"/>
          <a:lstStyle/>
          <a:p>
            <a:pPr indent="0" marL="0">
              <a:buNone/>
            </a:pPr>
            <a:r>
              <a:rPr lang="en-US" sz="1100" i="1" dirty="0">
                <a:solidFill>
                  <a:schemeClr val="accent6"/>
                </a:solidFill>
              </a:rPr>
              <a:t>Algorithm flow of the NISAR L3 soil moisture product. Source: NISAR L3 Soil Moisture ATBD, JPL D-107679 (2023)</a:t>
            </a:r>
            <a:endParaRPr lang="en-US" sz="1100" dirty="0"/>
          </a:p>
        </p:txBody>
      </p:sp>
      <p:sp>
        <p:nvSpPr>
          <p:cNvPr id="7" name="step number"/>
          <p:cNvSpPr/>
          <p:nvPr/>
        </p:nvSpPr>
        <p:spPr>
          <a:xfrm>
            <a:off x="5989320" y="1435608"/>
            <a:ext cx="384048" cy="384048"/>
          </a:xfrm>
          <a:prstGeom prst="ellipse">
            <a:avLst/>
          </a:prstGeom>
          <a:solidFill>
            <a:schemeClr val="accent1"/>
          </a:solidFill>
          <a:ln/>
        </p:spPr>
      </p:sp>
      <p:sp>
        <p:nvSpPr>
          <p:cNvPr id="8" name="Text 4"/>
          <p:cNvSpPr txBox="1"/>
          <p:nvPr/>
        </p:nvSpPr>
        <p:spPr>
          <a:xfrm>
            <a:off x="5989320" y="14356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5"/>
          <p:cNvSpPr txBox="1"/>
          <p:nvPr/>
        </p:nvSpPr>
        <p:spPr>
          <a:xfrm>
            <a:off x="6492240" y="1280160"/>
            <a:ext cx="5148072" cy="649224"/>
          </a:xfrm>
          <a:prstGeom prst="rect">
            <a:avLst/>
          </a:prstGeom>
          <a:noFill/>
          <a:ln/>
        </p:spPr>
        <p:txBody>
          <a:bodyPr wrap="square" lIns="0" tIns="0" rIns="0" bIns="0" rtlCol="0" anchor="ctr"/>
          <a:lstStyle/>
          <a:p>
            <a:pPr indent="0" marL="0">
              <a:buNone/>
            </a:pPr>
            <a:r>
              <a:rPr lang="en-US" sz="1250" dirty="0">
                <a:solidFill>
                  <a:schemeClr val="tx1"/>
                </a:solidFill>
              </a:rPr>
              <a:t>Input: </a:t>
            </a:r>
            <a:r>
              <a:rPr lang="en-US" sz="1250" b="1" dirty="0">
                <a:solidFill>
                  <a:schemeClr val="tx1"/>
                </a:solidFill>
              </a:rPr>
              <a:t>L2 GCOV</a:t>
            </a:r>
            <a:r>
              <a:rPr lang="en-US" sz="1250" dirty="0">
                <a:solidFill>
                  <a:schemeClr val="tx1"/>
                </a:solidFill>
              </a:rPr>
              <a:t> σ⁰ (HH, HV), ~10 m, terrain corrected</a:t>
            </a:r>
            <a:endParaRPr lang="en-US" sz="1250" dirty="0"/>
          </a:p>
        </p:txBody>
      </p:sp>
      <p:sp>
        <p:nvSpPr>
          <p:cNvPr id="10" name="step number"/>
          <p:cNvSpPr/>
          <p:nvPr/>
        </p:nvSpPr>
        <p:spPr>
          <a:xfrm>
            <a:off x="5989320" y="2130552"/>
            <a:ext cx="384048" cy="384048"/>
          </a:xfrm>
          <a:prstGeom prst="ellipse">
            <a:avLst/>
          </a:prstGeom>
          <a:solidFill>
            <a:schemeClr val="accent1"/>
          </a:solidFill>
          <a:ln/>
        </p:spPr>
      </p:sp>
      <p:sp>
        <p:nvSpPr>
          <p:cNvPr id="11" name="Text 7"/>
          <p:cNvSpPr txBox="1"/>
          <p:nvPr/>
        </p:nvSpPr>
        <p:spPr>
          <a:xfrm>
            <a:off x="5989320" y="21305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8"/>
          <p:cNvSpPr txBox="1"/>
          <p:nvPr/>
        </p:nvSpPr>
        <p:spPr>
          <a:xfrm>
            <a:off x="6492240" y="1975104"/>
            <a:ext cx="5148072" cy="649224"/>
          </a:xfrm>
          <a:prstGeom prst="rect">
            <a:avLst/>
          </a:prstGeom>
          <a:noFill/>
          <a:ln/>
        </p:spPr>
        <p:txBody>
          <a:bodyPr wrap="square" lIns="0" tIns="0" rIns="0" bIns="0" rtlCol="0" anchor="ctr"/>
          <a:lstStyle/>
          <a:p>
            <a:pPr indent="0" marL="0">
              <a:buNone/>
            </a:pPr>
            <a:r>
              <a:rPr lang="en-US" sz="1250" b="1" dirty="0">
                <a:solidFill>
                  <a:schemeClr val="tx1"/>
                </a:solidFill>
              </a:rPr>
              <a:t>Hybrid filter</a:t>
            </a:r>
            <a:r>
              <a:rPr lang="en-US" sz="1250" dirty="0">
                <a:solidFill>
                  <a:schemeClr val="tx1"/>
                </a:solidFill>
              </a:rPr>
              <a:t>: per-cell mean and SD; 3×3 median where SD high; drop outliers</a:t>
            </a:r>
            <a:endParaRPr lang="en-US" sz="1250" dirty="0"/>
          </a:p>
        </p:txBody>
      </p:sp>
      <p:sp>
        <p:nvSpPr>
          <p:cNvPr id="13" name="step number"/>
          <p:cNvSpPr/>
          <p:nvPr/>
        </p:nvSpPr>
        <p:spPr>
          <a:xfrm>
            <a:off x="5989320" y="2825496"/>
            <a:ext cx="384048" cy="384048"/>
          </a:xfrm>
          <a:prstGeom prst="ellipse">
            <a:avLst/>
          </a:prstGeom>
          <a:solidFill>
            <a:schemeClr val="accent1"/>
          </a:solidFill>
          <a:ln/>
        </p:spPr>
      </p:sp>
      <p:sp>
        <p:nvSpPr>
          <p:cNvPr id="14" name="Text 10"/>
          <p:cNvSpPr txBox="1"/>
          <p:nvPr/>
        </p:nvSpPr>
        <p:spPr>
          <a:xfrm>
            <a:off x="5989320" y="28254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1"/>
          <p:cNvSpPr txBox="1"/>
          <p:nvPr/>
        </p:nvSpPr>
        <p:spPr>
          <a:xfrm>
            <a:off x="6492240" y="2670048"/>
            <a:ext cx="5148072" cy="649224"/>
          </a:xfrm>
          <a:prstGeom prst="rect">
            <a:avLst/>
          </a:prstGeom>
          <a:noFill/>
          <a:ln/>
        </p:spPr>
        <p:txBody>
          <a:bodyPr wrap="square" lIns="0" tIns="0" rIns="0" bIns="0" rtlCol="0" anchor="ctr"/>
          <a:lstStyle/>
          <a:p>
            <a:pPr indent="0" marL="0">
              <a:buNone/>
            </a:pPr>
            <a:r>
              <a:rPr lang="en-US" sz="1250" dirty="0">
                <a:solidFill>
                  <a:schemeClr val="tx1"/>
                </a:solidFill>
              </a:rPr>
              <a:t>Average to </a:t>
            </a:r>
            <a:r>
              <a:rPr lang="en-US" sz="1250" b="1" dirty="0">
                <a:solidFill>
                  <a:schemeClr val="tx1"/>
                </a:solidFill>
              </a:rPr>
              <a:t>200 m EASE-Grid 2.0</a:t>
            </a:r>
            <a:endParaRPr lang="en-US" sz="1250" dirty="0"/>
          </a:p>
        </p:txBody>
      </p:sp>
      <p:sp>
        <p:nvSpPr>
          <p:cNvPr id="16" name="step number"/>
          <p:cNvSpPr/>
          <p:nvPr/>
        </p:nvSpPr>
        <p:spPr>
          <a:xfrm>
            <a:off x="5989320" y="3520440"/>
            <a:ext cx="384048" cy="384048"/>
          </a:xfrm>
          <a:prstGeom prst="ellipse">
            <a:avLst/>
          </a:prstGeom>
          <a:solidFill>
            <a:schemeClr val="accent1"/>
          </a:solidFill>
          <a:ln/>
        </p:spPr>
      </p:sp>
      <p:sp>
        <p:nvSpPr>
          <p:cNvPr id="17" name="Text 13"/>
          <p:cNvSpPr txBox="1"/>
          <p:nvPr/>
        </p:nvSpPr>
        <p:spPr>
          <a:xfrm>
            <a:off x="5989320" y="3520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4"/>
          <p:cNvSpPr txBox="1"/>
          <p:nvPr/>
        </p:nvSpPr>
        <p:spPr>
          <a:xfrm>
            <a:off x="6492240" y="3364992"/>
            <a:ext cx="5148072" cy="649224"/>
          </a:xfrm>
          <a:prstGeom prst="rect">
            <a:avLst/>
          </a:prstGeom>
          <a:noFill/>
          <a:ln/>
        </p:spPr>
        <p:txBody>
          <a:bodyPr wrap="square" lIns="0" tIns="0" rIns="0" bIns="0" rtlCol="0" anchor="ctr"/>
          <a:lstStyle/>
          <a:p>
            <a:pPr indent="0" marL="0">
              <a:buNone/>
            </a:pPr>
            <a:r>
              <a:rPr lang="en-US" sz="1250" dirty="0">
                <a:solidFill>
                  <a:schemeClr val="tx1"/>
                </a:solidFill>
              </a:rPr>
              <a:t>Ancillary: ECMWF SM, ESA WorldCover, crop maps, VWC (MODIS NDVI climatology), SoilGrids texture, DEM, rain, snow, frozen ground</a:t>
            </a:r>
            <a:endParaRPr lang="en-US" sz="1250" dirty="0"/>
          </a:p>
        </p:txBody>
      </p:sp>
      <p:sp>
        <p:nvSpPr>
          <p:cNvPr id="19" name="step number"/>
          <p:cNvSpPr/>
          <p:nvPr/>
        </p:nvSpPr>
        <p:spPr>
          <a:xfrm>
            <a:off x="5989320" y="4215384"/>
            <a:ext cx="384048" cy="384048"/>
          </a:xfrm>
          <a:prstGeom prst="ellipse">
            <a:avLst/>
          </a:prstGeom>
          <a:solidFill>
            <a:schemeClr val="accent1"/>
          </a:solidFill>
          <a:ln/>
        </p:spPr>
      </p:sp>
      <p:sp>
        <p:nvSpPr>
          <p:cNvPr id="20" name="Text 16"/>
          <p:cNvSpPr txBox="1"/>
          <p:nvPr/>
        </p:nvSpPr>
        <p:spPr>
          <a:xfrm>
            <a:off x="5989320" y="4215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7"/>
          <p:cNvSpPr txBox="1"/>
          <p:nvPr/>
        </p:nvSpPr>
        <p:spPr>
          <a:xfrm>
            <a:off x="6492240" y="4059936"/>
            <a:ext cx="5148072" cy="649224"/>
          </a:xfrm>
          <a:prstGeom prst="rect">
            <a:avLst/>
          </a:prstGeom>
          <a:noFill/>
          <a:ln/>
        </p:spPr>
        <p:txBody>
          <a:bodyPr wrap="square" lIns="0" tIns="0" rIns="0" bIns="0" rtlCol="0" anchor="ctr"/>
          <a:lstStyle/>
          <a:p>
            <a:pPr indent="0" marL="0">
              <a:buNone/>
            </a:pPr>
            <a:r>
              <a:rPr lang="en-US" sz="1250" dirty="0">
                <a:solidFill>
                  <a:schemeClr val="tx1"/>
                </a:solidFill>
              </a:rPr>
              <a:t>Flags: skip or flag pixels</a:t>
            </a:r>
            <a:endParaRPr lang="en-US" sz="1250" dirty="0"/>
          </a:p>
        </p:txBody>
      </p:sp>
      <p:sp>
        <p:nvSpPr>
          <p:cNvPr id="22" name="step number"/>
          <p:cNvSpPr/>
          <p:nvPr/>
        </p:nvSpPr>
        <p:spPr>
          <a:xfrm>
            <a:off x="5989320" y="4910328"/>
            <a:ext cx="384048" cy="384048"/>
          </a:xfrm>
          <a:prstGeom prst="ellipse">
            <a:avLst/>
          </a:prstGeom>
          <a:solidFill>
            <a:schemeClr val="accent1"/>
          </a:solidFill>
          <a:ln/>
        </p:spPr>
      </p:sp>
      <p:sp>
        <p:nvSpPr>
          <p:cNvPr id="23" name="Text 19"/>
          <p:cNvSpPr txBox="1"/>
          <p:nvPr/>
        </p:nvSpPr>
        <p:spPr>
          <a:xfrm>
            <a:off x="5989320" y="49103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Text 20"/>
          <p:cNvSpPr txBox="1"/>
          <p:nvPr/>
        </p:nvSpPr>
        <p:spPr>
          <a:xfrm>
            <a:off x="6492240" y="4754880"/>
            <a:ext cx="5148072" cy="649224"/>
          </a:xfrm>
          <a:prstGeom prst="rect">
            <a:avLst/>
          </a:prstGeom>
          <a:noFill/>
          <a:ln/>
        </p:spPr>
        <p:txBody>
          <a:bodyPr wrap="square" lIns="0" tIns="0" rIns="0" bIns="0" rtlCol="0" anchor="ctr"/>
          <a:lstStyle/>
          <a:p>
            <a:pPr indent="0" marL="0">
              <a:buNone/>
            </a:pPr>
            <a:r>
              <a:rPr lang="en-US" sz="1250" dirty="0">
                <a:solidFill>
                  <a:schemeClr val="tx1"/>
                </a:solidFill>
              </a:rPr>
              <a:t>Run </a:t>
            </a:r>
            <a:r>
              <a:rPr lang="en-US" sz="1250" b="1" dirty="0">
                <a:solidFill>
                  <a:schemeClr val="tx1"/>
                </a:solidFill>
              </a:rPr>
              <a:t>PMI, TSR, DSG</a:t>
            </a:r>
            <a:r>
              <a:rPr lang="en-US" sz="1250" dirty="0">
                <a:solidFill>
                  <a:schemeClr val="tx1"/>
                </a:solidFill>
              </a:rPr>
              <a:t> → HDF5 with m</a:t>
            </a:r>
            <a:r>
              <a:rPr lang="en-US" sz="1250" baseline="-40000" dirty="0">
                <a:solidFill>
                  <a:schemeClr val="tx1"/>
                </a:solidFill>
              </a:rPr>
              <a:t>v</a:t>
            </a:r>
            <a:r>
              <a:rPr lang="en-US" sz="1250" dirty="0">
                <a:solidFill>
                  <a:schemeClr val="tx1"/>
                </a:solidFill>
              </a:rPr>
              <a:t>, uncertainty, flags</a:t>
            </a:r>
            <a:endParaRPr lang="en-US" sz="1250" dirty="0"/>
          </a:p>
        </p:txBody>
      </p:sp>
      <p:sp>
        <p:nvSpPr>
          <p:cNvPr id="25" name="insight"/>
          <p:cNvSpPr/>
          <p:nvPr/>
        </p:nvSpPr>
        <p:spPr>
          <a:xfrm>
            <a:off x="548640" y="5349240"/>
            <a:ext cx="11094415" cy="822960"/>
          </a:xfrm>
          <a:prstGeom prst="roundRect">
            <a:avLst>
              <a:gd name="adj" fmla="val 8889"/>
            </a:avLst>
          </a:prstGeom>
          <a:solidFill>
            <a:schemeClr val="bg2"/>
          </a:solidFill>
          <a:ln/>
        </p:spPr>
      </p:sp>
      <p:sp>
        <p:nvSpPr>
          <p:cNvPr id="26" name="icon circle"/>
          <p:cNvSpPr/>
          <p:nvPr/>
        </p:nvSpPr>
        <p:spPr>
          <a:xfrm>
            <a:off x="685800" y="5522976"/>
            <a:ext cx="475488" cy="475488"/>
          </a:xfrm>
          <a:prstGeom prst="ellipse">
            <a:avLst/>
          </a:prstGeom>
          <a:solidFill>
            <a:schemeClr val="accent3"/>
          </a:solidFill>
          <a:ln/>
        </p:spPr>
      </p:sp>
      <p:pic>
        <p:nvPicPr>
          <p:cNvPr id="27" name="Image 1" descr="Lightbulb icon">    </p:cNvPr>
          <p:cNvPicPr>
            <a:picLocks noChangeAspect="1"/>
          </p:cNvPicPr>
          <p:nvPr/>
        </p:nvPicPr>
        <p:blipFill>
          <a:blip r:embed="rId2"/>
          <a:stretch>
            <a:fillRect/>
          </a:stretch>
        </p:blipFill>
        <p:spPr>
          <a:xfrm>
            <a:off x="809427" y="5646603"/>
            <a:ext cx="228234" cy="228234"/>
          </a:xfrm>
          <a:prstGeom prst="rect">
            <a:avLst/>
          </a:prstGeom>
        </p:spPr>
      </p:pic>
      <p:sp>
        <p:nvSpPr>
          <p:cNvPr id="28" name="Text 23"/>
          <p:cNvSpPr txBox="1"/>
          <p:nvPr/>
        </p:nvSpPr>
        <p:spPr>
          <a:xfrm>
            <a:off x="1325880" y="5385816"/>
            <a:ext cx="10180015" cy="74980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ISRO's own product: NRSC distributes an </a:t>
            </a:r>
            <a:r>
              <a:rPr lang="en-US" sz="1400" b="1" dirty="0">
                <a:solidFill>
                  <a:schemeClr val="tx1"/>
                </a:solidFill>
              </a:rPr>
              <a:t>EOS-04 (C-band SAR) surface soil moisture</a:t>
            </a:r>
            <a:r>
              <a:rPr lang="en-US" sz="1400" dirty="0">
                <a:solidFill>
                  <a:schemeClr val="tx1"/>
                </a:solidFill>
              </a:rPr>
              <a:t> product; its algorithm document is on Bhoonidhi.</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Choosing a method: comparison matrix</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600200"/>
                <a:gridCol w="1965960"/>
                <a:gridCol w="1920240"/>
                <a:gridCol w="1965960"/>
                <a:gridCol w="2148840"/>
                <a:gridCol w="1490472"/>
              </a:tblGrid>
              <a:tr h="54864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Needs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Strength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Passive τ-ω</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SMAP SCA, SMOS L-MEB, LPRM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B</a:t>
                      </a:r>
                      <a:r>
                        <a:rPr lang="en-US" sz="1150" dirty="0">
                          <a:solidFill>
                            <a:schemeClr val="tx1"/>
                          </a:solidFill>
                          <a:latin typeface="Calibri" pitchFamily="34" charset="0"/>
                          <a:ea typeface="Calibri" pitchFamily="34" charset="-122"/>
                          <a:cs typeface="Calibri" pitchFamily="34" charset="-120"/>
                        </a:rPr>
                        <a:t>, 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VWC (NDVI)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Accurate (~0.04), global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Coarse; RFI; dense vegetation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9–40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Physical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IEM/AIEM, NMM3D LUT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σ⁰, s, l, θ</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Physics-based, transferable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Roughness data, heavy computing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Semi-empirical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Oh, Dubois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Multi-pol σ⁰</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Simple, solves m</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 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Bare or sparse soil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Empirical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σ⁰ = a + b·m</a:t>
                      </a:r>
                      <a:r>
                        <a:rPr lang="en-US" sz="1150" baseline="-40000" dirty="0">
                          <a:solidFill>
                            <a:schemeClr val="tx1"/>
                          </a:solidFill>
                          <a:latin typeface="Calibri" pitchFamily="34" charset="0"/>
                          <a:ea typeface="Calibri" pitchFamily="34" charset="-122"/>
                          <a:cs typeface="Calibri" pitchFamily="34" charset="-120"/>
                        </a:rPr>
                        <a:t>v</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σ⁰ + in situ</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Easy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Site-specific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Water cloud model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S-1 + S-2 + WCM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σ⁰, NDVI/LAI, field data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Handles crops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Calibrate A–D per crop</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10 m–1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Change detection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TU Wien, alpha ratio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Long σ⁰ series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No roughness needed; operational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Relative; crop growth bias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1–25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Fusion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SMAP/S-1, NISAR DSG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Coarse SM + 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Fine and accurate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Depends on β, Γ</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200 m–3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Machine learning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RF, ANN, LSTM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σ⁰, NDVI, terrain, soil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Captures non-linearity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Needs training data; black box</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Any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Likely interview questions with one-line answers</a:t>
            </a:r>
            <a:endParaRPr lang="en-US" sz="3200" dirty="0"/>
          </a:p>
        </p:txBody>
      </p:sp>
      <p:sp>
        <p:nvSpPr>
          <p:cNvPr id="4" name="card"/>
          <p:cNvSpPr/>
          <p:nvPr/>
        </p:nvSpPr>
        <p:spPr>
          <a:xfrm>
            <a:off x="54864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35024"/>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Why L-band?</a:t>
            </a:r>
            <a:endParaRPr lang="en-US" sz="1300" dirty="0"/>
          </a:p>
        </p:txBody>
      </p:sp>
      <p:sp>
        <p:nvSpPr>
          <p:cNvPr id="6" name="Text 3"/>
          <p:cNvSpPr txBox="1"/>
          <p:nvPr/>
        </p:nvSpPr>
        <p:spPr>
          <a:xfrm>
            <a:off x="685800" y="1700784"/>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Senses ~5 cm, sees through crops up to ~5 kg/m² VWC, little atmosphere effect</a:t>
            </a:r>
            <a:endParaRPr lang="en-US" sz="1200" dirty="0"/>
          </a:p>
        </p:txBody>
      </p:sp>
      <p:sp>
        <p:nvSpPr>
          <p:cNvPr id="7" name="card"/>
          <p:cNvSpPr/>
          <p:nvPr/>
        </p:nvSpPr>
        <p:spPr>
          <a:xfrm>
            <a:off x="429768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434840" y="1335024"/>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What is the τ-ω model?</a:t>
            </a:r>
            <a:endParaRPr lang="en-US" sz="1300" dirty="0"/>
          </a:p>
        </p:txBody>
      </p:sp>
      <p:sp>
        <p:nvSpPr>
          <p:cNvPr id="9" name="Text 6"/>
          <p:cNvSpPr txBox="1"/>
          <p:nvPr/>
        </p:nvSpPr>
        <p:spPr>
          <a:xfrm>
            <a:off x="4434840" y="1700784"/>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T</a:t>
            </a:r>
            <a:r>
              <a:rPr lang="en-US" sz="1200" b="1" baseline="-40000" dirty="0">
                <a:solidFill>
                  <a:schemeClr val="accent1"/>
                </a:solidFill>
              </a:rPr>
              <a:t>B</a:t>
            </a:r>
            <a:r>
              <a:rPr lang="en-US" sz="1200" b="1" dirty="0">
                <a:solidFill>
                  <a:schemeClr val="accent1"/>
                </a:solidFill>
              </a:rPr>
              <a:t> = soil emission × γ + canopy emission (direct + soil-reflected); τ = b·VWC</a:t>
            </a:r>
            <a:endParaRPr lang="en-US" sz="1200" dirty="0"/>
          </a:p>
        </p:txBody>
      </p:sp>
      <p:sp>
        <p:nvSpPr>
          <p:cNvPr id="10" name="card"/>
          <p:cNvSpPr/>
          <p:nvPr/>
        </p:nvSpPr>
        <p:spPr>
          <a:xfrm>
            <a:off x="804672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183880" y="1335024"/>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How is roughness removed?</a:t>
            </a:r>
            <a:endParaRPr lang="en-US" sz="1300" dirty="0"/>
          </a:p>
        </p:txBody>
      </p:sp>
      <p:sp>
        <p:nvSpPr>
          <p:cNvPr id="12" name="Text 9"/>
          <p:cNvSpPr txBox="1"/>
          <p:nvPr/>
        </p:nvSpPr>
        <p:spPr>
          <a:xfrm>
            <a:off x="8183880" y="1700784"/>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Passive: h–Q model. Active: multi-pol (Oh), LUT inversion, or fixed s in a time series</a:t>
            </a:r>
            <a:endParaRPr lang="en-US" sz="1200" dirty="0"/>
          </a:p>
        </p:txBody>
      </p:sp>
      <p:sp>
        <p:nvSpPr>
          <p:cNvPr id="13" name="card"/>
          <p:cNvSpPr/>
          <p:nvPr/>
        </p:nvSpPr>
        <p:spPr>
          <a:xfrm>
            <a:off x="54864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85800" y="2633472"/>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How is vegetation removed?</a:t>
            </a:r>
            <a:endParaRPr lang="en-US" sz="1300" dirty="0"/>
          </a:p>
        </p:txBody>
      </p:sp>
      <p:sp>
        <p:nvSpPr>
          <p:cNvPr id="15" name="Text 12"/>
          <p:cNvSpPr txBox="1"/>
          <p:nvPr/>
        </p:nvSpPr>
        <p:spPr>
          <a:xfrm>
            <a:off x="685800" y="2999232"/>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Passive: τ from NDVI. Active: water cloud model, HV-based correction, crop data cubes</a:t>
            </a:r>
            <a:endParaRPr lang="en-US" sz="1200" dirty="0"/>
          </a:p>
        </p:txBody>
      </p:sp>
      <p:sp>
        <p:nvSpPr>
          <p:cNvPr id="16" name="card"/>
          <p:cNvSpPr/>
          <p:nvPr/>
        </p:nvSpPr>
        <p:spPr>
          <a:xfrm>
            <a:off x="429768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4434840" y="2633472"/>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Passive vs active?</a:t>
            </a:r>
            <a:endParaRPr lang="en-US" sz="1300" dirty="0"/>
          </a:p>
        </p:txBody>
      </p:sp>
      <p:sp>
        <p:nvSpPr>
          <p:cNvPr id="18" name="Text 15"/>
          <p:cNvSpPr txBox="1"/>
          <p:nvPr/>
        </p:nvSpPr>
        <p:spPr>
          <a:xfrm>
            <a:off x="4434840" y="2999232"/>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T</a:t>
            </a:r>
            <a:r>
              <a:rPr lang="en-US" sz="1200" b="1" baseline="-40000" dirty="0">
                <a:solidFill>
                  <a:schemeClr val="accent1"/>
                </a:solidFill>
              </a:rPr>
              <a:t>B</a:t>
            </a:r>
            <a:r>
              <a:rPr lang="en-US" sz="1200" b="1" dirty="0">
                <a:solidFill>
                  <a:schemeClr val="accent1"/>
                </a:solidFill>
              </a:rPr>
              <a:t>, ~40 km, ~0.04 vs σ⁰, 10 m–1 km, ~0.06, noisier</a:t>
            </a:r>
            <a:endParaRPr lang="en-US" sz="1200" dirty="0"/>
          </a:p>
        </p:txBody>
      </p:sp>
      <p:sp>
        <p:nvSpPr>
          <p:cNvPr id="19" name="card"/>
          <p:cNvSpPr/>
          <p:nvPr/>
        </p:nvSpPr>
        <p:spPr>
          <a:xfrm>
            <a:off x="804672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8183880" y="2633472"/>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Change detection assumption?</a:t>
            </a:r>
            <a:endParaRPr lang="en-US" sz="1300" dirty="0"/>
          </a:p>
        </p:txBody>
      </p:sp>
      <p:sp>
        <p:nvSpPr>
          <p:cNvPr id="21" name="Text 18"/>
          <p:cNvSpPr txBox="1"/>
          <p:nvPr/>
        </p:nvSpPr>
        <p:spPr>
          <a:xfrm>
            <a:off x="8183880" y="2999232"/>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Roughness and vegetation constant; output is relative wetness 0–1</a:t>
            </a:r>
            <a:endParaRPr lang="en-US" sz="1200" dirty="0"/>
          </a:p>
        </p:txBody>
      </p:sp>
      <p:sp>
        <p:nvSpPr>
          <p:cNvPr id="22" name="card"/>
          <p:cNvSpPr/>
          <p:nvPr/>
        </p:nvSpPr>
        <p:spPr>
          <a:xfrm>
            <a:off x="54864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3931920"/>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NISAR soil moisture specs?</a:t>
            </a:r>
            <a:endParaRPr lang="en-US" sz="1300" dirty="0"/>
          </a:p>
        </p:txBody>
      </p:sp>
      <p:sp>
        <p:nvSpPr>
          <p:cNvPr id="24" name="Text 21"/>
          <p:cNvSpPr txBox="1"/>
          <p:nvPr/>
        </p:nvSpPr>
        <p:spPr>
          <a:xfrm>
            <a:off x="685800" y="4297680"/>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200 m, 12 (6) days, 72 h latency, 0.06 goal; PMI, TSR, DSG</a:t>
            </a:r>
            <a:endParaRPr lang="en-US" sz="1200" dirty="0"/>
          </a:p>
        </p:txBody>
      </p:sp>
      <p:sp>
        <p:nvSpPr>
          <p:cNvPr id="25" name="card"/>
          <p:cNvSpPr/>
          <p:nvPr/>
        </p:nvSpPr>
        <p:spPr>
          <a:xfrm>
            <a:off x="429768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4434840" y="3931920"/>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NISAR vs Sentinel-1?</a:t>
            </a:r>
            <a:endParaRPr lang="en-US" sz="1300" dirty="0"/>
          </a:p>
        </p:txBody>
      </p:sp>
      <p:sp>
        <p:nvSpPr>
          <p:cNvPr id="27" name="Text 24"/>
          <p:cNvSpPr txBox="1"/>
          <p:nvPr/>
        </p:nvSpPr>
        <p:spPr>
          <a:xfrm>
            <a:off x="4434840" y="4297680"/>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L-band goes deeper and sees through canopy; HV for vegetation; S-band over India</a:t>
            </a:r>
            <a:endParaRPr lang="en-US" sz="1200" dirty="0"/>
          </a:p>
        </p:txBody>
      </p:sp>
      <p:sp>
        <p:nvSpPr>
          <p:cNvPr id="28" name="card"/>
          <p:cNvSpPr/>
          <p:nvPr/>
        </p:nvSpPr>
        <p:spPr>
          <a:xfrm>
            <a:off x="804672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8183880" y="3931920"/>
            <a:ext cx="3273552" cy="347472"/>
          </a:xfrm>
          <a:prstGeom prst="rect">
            <a:avLst/>
          </a:prstGeom>
          <a:noFill/>
          <a:ln/>
        </p:spPr>
        <p:txBody>
          <a:bodyPr wrap="square" lIns="0" tIns="0" rIns="0" bIns="0" rtlCol="0" anchor="ctr"/>
          <a:lstStyle/>
          <a:p>
            <a:pPr indent="0" marL="0">
              <a:buNone/>
            </a:pPr>
            <a:r>
              <a:rPr lang="en-US" sz="1300" b="1" dirty="0">
                <a:solidFill>
                  <a:schemeClr val="tx2"/>
                </a:solidFill>
              </a:rPr>
              <a:t>Q. How do you validate?</a:t>
            </a:r>
            <a:endParaRPr lang="en-US" sz="1300" dirty="0"/>
          </a:p>
        </p:txBody>
      </p:sp>
      <p:sp>
        <p:nvSpPr>
          <p:cNvPr id="30" name="Text 27"/>
          <p:cNvSpPr txBox="1"/>
          <p:nvPr/>
        </p:nvSpPr>
        <p:spPr>
          <a:xfrm>
            <a:off x="8183880" y="4297680"/>
            <a:ext cx="3273552" cy="731520"/>
          </a:xfrm>
          <a:prstGeom prst="rect">
            <a:avLst/>
          </a:prstGeom>
          <a:noFill/>
          <a:ln/>
        </p:spPr>
        <p:txBody>
          <a:bodyPr wrap="square" lIns="0" tIns="0" rIns="0" bIns="0" rtlCol="0" anchor="t"/>
          <a:lstStyle/>
          <a:p>
            <a:pPr indent="0" marL="0">
              <a:buNone/>
            </a:pPr>
            <a:r>
              <a:rPr lang="en-US" sz="1200" b="1" dirty="0">
                <a:solidFill>
                  <a:schemeClr val="accent1"/>
                </a:solidFill>
              </a:rPr>
              <a:t>→ In situ (TDR, gravimetric), R, bias, RMSE, ubRMSE = √(RMSE² − bias²)</a:t>
            </a:r>
            <a:endParaRPr lang="en-US" sz="1200" dirty="0"/>
          </a:p>
        </p:txBody>
      </p:sp>
      <p:sp>
        <p:nvSpPr>
          <p:cNvPr id="31" name="card"/>
          <p:cNvSpPr/>
          <p:nvPr/>
        </p:nvSpPr>
        <p:spPr>
          <a:xfrm>
            <a:off x="548640" y="5257800"/>
            <a:ext cx="11094415" cy="914400"/>
          </a:xfrm>
          <a:prstGeom prst="roundRect">
            <a:avLst>
              <a:gd name="adj" fmla="val 8000"/>
            </a:avLst>
          </a:prstGeom>
          <a:solidFill>
            <a:schemeClr val="tx2"/>
          </a:solidFill>
          <a:ln/>
          <a:effectLst>
            <a:outerShdw sx="100000" sy="100000" kx="0" ky="0" algn="bl" rotWithShape="0" blurRad="76200" dist="25400" dir="5400000">
              <a:srgbClr val="000000">
                <a:alpha val="14000"/>
              </a:srgbClr>
            </a:outerShdw>
          </a:effectLst>
        </p:spPr>
      </p:sp>
      <p:sp>
        <p:nvSpPr>
          <p:cNvPr id="32" name="icon circle"/>
          <p:cNvSpPr/>
          <p:nvPr/>
        </p:nvSpPr>
        <p:spPr>
          <a:xfrm>
            <a:off x="685800" y="5477256"/>
            <a:ext cx="475488" cy="475488"/>
          </a:xfrm>
          <a:prstGeom prst="ellipse">
            <a:avLst/>
          </a:prstGeom>
          <a:solidFill>
            <a:schemeClr val="accent3"/>
          </a:solidFill>
          <a:ln/>
        </p:spPr>
      </p:sp>
      <p:pic>
        <p:nvPicPr>
          <p:cNvPr id="33" name="Image 0" descr="BookOpen icon">    </p:cNvPr>
          <p:cNvPicPr>
            <a:picLocks noChangeAspect="1"/>
          </p:cNvPicPr>
          <p:nvPr/>
        </p:nvPicPr>
        <p:blipFill>
          <a:blip r:embed="rId1"/>
          <a:stretch>
            <a:fillRect/>
          </a:stretch>
        </p:blipFill>
        <p:spPr>
          <a:xfrm>
            <a:off x="809427" y="5600883"/>
            <a:ext cx="228234" cy="228234"/>
          </a:xfrm>
          <a:prstGeom prst="rect">
            <a:avLst/>
          </a:prstGeom>
        </p:spPr>
      </p:pic>
      <p:sp>
        <p:nvSpPr>
          <p:cNvPr id="34" name="Text 30"/>
          <p:cNvSpPr txBox="1"/>
          <p:nvPr/>
        </p:nvSpPr>
        <p:spPr>
          <a:xfrm>
            <a:off x="1325880" y="5303520"/>
            <a:ext cx="10180015" cy="822960"/>
          </a:xfrm>
          <a:prstGeom prst="rect">
            <a:avLst/>
          </a:prstGeom>
          <a:noFill/>
          <a:ln/>
        </p:spPr>
        <p:txBody>
          <a:bodyPr wrap="square" lIns="508" tIns="508" rIns="508" bIns="508" rtlCol="0" anchor="ctr"/>
          <a:lstStyle/>
          <a:p>
            <a:pPr indent="0" marL="0">
              <a:spcAft>
                <a:spcPts val="600"/>
              </a:spcAft>
              <a:buNone/>
            </a:pPr>
            <a:r>
              <a:rPr lang="en-US" sz="1250" b="1" dirty="0">
                <a:solidFill>
                  <a:schemeClr val="bg1"/>
                </a:solidFill>
              </a:rPr>
              <a:t>Read in order:</a:t>
            </a:r>
            <a:r>
              <a:rPr lang="en-US" sz="1250" dirty="0">
                <a:solidFill>
                  <a:schemeClr val="bg1"/>
                </a:solidFill>
              </a:rPr>
              <a:t> 1 Njoku &amp; Entekhabi 1996 (physics) · 2 Karthikeyan et al. 2017 (all algorithms) · 3 Attema &amp; Ulaby 1978 + Sentinel-1 WCM papers (crops) · 4 Wagner 1999, Bauer-Marschallinger 2019 (change detection) · 5 NISAR L3 SM ATBD 2023 + EOS-04 SSM ATBD (ISRO)</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Microwave Soil Moisture">
  <a:themeElements>
    <a:clrScheme name="Microwave Soil Moisture">
      <a:dk1>
        <a:srgbClr val="1E2430"/>
      </a:dk1>
      <a:lt1>
        <a:srgbClr val="FFFFFF"/>
      </a:lt1>
      <a:dk2>
        <a:srgbClr val="173F5F"/>
      </a:dk2>
      <a:lt2>
        <a:srgbClr val="EEF2F0"/>
      </a:lt2>
      <a:accent1>
        <a:srgbClr val="8C5E34"/>
      </a:accent1>
      <a:accent2>
        <a:srgbClr val="2E86AB"/>
      </a:accent2>
      <a:accent3>
        <a:srgbClr val="EDAE49"/>
      </a:accent3>
      <a:accent4>
        <a:srgbClr val="3F8F5A"/>
      </a:accent4>
      <a:accent5>
        <a:srgbClr val="6C4F9E"/>
      </a:accent5>
      <a:accent6>
        <a:srgbClr val="5C6B73"/>
      </a:accent6>
      <a:hlink>
        <a:srgbClr val="2E86AB"/>
      </a:hlink>
      <a:folHlink>
        <a:srgbClr val="6C4F9E"/>
      </a:folHlink>
    </a:clrScheme>
    <a:fontScheme name="Microwave Soil Mois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Soil Moisture Estimation in Agriculture</dc:title>
  <dc:subject>Passive and active microwave soil moisture retrieval, NISAR algorithms, ISRO interview</dc:subject>
  <dc:creator>Animesh</dc:creator>
  <cp:lastModifiedBy>Animesh</cp:lastModifiedBy>
  <cp:revision>1</cp:revision>
  <dcterms:created xsi:type="dcterms:W3CDTF">2026-10-30T06:57:35Z</dcterms:created>
  <dcterms:modified xsi:type="dcterms:W3CDTF">2026-10-30T06:57:35Z</dcterms:modified>
</cp:coreProperties>
</file>