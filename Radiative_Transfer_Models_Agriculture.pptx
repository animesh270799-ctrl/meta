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c1a31f-3707-0dde-dd71-26c6e7585153}">
          <p14:sldIdLst>
            <p14:sldId id="256"/>
            <p14:sldId id="257"/>
          </p14:sldIdLst>
        </p14:section>
        <p14:section name="Foundations" id="{62d2ca75-a639-3536-466d-6e9778fd84c8}">
          <p14:sldIdLst>
            <p14:sldId id="258"/>
            <p14:sldId id="259"/>
            <p14:sldId id="260"/>
            <p14:sldId id="261"/>
            <p14:sldId id="262"/>
          </p14:sldIdLst>
        </p14:section>
        <p14:section name="PROSPECT + SAIL = PROSAIL" id="{d0b3abc0-a2ee-0c15-d5be-fa101ed774c4}">
          <p14:sldIdLst>
            <p14:sldId id="263"/>
            <p14:sldId id="264"/>
            <p14:sldId id="265"/>
            <p14:sldId id="266"/>
            <p14:sldId id="267"/>
            <p14:sldId id="268"/>
            <p14:sldId id="269"/>
          </p14:sldIdLst>
        </p14:section>
        <p14:section name="Validating PROSAIL on wheat (IARI)" id="{ac9191fc-a538-7ac1-c487-e972e1534220}">
          <p14:sldIdLst>
            <p14:sldId id="270"/>
            <p14:sldId id="271"/>
            <p14:sldId id="272"/>
            <p14:sldId id="273"/>
            <p14:sldId id="274"/>
          </p14:sldIdLst>
        </p14:section>
        <p14:section name="Inverting PROSAIL" id="{509a8d1c-8889-5948-bc0b-ca76f3000c8f}">
          <p14:sldIdLst>
            <p14:sldId id="275"/>
            <p14:sldId id="276"/>
            <p14:sldId id="277"/>
            <p14:sldId id="278"/>
            <p14:sldId id="279"/>
            <p14:sldId id="280"/>
            <p14:sldId id="281"/>
            <p14:sldId id="282"/>
            <p14:sldId id="283"/>
          </p14:sldIdLst>
        </p14:section>
        <p14:section name="Retrieval methods: the big picture" id="{84f06912-e0df-bb50-113d-f459b6e3b1f5}">
          <p14:sldIdLst>
            <p14:sldId id="284"/>
            <p14:sldId id="285"/>
            <p14:sldId id="286"/>
            <p14:sldId id="287"/>
          </p14:sldIdLst>
        </p14:section>
        <p14:section name="Summary" id="{6beb8a2e-24f1-f7c8-773a-b9132d9502c9}">
          <p14:sldIdLst>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radiative transfer models for crops, built from five papers: the PROSPECT+SAIL review by Jacquemoud et al. (2009), the retrieval-methods review by Verrelst et al. (2015), and three IARI Division of Agricultural Physics studies on wheat: the bidirectional reflectance validation of PROSAIL5B (Chakraborty et al. 2015), genetic-algorithm inversion (Mridha et al. 2014), and LUT versus neural-network inversion with a LISS-3 LAI map (Sehgal et al.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radiative transfer model runs in two directions. In forward mode, leaf biochemistry, canopy structure, soil and sun-view geometry go in, and canopy reflectance comes out: PROSPECT computes leaf reflectance and transmittance, and SAIL turns them into canopy reflectance. In inverse mode, we start from measured or satellite reflectance and search for the input variables that reproduce it, using look-up tables, optimisation such as genetic algorithms, or neural networks. The retrieved LAI, chlorophyll and water feed crop monitoring, nitrogen management and yield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sets up the concepts: why vegetation indices are not enough, how light interacts with leaves and canopies across the spectrum, the sun-target-sensor geometry, and the main types of canopy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sensing estimates of crop variables use either empirical relationships with vegetation indices or physically based radiative transfer models. Vegetation index regressions are simple and fast but site, season, crop and sensor specific, use only a few bands, handle one variable at a time and give no uncertainty. Radiative transfer models describe absorption and scattering in the canopy from physical laws, so they are generic, need no local calibration, use the full spectrum and retrieve several variables together. Their costs are computation, the need for prior information and the ill-posed inverse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parts of the optical spectrum are controlled by different plant properties. In the visible, chlorophyll and carotenoids absorb strongly, so reflectance is low with a small green peak; chlorophyll controls about 60 percent of the variation. The red edge, between about 680 and 750 nanometres, shifts with chlorophyll and LAI. In the near infrared, leaves absorb little and scatter a lot, so reflectance is high and controlled by LAI and leaf angle. In the shortwave infrared, water absorption dominates, with leaf water explaining about half of the variation between 1450 and 2100 nanometres. The PROSAIL simulation shows how raising LAI from 0 to 10 lowers red reflectance and raises 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Vegetation does not reflect equally in all directions; it is anisotropic. The bidirectional reflectance factor depends on the sun zenith angle, the view zenith angle and the relative azimuth between them. The principal plane contains the sun. Looking from the sun's side, the backward-scattering direction, the sensor sees sunlit leaves whose shadows are hidden behind them, giving a reflectance peak called the hotspot. Looking towards the sun, the forward direction, more shadows are visible and reflectance is lowest, the darkspot. Off-nadir views see more of the upper canopy, so reflectance usually rises with view angle: the bowl shape in the near infrared.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Canopy models range from simple to very detailed. Turbid-medium models such as SAIL treat the canopy as a horizontally homogeneous layer of small, randomly placed leaves; they are fast and easy to invert. Geometric-optical models represent crowns as shapes casting shadows. Hybrid models such as GeoSAIL and 4SAIL2 combine the two to handle clumping. Three-dimensional and ray-tracing models such as DART, FLIGHT and SPRINT describe heterogeneous canopies realistically but need many inputs and are hard to invert. Leaf models such as PROSPECT supply leaf optical properties. Choosing a model is a trade-off between realism and invertibility.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explains the most used canopy model, PROSAIL, from Jacquemoud et al.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PROSPECT simulates leaf directional-hemispherical reflectance and transmittance from 400 to 2500 nanometres. It is based on the Allen plate model: the leaf is represented as N compact layers, each an absorbing plate with rough surfaces that scatter light isotropically. N describes mesophyll structure, the number of air–cell-wall interfaces; it is about 1 to 1.5 for monocots such as wheat. Absorption comes from the biochemical contents, each with its own specific absorption spectrum: chlorophyll a+b, carotenoids (separated from chlorophyll in PROSPECT-5), brown pigments, equivalent water thickness and dry matter. Its output feeds the canopy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SAIL, Scattering by Arbitrarily Inclined Leaves (Verhoef 1984), extends the Suits model. It treats the canopy as a turbid medium: a horizontally homogeneous, infinite layer of small flat leaves with a given leaf angle distribution. It solves four radiative fluxes, direct solar, diffuse downward, diffuse upward and the flux towards the observer, and outputs bidirectional reflectance and other optical properties. The hotspot effect was added in SAILH, using the ratio of leaf size to canopy height. 4SAIL is a fast, numerically robust version used in PROSAIL-5B. Other versions add heterogeneity (GeoSAIL, 4SAIL2), fluorescence (FluorSAIL) and thermal emission.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PROSAIL passes PROSPECT's leaf reflectance and transmittance into SAIL. On its own SAIL cannot be inverted from multispectral data, because leaf reflectance, leaf transmittance and soil reflectance are unknown at every wavelength. Coupling with PROSPECT replaces those many spectral unknowns with a few biochemical variables, imposing a strong spectral constraint. The figure from Jacquemoud et al. shows the full chain, optionally with a soil BRDF model and an atmospheric model to reach top-of-atmosphere radiance. Grey arrows show the forward problem and white arrows the inverse problem. Outputs include canopy reflectance, fAPAR and albedo.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sensitivity analysis (DOES, EFAST) quantifies how much of the reflectance variance each input explains at each wavelength. Chlorophyll explains about 60 percent in the visible, less near 550 and 700 nanometres where absorption does not saturate. In the near infrared, average leaf angle and LAI share the influence equally. In the shortwave infrared, water content contributes about half between 1450 and 2100 nanometres. Interactions, such as chlorophyll with LAI in the visible, add a few percent each. This tells us which bands to use for each variable and explains why leaf water is hard to retrieve from broadbands.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analysis across view directions shows where each variable is most visible. In the visible, chlorophyll influences reflectance most in the backward direction, where shadows are hidden. LAI is best seen in oblique forward and backward directions where photons have interacted with more leaves. Leaf angle influences most near nadir, where the soil can be seen. So a single nadir view carries little information about LAI compared with oblique views, and the most accurate joint estimate of chlorophyll, LAI and leaf angle needs at least three views: forward, nadir and backward. This is the motivation for multi-angle sensors and for goniometer studies like the IARI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inversion, PROSAIL is useful in forward mode. It can generate large simulated databases of spectra for known variables, which are used to design and test vegetation indices that are sensitive to one variable but not to others, such as TCARI/OSAVI for chlorophyll or water indices. It is used in sensitivity analyses to choose optimal bands and view angles, and to design future sensors long before launch, as was done for CHRIS. And the simulated databases are the training data for look-up tables and machine-learning retrieval, which is the hybrid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is the IARI field study by Chakraborty, Sehgal, Sahoo, Pradhan and Gupta (2015), which measured wheat bidirectional reflectance with a goniometer and tested PROSAIL5B.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was at the IARI farm, New Delhi, with spring wheat PBW-502 in rabi 2010–11. Two extreme nitrogen treatments, zero and 120 kilograms per hectare, created a wide range of crop parameters. Bidirectional reflectance was measured between 11:00 and 13:00 on clear days with an ASD FieldSpec-3 spectroradiometer, field of view reduced to 10 degrees, on a portable goniometer, at eight relative azimuths and six zenith angles, with a barium sulphate reference panel at each position. Plant inputs for PROSAIL were measured the same day: LAI with an LAI-2000, chlorophyll by DMSO extraction, leaf area, specific leaf weight, leaf water, leaf angle and the hotspot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polar plots show reflectance at the four LISS-3 band centres for all view directions, with the sun marked by a star. In every band and treatment, reflectance was higher in the backward direction than the forward. The maximum, the hotspot, occurred in the principal plane at 50 to 60 degrees view zenith in the backward direction, matching the sun position. The minimum was in the forward direction at high view angles, the darkspot. In the near infrared, reflectance rose with view angle in all directions, a bowl shape. As the crop grew, from 46 to 106 days, the hotspot broadened because of higher LAI, bigger leaves and more planophile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PROSAIL5B was run with the measured inputs. Fixed values were N equal to 1.0, which gave the best fit for monocot wheat, carotenoids 1 microgram per square centimetre, brown pigment 0.05, diffuse fraction 10 percent for clear sky, and a soil coefficient of 0.1 matched to shaded soil. The simulated spectra matched the observed shape at all view zenith angles in the principal plane and responded correctly to view angle. Errors were small in absolute terms, about 0.01 to 0.02 in the visible and up to 0.05 in the near infrared. The model performed better in the forward direction, and errors were largest at 50 to 60 degrees backward, near the hotspot. The simulated green peak was shifted to 525 nanometres instead of the observed 550.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four band centres across the principal plane, the model matched reflectance magnitude reasonably but underestimated near the hotspot in the backward direction and generally overestimated in the forward direction, except at 790 nanometres. The near-infrared bowl shape was simulated very well, but not at the other bands. In relative terms the model performed best in the near infrared, then shortwave infrared, and worst in the visible, with an average error of about 26 percent. Performance was much better for the dense N120 canopy than the sparse N0 canopy, because SAIL assumes a Lambertian soil, while real soil is anisotropic and dominates sparse canopies.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how the model is inverted to retrieve LAI, chlorophyll and water, with the two IARI inversion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reflectance equals the model output for a set of variables plus error. Inversion finds the variables that minimise a cost function. The general cost function has two parts: the squared differences between observed and simulated reflectance, weighted by measurement and model uncertainty, and the squared differences between the variables and their prior values, weighted by prior uncertainty. Without the prior term, the solution may not be unique: different combinations of LAI and leaf angle, for example, give almost the same spectrum. This ill-posedness is reduced by using prior information and realistic ranges, more bands or view angles, canopy-level variables such as chlorophyll times LAI, and spatial or temporal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Inversion approaches fall into two groups. Observation-space methods minimise the distance between measured and simulated reflectance: iterative numerical optimisation such as simplex, quasi-Newton or genetic algorithms, Markov chain Monte Carlo, and look-up tables. Variable-space methods fit a mapping directly from reflectance to variables: vegetation indices calibrated with the model, and machine learning such as neural networks trained on simulations. Optimisation is accurate but slow per pixel and can be trapped in local minima. Look-up tables find the global minimum if sampling is dense and are fast. Neural networks are very fast once trained but depend on the training set. Genetic algorithms avoid the initial-guess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look-up table method is the simplest robust inversion. Define realistic ranges for the free variables from field data and literature and fix the insensitive ones. Run PROSAIL forward for every combination. Convolve each simulated spectrum to the sensor's bands using its relative spectral response. For each observed pixel, compute a cost function between its reflectance and every table entry, sort the entries, and take either the single best match or the mean of the best few percent. Finally validate against field measurements. The generalised flowchart from Verrelst et al. shows the same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GA study, wheat PBW-502 was measured at IARI on three dates with the goniometer setup. Only three variables were free: leaf water 0.01 to 0.045 centimetres, chlorophyll 30 to 100 micrograms per square centimetre, and LAI 0.5 to 6.5. Dry matter was fixed at the measured 0.0046, N at 1.0, soil coefficient 0.1 and brown pigment 0.05; leaf angle was the measured value per date. The view geometry was fixed at the hotspot, 40 degrees backward in the principal plane, because inversion performed best there. Spectra were also convolved to MODIS, Landsat TM and LISS-3 bands. The genetic algorithm in MATLAB used mean squared error as fitness, a feasible initial population, stochastic-uniform selection, scattered crossover with fraction 0.8 and adaptive-feasible 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versus retrieved values lay close to the one-to-one line for LAI, chlorophyll and canopy chlorophyll. LAI had R squared of 0.90 to 0.93 for all band sets, with slight overestimation at low values and underestimation at high values. Canopy chlorophyll followed, then leaf chlorophyll, while leaf water was poor except with the full spectrum. Broadband MODIS, TM and LISS-3 reflectance performed about as well as the full 400 to 2500 nanometre spectrum. LAI is easiest because structural variables dominate canopy reflectance, and the red and NIR bands are highly sensitive to it; chlorophyll is harder because the visible has a low dynamic range and leaf signals weaken at canopy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2016 study compared three inversion techniques using LISS-3 broadband reflectance from the IARI wheat experiment with N0, N60 and N120 treatments. The look-up table varied chlorophyll from 20 to 80 in steps of 1, LAI from 0.1 to 6 in steps of 0.2 and leaf water from 0.01 to 0.04 in steps of 0.001, giving 54,000 PROSAIL5B simulations convolved to the four LISS-3 bands. The cost function was relative mean squared error. LUT-I took the single best match; LUT-II took the mean of the best 100, 500, 1000 or 10 percent of entries. The neural network was a three-layer feed-forward back-propagation network trained on 70 percent of the table and validated on 30 percent. Retrievals were compared with r, RMSE, nRMSE and a target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methods captured the variation, but accuracy differed. ANN had the highest correlations but the largest errors and strong underestimation, so correlation alone is misleading. Averaging the best 10 percent of LUT solutions steadily reduced error: chlorophyll RMSE fell from 18.3 for the single best fit to 9.1, and LAI RMSE to 0.47. The target diagram confirms LUT-II as best for all variables, with normalised total error below one. Leaf water could not be retrieved, because its observed range was narrow, the treatments varied nitrogen only. The order was LAI, then chlorophyll, then canopy chlorophyll, then water. The authors conclude model deficiencies matter more than the inversion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method, LUT-II, was applied to an IRS-P6 LISS-3 image of 5 February 2012 over Sheopur district, Madhya Pradesh. The image was geometrically corrected with ground control points from Survey of India maps, converted from digital numbers to radiance with gain and offset, and atmospherically corrected to surface reflectance with FLAASH. Wheat was classified with a maximum-likelihood classifier and other pixels masked. LUT-II was then run on every wheat pixel's four-band reflectance. LAI ranged from 0.55 to 4.5, mostly around 2. Compared with ground LAI measured with an LAI-2000 and GPS, the retrieval was consistently underestimated, with RMSE 0.56 and R squared 0.87, similar to the field-scale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places RTM inversion within all optical retrieval methods, from the ISPRS review by Verrelst and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Parametric regression relates a few bands, usually combined into a vegetation index, to a variable with an explicit fitted function: linear, exponential or power. Examples are two-band indices such as NDVI, OSAVI and the chlorophyll index, three-band indices such as MCARI and TCARI, combinations such as TCARI/OSAVI, and shape indices such as red-edge position and continuum removal. It is simple and fast but dataset- and sensor-specific, uses little of the spectrum and gives no uncertainty. Non-parametric methods learn from training data and can use the full spectrum. Linear ones include stepwise regression, principal components regression and partial least squares. Non-linear machine learning includes decision trees and random forests, neural networks, and kernel methods: support vector regression, kernel ridge regression and Gaussian process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Physically-based retrieval inverts an RTM by optimisation or LUT; it is generic and gives multiple outputs, but is computationally demanding, depends on model quality and priors, and LUT estimates cannot go beyond the imposed bounds. Hybrid methods combine the two worlds: the RTM generates a large simulated database, and a non-parametric regression such as a neural network or Gaussian process is trained on it, then applied to images. This keeps the generality of physics with the speed of machine learning, and is how operational products are made: global LAI and fAPAR products such as CYCLOPES and GEOV1 use neural networks trained on PROSAIL-type simulations. Verrelst et al. recommend Bayesian kernel methods such as GPR for next-generation hybrid chains because they add uncertainty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Verrelst et al. compared the families on five criteria: which variables can be retrieved, whether several outputs come at once, transparency, mapping speed and whether uncertainty is given. Parametric regression is transparent and fast but one variable at a time with no uncertainty, so the authors judge it not state of the art for operational mapping. Non-parametric machine learning is powerful and fast once trained, especially Bayesian methods that give uncertainty, but mostly black boxes. Physically-based inversion is physically transparent and multi-output but slow. Hybrid methods combine the advantages and are the recommended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chart combines all the papers into one methodology you can describe in an interview. In the field, measure canopy spectra and the PROSAIL inputs at different growth stages and treatments. Validate the forward model and fix insensitive inputs. Build a look-up table or training set from priors, convolve to the sensor bands, and invert with LUT, GA or a trained ML model. Validate retrievals in the field. Then process the satellite image: geometric and atmospheric correction, crop mask, per-pixel inversion, and validation against ground LAI. Products feed nitrogen management, stress detection, crop models and yield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agree on PROSAIL's limitations. SAIL assumes a horizontally homogeneous turbid canopy and a Lambertian soil, which fails for sparse, early-stage or row crops; the IARI study found errors largest at low LAI. The visible region is simulated least well, limiting chlorophyll retrieval, and leaf water needs a wide range of conditions and the shortwave infrared. Inversion is ill-posed and needs priors. The way forward: soil BRDF models, clumping and 3-D models, better leaf models, fluorescence and thermal extensions for missions like FLEX, and hybrid machine-learning retrieval for new hyperspectral and superspectral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these answers aloud. Each is a sentence or two; the earlier slides give the detail if the panel asks a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Radiative transfer models in agriculture  ·  ISRO interview prep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Radiative Transfer Models in Agriculture</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PROSPECT, SAIL and PROSAIL: physics, validation on wheat, inversion methods (LUT, GA, ANN, hybrid) and retrieval of LAI and chlorophyll — for the ISRO interview</a:t>
            </a:r>
            <a:endParaRPr lang="en-US" sz="1800" dirty="0"/>
          </a:p>
        </p:txBody>
      </p:sp>
      <p:sp>
        <p:nvSpPr>
          <p:cNvPr id="4" name="glow"/>
          <p:cNvSpPr/>
          <p:nvPr/>
        </p:nvSpPr>
        <p:spPr>
          <a:xfrm>
            <a:off x="8229600" y="1005840"/>
            <a:ext cx="3291840" cy="3291840"/>
          </a:xfrm>
          <a:prstGeom prst="ellipse">
            <a:avLst/>
          </a:prstGeom>
          <a:solidFill>
            <a:schemeClr val="accent1">
              <a:alpha val="45000"/>
            </a:schemeClr>
          </a:solidFill>
          <a:ln/>
        </p:spPr>
      </p:sp>
      <p:sp>
        <p:nvSpPr>
          <p:cNvPr id="5" name="icon circle"/>
          <p:cNvSpPr/>
          <p:nvPr/>
        </p:nvSpPr>
        <p:spPr>
          <a:xfrm>
            <a:off x="8915400" y="1691640"/>
            <a:ext cx="1920240" cy="1920240"/>
          </a:xfrm>
          <a:prstGeom prst="ellipse">
            <a:avLst/>
          </a:prstGeom>
          <a:solidFill>
            <a:schemeClr val="accent1"/>
          </a:solidFill>
          <a:ln/>
        </p:spPr>
      </p:sp>
      <p:pic>
        <p:nvPicPr>
          <p:cNvPr id="6" name="Image 0" descr="Leaf icon">    </p:cNvPr>
          <p:cNvPicPr>
            <a:picLocks noChangeAspect="1"/>
          </p:cNvPicPr>
          <p:nvPr/>
        </p:nvPicPr>
        <p:blipFill>
          <a:blip r:embed="rId1"/>
          <a:stretch>
            <a:fillRect/>
          </a:stretch>
        </p:blipFill>
        <p:spPr>
          <a:xfrm>
            <a:off x="9414662" y="2190902"/>
            <a:ext cx="921715" cy="921715"/>
          </a:xfrm>
          <a:prstGeom prst="rect">
            <a:avLst/>
          </a:prstGeom>
        </p:spPr>
      </p:pic>
      <p:sp>
        <p:nvSpPr>
          <p:cNvPr id="7" name="Text 4"/>
          <p:cNvSpPr txBox="1"/>
          <p:nvPr/>
        </p:nvSpPr>
        <p:spPr>
          <a:xfrm>
            <a:off x="7680960" y="4572000"/>
            <a:ext cx="2103120" cy="548640"/>
          </a:xfrm>
          <a:prstGeom prst="rect">
            <a:avLst/>
          </a:prstGeom>
          <a:noFill/>
          <a:ln/>
        </p:spPr>
        <p:txBody>
          <a:bodyPr wrap="square" lIns="0" tIns="0" rIns="0" bIns="0" rtlCol="0" anchor="ctr"/>
          <a:lstStyle/>
          <a:p>
            <a:pPr algn="ctr" indent="0" marL="0">
              <a:buNone/>
            </a:pPr>
            <a:r>
              <a:rPr lang="en-US" sz="1700" b="1" dirty="0">
                <a:solidFill>
                  <a:schemeClr val="accent3"/>
                </a:solidFill>
                <a:latin typeface="Cambria" pitchFamily="34" charset="0"/>
                <a:ea typeface="Cambria" pitchFamily="34" charset="-122"/>
                <a:cs typeface="Cambria" pitchFamily="34" charset="-120"/>
              </a:rPr>
              <a:t>LAI &gt; Cab &gt; CCC &gt; Cw</a:t>
            </a:r>
            <a:endParaRPr lang="en-US" sz="1700" dirty="0"/>
          </a:p>
        </p:txBody>
      </p:sp>
      <p:sp>
        <p:nvSpPr>
          <p:cNvPr id="8" name="Text 5"/>
          <p:cNvSpPr txBox="1"/>
          <p:nvPr/>
        </p:nvSpPr>
        <p:spPr>
          <a:xfrm>
            <a:off x="7680960" y="5120640"/>
            <a:ext cx="2103120" cy="548640"/>
          </a:xfrm>
          <a:prstGeom prst="rect">
            <a:avLst/>
          </a:prstGeom>
          <a:noFill/>
          <a:ln/>
        </p:spPr>
        <p:txBody>
          <a:bodyPr wrap="square" lIns="0" tIns="0" rIns="0" bIns="0" rtlCol="0" anchor="ctr"/>
          <a:lstStyle/>
          <a:p>
            <a:pPr algn="ctr" indent="0" marL="0">
              <a:buNone/>
            </a:pPr>
            <a:r>
              <a:rPr lang="en-US" sz="1100" dirty="0">
                <a:solidFill>
                  <a:schemeClr val="bg2"/>
                </a:solidFill>
              </a:rPr>
              <a:t>retrieval accuracy order (IARI wheat)</a:t>
            </a:r>
            <a:endParaRPr lang="en-US" sz="1100" dirty="0"/>
          </a:p>
        </p:txBody>
      </p:sp>
      <p:sp>
        <p:nvSpPr>
          <p:cNvPr id="9" name="Text 6"/>
          <p:cNvSpPr txBox="1"/>
          <p:nvPr/>
        </p:nvSpPr>
        <p:spPr>
          <a:xfrm>
            <a:off x="9875520" y="4572000"/>
            <a:ext cx="2103120" cy="548640"/>
          </a:xfrm>
          <a:prstGeom prst="rect">
            <a:avLst/>
          </a:prstGeom>
          <a:noFill/>
          <a:ln/>
        </p:spPr>
        <p:txBody>
          <a:bodyPr wrap="square" lIns="0" tIns="0" rIns="0" bIns="0" rtlCol="0" anchor="ctr"/>
          <a:lstStyle/>
          <a:p>
            <a:pPr algn="ctr" indent="0" marL="0">
              <a:buNone/>
            </a:pPr>
            <a:r>
              <a:rPr lang="en-US" sz="2200" b="1" dirty="0">
                <a:solidFill>
                  <a:schemeClr val="accent3"/>
                </a:solidFill>
                <a:latin typeface="Cambria" pitchFamily="34" charset="0"/>
                <a:ea typeface="Cambria" pitchFamily="34" charset="-122"/>
                <a:cs typeface="Cambria" pitchFamily="34" charset="-120"/>
              </a:rPr>
              <a:t>RMSE 0.56</a:t>
            </a:r>
            <a:endParaRPr lang="en-US" sz="2200" dirty="0"/>
          </a:p>
        </p:txBody>
      </p:sp>
      <p:sp>
        <p:nvSpPr>
          <p:cNvPr id="10" name="Text 7"/>
          <p:cNvSpPr txBox="1"/>
          <p:nvPr/>
        </p:nvSpPr>
        <p:spPr>
          <a:xfrm>
            <a:off x="9875520" y="5120640"/>
            <a:ext cx="2103120" cy="548640"/>
          </a:xfrm>
          <a:prstGeom prst="rect">
            <a:avLst/>
          </a:prstGeom>
          <a:noFill/>
          <a:ln/>
        </p:spPr>
        <p:txBody>
          <a:bodyPr wrap="square" lIns="0" tIns="0" rIns="0" bIns="0" rtlCol="0" anchor="ctr"/>
          <a:lstStyle/>
          <a:p>
            <a:pPr algn="ctr" indent="0" marL="0">
              <a:buNone/>
            </a:pPr>
            <a:r>
              <a:rPr lang="en-US" sz="1100" dirty="0">
                <a:solidFill>
                  <a:schemeClr val="bg2"/>
                </a:solidFill>
              </a:rPr>
              <a:t>LAI from IRS LISS-3, Sheopur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Forward and inverse problems: the whole story</a:t>
            </a:r>
            <a:endParaRPr lang="en-US" sz="3200" dirty="0"/>
          </a:p>
        </p:txBody>
      </p:sp>
      <p:sp>
        <p:nvSpPr>
          <p:cNvPr id="4" name="Text 1"/>
          <p:cNvSpPr txBox="1"/>
          <p:nvPr/>
        </p:nvSpPr>
        <p:spPr>
          <a:xfrm>
            <a:off x="548640" y="1280160"/>
            <a:ext cx="3657600" cy="320040"/>
          </a:xfrm>
          <a:prstGeom prst="rect">
            <a:avLst/>
          </a:prstGeom>
          <a:noFill/>
          <a:ln/>
        </p:spPr>
        <p:txBody>
          <a:bodyPr wrap="square" lIns="0" tIns="0" rIns="0" bIns="0" rtlCol="0" anchor="ctr"/>
          <a:lstStyle/>
          <a:p>
            <a:pPr algn="l" indent="0" marL="0">
              <a:buNone/>
            </a:pPr>
            <a:r>
              <a:rPr lang="en-US" sz="1400" b="1" dirty="0">
                <a:solidFill>
                  <a:schemeClr val="accent1"/>
                </a:solidFill>
              </a:rPr>
              <a:t>FORWARD (simulate)</a:t>
            </a:r>
            <a:endParaRPr lang="en-US" sz="1400" dirty="0"/>
          </a:p>
        </p:txBody>
      </p:sp>
      <p:sp>
        <p:nvSpPr>
          <p:cNvPr id="5" name="diagram box"/>
          <p:cNvSpPr/>
          <p:nvPr/>
        </p:nvSpPr>
        <p:spPr>
          <a:xfrm>
            <a:off x="548640" y="1645920"/>
            <a:ext cx="2560320" cy="914400"/>
          </a:xfrm>
          <a:prstGeom prst="roundRect">
            <a:avLst>
              <a:gd name="adj" fmla="val 8000"/>
            </a:avLst>
          </a:prstGeom>
          <a:solidFill>
            <a:schemeClr val="accent1"/>
          </a:solidFill>
          <a:ln/>
        </p:spPr>
      </p:sp>
      <p:sp>
        <p:nvSpPr>
          <p:cNvPr id="6" name="Text 3"/>
          <p:cNvSpPr txBox="1"/>
          <p:nvPr/>
        </p:nvSpPr>
        <p:spPr>
          <a:xfrm>
            <a:off x="548640" y="164592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Leaf: N, Cab, Car, Cw, Cm</a:t>
            </a:r>
            <a:endParaRPr lang="en-US" sz="1300" dirty="0"/>
          </a:p>
        </p:txBody>
      </p:sp>
      <p:sp>
        <p:nvSpPr>
          <p:cNvPr id="7" name="arrow"/>
          <p:cNvSpPr/>
          <p:nvPr/>
        </p:nvSpPr>
        <p:spPr>
          <a:xfrm>
            <a:off x="3118104" y="2103120"/>
            <a:ext cx="237744" cy="0"/>
          </a:xfrm>
          <a:prstGeom prst="line">
            <a:avLst/>
          </a:prstGeom>
          <a:noFill/>
          <a:ln w="31750">
            <a:solidFill>
              <a:srgbClr val="1F4E3D"/>
            </a:solidFill>
            <a:prstDash val="solid"/>
            <a:tailEnd type="triangle"/>
          </a:ln>
        </p:spPr>
      </p:sp>
      <p:sp>
        <p:nvSpPr>
          <p:cNvPr id="8" name="diagram box"/>
          <p:cNvSpPr/>
          <p:nvPr/>
        </p:nvSpPr>
        <p:spPr>
          <a:xfrm>
            <a:off x="3364992" y="1645920"/>
            <a:ext cx="2560320" cy="914400"/>
          </a:xfrm>
          <a:prstGeom prst="roundRect">
            <a:avLst>
              <a:gd name="adj" fmla="val 8000"/>
            </a:avLst>
          </a:prstGeom>
          <a:solidFill>
            <a:schemeClr val="accent1"/>
          </a:solidFill>
          <a:ln/>
        </p:spPr>
      </p:sp>
      <p:sp>
        <p:nvSpPr>
          <p:cNvPr id="9" name="Text 6"/>
          <p:cNvSpPr txBox="1"/>
          <p:nvPr/>
        </p:nvSpPr>
        <p:spPr>
          <a:xfrm>
            <a:off x="3364992" y="164592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PROSPECT → leaf ρ, τ</a:t>
            </a:r>
            <a:endParaRPr lang="en-US" sz="1300" dirty="0"/>
          </a:p>
        </p:txBody>
      </p:sp>
      <p:sp>
        <p:nvSpPr>
          <p:cNvPr id="10" name="arrow"/>
          <p:cNvSpPr/>
          <p:nvPr/>
        </p:nvSpPr>
        <p:spPr>
          <a:xfrm>
            <a:off x="5934456" y="2103120"/>
            <a:ext cx="237744" cy="0"/>
          </a:xfrm>
          <a:prstGeom prst="line">
            <a:avLst/>
          </a:prstGeom>
          <a:noFill/>
          <a:ln w="31750">
            <a:solidFill>
              <a:srgbClr val="1F4E3D"/>
            </a:solidFill>
            <a:prstDash val="solid"/>
            <a:tailEnd type="triangle"/>
          </a:ln>
        </p:spPr>
      </p:sp>
      <p:sp>
        <p:nvSpPr>
          <p:cNvPr id="11" name="diagram box"/>
          <p:cNvSpPr/>
          <p:nvPr/>
        </p:nvSpPr>
        <p:spPr>
          <a:xfrm>
            <a:off x="6181344" y="1645920"/>
            <a:ext cx="2560320" cy="914400"/>
          </a:xfrm>
          <a:prstGeom prst="roundRect">
            <a:avLst>
              <a:gd name="adj" fmla="val 8000"/>
            </a:avLst>
          </a:prstGeom>
          <a:solidFill>
            <a:schemeClr val="accent4"/>
          </a:solidFill>
          <a:ln/>
        </p:spPr>
      </p:sp>
      <p:sp>
        <p:nvSpPr>
          <p:cNvPr id="12" name="Text 9"/>
          <p:cNvSpPr txBox="1"/>
          <p:nvPr/>
        </p:nvSpPr>
        <p:spPr>
          <a:xfrm>
            <a:off x="6181344" y="164592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Canopy: LAI, ALA, hotspot; soil; θs, θv, φ</a:t>
            </a:r>
            <a:endParaRPr lang="en-US" sz="1300" dirty="0"/>
          </a:p>
        </p:txBody>
      </p:sp>
      <p:sp>
        <p:nvSpPr>
          <p:cNvPr id="13" name="arrow"/>
          <p:cNvSpPr/>
          <p:nvPr/>
        </p:nvSpPr>
        <p:spPr>
          <a:xfrm>
            <a:off x="8750808" y="2103120"/>
            <a:ext cx="237744" cy="0"/>
          </a:xfrm>
          <a:prstGeom prst="line">
            <a:avLst/>
          </a:prstGeom>
          <a:noFill/>
          <a:ln w="31750">
            <a:solidFill>
              <a:srgbClr val="1F4E3D"/>
            </a:solidFill>
            <a:prstDash val="solid"/>
            <a:tailEnd type="triangle"/>
          </a:ln>
        </p:spPr>
      </p:sp>
      <p:sp>
        <p:nvSpPr>
          <p:cNvPr id="14" name="diagram box"/>
          <p:cNvSpPr/>
          <p:nvPr/>
        </p:nvSpPr>
        <p:spPr>
          <a:xfrm>
            <a:off x="8997696" y="1645920"/>
            <a:ext cx="2560320" cy="914400"/>
          </a:xfrm>
          <a:prstGeom prst="roundRect">
            <a:avLst>
              <a:gd name="adj" fmla="val 8000"/>
            </a:avLst>
          </a:prstGeom>
          <a:solidFill>
            <a:schemeClr val="accent2"/>
          </a:solidFill>
          <a:ln/>
        </p:spPr>
      </p:sp>
      <p:sp>
        <p:nvSpPr>
          <p:cNvPr id="15" name="Text 12"/>
          <p:cNvSpPr txBox="1"/>
          <p:nvPr/>
        </p:nvSpPr>
        <p:spPr>
          <a:xfrm>
            <a:off x="8997696" y="164592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SAIL → canopy reflectance</a:t>
            </a:r>
            <a:endParaRPr lang="en-US" sz="1300" dirty="0"/>
          </a:p>
        </p:txBody>
      </p:sp>
      <p:sp>
        <p:nvSpPr>
          <p:cNvPr id="16" name="Text 13"/>
          <p:cNvSpPr txBox="1"/>
          <p:nvPr/>
        </p:nvSpPr>
        <p:spPr>
          <a:xfrm>
            <a:off x="548640" y="2926080"/>
            <a:ext cx="3657600" cy="320040"/>
          </a:xfrm>
          <a:prstGeom prst="rect">
            <a:avLst/>
          </a:prstGeom>
          <a:noFill/>
          <a:ln/>
        </p:spPr>
        <p:txBody>
          <a:bodyPr wrap="square" lIns="0" tIns="0" rIns="0" bIns="0" rtlCol="0" anchor="ctr"/>
          <a:lstStyle/>
          <a:p>
            <a:pPr algn="l" indent="0" marL="0">
              <a:buNone/>
            </a:pPr>
            <a:r>
              <a:rPr lang="en-US" sz="1400" b="1" dirty="0">
                <a:solidFill>
                  <a:schemeClr val="accent5"/>
                </a:solidFill>
              </a:rPr>
              <a:t>INVERSE (retrieve)</a:t>
            </a:r>
            <a:endParaRPr lang="en-US" sz="1400" dirty="0"/>
          </a:p>
        </p:txBody>
      </p:sp>
      <p:sp>
        <p:nvSpPr>
          <p:cNvPr id="17" name="diagram box"/>
          <p:cNvSpPr/>
          <p:nvPr/>
        </p:nvSpPr>
        <p:spPr>
          <a:xfrm>
            <a:off x="548640" y="3291840"/>
            <a:ext cx="2560320" cy="914400"/>
          </a:xfrm>
          <a:prstGeom prst="roundRect">
            <a:avLst>
              <a:gd name="adj" fmla="val 8000"/>
            </a:avLst>
          </a:prstGeom>
          <a:solidFill>
            <a:schemeClr val="accent2"/>
          </a:solidFill>
          <a:ln/>
        </p:spPr>
      </p:sp>
      <p:sp>
        <p:nvSpPr>
          <p:cNvPr id="18" name="Text 15"/>
          <p:cNvSpPr txBox="1"/>
          <p:nvPr/>
        </p:nvSpPr>
        <p:spPr>
          <a:xfrm>
            <a:off x="548640" y="329184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Satellite / field reflectance (LISS-3, MODIS, S-2)</a:t>
            </a:r>
            <a:endParaRPr lang="en-US" sz="1300" dirty="0"/>
          </a:p>
        </p:txBody>
      </p:sp>
      <p:sp>
        <p:nvSpPr>
          <p:cNvPr id="19" name="arrow"/>
          <p:cNvSpPr/>
          <p:nvPr/>
        </p:nvSpPr>
        <p:spPr>
          <a:xfrm>
            <a:off x="3118104" y="3749040"/>
            <a:ext cx="237744" cy="0"/>
          </a:xfrm>
          <a:prstGeom prst="line">
            <a:avLst/>
          </a:prstGeom>
          <a:noFill/>
          <a:ln w="31750">
            <a:solidFill>
              <a:srgbClr val="1F4E3D"/>
            </a:solidFill>
            <a:prstDash val="solid"/>
            <a:tailEnd type="triangle"/>
          </a:ln>
        </p:spPr>
      </p:sp>
      <p:sp>
        <p:nvSpPr>
          <p:cNvPr id="20" name="diagram box"/>
          <p:cNvSpPr/>
          <p:nvPr/>
        </p:nvSpPr>
        <p:spPr>
          <a:xfrm>
            <a:off x="3364992" y="3291840"/>
            <a:ext cx="2560320" cy="914400"/>
          </a:xfrm>
          <a:prstGeom prst="roundRect">
            <a:avLst>
              <a:gd name="adj" fmla="val 8000"/>
            </a:avLst>
          </a:prstGeom>
          <a:solidFill>
            <a:schemeClr val="accent5"/>
          </a:solidFill>
          <a:ln/>
        </p:spPr>
      </p:sp>
      <p:sp>
        <p:nvSpPr>
          <p:cNvPr id="21" name="Text 18"/>
          <p:cNvSpPr txBox="1"/>
          <p:nvPr/>
        </p:nvSpPr>
        <p:spPr>
          <a:xfrm>
            <a:off x="3364992" y="329184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Inversion: LUT · GA · ANN · hybrid ML</a:t>
            </a:r>
            <a:endParaRPr lang="en-US" sz="1300" dirty="0"/>
          </a:p>
        </p:txBody>
      </p:sp>
      <p:sp>
        <p:nvSpPr>
          <p:cNvPr id="22" name="arrow"/>
          <p:cNvSpPr/>
          <p:nvPr/>
        </p:nvSpPr>
        <p:spPr>
          <a:xfrm>
            <a:off x="5934456" y="3749040"/>
            <a:ext cx="237744" cy="0"/>
          </a:xfrm>
          <a:prstGeom prst="line">
            <a:avLst/>
          </a:prstGeom>
          <a:noFill/>
          <a:ln w="31750">
            <a:solidFill>
              <a:srgbClr val="1F4E3D"/>
            </a:solidFill>
            <a:prstDash val="solid"/>
            <a:tailEnd type="triangle"/>
          </a:ln>
        </p:spPr>
      </p:sp>
      <p:sp>
        <p:nvSpPr>
          <p:cNvPr id="23" name="diagram box"/>
          <p:cNvSpPr/>
          <p:nvPr/>
        </p:nvSpPr>
        <p:spPr>
          <a:xfrm>
            <a:off x="6181344" y="3291840"/>
            <a:ext cx="2560320" cy="914400"/>
          </a:xfrm>
          <a:prstGeom prst="roundRect">
            <a:avLst>
              <a:gd name="adj" fmla="val 8000"/>
            </a:avLst>
          </a:prstGeom>
          <a:solidFill>
            <a:schemeClr val="accent1"/>
          </a:solidFill>
          <a:ln/>
        </p:spPr>
      </p:sp>
      <p:sp>
        <p:nvSpPr>
          <p:cNvPr id="24" name="Text 21"/>
          <p:cNvSpPr txBox="1"/>
          <p:nvPr/>
        </p:nvSpPr>
        <p:spPr>
          <a:xfrm>
            <a:off x="6181344" y="3291840"/>
            <a:ext cx="256032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LAI, Cab, CCC = Cab × LAI, Cw</a:t>
            </a:r>
            <a:endParaRPr lang="en-US" sz="1300" dirty="0"/>
          </a:p>
        </p:txBody>
      </p:sp>
      <p:sp>
        <p:nvSpPr>
          <p:cNvPr id="25" name="arrow"/>
          <p:cNvSpPr/>
          <p:nvPr/>
        </p:nvSpPr>
        <p:spPr>
          <a:xfrm>
            <a:off x="8750808" y="3749040"/>
            <a:ext cx="237744" cy="0"/>
          </a:xfrm>
          <a:prstGeom prst="line">
            <a:avLst/>
          </a:prstGeom>
          <a:noFill/>
          <a:ln w="31750">
            <a:solidFill>
              <a:srgbClr val="1F4E3D"/>
            </a:solidFill>
            <a:prstDash val="solid"/>
            <a:tailEnd type="triangle"/>
          </a:ln>
        </p:spPr>
      </p:sp>
      <p:sp>
        <p:nvSpPr>
          <p:cNvPr id="26" name="diagram box"/>
          <p:cNvSpPr/>
          <p:nvPr/>
        </p:nvSpPr>
        <p:spPr>
          <a:xfrm>
            <a:off x="8997696" y="3291840"/>
            <a:ext cx="2560320" cy="914400"/>
          </a:xfrm>
          <a:prstGeom prst="roundRect">
            <a:avLst>
              <a:gd name="adj" fmla="val 8000"/>
            </a:avLst>
          </a:prstGeom>
          <a:solidFill>
            <a:schemeClr val="accent3"/>
          </a:solidFill>
          <a:ln/>
        </p:spPr>
      </p:sp>
      <p:sp>
        <p:nvSpPr>
          <p:cNvPr id="27" name="Text 24"/>
          <p:cNvSpPr txBox="1"/>
          <p:nvPr/>
        </p:nvSpPr>
        <p:spPr>
          <a:xfrm>
            <a:off x="8997696" y="3291840"/>
            <a:ext cx="2560320" cy="914400"/>
          </a:xfrm>
          <a:prstGeom prst="rect">
            <a:avLst/>
          </a:prstGeom>
          <a:noFill/>
          <a:ln/>
        </p:spPr>
        <p:txBody>
          <a:bodyPr wrap="square" lIns="508" tIns="508" rIns="508" bIns="508" rtlCol="0" anchor="ctr"/>
          <a:lstStyle/>
          <a:p>
            <a:pPr algn="ctr" indent="0" marL="0">
              <a:buNone/>
            </a:pPr>
            <a:r>
              <a:rPr lang="en-US" sz="1300" b="1" dirty="0">
                <a:solidFill>
                  <a:schemeClr val="tx1"/>
                </a:solidFill>
              </a:rPr>
              <a:t>Use: N status, stress, yield, FASAL</a:t>
            </a:r>
            <a:endParaRPr lang="en-US" sz="1300" dirty="0"/>
          </a:p>
        </p:txBody>
      </p:sp>
      <p:sp>
        <p:nvSpPr>
          <p:cNvPr id="28" name="arrow"/>
          <p:cNvSpPr/>
          <p:nvPr/>
        </p:nvSpPr>
        <p:spPr>
          <a:xfrm>
            <a:off x="9921240" y="2560320"/>
            <a:ext cx="0" cy="685800"/>
          </a:xfrm>
          <a:prstGeom prst="line">
            <a:avLst/>
          </a:prstGeom>
          <a:noFill/>
          <a:ln w="22225">
            <a:solidFill>
              <a:srgbClr val="5C6B73"/>
            </a:solidFill>
            <a:prstDash val="dash"/>
            <a:tailEnd type="triangle"/>
          </a:ln>
        </p:spPr>
      </p:sp>
      <p:sp>
        <p:nvSpPr>
          <p:cNvPr id="29" name="Text 26"/>
          <p:cNvSpPr txBox="1"/>
          <p:nvPr/>
        </p:nvSpPr>
        <p:spPr>
          <a:xfrm>
            <a:off x="7863840" y="2697480"/>
            <a:ext cx="2011680" cy="457200"/>
          </a:xfrm>
          <a:prstGeom prst="rect">
            <a:avLst/>
          </a:prstGeom>
          <a:noFill/>
          <a:ln/>
        </p:spPr>
        <p:txBody>
          <a:bodyPr wrap="square" lIns="0" tIns="0" rIns="0" bIns="0" rtlCol="0" anchor="ctr"/>
          <a:lstStyle/>
          <a:p>
            <a:pPr algn="r" indent="0" marL="0">
              <a:buNone/>
            </a:pPr>
            <a:r>
              <a:rPr lang="en-US" sz="1100" i="1" dirty="0">
                <a:solidFill>
                  <a:schemeClr val="accent6"/>
                </a:solidFill>
              </a:rPr>
              <a:t>compare simulated vs observed</a:t>
            </a:r>
            <a:endParaRPr lang="en-US" sz="1100" dirty="0"/>
          </a:p>
        </p:txBody>
      </p:sp>
      <p:sp>
        <p:nvSpPr>
          <p:cNvPr id="30" name="card"/>
          <p:cNvSpPr/>
          <p:nvPr/>
        </p:nvSpPr>
        <p:spPr>
          <a:xfrm>
            <a:off x="548640" y="4526280"/>
            <a:ext cx="356616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31" name="icon circle"/>
          <p:cNvSpPr/>
          <p:nvPr/>
        </p:nvSpPr>
        <p:spPr>
          <a:xfrm>
            <a:off x="731520" y="4681728"/>
            <a:ext cx="420624" cy="420624"/>
          </a:xfrm>
          <a:prstGeom prst="ellipse">
            <a:avLst/>
          </a:prstGeom>
          <a:solidFill>
            <a:schemeClr val="accent6"/>
          </a:solidFill>
          <a:ln/>
        </p:spPr>
      </p:sp>
      <p:pic>
        <p:nvPicPr>
          <p:cNvPr id="32" name="Image 0" descr="BookOpen icon">    </p:cNvPr>
          <p:cNvPicPr>
            <a:picLocks noChangeAspect="1"/>
          </p:cNvPicPr>
          <p:nvPr/>
        </p:nvPicPr>
        <p:blipFill>
          <a:blip r:embed="rId1"/>
          <a:stretch>
            <a:fillRect/>
          </a:stretch>
        </p:blipFill>
        <p:spPr>
          <a:xfrm>
            <a:off x="840882" y="4791090"/>
            <a:ext cx="201900" cy="201900"/>
          </a:xfrm>
          <a:prstGeom prst="rect">
            <a:avLst/>
          </a:prstGeom>
        </p:spPr>
      </p:pic>
      <p:sp>
        <p:nvSpPr>
          <p:cNvPr id="33" name="Text 29"/>
          <p:cNvSpPr txBox="1"/>
          <p:nvPr/>
        </p:nvSpPr>
        <p:spPr>
          <a:xfrm>
            <a:off x="1261872" y="46634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Papers used</a:t>
            </a:r>
            <a:endParaRPr lang="en-US" sz="1600" dirty="0"/>
          </a:p>
        </p:txBody>
      </p:sp>
      <p:sp>
        <p:nvSpPr>
          <p:cNvPr id="34" name="Text 30"/>
          <p:cNvSpPr txBox="1"/>
          <p:nvPr/>
        </p:nvSpPr>
        <p:spPr>
          <a:xfrm>
            <a:off x="731520" y="5212080"/>
            <a:ext cx="3200400" cy="8686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Reviews: Jacquemoud 2009; Verrelst 2015</a:t>
            </a:r>
            <a:endParaRPr lang="en-US" sz="1250" dirty="0"/>
          </a:p>
          <a:p>
            <a:pPr marL="177800" indent="-177800">
              <a:spcAft>
                <a:spcPts val="400"/>
              </a:spcAft>
              <a:buSzPct val="100000"/>
              <a:buChar char="•"/>
            </a:pPr>
            <a:r>
              <a:rPr lang="en-US" sz="1250" dirty="0">
                <a:solidFill>
                  <a:schemeClr val="tx1"/>
                </a:solidFill>
              </a:rPr>
              <a:t>IARI wheat: Chakraborty 2015; Mridha 2014; Sehgal 2016</a:t>
            </a:r>
            <a:endParaRPr lang="en-US" sz="1250" dirty="0"/>
          </a:p>
        </p:txBody>
      </p:sp>
      <p:sp>
        <p:nvSpPr>
          <p:cNvPr id="35" name="card"/>
          <p:cNvSpPr/>
          <p:nvPr/>
        </p:nvSpPr>
        <p:spPr>
          <a:xfrm>
            <a:off x="4315968" y="4526280"/>
            <a:ext cx="356616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36" name="icon circle"/>
          <p:cNvSpPr/>
          <p:nvPr/>
        </p:nvSpPr>
        <p:spPr>
          <a:xfrm>
            <a:off x="4498848" y="4681728"/>
            <a:ext cx="420624" cy="420624"/>
          </a:xfrm>
          <a:prstGeom prst="ellipse">
            <a:avLst/>
          </a:prstGeom>
          <a:solidFill>
            <a:schemeClr val="accent1"/>
          </a:solidFill>
          <a:ln/>
        </p:spPr>
      </p:sp>
      <p:pic>
        <p:nvPicPr>
          <p:cNvPr id="37" name="Image 1" descr="Check icon">    </p:cNvPr>
          <p:cNvPicPr>
            <a:picLocks noChangeAspect="1"/>
          </p:cNvPicPr>
          <p:nvPr/>
        </p:nvPicPr>
        <p:blipFill>
          <a:blip r:embed="rId2"/>
          <a:stretch>
            <a:fillRect/>
          </a:stretch>
        </p:blipFill>
        <p:spPr>
          <a:xfrm>
            <a:off x="4608210" y="4791090"/>
            <a:ext cx="201900" cy="201900"/>
          </a:xfrm>
          <a:prstGeom prst="rect">
            <a:avLst/>
          </a:prstGeom>
        </p:spPr>
      </p:pic>
      <p:sp>
        <p:nvSpPr>
          <p:cNvPr id="38" name="Text 33"/>
          <p:cNvSpPr txBox="1"/>
          <p:nvPr/>
        </p:nvSpPr>
        <p:spPr>
          <a:xfrm>
            <a:off x="5029200" y="466344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Why it matters</a:t>
            </a:r>
            <a:endParaRPr lang="en-US" sz="1600" dirty="0"/>
          </a:p>
        </p:txBody>
      </p:sp>
      <p:sp>
        <p:nvSpPr>
          <p:cNvPr id="39" name="Text 34"/>
          <p:cNvSpPr txBox="1"/>
          <p:nvPr/>
        </p:nvSpPr>
        <p:spPr>
          <a:xfrm>
            <a:off x="4498848" y="5212080"/>
            <a:ext cx="3200400" cy="8686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Generic physics: no local calibration</a:t>
            </a:r>
            <a:endParaRPr lang="en-US" sz="1250" dirty="0"/>
          </a:p>
          <a:p>
            <a:pPr marL="177800" indent="-177800">
              <a:spcAft>
                <a:spcPts val="400"/>
              </a:spcAft>
              <a:buSzPct val="100000"/>
              <a:buChar char="•"/>
            </a:pPr>
            <a:r>
              <a:rPr lang="en-US" sz="1250" dirty="0">
                <a:solidFill>
                  <a:schemeClr val="tx1"/>
                </a:solidFill>
              </a:rPr>
              <a:t>Many variables at once, any sensor</a:t>
            </a:r>
            <a:endParaRPr lang="en-US" sz="1250" dirty="0"/>
          </a:p>
        </p:txBody>
      </p:sp>
      <p:sp>
        <p:nvSpPr>
          <p:cNvPr id="40" name="card"/>
          <p:cNvSpPr/>
          <p:nvPr/>
        </p:nvSpPr>
        <p:spPr>
          <a:xfrm>
            <a:off x="8083296" y="4526280"/>
            <a:ext cx="3557016"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41" name="icon circle"/>
          <p:cNvSpPr/>
          <p:nvPr/>
        </p:nvSpPr>
        <p:spPr>
          <a:xfrm>
            <a:off x="8266176" y="4681728"/>
            <a:ext cx="420624" cy="420624"/>
          </a:xfrm>
          <a:prstGeom prst="ellipse">
            <a:avLst/>
          </a:prstGeom>
          <a:solidFill>
            <a:schemeClr val="accent3"/>
          </a:solidFill>
          <a:ln/>
        </p:spPr>
      </p:sp>
      <p:pic>
        <p:nvPicPr>
          <p:cNvPr id="42" name="Image 2" descr="ExclamationTriangle icon">    </p:cNvPr>
          <p:cNvPicPr>
            <a:picLocks noChangeAspect="1"/>
          </p:cNvPicPr>
          <p:nvPr/>
        </p:nvPicPr>
        <p:blipFill>
          <a:blip r:embed="rId3"/>
          <a:stretch>
            <a:fillRect/>
          </a:stretch>
        </p:blipFill>
        <p:spPr>
          <a:xfrm>
            <a:off x="8375538" y="4791090"/>
            <a:ext cx="201900" cy="201900"/>
          </a:xfrm>
          <a:prstGeom prst="rect">
            <a:avLst/>
          </a:prstGeom>
        </p:spPr>
      </p:pic>
      <p:sp>
        <p:nvSpPr>
          <p:cNvPr id="43" name="Text 37"/>
          <p:cNvSpPr txBox="1"/>
          <p:nvPr/>
        </p:nvSpPr>
        <p:spPr>
          <a:xfrm>
            <a:off x="8796528" y="466344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Main difficulty</a:t>
            </a:r>
            <a:endParaRPr lang="en-US" sz="1600" dirty="0"/>
          </a:p>
        </p:txBody>
      </p:sp>
      <p:sp>
        <p:nvSpPr>
          <p:cNvPr id="44" name="Text 38"/>
          <p:cNvSpPr txBox="1"/>
          <p:nvPr/>
        </p:nvSpPr>
        <p:spPr>
          <a:xfrm>
            <a:off x="8266176" y="5212080"/>
            <a:ext cx="3191256" cy="8686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Ill-posed: different inputs give the same spectrum</a:t>
            </a:r>
            <a:endParaRPr lang="en-US" sz="1250" dirty="0"/>
          </a:p>
          <a:p>
            <a:pPr marL="177800" indent="-177800">
              <a:spcAft>
                <a:spcPts val="400"/>
              </a:spcAft>
              <a:buSzPct val="100000"/>
              <a:buChar char="•"/>
            </a:pPr>
            <a:r>
              <a:rPr lang="en-US" sz="1250" dirty="0">
                <a:solidFill>
                  <a:schemeClr val="tx1"/>
                </a:solidFill>
              </a:rPr>
              <a:t>Model assumptions (homogeneous canopy, Lambertian soil)</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Foundations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Why physical models, how light interacts with a canopy, and the families of RTMs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radiative transfer models instead of vegetation indices?</a:t>
            </a:r>
            <a:endParaRPr lang="en-US" sz="3200" dirty="0"/>
          </a:p>
        </p:txBody>
      </p:sp>
      <p:sp>
        <p:nvSpPr>
          <p:cNvPr id="4" name="card"/>
          <p:cNvSpPr/>
          <p:nvPr/>
        </p:nvSpPr>
        <p:spPr>
          <a:xfrm>
            <a:off x="548640" y="1325880"/>
            <a:ext cx="5440680" cy="3931920"/>
          </a:xfrm>
          <a:prstGeom prst="roundRect">
            <a:avLst>
              <a:gd name="adj" fmla="val 1860"/>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3"/>
          </a:solidFill>
          <a:ln/>
        </p:spPr>
      </p:sp>
      <p:pic>
        <p:nvPicPr>
          <p:cNvPr id="6" name="Image 0" descr="ChartLine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Empirical: vegetation indices</a:t>
            </a:r>
            <a:endParaRPr lang="en-US" sz="1600" dirty="0"/>
          </a:p>
        </p:txBody>
      </p:sp>
      <p:sp>
        <p:nvSpPr>
          <p:cNvPr id="8" name="Text 4"/>
          <p:cNvSpPr txBox="1"/>
          <p:nvPr/>
        </p:nvSpPr>
        <p:spPr>
          <a:xfrm>
            <a:off x="731520" y="2011680"/>
            <a:ext cx="5074920" cy="3154680"/>
          </a:xfrm>
          <a:prstGeom prst="rect">
            <a:avLst/>
          </a:prstGeom>
          <a:noFill/>
          <a:ln/>
        </p:spPr>
        <p:txBody>
          <a:bodyPr wrap="square" lIns="508" tIns="508" rIns="508" bIns="508" rtlCol="0" anchor="t"/>
          <a:lstStyle/>
          <a:p>
            <a:pPr marL="177800" indent="-177800">
              <a:spcAft>
                <a:spcPts val="400"/>
              </a:spcAft>
              <a:buSzPct val="100000"/>
              <a:buChar char="•"/>
            </a:pPr>
            <a:r>
              <a:rPr lang="en-US" sz="1350" dirty="0">
                <a:solidFill>
                  <a:schemeClr val="tx1"/>
                </a:solidFill>
              </a:rPr>
              <a:t>VI = f(few bands), e.g. NDVI, OSAVI, TCARI/OSAVI, MTCI</a:t>
            </a:r>
            <a:endParaRPr lang="en-US" sz="1350" dirty="0"/>
          </a:p>
          <a:p>
            <a:pPr marL="177800" indent="-177800">
              <a:spcAft>
                <a:spcPts val="400"/>
              </a:spcAft>
              <a:buSzPct val="100000"/>
              <a:buChar char="•"/>
            </a:pPr>
            <a:r>
              <a:rPr lang="en-US" sz="1350" dirty="0">
                <a:solidFill>
                  <a:schemeClr val="tx1"/>
                </a:solidFill>
              </a:rPr>
              <a:t>Regression with field data: LAI = a + b·VI</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simple, fast, few bands needed</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site-, time-, crop- and sensor-specific</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saturates at high LAI; sensitive to soil and view angle</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one variable at a time, no uncertainty</a:t>
            </a:r>
            <a:endParaRPr lang="en-US" sz="1350" dirty="0"/>
          </a:p>
        </p:txBody>
      </p:sp>
      <p:sp>
        <p:nvSpPr>
          <p:cNvPr id="9" name="card"/>
          <p:cNvSpPr/>
          <p:nvPr/>
        </p:nvSpPr>
        <p:spPr>
          <a:xfrm>
            <a:off x="6199632" y="1325880"/>
            <a:ext cx="5440680" cy="3931920"/>
          </a:xfrm>
          <a:prstGeom prst="roundRect">
            <a:avLst>
              <a:gd name="adj" fmla="val 1860"/>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481328"/>
            <a:ext cx="420624" cy="420624"/>
          </a:xfrm>
          <a:prstGeom prst="ellipse">
            <a:avLst/>
          </a:prstGeom>
          <a:solidFill>
            <a:schemeClr val="accent1"/>
          </a:solidFill>
          <a:ln/>
        </p:spPr>
      </p:sp>
      <p:pic>
        <p:nvPicPr>
          <p:cNvPr id="11" name="Image 1" descr="Flask icon">    </p:cNvPr>
          <p:cNvPicPr>
            <a:picLocks noChangeAspect="1"/>
          </p:cNvPicPr>
          <p:nvPr/>
        </p:nvPicPr>
        <p:blipFill>
          <a:blip r:embed="rId2"/>
          <a:stretch>
            <a:fillRect/>
          </a:stretch>
        </p:blipFill>
        <p:spPr>
          <a:xfrm>
            <a:off x="6491874" y="1590690"/>
            <a:ext cx="201900" cy="201900"/>
          </a:xfrm>
          <a:prstGeom prst="rect">
            <a:avLst/>
          </a:prstGeom>
        </p:spPr>
      </p:pic>
      <p:sp>
        <p:nvSpPr>
          <p:cNvPr id="12" name="Text 7"/>
          <p:cNvSpPr txBox="1"/>
          <p:nvPr/>
        </p:nvSpPr>
        <p:spPr>
          <a:xfrm>
            <a:off x="6912864"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Physical: radiative transfer models</a:t>
            </a:r>
            <a:endParaRPr lang="en-US" sz="1600" dirty="0"/>
          </a:p>
        </p:txBody>
      </p:sp>
      <p:sp>
        <p:nvSpPr>
          <p:cNvPr id="13" name="Text 8"/>
          <p:cNvSpPr txBox="1"/>
          <p:nvPr/>
        </p:nvSpPr>
        <p:spPr>
          <a:xfrm>
            <a:off x="6382512" y="2011680"/>
            <a:ext cx="5074920" cy="3154680"/>
          </a:xfrm>
          <a:prstGeom prst="rect">
            <a:avLst/>
          </a:prstGeom>
          <a:noFill/>
          <a:ln/>
        </p:spPr>
        <p:txBody>
          <a:bodyPr wrap="square" lIns="508" tIns="508" rIns="508" bIns="508" rtlCol="0" anchor="t"/>
          <a:lstStyle/>
          <a:p>
            <a:pPr marL="177800" indent="-177800">
              <a:spcAft>
                <a:spcPts val="400"/>
              </a:spcAft>
              <a:buSzPct val="100000"/>
              <a:buChar char="•"/>
            </a:pPr>
            <a:r>
              <a:rPr lang="en-US" sz="1350" dirty="0">
                <a:solidFill>
                  <a:schemeClr val="tx1"/>
                </a:solidFill>
              </a:rPr>
              <a:t>Reflectance = model(leaf biochemistry, canopy structure, soil, geometry)</a:t>
            </a:r>
            <a:endParaRPr lang="en-US" sz="1350" dirty="0"/>
          </a:p>
          <a:p>
            <a:pPr marL="177800" indent="-177800">
              <a:spcAft>
                <a:spcPts val="400"/>
              </a:spcAft>
              <a:buSzPct val="100000"/>
              <a:buChar char="•"/>
            </a:pPr>
            <a:r>
              <a:rPr lang="en-US" sz="1350" dirty="0">
                <a:solidFill>
                  <a:schemeClr val="tx1"/>
                </a:solidFill>
              </a:rPr>
              <a:t>Based on absorption and scattering physics</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generic: no local calibration; any sensor</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full spectrum, several variables together</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computation; needs priors; ill-posed inversion</a:t>
            </a:r>
            <a:endParaRPr lang="en-US" sz="1350" dirty="0"/>
          </a:p>
          <a:p>
            <a:pPr marL="177800" indent="-177800">
              <a:spcAft>
                <a:spcPts val="400"/>
              </a:spcAft>
              <a:buSzPct val="100000"/>
              <a:buChar char="•"/>
            </a:pPr>
            <a:r>
              <a:rPr lang="en-US" sz="1350" b="1" dirty="0">
                <a:solidFill>
                  <a:schemeClr val="tx1"/>
                </a:solidFill>
              </a:rPr>
              <a:t>−</a:t>
            </a:r>
            <a:r>
              <a:rPr lang="en-US" sz="1350" dirty="0">
                <a:solidFill>
                  <a:schemeClr val="tx1"/>
                </a:solidFill>
              </a:rPr>
              <a:t> only as good as model assumptions</a:t>
            </a:r>
            <a:endParaRPr lang="en-US" sz="1350" dirty="0"/>
          </a:p>
        </p:txBody>
      </p:sp>
      <p:sp>
        <p:nvSpPr>
          <p:cNvPr id="14" name="insight"/>
          <p:cNvSpPr/>
          <p:nvPr/>
        </p:nvSpPr>
        <p:spPr>
          <a:xfrm>
            <a:off x="548640" y="5440680"/>
            <a:ext cx="11094415" cy="749808"/>
          </a:xfrm>
          <a:prstGeom prst="roundRect">
            <a:avLst>
              <a:gd name="adj" fmla="val 9756"/>
            </a:avLst>
          </a:prstGeom>
          <a:solidFill>
            <a:schemeClr val="bg2"/>
          </a:solidFill>
          <a:ln/>
        </p:spPr>
      </p:sp>
      <p:sp>
        <p:nvSpPr>
          <p:cNvPr id="15" name="icon circle"/>
          <p:cNvSpPr/>
          <p:nvPr/>
        </p:nvSpPr>
        <p:spPr>
          <a:xfrm>
            <a:off x="685800" y="5577840"/>
            <a:ext cx="475488" cy="475488"/>
          </a:xfrm>
          <a:prstGeom prst="ellipse">
            <a:avLst/>
          </a:prstGeom>
          <a:solidFill>
            <a:schemeClr val="accent3"/>
          </a:solidFill>
          <a:ln/>
        </p:spPr>
      </p:sp>
      <p:pic>
        <p:nvPicPr>
          <p:cNvPr id="16" name="Image 2" descr="Lightbulb icon">    </p:cNvPr>
          <p:cNvPicPr>
            <a:picLocks noChangeAspect="1"/>
          </p:cNvPicPr>
          <p:nvPr/>
        </p:nvPicPr>
        <p:blipFill>
          <a:blip r:embed="rId3"/>
          <a:stretch>
            <a:fillRect/>
          </a:stretch>
        </p:blipFill>
        <p:spPr>
          <a:xfrm>
            <a:off x="809427" y="5701467"/>
            <a:ext cx="228234" cy="228234"/>
          </a:xfrm>
          <a:prstGeom prst="rect">
            <a:avLst/>
          </a:prstGeom>
        </p:spPr>
      </p:pic>
      <p:sp>
        <p:nvSpPr>
          <p:cNvPr id="17" name="Text 11"/>
          <p:cNvSpPr txBox="1"/>
          <p:nvPr/>
        </p:nvSpPr>
        <p:spPr>
          <a:xfrm>
            <a:off x="1325880" y="5477256"/>
            <a:ext cx="10180015" cy="676656"/>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IARI studies: VI relationships 'are site, time and crop specific, making a single relationship for a region unfeasible' → hence PROSAIL inversion (Sehgal et al. 2016).</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a crop canopy shapes its reflectance spectrum</a:t>
            </a:r>
            <a:endParaRPr lang="en-US" sz="3200" dirty="0"/>
          </a:p>
        </p:txBody>
      </p:sp>
      <p:sp>
        <p:nvSpPr>
          <p:cNvPr id="4" name="figure frame"/>
          <p:cNvSpPr/>
          <p:nvPr/>
        </p:nvSpPr>
        <p:spPr>
          <a:xfrm>
            <a:off x="548640" y="1280160"/>
            <a:ext cx="5852160" cy="3383280"/>
          </a:xfrm>
          <a:prstGeom prst="roundRect">
            <a:avLst>
              <a:gd name="adj" fmla="val 162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PROSAIL: canopy reflectance for LAI = 0 (bare soil) to 10. Jacquemoud et al. (2009) Remote Sens. Environ. 113:S56–S66, Fig. 3">    </p:cNvPr>
          <p:cNvPicPr>
            <a:picLocks noChangeAspect="1"/>
          </p:cNvPicPr>
          <p:nvPr/>
        </p:nvPicPr>
        <p:blipFill>
          <a:blip r:embed="rId1"/>
          <a:stretch>
            <a:fillRect/>
          </a:stretch>
        </p:blipFill>
        <p:spPr>
          <a:xfrm>
            <a:off x="640080" y="1477309"/>
            <a:ext cx="5669280" cy="2988983"/>
          </a:xfrm>
          <a:prstGeom prst="rect">
            <a:avLst/>
          </a:prstGeom>
        </p:spPr>
      </p:pic>
      <p:sp>
        <p:nvSpPr>
          <p:cNvPr id="6" name="Text 2"/>
          <p:cNvSpPr txBox="1"/>
          <p:nvPr/>
        </p:nvSpPr>
        <p:spPr>
          <a:xfrm>
            <a:off x="548640" y="4709160"/>
            <a:ext cx="5852160" cy="411480"/>
          </a:xfrm>
          <a:prstGeom prst="rect">
            <a:avLst/>
          </a:prstGeom>
          <a:noFill/>
          <a:ln/>
        </p:spPr>
        <p:txBody>
          <a:bodyPr wrap="square" lIns="0" tIns="0" rIns="0" bIns="0" rtlCol="0" anchor="t"/>
          <a:lstStyle/>
          <a:p>
            <a:pPr indent="0" marL="0">
              <a:buNone/>
            </a:pPr>
            <a:r>
              <a:rPr lang="en-US" sz="1100" i="1" dirty="0">
                <a:solidFill>
                  <a:schemeClr val="accent6"/>
                </a:solidFill>
              </a:rPr>
              <a:t>PROSAIL: canopy reflectance for LAI = 0 (bare soil) to 10. Jacquemoud et al. (2009) Remote Sens. Environ. 113:S56–S66, Fig. 3</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29400" y="1280160"/>
          <a:ext cx="5010912" cy="914400"/>
        </p:xfrm>
        <a:graphic>
          <a:graphicData uri="http://schemas.openxmlformats.org/drawingml/2006/table">
            <a:tbl>
              <a:tblPr/>
              <a:tblGrid>
                <a:gridCol w="1463040"/>
                <a:gridCol w="1691640"/>
                <a:gridCol w="1856232"/>
              </a:tblGrid>
              <a:tr h="6858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Region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Process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Controlled mainly by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VIS 400–700 nm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Pigment absorption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Cab (~60% of variance), Car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Red edge 680–750 nm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Steep rise; position shifts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Cab and LAI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NIR 750–1300 nm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Multiple scattering in leaves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LAI and leaf angle (ALA)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6858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SWIR 1300–2500 nm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Water and dry-matter absorption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Cw (~50% at 1450–2100 nm), Cm, LAI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8" name="insight"/>
          <p:cNvSpPr/>
          <p:nvPr/>
        </p:nvSpPr>
        <p:spPr>
          <a:xfrm>
            <a:off x="6629400" y="5349240"/>
            <a:ext cx="5010912" cy="868680"/>
          </a:xfrm>
          <a:prstGeom prst="roundRect">
            <a:avLst>
              <a:gd name="adj" fmla="val 8421"/>
            </a:avLst>
          </a:prstGeom>
          <a:solidFill>
            <a:schemeClr val="bg2"/>
          </a:solidFill>
          <a:ln/>
        </p:spPr>
      </p:sp>
      <p:sp>
        <p:nvSpPr>
          <p:cNvPr id="9" name="icon circle"/>
          <p:cNvSpPr/>
          <p:nvPr/>
        </p:nvSpPr>
        <p:spPr>
          <a:xfrm>
            <a:off x="6766560" y="5545836"/>
            <a:ext cx="475488" cy="475488"/>
          </a:xfrm>
          <a:prstGeom prst="ellipse">
            <a:avLst/>
          </a:prstGeom>
          <a:solidFill>
            <a:schemeClr val="accent3"/>
          </a:solidFill>
          <a:ln/>
        </p:spPr>
      </p:sp>
      <p:pic>
        <p:nvPicPr>
          <p:cNvPr id="10" name="Image 1" descr="Lightbulb icon">    </p:cNvPr>
          <p:cNvPicPr>
            <a:picLocks noChangeAspect="1"/>
          </p:cNvPicPr>
          <p:nvPr/>
        </p:nvPicPr>
        <p:blipFill>
          <a:blip r:embed="rId2"/>
          <a:stretch>
            <a:fillRect/>
          </a:stretch>
        </p:blipFill>
        <p:spPr>
          <a:xfrm>
            <a:off x="6890187" y="5669463"/>
            <a:ext cx="228234" cy="228234"/>
          </a:xfrm>
          <a:prstGeom prst="rect">
            <a:avLst/>
          </a:prstGeom>
        </p:spPr>
      </p:pic>
      <p:sp>
        <p:nvSpPr>
          <p:cNvPr id="11" name="Text 5"/>
          <p:cNvSpPr txBox="1"/>
          <p:nvPr/>
        </p:nvSpPr>
        <p:spPr>
          <a:xfrm>
            <a:off x="7406640" y="5385816"/>
            <a:ext cx="4096512" cy="79552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LAI ↑ → red ↓, NIR ↑ (basis of NDVI). Sensitivity analysis: </a:t>
            </a:r>
            <a:r>
              <a:rPr lang="en-US" sz="1350" b="1" dirty="0">
                <a:solidFill>
                  <a:schemeClr val="tx1"/>
                </a:solidFill>
              </a:rPr>
              <a:t>Cab drives VIS; LAI and ALA drive NIR; Cw drives SWIR</a:t>
            </a:r>
            <a:r>
              <a:rPr lang="en-US" sz="1350" dirty="0">
                <a:solidFill>
                  <a:schemeClr val="tx1"/>
                </a:solidFill>
              </a:rPr>
              <a:t>.</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Sun–target–sensor geometry: BRF, hotspot and anisotropy</a:t>
            </a:r>
            <a:endParaRPr lang="en-US" sz="3200" dirty="0"/>
          </a:p>
        </p:txBody>
      </p:sp>
      <p:sp>
        <p:nvSpPr>
          <p:cNvPr id="4" name="soil"/>
          <p:cNvSpPr/>
          <p:nvPr/>
        </p:nvSpPr>
        <p:spPr>
          <a:xfrm>
            <a:off x="548640" y="5074920"/>
            <a:ext cx="6035040" cy="320040"/>
          </a:xfrm>
          <a:prstGeom prst="rect">
            <a:avLst/>
          </a:prstGeom>
          <a:solidFill>
            <a:srgbClr val="8C5E34">
              <a:alpha val="70000"/>
            </a:srgbClr>
          </a:solidFill>
          <a:ln/>
        </p:spPr>
      </p:sp>
      <p:sp>
        <p:nvSpPr>
          <p:cNvPr id="5" name="plant"/>
          <p:cNvSpPr/>
          <p:nvPr/>
        </p:nvSpPr>
        <p:spPr>
          <a:xfrm>
            <a:off x="914400" y="4434840"/>
            <a:ext cx="137160" cy="640080"/>
          </a:xfrm>
          <a:prstGeom prst="line">
            <a:avLst/>
          </a:prstGeom>
          <a:noFill/>
          <a:ln w="38100">
            <a:solidFill>
              <a:srgbClr val="3F8F5A"/>
            </a:solidFill>
            <a:prstDash val="solid"/>
          </a:ln>
        </p:spPr>
      </p:sp>
      <p:sp>
        <p:nvSpPr>
          <p:cNvPr id="6" name="plant"/>
          <p:cNvSpPr/>
          <p:nvPr/>
        </p:nvSpPr>
        <p:spPr>
          <a:xfrm>
            <a:off x="1463040" y="4434840"/>
            <a:ext cx="137160" cy="640080"/>
          </a:xfrm>
          <a:prstGeom prst="line">
            <a:avLst/>
          </a:prstGeom>
          <a:noFill/>
          <a:ln w="38100">
            <a:solidFill>
              <a:srgbClr val="3F8F5A"/>
            </a:solidFill>
            <a:prstDash val="solid"/>
          </a:ln>
        </p:spPr>
      </p:sp>
      <p:sp>
        <p:nvSpPr>
          <p:cNvPr id="7" name="plant"/>
          <p:cNvSpPr/>
          <p:nvPr/>
        </p:nvSpPr>
        <p:spPr>
          <a:xfrm>
            <a:off x="2011680" y="4434840"/>
            <a:ext cx="137160" cy="640080"/>
          </a:xfrm>
          <a:prstGeom prst="line">
            <a:avLst/>
          </a:prstGeom>
          <a:noFill/>
          <a:ln w="38100">
            <a:solidFill>
              <a:srgbClr val="3F8F5A"/>
            </a:solidFill>
            <a:prstDash val="solid"/>
          </a:ln>
        </p:spPr>
      </p:sp>
      <p:sp>
        <p:nvSpPr>
          <p:cNvPr id="8" name="plant"/>
          <p:cNvSpPr/>
          <p:nvPr/>
        </p:nvSpPr>
        <p:spPr>
          <a:xfrm>
            <a:off x="2560320" y="4434840"/>
            <a:ext cx="137160" cy="640080"/>
          </a:xfrm>
          <a:prstGeom prst="line">
            <a:avLst/>
          </a:prstGeom>
          <a:noFill/>
          <a:ln w="38100">
            <a:solidFill>
              <a:srgbClr val="3F8F5A"/>
            </a:solidFill>
            <a:prstDash val="solid"/>
          </a:ln>
        </p:spPr>
      </p:sp>
      <p:sp>
        <p:nvSpPr>
          <p:cNvPr id="9" name="plant"/>
          <p:cNvSpPr/>
          <p:nvPr/>
        </p:nvSpPr>
        <p:spPr>
          <a:xfrm>
            <a:off x="3108960" y="4434840"/>
            <a:ext cx="137160" cy="640080"/>
          </a:xfrm>
          <a:prstGeom prst="line">
            <a:avLst/>
          </a:prstGeom>
          <a:noFill/>
          <a:ln w="38100">
            <a:solidFill>
              <a:srgbClr val="3F8F5A"/>
            </a:solidFill>
            <a:prstDash val="solid"/>
          </a:ln>
        </p:spPr>
      </p:sp>
      <p:sp>
        <p:nvSpPr>
          <p:cNvPr id="10" name="plant"/>
          <p:cNvSpPr/>
          <p:nvPr/>
        </p:nvSpPr>
        <p:spPr>
          <a:xfrm>
            <a:off x="3657600" y="4434840"/>
            <a:ext cx="137160" cy="640080"/>
          </a:xfrm>
          <a:prstGeom prst="line">
            <a:avLst/>
          </a:prstGeom>
          <a:noFill/>
          <a:ln w="38100">
            <a:solidFill>
              <a:srgbClr val="3F8F5A"/>
            </a:solidFill>
            <a:prstDash val="solid"/>
          </a:ln>
        </p:spPr>
      </p:sp>
      <p:sp>
        <p:nvSpPr>
          <p:cNvPr id="11" name="plant"/>
          <p:cNvSpPr/>
          <p:nvPr/>
        </p:nvSpPr>
        <p:spPr>
          <a:xfrm>
            <a:off x="4206240" y="4434840"/>
            <a:ext cx="137160" cy="640080"/>
          </a:xfrm>
          <a:prstGeom prst="line">
            <a:avLst/>
          </a:prstGeom>
          <a:noFill/>
          <a:ln w="38100">
            <a:solidFill>
              <a:srgbClr val="3F8F5A"/>
            </a:solidFill>
            <a:prstDash val="solid"/>
          </a:ln>
        </p:spPr>
      </p:sp>
      <p:sp>
        <p:nvSpPr>
          <p:cNvPr id="12" name="plant"/>
          <p:cNvSpPr/>
          <p:nvPr/>
        </p:nvSpPr>
        <p:spPr>
          <a:xfrm>
            <a:off x="4754880" y="4434840"/>
            <a:ext cx="137160" cy="640080"/>
          </a:xfrm>
          <a:prstGeom prst="line">
            <a:avLst/>
          </a:prstGeom>
          <a:noFill/>
          <a:ln w="38100">
            <a:solidFill>
              <a:srgbClr val="3F8F5A"/>
            </a:solidFill>
            <a:prstDash val="solid"/>
          </a:ln>
        </p:spPr>
      </p:sp>
      <p:sp>
        <p:nvSpPr>
          <p:cNvPr id="13" name="plant"/>
          <p:cNvSpPr/>
          <p:nvPr/>
        </p:nvSpPr>
        <p:spPr>
          <a:xfrm>
            <a:off x="5303520" y="4434840"/>
            <a:ext cx="137160" cy="640080"/>
          </a:xfrm>
          <a:prstGeom prst="line">
            <a:avLst/>
          </a:prstGeom>
          <a:noFill/>
          <a:ln w="38100">
            <a:solidFill>
              <a:srgbClr val="3F8F5A"/>
            </a:solidFill>
            <a:prstDash val="solid"/>
          </a:ln>
        </p:spPr>
      </p:sp>
      <p:sp>
        <p:nvSpPr>
          <p:cNvPr id="14" name="plant"/>
          <p:cNvSpPr/>
          <p:nvPr/>
        </p:nvSpPr>
        <p:spPr>
          <a:xfrm>
            <a:off x="5852160" y="4434840"/>
            <a:ext cx="137160" cy="640080"/>
          </a:xfrm>
          <a:prstGeom prst="line">
            <a:avLst/>
          </a:prstGeom>
          <a:noFill/>
          <a:ln w="38100">
            <a:solidFill>
              <a:srgbClr val="3F8F5A"/>
            </a:solidFill>
            <a:prstDash val="solid"/>
          </a:ln>
        </p:spPr>
      </p:sp>
      <p:sp>
        <p:nvSpPr>
          <p:cNvPr id="15" name="icon circle"/>
          <p:cNvSpPr/>
          <p:nvPr/>
        </p:nvSpPr>
        <p:spPr>
          <a:xfrm>
            <a:off x="822960" y="1371600"/>
            <a:ext cx="731520" cy="731520"/>
          </a:xfrm>
          <a:prstGeom prst="ellipse">
            <a:avLst/>
          </a:prstGeom>
          <a:solidFill>
            <a:schemeClr val="accent3"/>
          </a:solidFill>
          <a:ln/>
        </p:spPr>
      </p:sp>
      <p:pic>
        <p:nvPicPr>
          <p:cNvPr id="16" name="Image 0" descr="Sun icon">    </p:cNvPr>
          <p:cNvPicPr>
            <a:picLocks noChangeAspect="1"/>
          </p:cNvPicPr>
          <p:nvPr/>
        </p:nvPicPr>
        <p:blipFill>
          <a:blip r:embed="rId1"/>
          <a:stretch>
            <a:fillRect/>
          </a:stretch>
        </p:blipFill>
        <p:spPr>
          <a:xfrm>
            <a:off x="1013155" y="1561795"/>
            <a:ext cx="351130" cy="351130"/>
          </a:xfrm>
          <a:prstGeom prst="rect">
            <a:avLst/>
          </a:prstGeom>
        </p:spPr>
      </p:pic>
      <p:sp>
        <p:nvSpPr>
          <p:cNvPr id="17" name="arrow"/>
          <p:cNvSpPr/>
          <p:nvPr/>
        </p:nvSpPr>
        <p:spPr>
          <a:xfrm>
            <a:off x="1371600" y="2103120"/>
            <a:ext cx="1920240" cy="2286000"/>
          </a:xfrm>
          <a:prstGeom prst="line">
            <a:avLst/>
          </a:prstGeom>
          <a:noFill/>
          <a:ln w="31750">
            <a:solidFill>
              <a:srgbClr val="EDAE49"/>
            </a:solidFill>
            <a:prstDash val="solid"/>
            <a:tailEnd type="triangle"/>
          </a:ln>
        </p:spPr>
      </p:sp>
      <p:sp>
        <p:nvSpPr>
          <p:cNvPr id="18" name="Text 14"/>
          <p:cNvSpPr txBox="1"/>
          <p:nvPr/>
        </p:nvSpPr>
        <p:spPr>
          <a:xfrm>
            <a:off x="548640" y="3063240"/>
            <a:ext cx="1554480" cy="274320"/>
          </a:xfrm>
          <a:prstGeom prst="rect">
            <a:avLst/>
          </a:prstGeom>
          <a:noFill/>
          <a:ln/>
        </p:spPr>
        <p:txBody>
          <a:bodyPr wrap="square" lIns="0" tIns="0" rIns="0" bIns="0" rtlCol="0" anchor="ctr"/>
          <a:lstStyle/>
          <a:p>
            <a:pPr algn="l" indent="0" marL="0">
              <a:buNone/>
            </a:pPr>
            <a:r>
              <a:rPr lang="en-US" sz="1200" b="1" dirty="0">
                <a:solidFill>
                  <a:schemeClr val="accent3"/>
                </a:solidFill>
              </a:rPr>
              <a:t>θ</a:t>
            </a:r>
            <a:r>
              <a:rPr lang="en-US" sz="1200" b="1" baseline="-40000" dirty="0">
                <a:solidFill>
                  <a:schemeClr val="accent3"/>
                </a:solidFill>
              </a:rPr>
              <a:t>s</a:t>
            </a:r>
            <a:r>
              <a:rPr lang="en-US" sz="1200" b="1" dirty="0">
                <a:solidFill>
                  <a:schemeClr val="accent3"/>
                </a:solidFill>
              </a:rPr>
              <a:t> sun zenith</a:t>
            </a:r>
            <a:endParaRPr lang="en-US" sz="1200" dirty="0"/>
          </a:p>
        </p:txBody>
      </p:sp>
      <p:sp>
        <p:nvSpPr>
          <p:cNvPr id="19" name="icon circle"/>
          <p:cNvSpPr/>
          <p:nvPr/>
        </p:nvSpPr>
        <p:spPr>
          <a:xfrm>
            <a:off x="2148840" y="1600200"/>
            <a:ext cx="548640" cy="548640"/>
          </a:xfrm>
          <a:prstGeom prst="ellipse">
            <a:avLst/>
          </a:prstGeom>
          <a:solidFill>
            <a:schemeClr val="accent2"/>
          </a:solidFill>
          <a:ln/>
        </p:spPr>
      </p:sp>
      <p:pic>
        <p:nvPicPr>
          <p:cNvPr id="20" name="Image 1" descr="Satellite icon">    </p:cNvPr>
          <p:cNvPicPr>
            <a:picLocks noChangeAspect="1"/>
          </p:cNvPicPr>
          <p:nvPr/>
        </p:nvPicPr>
        <p:blipFill>
          <a:blip r:embed="rId2"/>
          <a:stretch>
            <a:fillRect/>
          </a:stretch>
        </p:blipFill>
        <p:spPr>
          <a:xfrm>
            <a:off x="2291486" y="1742846"/>
            <a:ext cx="263347" cy="263347"/>
          </a:xfrm>
          <a:prstGeom prst="rect">
            <a:avLst/>
          </a:prstGeom>
        </p:spPr>
      </p:pic>
      <p:sp>
        <p:nvSpPr>
          <p:cNvPr id="21" name="arrow"/>
          <p:cNvSpPr/>
          <p:nvPr/>
        </p:nvSpPr>
        <p:spPr>
          <a:xfrm flipH="1" flipV="1">
            <a:off x="2514600" y="2194560"/>
            <a:ext cx="777240" cy="2194560"/>
          </a:xfrm>
          <a:prstGeom prst="line">
            <a:avLst/>
          </a:prstGeom>
          <a:noFill/>
          <a:ln w="31750">
            <a:solidFill>
              <a:srgbClr val="2E86AB"/>
            </a:solidFill>
            <a:prstDash val="solid"/>
            <a:tailEnd type="triangle"/>
          </a:ln>
        </p:spPr>
      </p:sp>
      <p:sp>
        <p:nvSpPr>
          <p:cNvPr id="22" name="Text 17"/>
          <p:cNvSpPr txBox="1"/>
          <p:nvPr/>
        </p:nvSpPr>
        <p:spPr>
          <a:xfrm>
            <a:off x="548640" y="3886200"/>
            <a:ext cx="2377440" cy="502920"/>
          </a:xfrm>
          <a:prstGeom prst="rect">
            <a:avLst/>
          </a:prstGeom>
          <a:noFill/>
          <a:ln/>
        </p:spPr>
        <p:txBody>
          <a:bodyPr wrap="square" lIns="0" tIns="0" rIns="0" bIns="0" rtlCol="0" anchor="ctr"/>
          <a:lstStyle/>
          <a:p>
            <a:pPr algn="l" indent="0" marL="0">
              <a:buNone/>
            </a:pPr>
            <a:r>
              <a:rPr lang="en-US" sz="1150" b="1" dirty="0">
                <a:solidFill>
                  <a:schemeClr val="accent2"/>
                </a:solidFill>
              </a:rPr>
              <a:t>backward = hotspot (shadows hidden)</a:t>
            </a:r>
            <a:endParaRPr lang="en-US" sz="1150" dirty="0"/>
          </a:p>
        </p:txBody>
      </p:sp>
      <p:sp>
        <p:nvSpPr>
          <p:cNvPr id="23" name="icon circle"/>
          <p:cNvSpPr/>
          <p:nvPr/>
        </p:nvSpPr>
        <p:spPr>
          <a:xfrm>
            <a:off x="5303520" y="1920240"/>
            <a:ext cx="548640" cy="548640"/>
          </a:xfrm>
          <a:prstGeom prst="ellipse">
            <a:avLst/>
          </a:prstGeom>
          <a:solidFill>
            <a:schemeClr val="accent5"/>
          </a:solidFill>
          <a:ln/>
        </p:spPr>
      </p:sp>
      <p:pic>
        <p:nvPicPr>
          <p:cNvPr id="24" name="Image 2" descr="Satellite icon">    </p:cNvPr>
          <p:cNvPicPr>
            <a:picLocks noChangeAspect="1"/>
          </p:cNvPicPr>
          <p:nvPr/>
        </p:nvPicPr>
        <p:blipFill>
          <a:blip r:embed="rId3"/>
          <a:stretch>
            <a:fillRect/>
          </a:stretch>
        </p:blipFill>
        <p:spPr>
          <a:xfrm>
            <a:off x="5446166" y="2062886"/>
            <a:ext cx="263347" cy="263347"/>
          </a:xfrm>
          <a:prstGeom prst="rect">
            <a:avLst/>
          </a:prstGeom>
        </p:spPr>
      </p:pic>
      <p:sp>
        <p:nvSpPr>
          <p:cNvPr id="25" name="arrow"/>
          <p:cNvSpPr/>
          <p:nvPr/>
        </p:nvSpPr>
        <p:spPr>
          <a:xfrm flipV="1">
            <a:off x="3291840" y="2514600"/>
            <a:ext cx="2148840" cy="1874520"/>
          </a:xfrm>
          <a:prstGeom prst="line">
            <a:avLst/>
          </a:prstGeom>
          <a:noFill/>
          <a:ln w="31750">
            <a:solidFill>
              <a:srgbClr val="6C4F9E"/>
            </a:solidFill>
            <a:prstDash val="solid"/>
            <a:tailEnd type="triangle"/>
          </a:ln>
        </p:spPr>
      </p:sp>
      <p:sp>
        <p:nvSpPr>
          <p:cNvPr id="26" name="Text 20"/>
          <p:cNvSpPr txBox="1"/>
          <p:nvPr/>
        </p:nvSpPr>
        <p:spPr>
          <a:xfrm>
            <a:off x="4206240" y="3063240"/>
            <a:ext cx="2377440" cy="502920"/>
          </a:xfrm>
          <a:prstGeom prst="rect">
            <a:avLst/>
          </a:prstGeom>
          <a:noFill/>
          <a:ln/>
        </p:spPr>
        <p:txBody>
          <a:bodyPr wrap="square" lIns="0" tIns="0" rIns="0" bIns="0" rtlCol="0" anchor="ctr"/>
          <a:lstStyle/>
          <a:p>
            <a:pPr algn="l" indent="0" marL="0">
              <a:buNone/>
            </a:pPr>
            <a:r>
              <a:rPr lang="en-US" sz="1150" b="1" dirty="0">
                <a:solidFill>
                  <a:schemeClr val="accent5"/>
                </a:solidFill>
              </a:rPr>
              <a:t>forward = darkspot (shadows seen)</a:t>
            </a:r>
            <a:endParaRPr lang="en-US" sz="1150" dirty="0"/>
          </a:p>
        </p:txBody>
      </p:sp>
      <p:sp>
        <p:nvSpPr>
          <p:cNvPr id="27" name="arrow"/>
          <p:cNvSpPr/>
          <p:nvPr/>
        </p:nvSpPr>
        <p:spPr>
          <a:xfrm flipV="1">
            <a:off x="3291840" y="1463040"/>
            <a:ext cx="0" cy="2926080"/>
          </a:xfrm>
          <a:prstGeom prst="line">
            <a:avLst/>
          </a:prstGeom>
          <a:noFill/>
          <a:ln w="19050">
            <a:solidFill>
              <a:srgbClr val="5C6B73"/>
            </a:solidFill>
            <a:prstDash val="dash"/>
          </a:ln>
        </p:spPr>
      </p:sp>
      <p:sp>
        <p:nvSpPr>
          <p:cNvPr id="28" name="Text 22"/>
          <p:cNvSpPr txBox="1"/>
          <p:nvPr/>
        </p:nvSpPr>
        <p:spPr>
          <a:xfrm>
            <a:off x="3383280" y="1417320"/>
            <a:ext cx="1463040" cy="274320"/>
          </a:xfrm>
          <a:prstGeom prst="rect">
            <a:avLst/>
          </a:prstGeom>
          <a:noFill/>
          <a:ln/>
        </p:spPr>
        <p:txBody>
          <a:bodyPr wrap="square" lIns="0" tIns="0" rIns="0" bIns="0" rtlCol="0" anchor="ctr"/>
          <a:lstStyle/>
          <a:p>
            <a:pPr algn="l" indent="0" marL="0">
              <a:buNone/>
            </a:pPr>
            <a:r>
              <a:rPr lang="en-US" sz="1100" dirty="0">
                <a:solidFill>
                  <a:schemeClr val="accent6"/>
                </a:solidFill>
              </a:rPr>
              <a:t>nadir (θ</a:t>
            </a:r>
            <a:r>
              <a:rPr lang="en-US" sz="1100" baseline="-40000" dirty="0">
                <a:solidFill>
                  <a:schemeClr val="accent6"/>
                </a:solidFill>
              </a:rPr>
              <a:t>v</a:t>
            </a:r>
            <a:r>
              <a:rPr lang="en-US" sz="1100" dirty="0">
                <a:solidFill>
                  <a:schemeClr val="accent6"/>
                </a:solidFill>
              </a:rPr>
              <a:t> = 0)</a:t>
            </a:r>
            <a:endParaRPr lang="en-US" sz="1100" dirty="0"/>
          </a:p>
        </p:txBody>
      </p:sp>
      <p:sp>
        <p:nvSpPr>
          <p:cNvPr id="29" name="Text 23"/>
          <p:cNvSpPr txBox="1"/>
          <p:nvPr/>
        </p:nvSpPr>
        <p:spPr>
          <a:xfrm>
            <a:off x="548640" y="5486400"/>
            <a:ext cx="6035040" cy="502920"/>
          </a:xfrm>
          <a:prstGeom prst="rect">
            <a:avLst/>
          </a:prstGeom>
          <a:noFill/>
          <a:ln/>
        </p:spPr>
        <p:txBody>
          <a:bodyPr wrap="square" lIns="0" tIns="0" rIns="0" bIns="0" rtlCol="0" anchor="ctr"/>
          <a:lstStyle/>
          <a:p>
            <a:pPr algn="l" indent="0" marL="0">
              <a:buNone/>
            </a:pPr>
            <a:r>
              <a:rPr lang="en-US" sz="1150" i="1" dirty="0">
                <a:solidFill>
                  <a:schemeClr val="accent6"/>
                </a:solidFill>
              </a:rPr>
              <a:t>Principal plane: sun, target and sensor aligned (φ = 0° backward, 180° forward)</a:t>
            </a:r>
            <a:endParaRPr lang="en-US" sz="1150" dirty="0"/>
          </a:p>
        </p:txBody>
      </p:sp>
      <p:sp>
        <p:nvSpPr>
          <p:cNvPr id="30" name="card"/>
          <p:cNvSpPr/>
          <p:nvPr/>
        </p:nvSpPr>
        <p:spPr>
          <a:xfrm>
            <a:off x="6766560" y="1325880"/>
            <a:ext cx="4873752" cy="4709160"/>
          </a:xfrm>
          <a:prstGeom prst="roundRect">
            <a:avLst>
              <a:gd name="adj" fmla="val 1553"/>
            </a:avLst>
          </a:prstGeom>
          <a:solidFill>
            <a:schemeClr val="bg2"/>
          </a:solidFill>
          <a:ln/>
          <a:effectLst>
            <a:outerShdw sx="100000" sy="100000" kx="0" ky="0" algn="bl" rotWithShape="0" blurRad="76200" dist="25400" dir="5400000">
              <a:srgbClr val="000000">
                <a:alpha val="14000"/>
              </a:srgbClr>
            </a:outerShdw>
          </a:effectLst>
        </p:spPr>
      </p:sp>
      <p:sp>
        <p:nvSpPr>
          <p:cNvPr id="31" name="icon circle"/>
          <p:cNvSpPr/>
          <p:nvPr/>
        </p:nvSpPr>
        <p:spPr>
          <a:xfrm>
            <a:off x="6949440" y="1481328"/>
            <a:ext cx="420624" cy="420624"/>
          </a:xfrm>
          <a:prstGeom prst="ellipse">
            <a:avLst/>
          </a:prstGeom>
          <a:solidFill>
            <a:schemeClr val="accent2"/>
          </a:solidFill>
          <a:ln/>
        </p:spPr>
      </p:sp>
      <p:pic>
        <p:nvPicPr>
          <p:cNvPr id="32" name="Image 3" descr="Eye icon">    </p:cNvPr>
          <p:cNvPicPr>
            <a:picLocks noChangeAspect="1"/>
          </p:cNvPicPr>
          <p:nvPr/>
        </p:nvPicPr>
        <p:blipFill>
          <a:blip r:embed="rId4"/>
          <a:stretch>
            <a:fillRect/>
          </a:stretch>
        </p:blipFill>
        <p:spPr>
          <a:xfrm>
            <a:off x="7058802" y="1590690"/>
            <a:ext cx="201900" cy="201900"/>
          </a:xfrm>
          <a:prstGeom prst="rect">
            <a:avLst/>
          </a:prstGeom>
        </p:spPr>
      </p:pic>
      <p:sp>
        <p:nvSpPr>
          <p:cNvPr id="33" name="Text 26"/>
          <p:cNvSpPr txBox="1"/>
          <p:nvPr/>
        </p:nvSpPr>
        <p:spPr>
          <a:xfrm>
            <a:off x="7479792" y="1463040"/>
            <a:ext cx="4023360" cy="457200"/>
          </a:xfrm>
          <a:prstGeom prst="rect">
            <a:avLst/>
          </a:prstGeom>
          <a:noFill/>
          <a:ln/>
        </p:spPr>
        <p:txBody>
          <a:bodyPr wrap="square" lIns="0" tIns="0" rIns="0" bIns="0" rtlCol="0" anchor="ctr"/>
          <a:lstStyle/>
          <a:p>
            <a:pPr indent="0" marL="0">
              <a:buNone/>
            </a:pPr>
            <a:r>
              <a:rPr lang="en-US" sz="1600" b="1" dirty="0">
                <a:solidFill>
                  <a:schemeClr val="tx2"/>
                </a:solidFill>
              </a:rPr>
              <a:t>Key terms</a:t>
            </a:r>
            <a:endParaRPr lang="en-US" sz="1600" dirty="0"/>
          </a:p>
        </p:txBody>
      </p:sp>
      <p:sp>
        <p:nvSpPr>
          <p:cNvPr id="34" name="Text 27"/>
          <p:cNvSpPr txBox="1"/>
          <p:nvPr/>
        </p:nvSpPr>
        <p:spPr>
          <a:xfrm>
            <a:off x="6949440" y="2011680"/>
            <a:ext cx="4507992" cy="39319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BRF / BRDF</a:t>
            </a:r>
            <a:r>
              <a:rPr lang="en-US" sz="1300" dirty="0">
                <a:solidFill>
                  <a:schemeClr val="tx1"/>
                </a:solidFill>
              </a:rPr>
              <a:t>: reflectance as a function of θ</a:t>
            </a:r>
            <a:r>
              <a:rPr lang="en-US" sz="1300" baseline="-40000" dirty="0">
                <a:solidFill>
                  <a:schemeClr val="tx1"/>
                </a:solidFill>
              </a:rPr>
              <a:t>s</a:t>
            </a:r>
            <a:r>
              <a:rPr lang="en-US" sz="1300" dirty="0">
                <a:solidFill>
                  <a:schemeClr val="tx1"/>
                </a:solidFill>
              </a:rPr>
              <a:t>, θ</a:t>
            </a:r>
            <a:r>
              <a:rPr lang="en-US" sz="1300" baseline="-40000" dirty="0">
                <a:solidFill>
                  <a:schemeClr val="tx1"/>
                </a:solidFill>
              </a:rPr>
              <a:t>v</a:t>
            </a:r>
            <a:r>
              <a:rPr lang="en-US" sz="1300" dirty="0">
                <a:solidFill>
                  <a:schemeClr val="tx1"/>
                </a:solidFill>
              </a:rPr>
              <a:t>, relative azimuth φ</a:t>
            </a:r>
            <a:endParaRPr lang="en-US" sz="1300" dirty="0"/>
          </a:p>
          <a:p>
            <a:pPr marL="177800" indent="-177800">
              <a:spcAft>
                <a:spcPts val="400"/>
              </a:spcAft>
              <a:buSzPct val="100000"/>
              <a:buChar char="•"/>
            </a:pPr>
            <a:r>
              <a:rPr lang="en-US" sz="1300" b="1" dirty="0">
                <a:solidFill>
                  <a:schemeClr val="tx1"/>
                </a:solidFill>
              </a:rPr>
              <a:t>Anisotropy</a:t>
            </a:r>
            <a:r>
              <a:rPr lang="en-US" sz="1300" dirty="0">
                <a:solidFill>
                  <a:schemeClr val="tx1"/>
                </a:solidFill>
              </a:rPr>
              <a:t>: reflectance changes with view and sun direction</a:t>
            </a:r>
            <a:endParaRPr lang="en-US" sz="1300" dirty="0"/>
          </a:p>
          <a:p>
            <a:pPr marL="177800" indent="-177800">
              <a:spcAft>
                <a:spcPts val="400"/>
              </a:spcAft>
              <a:buSzPct val="100000"/>
              <a:buChar char="•"/>
            </a:pPr>
            <a:r>
              <a:rPr lang="en-US" sz="1300" b="1" dirty="0">
                <a:solidFill>
                  <a:schemeClr val="tx1"/>
                </a:solidFill>
              </a:rPr>
              <a:t>Hotspot</a:t>
            </a:r>
            <a:r>
              <a:rPr lang="en-US" sz="1300" dirty="0">
                <a:solidFill>
                  <a:schemeClr val="tx1"/>
                </a:solidFill>
              </a:rPr>
              <a:t>: peak in backward direction when view ≈ sun direction; size ∝ leaf length / canopy height (SAIL hotspot parameter)</a:t>
            </a:r>
            <a:endParaRPr lang="en-US" sz="1300" dirty="0"/>
          </a:p>
          <a:p>
            <a:pPr marL="177800" indent="-177800">
              <a:spcAft>
                <a:spcPts val="400"/>
              </a:spcAft>
              <a:buSzPct val="100000"/>
              <a:buChar char="•"/>
            </a:pPr>
            <a:r>
              <a:rPr lang="en-US" sz="1300" b="1" dirty="0">
                <a:solidFill>
                  <a:schemeClr val="tx1"/>
                </a:solidFill>
              </a:rPr>
              <a:t>Darkspot</a:t>
            </a:r>
            <a:r>
              <a:rPr lang="en-US" sz="1300" dirty="0">
                <a:solidFill>
                  <a:schemeClr val="tx1"/>
                </a:solidFill>
              </a:rPr>
              <a:t>: minimum in forward direction, shadows visible</a:t>
            </a:r>
            <a:endParaRPr lang="en-US" sz="1300" dirty="0"/>
          </a:p>
          <a:p>
            <a:pPr marL="177800" indent="-177800">
              <a:spcAft>
                <a:spcPts val="400"/>
              </a:spcAft>
              <a:buSzPct val="100000"/>
              <a:buChar char="•"/>
            </a:pPr>
            <a:r>
              <a:rPr lang="en-US" sz="1300" b="1" dirty="0">
                <a:solidFill>
                  <a:schemeClr val="tx1"/>
                </a:solidFill>
              </a:rPr>
              <a:t>Bowl shape</a:t>
            </a:r>
            <a:r>
              <a:rPr lang="en-US" sz="1300" dirty="0">
                <a:solidFill>
                  <a:schemeClr val="tx1"/>
                </a:solidFill>
              </a:rPr>
              <a:t>: reflectance rises off-nadir (clear in NIR)</a:t>
            </a:r>
            <a:endParaRPr lang="en-US" sz="1300" dirty="0"/>
          </a:p>
          <a:p>
            <a:pPr marL="177800" indent="-177800">
              <a:spcAft>
                <a:spcPts val="400"/>
              </a:spcAft>
              <a:buSzPct val="100000"/>
              <a:buChar char="•"/>
            </a:pPr>
            <a:r>
              <a:rPr lang="en-US" sz="1300" dirty="0">
                <a:solidFill>
                  <a:schemeClr val="tx1"/>
                </a:solidFill>
              </a:rPr>
              <a:t>Multi-angle sensors: MISR (9), CHRIS (5), POLDER/PARASOL (up to 16 views)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Families of canopy radiative transfer models</a:t>
            </a:r>
            <a:endParaRPr lang="en-US" sz="3200" dirty="0"/>
          </a:p>
        </p:txBody>
      </p:sp>
      <p:sp>
        <p:nvSpPr>
          <p:cNvPr id="4" name="diagram box"/>
          <p:cNvSpPr/>
          <p:nvPr/>
        </p:nvSpPr>
        <p:spPr>
          <a:xfrm>
            <a:off x="3813048" y="1325880"/>
            <a:ext cx="4572000" cy="640080"/>
          </a:xfrm>
          <a:prstGeom prst="roundRect">
            <a:avLst>
              <a:gd name="adj" fmla="val 11429"/>
            </a:avLst>
          </a:prstGeom>
          <a:solidFill>
            <a:schemeClr val="tx2"/>
          </a:solidFill>
          <a:ln/>
        </p:spPr>
      </p:sp>
      <p:sp>
        <p:nvSpPr>
          <p:cNvPr id="5" name="Text 2"/>
          <p:cNvSpPr txBox="1"/>
          <p:nvPr/>
        </p:nvSpPr>
        <p:spPr>
          <a:xfrm>
            <a:off x="3813048" y="1325880"/>
            <a:ext cx="457200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Canopy reflectance models</a:t>
            </a:r>
            <a:endParaRPr lang="en-US" sz="1600" dirty="0"/>
          </a:p>
        </p:txBody>
      </p:sp>
      <p:sp>
        <p:nvSpPr>
          <p:cNvPr id="6" name="arrow"/>
          <p:cNvSpPr/>
          <p:nvPr/>
        </p:nvSpPr>
        <p:spPr>
          <a:xfrm flipH="1">
            <a:off x="1865376" y="1965960"/>
            <a:ext cx="4233672" cy="365760"/>
          </a:xfrm>
          <a:prstGeom prst="line">
            <a:avLst/>
          </a:prstGeom>
          <a:noFill/>
          <a:ln w="25400">
            <a:solidFill>
              <a:srgbClr val="1F4E3D"/>
            </a:solidFill>
            <a:prstDash val="solid"/>
          </a:ln>
        </p:spPr>
      </p:sp>
      <p:sp>
        <p:nvSpPr>
          <p:cNvPr id="7" name="diagram box"/>
          <p:cNvSpPr/>
          <p:nvPr/>
        </p:nvSpPr>
        <p:spPr>
          <a:xfrm>
            <a:off x="548640" y="2331720"/>
            <a:ext cx="2633472" cy="566928"/>
          </a:xfrm>
          <a:prstGeom prst="roundRect">
            <a:avLst>
              <a:gd name="adj" fmla="val 12903"/>
            </a:avLst>
          </a:prstGeom>
          <a:solidFill>
            <a:schemeClr val="accent1"/>
          </a:solidFill>
          <a:ln/>
        </p:spPr>
      </p:sp>
      <p:sp>
        <p:nvSpPr>
          <p:cNvPr id="8" name="Text 5"/>
          <p:cNvSpPr txBox="1"/>
          <p:nvPr/>
        </p:nvSpPr>
        <p:spPr>
          <a:xfrm>
            <a:off x="548640"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Turbid medium (1-D)</a:t>
            </a:r>
            <a:endParaRPr lang="en-US" sz="1400" dirty="0"/>
          </a:p>
        </p:txBody>
      </p:sp>
      <p:sp>
        <p:nvSpPr>
          <p:cNvPr id="9" name="card"/>
          <p:cNvSpPr/>
          <p:nvPr/>
        </p:nvSpPr>
        <p:spPr>
          <a:xfrm>
            <a:off x="548640" y="2990088"/>
            <a:ext cx="2633472"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658368" y="3081528"/>
            <a:ext cx="2414016" cy="19659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SAIL, SAILH, 4SAIL</a:t>
            </a:r>
            <a:endParaRPr lang="en-US" sz="1250" dirty="0"/>
          </a:p>
          <a:p>
            <a:pPr marL="177800" indent="-177800">
              <a:spcAft>
                <a:spcPts val="400"/>
              </a:spcAft>
              <a:buSzPct val="100000"/>
              <a:buChar char="•"/>
            </a:pPr>
            <a:r>
              <a:rPr lang="en-US" sz="1250" dirty="0">
                <a:solidFill>
                  <a:schemeClr val="tx1"/>
                </a:solidFill>
              </a:rPr>
              <a:t>Homogeneous layer of small leaves</a:t>
            </a:r>
            <a:endParaRPr lang="en-US" sz="1250" dirty="0"/>
          </a:p>
          <a:p>
            <a:pPr marL="177800" indent="-177800">
              <a:spcAft>
                <a:spcPts val="400"/>
              </a:spcAft>
              <a:buSzPct val="100000"/>
              <a:buChar char="•"/>
            </a:pPr>
            <a:r>
              <a:rPr lang="en-US" sz="1250" dirty="0">
                <a:solidFill>
                  <a:schemeClr val="tx1"/>
                </a:solidFill>
              </a:rPr>
              <a:t>Few inputs, fast, invertible</a:t>
            </a:r>
            <a:endParaRPr lang="en-US" sz="1250" dirty="0"/>
          </a:p>
          <a:p>
            <a:pPr marL="177800" indent="-177800">
              <a:spcAft>
                <a:spcPts val="400"/>
              </a:spcAft>
              <a:buSzPct val="100000"/>
              <a:buChar char="•"/>
            </a:pPr>
            <a:r>
              <a:rPr lang="en-US" sz="1250" dirty="0">
                <a:solidFill>
                  <a:schemeClr val="tx1"/>
                </a:solidFill>
              </a:rPr>
              <a:t>Best for crops (wheat, rice)</a:t>
            </a:r>
            <a:endParaRPr lang="en-US" sz="1250" dirty="0"/>
          </a:p>
        </p:txBody>
      </p:sp>
      <p:sp>
        <p:nvSpPr>
          <p:cNvPr id="11" name="arrow"/>
          <p:cNvSpPr/>
          <p:nvPr/>
        </p:nvSpPr>
        <p:spPr>
          <a:xfrm flipH="1">
            <a:off x="4663440" y="1965960"/>
            <a:ext cx="1435608" cy="365760"/>
          </a:xfrm>
          <a:prstGeom prst="line">
            <a:avLst/>
          </a:prstGeom>
          <a:noFill/>
          <a:ln w="25400">
            <a:solidFill>
              <a:srgbClr val="1F4E3D"/>
            </a:solidFill>
            <a:prstDash val="solid"/>
          </a:ln>
        </p:spPr>
      </p:sp>
      <p:sp>
        <p:nvSpPr>
          <p:cNvPr id="12" name="diagram box"/>
          <p:cNvSpPr/>
          <p:nvPr/>
        </p:nvSpPr>
        <p:spPr>
          <a:xfrm>
            <a:off x="3346704" y="2331720"/>
            <a:ext cx="2633472" cy="566928"/>
          </a:xfrm>
          <a:prstGeom prst="roundRect">
            <a:avLst>
              <a:gd name="adj" fmla="val 12903"/>
            </a:avLst>
          </a:prstGeom>
          <a:solidFill>
            <a:schemeClr val="accent4"/>
          </a:solidFill>
          <a:ln/>
        </p:spPr>
      </p:sp>
      <p:sp>
        <p:nvSpPr>
          <p:cNvPr id="13" name="Text 10"/>
          <p:cNvSpPr txBox="1"/>
          <p:nvPr/>
        </p:nvSpPr>
        <p:spPr>
          <a:xfrm>
            <a:off x="3346704"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Geometric-optical</a:t>
            </a:r>
            <a:endParaRPr lang="en-US" sz="1400" dirty="0"/>
          </a:p>
        </p:txBody>
      </p:sp>
      <p:sp>
        <p:nvSpPr>
          <p:cNvPr id="14" name="card"/>
          <p:cNvSpPr/>
          <p:nvPr/>
        </p:nvSpPr>
        <p:spPr>
          <a:xfrm>
            <a:off x="3346704" y="2990088"/>
            <a:ext cx="2633472"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3456432" y="3081528"/>
            <a:ext cx="2414016" cy="19659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Crowns as cones / cylinders</a:t>
            </a:r>
            <a:endParaRPr lang="en-US" sz="1250" dirty="0"/>
          </a:p>
          <a:p>
            <a:pPr marL="177800" indent="-177800">
              <a:spcAft>
                <a:spcPts val="400"/>
              </a:spcAft>
              <a:buSzPct val="100000"/>
              <a:buChar char="•"/>
            </a:pPr>
            <a:r>
              <a:rPr lang="en-US" sz="1250" dirty="0">
                <a:solidFill>
                  <a:schemeClr val="tx1"/>
                </a:solidFill>
              </a:rPr>
              <a:t>Sunlit / shaded proportions</a:t>
            </a:r>
            <a:endParaRPr lang="en-US" sz="1250" dirty="0"/>
          </a:p>
          <a:p>
            <a:pPr marL="177800" indent="-177800">
              <a:spcAft>
                <a:spcPts val="400"/>
              </a:spcAft>
              <a:buSzPct val="100000"/>
              <a:buChar char="•"/>
            </a:pPr>
            <a:r>
              <a:rPr lang="en-US" sz="1250" dirty="0">
                <a:solidFill>
                  <a:schemeClr val="tx1"/>
                </a:solidFill>
              </a:rPr>
              <a:t>Forests, orchards</a:t>
            </a:r>
            <a:endParaRPr lang="en-US" sz="1250" dirty="0"/>
          </a:p>
        </p:txBody>
      </p:sp>
      <p:sp>
        <p:nvSpPr>
          <p:cNvPr id="16" name="arrow"/>
          <p:cNvSpPr/>
          <p:nvPr/>
        </p:nvSpPr>
        <p:spPr>
          <a:xfrm>
            <a:off x="6099048" y="1965960"/>
            <a:ext cx="1362456" cy="365760"/>
          </a:xfrm>
          <a:prstGeom prst="line">
            <a:avLst/>
          </a:prstGeom>
          <a:noFill/>
          <a:ln w="25400">
            <a:solidFill>
              <a:srgbClr val="1F4E3D"/>
            </a:solidFill>
            <a:prstDash val="solid"/>
          </a:ln>
        </p:spPr>
      </p:sp>
      <p:sp>
        <p:nvSpPr>
          <p:cNvPr id="17" name="diagram box"/>
          <p:cNvSpPr/>
          <p:nvPr/>
        </p:nvSpPr>
        <p:spPr>
          <a:xfrm>
            <a:off x="6144768" y="2331720"/>
            <a:ext cx="2633472" cy="566928"/>
          </a:xfrm>
          <a:prstGeom prst="roundRect">
            <a:avLst>
              <a:gd name="adj" fmla="val 12903"/>
            </a:avLst>
          </a:prstGeom>
          <a:solidFill>
            <a:schemeClr val="accent3"/>
          </a:solidFill>
          <a:ln/>
        </p:spPr>
      </p:sp>
      <p:sp>
        <p:nvSpPr>
          <p:cNvPr id="18" name="Text 15"/>
          <p:cNvSpPr txBox="1"/>
          <p:nvPr/>
        </p:nvSpPr>
        <p:spPr>
          <a:xfrm>
            <a:off x="6144768"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tx1"/>
                </a:solidFill>
              </a:rPr>
              <a:t>Hybrid</a:t>
            </a:r>
            <a:endParaRPr lang="en-US" sz="1400" dirty="0"/>
          </a:p>
        </p:txBody>
      </p:sp>
      <p:sp>
        <p:nvSpPr>
          <p:cNvPr id="19" name="card"/>
          <p:cNvSpPr/>
          <p:nvPr/>
        </p:nvSpPr>
        <p:spPr>
          <a:xfrm>
            <a:off x="6144768" y="2990088"/>
            <a:ext cx="2633472"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6254496" y="3081528"/>
            <a:ext cx="2414016" cy="19659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GeoSAIL, 4SAIL2 (crown clumping)</a:t>
            </a:r>
            <a:endParaRPr lang="en-US" sz="1250" dirty="0"/>
          </a:p>
          <a:p>
            <a:pPr marL="177800" indent="-177800">
              <a:spcAft>
                <a:spcPts val="400"/>
              </a:spcAft>
              <a:buSzPct val="100000"/>
              <a:buChar char="•"/>
            </a:pPr>
            <a:r>
              <a:rPr lang="en-US" sz="1250" dirty="0">
                <a:solidFill>
                  <a:schemeClr val="tx1"/>
                </a:solidFill>
              </a:rPr>
              <a:t>Turbid crowns + geometry</a:t>
            </a:r>
            <a:endParaRPr lang="en-US" sz="1250" dirty="0"/>
          </a:p>
          <a:p>
            <a:pPr marL="177800" indent="-177800">
              <a:spcAft>
                <a:spcPts val="400"/>
              </a:spcAft>
              <a:buSzPct val="100000"/>
              <a:buChar char="•"/>
            </a:pPr>
            <a:r>
              <a:rPr lang="en-US" sz="1250" dirty="0">
                <a:solidFill>
                  <a:schemeClr val="tx1"/>
                </a:solidFill>
              </a:rPr>
              <a:t>Row crops, sparse canopies</a:t>
            </a:r>
            <a:endParaRPr lang="en-US" sz="1250" dirty="0"/>
          </a:p>
        </p:txBody>
      </p:sp>
      <p:sp>
        <p:nvSpPr>
          <p:cNvPr id="21" name="arrow"/>
          <p:cNvSpPr/>
          <p:nvPr/>
        </p:nvSpPr>
        <p:spPr>
          <a:xfrm>
            <a:off x="6099048" y="1965960"/>
            <a:ext cx="4160520" cy="365760"/>
          </a:xfrm>
          <a:prstGeom prst="line">
            <a:avLst/>
          </a:prstGeom>
          <a:noFill/>
          <a:ln w="25400">
            <a:solidFill>
              <a:srgbClr val="1F4E3D"/>
            </a:solidFill>
            <a:prstDash val="solid"/>
          </a:ln>
        </p:spPr>
      </p:sp>
      <p:sp>
        <p:nvSpPr>
          <p:cNvPr id="22" name="diagram box"/>
          <p:cNvSpPr/>
          <p:nvPr/>
        </p:nvSpPr>
        <p:spPr>
          <a:xfrm>
            <a:off x="8942832" y="2331720"/>
            <a:ext cx="2633472" cy="566928"/>
          </a:xfrm>
          <a:prstGeom prst="roundRect">
            <a:avLst>
              <a:gd name="adj" fmla="val 12903"/>
            </a:avLst>
          </a:prstGeom>
          <a:solidFill>
            <a:schemeClr val="accent5"/>
          </a:solidFill>
          <a:ln/>
        </p:spPr>
      </p:sp>
      <p:sp>
        <p:nvSpPr>
          <p:cNvPr id="23" name="Text 20"/>
          <p:cNvSpPr txBox="1"/>
          <p:nvPr/>
        </p:nvSpPr>
        <p:spPr>
          <a:xfrm>
            <a:off x="8942832"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3-D / ray tracing</a:t>
            </a:r>
            <a:endParaRPr lang="en-US" sz="1400" dirty="0"/>
          </a:p>
        </p:txBody>
      </p:sp>
      <p:sp>
        <p:nvSpPr>
          <p:cNvPr id="24" name="card"/>
          <p:cNvSpPr/>
          <p:nvPr/>
        </p:nvSpPr>
        <p:spPr>
          <a:xfrm>
            <a:off x="8942832" y="2990088"/>
            <a:ext cx="2633472"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9052560" y="3081528"/>
            <a:ext cx="2414016" cy="19659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DART, FLIGHT, SPRINT, Monte Carlo</a:t>
            </a:r>
            <a:endParaRPr lang="en-US" sz="1250" dirty="0"/>
          </a:p>
          <a:p>
            <a:pPr marL="177800" indent="-177800">
              <a:spcAft>
                <a:spcPts val="400"/>
              </a:spcAft>
              <a:buSzPct val="100000"/>
              <a:buChar char="•"/>
            </a:pPr>
            <a:r>
              <a:rPr lang="en-US" sz="1250" dirty="0">
                <a:solidFill>
                  <a:schemeClr val="tx1"/>
                </a:solidFill>
              </a:rPr>
              <a:t>Realistic heterogeneity</a:t>
            </a:r>
            <a:endParaRPr lang="en-US" sz="1250" dirty="0"/>
          </a:p>
          <a:p>
            <a:pPr marL="177800" indent="-177800">
              <a:spcAft>
                <a:spcPts val="400"/>
              </a:spcAft>
              <a:buSzPct val="100000"/>
              <a:buChar char="•"/>
            </a:pPr>
            <a:r>
              <a:rPr lang="en-US" sz="1250" dirty="0">
                <a:solidFill>
                  <a:schemeClr val="tx1"/>
                </a:solidFill>
              </a:rPr>
              <a:t>Many inputs, slow, hard to invert</a:t>
            </a:r>
            <a:endParaRPr lang="en-US" sz="1250" dirty="0"/>
          </a:p>
        </p:txBody>
      </p:sp>
      <p:sp>
        <p:nvSpPr>
          <p:cNvPr id="26" name="card"/>
          <p:cNvSpPr/>
          <p:nvPr/>
        </p:nvSpPr>
        <p:spPr>
          <a:xfrm>
            <a:off x="548640" y="5257800"/>
            <a:ext cx="11094415" cy="914400"/>
          </a:xfrm>
          <a:prstGeom prst="roundRect">
            <a:avLst>
              <a:gd name="adj" fmla="val 8000"/>
            </a:avLst>
          </a:prstGeom>
          <a:solidFill>
            <a:schemeClr val="bg2"/>
          </a:solidFill>
          <a:ln/>
          <a:effectLst>
            <a:outerShdw sx="100000" sy="100000" kx="0" ky="0" algn="bl" rotWithShape="0" blurRad="76200" dist="25400" dir="5400000">
              <a:srgbClr val="000000">
                <a:alpha val="14000"/>
              </a:srgbClr>
            </a:outerShdw>
          </a:effectLst>
        </p:spPr>
      </p:sp>
      <p:sp>
        <p:nvSpPr>
          <p:cNvPr id="27" name="trade-off axis"/>
          <p:cNvSpPr/>
          <p:nvPr/>
        </p:nvSpPr>
        <p:spPr>
          <a:xfrm>
            <a:off x="1188720" y="5715000"/>
            <a:ext cx="7772400" cy="0"/>
          </a:xfrm>
          <a:prstGeom prst="line">
            <a:avLst/>
          </a:prstGeom>
          <a:noFill/>
          <a:ln w="25400">
            <a:solidFill>
              <a:schemeClr val="accent6"/>
            </a:solidFill>
            <a:prstDash val="solid"/>
            <a:headEnd type="triangle"/>
            <a:tailEnd type="triangle"/>
          </a:ln>
        </p:spPr>
      </p:sp>
      <p:sp>
        <p:nvSpPr>
          <p:cNvPr id="28" name="Text 25"/>
          <p:cNvSpPr txBox="1"/>
          <p:nvPr/>
        </p:nvSpPr>
        <p:spPr>
          <a:xfrm>
            <a:off x="731520" y="5303520"/>
            <a:ext cx="2743200" cy="274320"/>
          </a:xfrm>
          <a:prstGeom prst="rect">
            <a:avLst/>
          </a:prstGeom>
          <a:noFill/>
          <a:ln/>
        </p:spPr>
        <p:txBody>
          <a:bodyPr wrap="square" lIns="0" tIns="0" rIns="0" bIns="0" rtlCol="0" anchor="ctr"/>
          <a:lstStyle/>
          <a:p>
            <a:pPr algn="l" indent="0" marL="0">
              <a:buNone/>
            </a:pPr>
            <a:r>
              <a:rPr lang="en-US" sz="1150" b="1" dirty="0">
                <a:solidFill>
                  <a:schemeClr val="accent1"/>
                </a:solidFill>
              </a:rPr>
              <a:t>simple · fast · invertible</a:t>
            </a:r>
            <a:endParaRPr lang="en-US" sz="1150" dirty="0"/>
          </a:p>
        </p:txBody>
      </p:sp>
      <p:sp>
        <p:nvSpPr>
          <p:cNvPr id="29" name="Text 26"/>
          <p:cNvSpPr txBox="1"/>
          <p:nvPr/>
        </p:nvSpPr>
        <p:spPr>
          <a:xfrm>
            <a:off x="6675120" y="5303520"/>
            <a:ext cx="2743200" cy="274320"/>
          </a:xfrm>
          <a:prstGeom prst="rect">
            <a:avLst/>
          </a:prstGeom>
          <a:noFill/>
          <a:ln/>
        </p:spPr>
        <p:txBody>
          <a:bodyPr wrap="square" lIns="0" tIns="0" rIns="0" bIns="0" rtlCol="0" anchor="ctr"/>
          <a:lstStyle/>
          <a:p>
            <a:pPr algn="r" indent="0" marL="0">
              <a:buNone/>
            </a:pPr>
            <a:r>
              <a:rPr lang="en-US" sz="1150" b="1" dirty="0">
                <a:solidFill>
                  <a:schemeClr val="accent5"/>
                </a:solidFill>
              </a:rPr>
              <a:t>realistic · many inputs · slow</a:t>
            </a:r>
            <a:endParaRPr lang="en-US" sz="1150" dirty="0"/>
          </a:p>
        </p:txBody>
      </p:sp>
      <p:sp>
        <p:nvSpPr>
          <p:cNvPr id="30" name="Text 27"/>
          <p:cNvSpPr txBox="1"/>
          <p:nvPr/>
        </p:nvSpPr>
        <p:spPr>
          <a:xfrm>
            <a:off x="9144000" y="5303520"/>
            <a:ext cx="2377440" cy="822960"/>
          </a:xfrm>
          <a:prstGeom prst="rect">
            <a:avLst/>
          </a:prstGeom>
          <a:noFill/>
          <a:ln/>
        </p:spPr>
        <p:txBody>
          <a:bodyPr wrap="square" lIns="0" tIns="0" rIns="0" bIns="0" rtlCol="0" anchor="ctr"/>
          <a:lstStyle/>
          <a:p>
            <a:pPr algn="l" indent="0" marL="0">
              <a:buNone/>
            </a:pPr>
            <a:r>
              <a:rPr lang="en-US" sz="1150" dirty="0">
                <a:solidFill>
                  <a:schemeClr val="tx1"/>
                </a:solidFill>
              </a:rPr>
              <a:t>Leaf models: </a:t>
            </a:r>
            <a:r>
              <a:rPr lang="en-US" sz="1150" b="1" dirty="0">
                <a:solidFill>
                  <a:schemeClr val="tx1"/>
                </a:solidFill>
              </a:rPr>
              <a:t>PROSPECT</a:t>
            </a:r>
            <a:r>
              <a:rPr lang="en-US" sz="1150" dirty="0">
                <a:solidFill>
                  <a:schemeClr val="tx1"/>
                </a:solidFill>
              </a:rPr>
              <a:t> (broadleaf, monocots), LIBERTY (needles)</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PROSPECT + SAIL = PROSAIL</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The leaf model, the canopy model, their coupling, and what the model tells us through sensitivity analysis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PROSPECT: the leaf optical properties model</a:t>
            </a:r>
            <a:endParaRPr lang="en-US" sz="3200" dirty="0"/>
          </a:p>
        </p:txBody>
      </p:sp>
      <p:sp>
        <p:nvSpPr>
          <p:cNvPr id="4" name="diagram box"/>
          <p:cNvSpPr/>
          <p:nvPr/>
        </p:nvSpPr>
        <p:spPr>
          <a:xfrm>
            <a:off x="548640" y="1325880"/>
            <a:ext cx="1051560" cy="512064"/>
          </a:xfrm>
          <a:prstGeom prst="roundRect">
            <a:avLst>
              <a:gd name="adj" fmla="val 14286"/>
            </a:avLst>
          </a:prstGeom>
          <a:solidFill>
            <a:schemeClr val="accent1"/>
          </a:solidFill>
          <a:ln/>
        </p:spPr>
      </p:sp>
      <p:sp>
        <p:nvSpPr>
          <p:cNvPr id="5" name="Text 2"/>
          <p:cNvSpPr txBox="1"/>
          <p:nvPr/>
        </p:nvSpPr>
        <p:spPr>
          <a:xfrm>
            <a:off x="548640" y="1325880"/>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N</a:t>
            </a:r>
            <a:endParaRPr lang="en-US" sz="1300" dirty="0"/>
          </a:p>
        </p:txBody>
      </p:sp>
      <p:sp>
        <p:nvSpPr>
          <p:cNvPr id="6" name="Text 3"/>
          <p:cNvSpPr txBox="1"/>
          <p:nvPr/>
        </p:nvSpPr>
        <p:spPr>
          <a:xfrm>
            <a:off x="1691640" y="1325880"/>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leaf structure (1–1.5 monocots)</a:t>
            </a:r>
            <a:endParaRPr lang="en-US" sz="1200" dirty="0"/>
          </a:p>
        </p:txBody>
      </p:sp>
      <p:sp>
        <p:nvSpPr>
          <p:cNvPr id="7" name="arrow"/>
          <p:cNvSpPr/>
          <p:nvPr/>
        </p:nvSpPr>
        <p:spPr>
          <a:xfrm>
            <a:off x="3611880" y="1581912"/>
            <a:ext cx="548640" cy="1618488"/>
          </a:xfrm>
          <a:prstGeom prst="line">
            <a:avLst/>
          </a:prstGeom>
          <a:noFill/>
          <a:ln w="15875">
            <a:solidFill>
              <a:srgbClr val="5C6B73"/>
            </a:solidFill>
            <a:prstDash val="solid"/>
            <a:tailEnd type="triangle"/>
          </a:ln>
        </p:spPr>
      </p:sp>
      <p:sp>
        <p:nvSpPr>
          <p:cNvPr id="8" name="diagram box"/>
          <p:cNvSpPr/>
          <p:nvPr/>
        </p:nvSpPr>
        <p:spPr>
          <a:xfrm>
            <a:off x="548640" y="1947672"/>
            <a:ext cx="1051560" cy="512064"/>
          </a:xfrm>
          <a:prstGeom prst="roundRect">
            <a:avLst>
              <a:gd name="adj" fmla="val 14286"/>
            </a:avLst>
          </a:prstGeom>
          <a:solidFill>
            <a:schemeClr val="accent1"/>
          </a:solidFill>
          <a:ln/>
        </p:spPr>
      </p:sp>
      <p:sp>
        <p:nvSpPr>
          <p:cNvPr id="9" name="Text 6"/>
          <p:cNvSpPr txBox="1"/>
          <p:nvPr/>
        </p:nvSpPr>
        <p:spPr>
          <a:xfrm>
            <a:off x="548640" y="1947672"/>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Cab</a:t>
            </a:r>
            <a:endParaRPr lang="en-US" sz="1300" dirty="0"/>
          </a:p>
        </p:txBody>
      </p:sp>
      <p:sp>
        <p:nvSpPr>
          <p:cNvPr id="10" name="Text 7"/>
          <p:cNvSpPr txBox="1"/>
          <p:nvPr/>
        </p:nvSpPr>
        <p:spPr>
          <a:xfrm>
            <a:off x="1691640" y="1947672"/>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chlorophyll a+b (µg cm</a:t>
            </a:r>
            <a:r>
              <a:rPr lang="en-US" sz="1200" baseline="30000" dirty="0">
                <a:solidFill>
                  <a:schemeClr val="tx1"/>
                </a:solidFill>
              </a:rPr>
              <a:t>−2</a:t>
            </a:r>
            <a:r>
              <a:rPr lang="en-US" sz="1200" dirty="0">
                <a:solidFill>
                  <a:schemeClr val="tx1"/>
                </a:solidFill>
              </a:rPr>
              <a:t>)</a:t>
            </a:r>
            <a:endParaRPr lang="en-US" sz="1200" dirty="0"/>
          </a:p>
        </p:txBody>
      </p:sp>
      <p:sp>
        <p:nvSpPr>
          <p:cNvPr id="11" name="arrow"/>
          <p:cNvSpPr/>
          <p:nvPr/>
        </p:nvSpPr>
        <p:spPr>
          <a:xfrm>
            <a:off x="3611880" y="2203704"/>
            <a:ext cx="548640" cy="996696"/>
          </a:xfrm>
          <a:prstGeom prst="line">
            <a:avLst/>
          </a:prstGeom>
          <a:noFill/>
          <a:ln w="15875">
            <a:solidFill>
              <a:srgbClr val="5C6B73"/>
            </a:solidFill>
            <a:prstDash val="solid"/>
            <a:tailEnd type="triangle"/>
          </a:ln>
        </p:spPr>
      </p:sp>
      <p:sp>
        <p:nvSpPr>
          <p:cNvPr id="12" name="diagram box"/>
          <p:cNvSpPr/>
          <p:nvPr/>
        </p:nvSpPr>
        <p:spPr>
          <a:xfrm>
            <a:off x="548640" y="2569464"/>
            <a:ext cx="1051560" cy="512064"/>
          </a:xfrm>
          <a:prstGeom prst="roundRect">
            <a:avLst>
              <a:gd name="adj" fmla="val 14286"/>
            </a:avLst>
          </a:prstGeom>
          <a:solidFill>
            <a:schemeClr val="accent1"/>
          </a:solidFill>
          <a:ln/>
        </p:spPr>
      </p:sp>
      <p:sp>
        <p:nvSpPr>
          <p:cNvPr id="13" name="Text 10"/>
          <p:cNvSpPr txBox="1"/>
          <p:nvPr/>
        </p:nvSpPr>
        <p:spPr>
          <a:xfrm>
            <a:off x="548640" y="2569464"/>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Car</a:t>
            </a:r>
            <a:endParaRPr lang="en-US" sz="1300" dirty="0"/>
          </a:p>
        </p:txBody>
      </p:sp>
      <p:sp>
        <p:nvSpPr>
          <p:cNvPr id="14" name="Text 11"/>
          <p:cNvSpPr txBox="1"/>
          <p:nvPr/>
        </p:nvSpPr>
        <p:spPr>
          <a:xfrm>
            <a:off x="1691640" y="2569464"/>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carotenoids (µg cm</a:t>
            </a:r>
            <a:r>
              <a:rPr lang="en-US" sz="1200" baseline="30000" dirty="0">
                <a:solidFill>
                  <a:schemeClr val="tx1"/>
                </a:solidFill>
              </a:rPr>
              <a:t>−2</a:t>
            </a:r>
            <a:r>
              <a:rPr lang="en-US" sz="1200" dirty="0">
                <a:solidFill>
                  <a:schemeClr val="tx1"/>
                </a:solidFill>
              </a:rPr>
              <a:t>)</a:t>
            </a:r>
            <a:endParaRPr lang="en-US" sz="1200" dirty="0"/>
          </a:p>
        </p:txBody>
      </p:sp>
      <p:sp>
        <p:nvSpPr>
          <p:cNvPr id="15" name="arrow"/>
          <p:cNvSpPr/>
          <p:nvPr/>
        </p:nvSpPr>
        <p:spPr>
          <a:xfrm>
            <a:off x="3611880" y="2825496"/>
            <a:ext cx="548640" cy="374904"/>
          </a:xfrm>
          <a:prstGeom prst="line">
            <a:avLst/>
          </a:prstGeom>
          <a:noFill/>
          <a:ln w="15875">
            <a:solidFill>
              <a:srgbClr val="5C6B73"/>
            </a:solidFill>
            <a:prstDash val="solid"/>
            <a:tailEnd type="triangle"/>
          </a:ln>
        </p:spPr>
      </p:sp>
      <p:sp>
        <p:nvSpPr>
          <p:cNvPr id="16" name="diagram box"/>
          <p:cNvSpPr/>
          <p:nvPr/>
        </p:nvSpPr>
        <p:spPr>
          <a:xfrm>
            <a:off x="548640" y="3191256"/>
            <a:ext cx="1051560" cy="512064"/>
          </a:xfrm>
          <a:prstGeom prst="roundRect">
            <a:avLst>
              <a:gd name="adj" fmla="val 14286"/>
            </a:avLst>
          </a:prstGeom>
          <a:solidFill>
            <a:schemeClr val="accent1"/>
          </a:solidFill>
          <a:ln/>
        </p:spPr>
      </p:sp>
      <p:sp>
        <p:nvSpPr>
          <p:cNvPr id="17" name="Text 14"/>
          <p:cNvSpPr txBox="1"/>
          <p:nvPr/>
        </p:nvSpPr>
        <p:spPr>
          <a:xfrm>
            <a:off x="548640" y="3191256"/>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Cbrown</a:t>
            </a:r>
            <a:endParaRPr lang="en-US" sz="1300" dirty="0"/>
          </a:p>
        </p:txBody>
      </p:sp>
      <p:sp>
        <p:nvSpPr>
          <p:cNvPr id="18" name="Text 15"/>
          <p:cNvSpPr txBox="1"/>
          <p:nvPr/>
        </p:nvSpPr>
        <p:spPr>
          <a:xfrm>
            <a:off x="1691640" y="3191256"/>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brown pigments</a:t>
            </a:r>
            <a:endParaRPr lang="en-US" sz="1200" dirty="0"/>
          </a:p>
        </p:txBody>
      </p:sp>
      <p:sp>
        <p:nvSpPr>
          <p:cNvPr id="19" name="arrow"/>
          <p:cNvSpPr/>
          <p:nvPr/>
        </p:nvSpPr>
        <p:spPr>
          <a:xfrm flipV="1">
            <a:off x="3611880" y="3200400"/>
            <a:ext cx="548640" cy="246888"/>
          </a:xfrm>
          <a:prstGeom prst="line">
            <a:avLst/>
          </a:prstGeom>
          <a:noFill/>
          <a:ln w="15875">
            <a:solidFill>
              <a:srgbClr val="5C6B73"/>
            </a:solidFill>
            <a:prstDash val="solid"/>
            <a:tailEnd type="triangle"/>
          </a:ln>
        </p:spPr>
      </p:sp>
      <p:sp>
        <p:nvSpPr>
          <p:cNvPr id="20" name="diagram box"/>
          <p:cNvSpPr/>
          <p:nvPr/>
        </p:nvSpPr>
        <p:spPr>
          <a:xfrm>
            <a:off x="548640" y="3813048"/>
            <a:ext cx="1051560" cy="512064"/>
          </a:xfrm>
          <a:prstGeom prst="roundRect">
            <a:avLst>
              <a:gd name="adj" fmla="val 14286"/>
            </a:avLst>
          </a:prstGeom>
          <a:solidFill>
            <a:schemeClr val="accent1"/>
          </a:solidFill>
          <a:ln/>
        </p:spPr>
      </p:sp>
      <p:sp>
        <p:nvSpPr>
          <p:cNvPr id="21" name="Text 18"/>
          <p:cNvSpPr txBox="1"/>
          <p:nvPr/>
        </p:nvSpPr>
        <p:spPr>
          <a:xfrm>
            <a:off x="548640" y="3813048"/>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Cw</a:t>
            </a:r>
            <a:endParaRPr lang="en-US" sz="1300" dirty="0"/>
          </a:p>
        </p:txBody>
      </p:sp>
      <p:sp>
        <p:nvSpPr>
          <p:cNvPr id="22" name="Text 19"/>
          <p:cNvSpPr txBox="1"/>
          <p:nvPr/>
        </p:nvSpPr>
        <p:spPr>
          <a:xfrm>
            <a:off x="1691640" y="3813048"/>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equivalent water thickness (cm)</a:t>
            </a:r>
            <a:endParaRPr lang="en-US" sz="1200" dirty="0"/>
          </a:p>
        </p:txBody>
      </p:sp>
      <p:sp>
        <p:nvSpPr>
          <p:cNvPr id="23" name="arrow"/>
          <p:cNvSpPr/>
          <p:nvPr/>
        </p:nvSpPr>
        <p:spPr>
          <a:xfrm flipV="1">
            <a:off x="3611880" y="3200400"/>
            <a:ext cx="548640" cy="868680"/>
          </a:xfrm>
          <a:prstGeom prst="line">
            <a:avLst/>
          </a:prstGeom>
          <a:noFill/>
          <a:ln w="15875">
            <a:solidFill>
              <a:srgbClr val="5C6B73"/>
            </a:solidFill>
            <a:prstDash val="solid"/>
            <a:tailEnd type="triangle"/>
          </a:ln>
        </p:spPr>
      </p:sp>
      <p:sp>
        <p:nvSpPr>
          <p:cNvPr id="24" name="diagram box"/>
          <p:cNvSpPr/>
          <p:nvPr/>
        </p:nvSpPr>
        <p:spPr>
          <a:xfrm>
            <a:off x="548640" y="4434840"/>
            <a:ext cx="1051560" cy="512064"/>
          </a:xfrm>
          <a:prstGeom prst="roundRect">
            <a:avLst>
              <a:gd name="adj" fmla="val 14286"/>
            </a:avLst>
          </a:prstGeom>
          <a:solidFill>
            <a:schemeClr val="accent1"/>
          </a:solidFill>
          <a:ln/>
        </p:spPr>
      </p:sp>
      <p:sp>
        <p:nvSpPr>
          <p:cNvPr id="25" name="Text 22"/>
          <p:cNvSpPr txBox="1"/>
          <p:nvPr/>
        </p:nvSpPr>
        <p:spPr>
          <a:xfrm>
            <a:off x="548640" y="4434840"/>
            <a:ext cx="1051560" cy="512064"/>
          </a:xfrm>
          <a:prstGeom prst="rect">
            <a:avLst/>
          </a:prstGeom>
          <a:noFill/>
          <a:ln/>
        </p:spPr>
        <p:txBody>
          <a:bodyPr wrap="square" lIns="508" tIns="508" rIns="508" bIns="508" rtlCol="0" anchor="ctr"/>
          <a:lstStyle/>
          <a:p>
            <a:pPr algn="ctr" indent="0" marL="0">
              <a:buNone/>
            </a:pPr>
            <a:r>
              <a:rPr lang="en-US" sz="1300" b="1" dirty="0">
                <a:solidFill>
                  <a:schemeClr val="bg1"/>
                </a:solidFill>
              </a:rPr>
              <a:t>Cm</a:t>
            </a:r>
            <a:endParaRPr lang="en-US" sz="1300" dirty="0"/>
          </a:p>
        </p:txBody>
      </p:sp>
      <p:sp>
        <p:nvSpPr>
          <p:cNvPr id="26" name="Text 23"/>
          <p:cNvSpPr txBox="1"/>
          <p:nvPr/>
        </p:nvSpPr>
        <p:spPr>
          <a:xfrm>
            <a:off x="1691640" y="4434840"/>
            <a:ext cx="2468880" cy="512064"/>
          </a:xfrm>
          <a:prstGeom prst="rect">
            <a:avLst/>
          </a:prstGeom>
          <a:noFill/>
          <a:ln/>
        </p:spPr>
        <p:txBody>
          <a:bodyPr wrap="square" lIns="0" tIns="0" rIns="0" bIns="0" rtlCol="0" anchor="ctr"/>
          <a:lstStyle/>
          <a:p>
            <a:pPr algn="l" indent="0" marL="0">
              <a:buNone/>
            </a:pPr>
            <a:r>
              <a:rPr lang="en-US" sz="1200" dirty="0">
                <a:solidFill>
                  <a:schemeClr val="tx1"/>
                </a:solidFill>
              </a:rPr>
              <a:t>dry matter (g cm</a:t>
            </a:r>
            <a:r>
              <a:rPr lang="en-US" sz="1200" baseline="30000" dirty="0">
                <a:solidFill>
                  <a:schemeClr val="tx1"/>
                </a:solidFill>
              </a:rPr>
              <a:t>−2</a:t>
            </a:r>
            <a:r>
              <a:rPr lang="en-US" sz="1200" dirty="0">
                <a:solidFill>
                  <a:schemeClr val="tx1"/>
                </a:solidFill>
              </a:rPr>
              <a:t>)</a:t>
            </a:r>
            <a:endParaRPr lang="en-US" sz="1200" dirty="0"/>
          </a:p>
        </p:txBody>
      </p:sp>
      <p:sp>
        <p:nvSpPr>
          <p:cNvPr id="27" name="arrow"/>
          <p:cNvSpPr/>
          <p:nvPr/>
        </p:nvSpPr>
        <p:spPr>
          <a:xfrm flipV="1">
            <a:off x="3611880" y="3200400"/>
            <a:ext cx="548640" cy="1490472"/>
          </a:xfrm>
          <a:prstGeom prst="line">
            <a:avLst/>
          </a:prstGeom>
          <a:noFill/>
          <a:ln w="15875">
            <a:solidFill>
              <a:srgbClr val="5C6B73"/>
            </a:solidFill>
            <a:prstDash val="solid"/>
            <a:tailEnd type="triangle"/>
          </a:ln>
        </p:spPr>
      </p:sp>
      <p:sp>
        <p:nvSpPr>
          <p:cNvPr id="28" name="diagram box"/>
          <p:cNvSpPr/>
          <p:nvPr/>
        </p:nvSpPr>
        <p:spPr>
          <a:xfrm>
            <a:off x="4206240" y="2514600"/>
            <a:ext cx="2377440" cy="1371600"/>
          </a:xfrm>
          <a:prstGeom prst="roundRect">
            <a:avLst>
              <a:gd name="adj" fmla="val 5333"/>
            </a:avLst>
          </a:prstGeom>
          <a:solidFill>
            <a:schemeClr val="tx2"/>
          </a:solidFill>
          <a:ln/>
        </p:spPr>
      </p:sp>
      <p:sp>
        <p:nvSpPr>
          <p:cNvPr id="29" name="Text 26"/>
          <p:cNvSpPr txBox="1"/>
          <p:nvPr/>
        </p:nvSpPr>
        <p:spPr>
          <a:xfrm>
            <a:off x="4206240" y="2514600"/>
            <a:ext cx="23774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PROSPECT</a:t>
            </a:r>
            <a:endParaRPr lang="en-US" sz="1300" dirty="0"/>
          </a:p>
          <a:p>
            <a:pPr algn="ctr" indent="0" marL="0">
              <a:buNone/>
            </a:pPr>
            <a:r>
              <a:rPr lang="en-US" sz="1300" dirty="0">
                <a:solidFill>
                  <a:schemeClr val="bg1"/>
                </a:solidFill>
              </a:rPr>
              <a:t>N absorbing plates</a:t>
            </a:r>
            <a:endParaRPr lang="en-US" sz="1300" dirty="0"/>
          </a:p>
          <a:p>
            <a:pPr algn="ctr" indent="0" marL="0">
              <a:buNone/>
            </a:pPr>
            <a:r>
              <a:rPr lang="en-US" sz="1300" dirty="0">
                <a:solidFill>
                  <a:schemeClr val="bg1"/>
                </a:solidFill>
              </a:rPr>
              <a:t>(Allen et al. 1969)</a:t>
            </a:r>
            <a:endParaRPr lang="en-US" sz="1300" dirty="0"/>
          </a:p>
        </p:txBody>
      </p:sp>
      <p:sp>
        <p:nvSpPr>
          <p:cNvPr id="30" name="arrow"/>
          <p:cNvSpPr/>
          <p:nvPr/>
        </p:nvSpPr>
        <p:spPr>
          <a:xfrm>
            <a:off x="6583680" y="3200400"/>
            <a:ext cx="502920" cy="0"/>
          </a:xfrm>
          <a:prstGeom prst="line">
            <a:avLst/>
          </a:prstGeom>
          <a:noFill/>
          <a:ln w="31750">
            <a:solidFill>
              <a:srgbClr val="1F4E3D"/>
            </a:solidFill>
            <a:prstDash val="solid"/>
            <a:tailEnd type="triangle"/>
          </a:ln>
        </p:spPr>
      </p:sp>
      <p:sp>
        <p:nvSpPr>
          <p:cNvPr id="31" name="diagram box"/>
          <p:cNvSpPr/>
          <p:nvPr/>
        </p:nvSpPr>
        <p:spPr>
          <a:xfrm>
            <a:off x="7086600" y="2514600"/>
            <a:ext cx="1920240" cy="1371600"/>
          </a:xfrm>
          <a:prstGeom prst="roundRect">
            <a:avLst>
              <a:gd name="adj" fmla="val 5333"/>
            </a:avLst>
          </a:prstGeom>
          <a:solidFill>
            <a:schemeClr val="accent2"/>
          </a:solidFill>
          <a:ln/>
        </p:spPr>
      </p:sp>
      <p:sp>
        <p:nvSpPr>
          <p:cNvPr id="32" name="Text 29"/>
          <p:cNvSpPr txBox="1"/>
          <p:nvPr/>
        </p:nvSpPr>
        <p:spPr>
          <a:xfrm>
            <a:off x="7086600" y="2514600"/>
            <a:ext cx="19202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Leaf ρ</a:t>
            </a:r>
            <a:r>
              <a:rPr lang="en-US" sz="1300" b="1" baseline="-40000" dirty="0">
                <a:solidFill>
                  <a:schemeClr val="bg1"/>
                </a:solidFill>
              </a:rPr>
              <a:t>l</a:t>
            </a:r>
            <a:r>
              <a:rPr lang="en-US" sz="1300" b="1" dirty="0">
                <a:solidFill>
                  <a:schemeClr val="bg1"/>
                </a:solidFill>
              </a:rPr>
              <a:t>(λ), τ</a:t>
            </a:r>
            <a:r>
              <a:rPr lang="en-US" sz="1300" b="1" baseline="-40000" dirty="0">
                <a:solidFill>
                  <a:schemeClr val="bg1"/>
                </a:solidFill>
              </a:rPr>
              <a:t>l</a:t>
            </a:r>
            <a:r>
              <a:rPr lang="en-US" sz="1300" b="1" dirty="0">
                <a:solidFill>
                  <a:schemeClr val="bg1"/>
                </a:solidFill>
              </a:rPr>
              <a:t>(λ)</a:t>
            </a:r>
            <a:endParaRPr lang="en-US" sz="1300" dirty="0"/>
          </a:p>
          <a:p>
            <a:pPr algn="ctr" indent="0" marL="0">
              <a:buNone/>
            </a:pPr>
            <a:r>
              <a:rPr lang="en-US" sz="1300" dirty="0">
                <a:solidFill>
                  <a:schemeClr val="bg1"/>
                </a:solidFill>
              </a:rPr>
              <a:t>400–2500 nm</a:t>
            </a:r>
            <a:endParaRPr lang="en-US" sz="1300" dirty="0"/>
          </a:p>
        </p:txBody>
      </p:sp>
      <p:sp>
        <p:nvSpPr>
          <p:cNvPr id="33" name="arrow"/>
          <p:cNvSpPr/>
          <p:nvPr/>
        </p:nvSpPr>
        <p:spPr>
          <a:xfrm>
            <a:off x="9006840" y="3200400"/>
            <a:ext cx="457200" cy="0"/>
          </a:xfrm>
          <a:prstGeom prst="line">
            <a:avLst/>
          </a:prstGeom>
          <a:noFill/>
          <a:ln w="31750">
            <a:solidFill>
              <a:srgbClr val="1F4E3D"/>
            </a:solidFill>
            <a:prstDash val="solid"/>
            <a:tailEnd type="triangle"/>
          </a:ln>
        </p:spPr>
      </p:sp>
      <p:sp>
        <p:nvSpPr>
          <p:cNvPr id="34" name="diagram box"/>
          <p:cNvSpPr/>
          <p:nvPr/>
        </p:nvSpPr>
        <p:spPr>
          <a:xfrm>
            <a:off x="9464040" y="2514600"/>
            <a:ext cx="2176272" cy="1371600"/>
          </a:xfrm>
          <a:prstGeom prst="roundRect">
            <a:avLst>
              <a:gd name="adj" fmla="val 5333"/>
            </a:avLst>
          </a:prstGeom>
          <a:solidFill>
            <a:schemeClr val="accent4"/>
          </a:solidFill>
          <a:ln/>
        </p:spPr>
      </p:sp>
      <p:sp>
        <p:nvSpPr>
          <p:cNvPr id="35" name="Text 32"/>
          <p:cNvSpPr txBox="1"/>
          <p:nvPr/>
        </p:nvSpPr>
        <p:spPr>
          <a:xfrm>
            <a:off x="9464040" y="2514600"/>
            <a:ext cx="2176272"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to SAIL</a:t>
            </a:r>
            <a:endParaRPr lang="en-US" sz="1300" dirty="0"/>
          </a:p>
          <a:p>
            <a:pPr algn="ctr" indent="0" marL="0">
              <a:buNone/>
            </a:pPr>
            <a:r>
              <a:rPr lang="en-US" sz="1300" dirty="0">
                <a:solidFill>
                  <a:schemeClr val="bg1"/>
                </a:solidFill>
              </a:rPr>
              <a:t>canopy model</a:t>
            </a:r>
            <a:endParaRPr lang="en-US" sz="1300" dirty="0"/>
          </a:p>
        </p:txBody>
      </p:sp>
      <p:sp>
        <p:nvSpPr>
          <p:cNvPr id="36" name="card"/>
          <p:cNvSpPr/>
          <p:nvPr/>
        </p:nvSpPr>
        <p:spPr>
          <a:xfrm>
            <a:off x="4206240" y="4206240"/>
            <a:ext cx="7434072"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37" name="icon circle"/>
          <p:cNvSpPr/>
          <p:nvPr/>
        </p:nvSpPr>
        <p:spPr>
          <a:xfrm>
            <a:off x="4389120" y="4361688"/>
            <a:ext cx="420624" cy="420624"/>
          </a:xfrm>
          <a:prstGeom prst="ellipse">
            <a:avLst/>
          </a:prstGeom>
          <a:solidFill>
            <a:schemeClr val="accent1"/>
          </a:solidFill>
          <a:ln/>
        </p:spPr>
      </p:sp>
      <p:pic>
        <p:nvPicPr>
          <p:cNvPr id="38" name="Image 0" descr="Leaf icon">    </p:cNvPr>
          <p:cNvPicPr>
            <a:picLocks noChangeAspect="1"/>
          </p:cNvPicPr>
          <p:nvPr/>
        </p:nvPicPr>
        <p:blipFill>
          <a:blip r:embed="rId1"/>
          <a:stretch>
            <a:fillRect/>
          </a:stretch>
        </p:blipFill>
        <p:spPr>
          <a:xfrm>
            <a:off x="4498482" y="4471050"/>
            <a:ext cx="201900" cy="201900"/>
          </a:xfrm>
          <a:prstGeom prst="rect">
            <a:avLst/>
          </a:prstGeom>
        </p:spPr>
      </p:pic>
      <p:sp>
        <p:nvSpPr>
          <p:cNvPr id="39" name="Text 35"/>
          <p:cNvSpPr txBox="1"/>
          <p:nvPr/>
        </p:nvSpPr>
        <p:spPr>
          <a:xfrm>
            <a:off x="4919472" y="4343400"/>
            <a:ext cx="6583680" cy="457200"/>
          </a:xfrm>
          <a:prstGeom prst="rect">
            <a:avLst/>
          </a:prstGeom>
          <a:noFill/>
          <a:ln/>
        </p:spPr>
        <p:txBody>
          <a:bodyPr wrap="square" lIns="0" tIns="0" rIns="0" bIns="0" rtlCol="0" anchor="ctr"/>
          <a:lstStyle/>
          <a:p>
            <a:pPr indent="0" marL="0">
              <a:buNone/>
            </a:pPr>
            <a:r>
              <a:rPr lang="en-US" sz="1600" b="1" dirty="0">
                <a:solidFill>
                  <a:schemeClr val="tx2"/>
                </a:solidFill>
              </a:rPr>
              <a:t>Versions and facts</a:t>
            </a:r>
            <a:endParaRPr lang="en-US" sz="1600" dirty="0"/>
          </a:p>
        </p:txBody>
      </p:sp>
      <p:sp>
        <p:nvSpPr>
          <p:cNvPr id="40" name="Text 36"/>
          <p:cNvSpPr txBox="1"/>
          <p:nvPr/>
        </p:nvSpPr>
        <p:spPr>
          <a:xfrm>
            <a:off x="4389120" y="4892040"/>
            <a:ext cx="7068312" cy="11887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PROSPECT (Jacquemoud &amp; Baret 1990) → PROSPECT-4 → </a:t>
            </a:r>
            <a:r>
              <a:rPr lang="en-US" sz="1250" b="1" dirty="0">
                <a:solidFill>
                  <a:schemeClr val="tx1"/>
                </a:solidFill>
              </a:rPr>
              <a:t>PROSPECT-5</a:t>
            </a:r>
            <a:r>
              <a:rPr lang="en-US" sz="1250" dirty="0">
                <a:solidFill>
                  <a:schemeClr val="tx1"/>
                </a:solidFill>
              </a:rPr>
              <a:t>: chlorophyll and carotenoids separated (Féret et al. 2008)</a:t>
            </a:r>
            <a:endParaRPr lang="en-US" sz="1250" dirty="0"/>
          </a:p>
          <a:p>
            <a:pPr marL="177800" indent="-177800">
              <a:spcAft>
                <a:spcPts val="400"/>
              </a:spcAft>
              <a:buSzPct val="100000"/>
              <a:buChar char="•"/>
            </a:pPr>
            <a:r>
              <a:rPr lang="en-US" sz="1250" dirty="0">
                <a:solidFill>
                  <a:schemeClr val="tx1"/>
                </a:solidFill>
              </a:rPr>
              <a:t>Each constituent has a specific absorption coefficient spectrum; total absorption = Σ k</a:t>
            </a:r>
            <a:r>
              <a:rPr lang="en-US" sz="1250" baseline="-40000" dirty="0">
                <a:solidFill>
                  <a:schemeClr val="tx1"/>
                </a:solidFill>
              </a:rPr>
              <a:t>i</a:t>
            </a:r>
            <a:r>
              <a:rPr lang="en-US" sz="1250" dirty="0">
                <a:solidFill>
                  <a:schemeClr val="tx1"/>
                </a:solidFill>
              </a:rPr>
              <a:t>(λ)·C</a:t>
            </a:r>
            <a:r>
              <a:rPr lang="en-US" sz="1250" baseline="-40000" dirty="0">
                <a:solidFill>
                  <a:schemeClr val="tx1"/>
                </a:solidFill>
              </a:rPr>
              <a:t>i</a:t>
            </a:r>
            <a:endParaRPr lang="en-US" sz="1250" dirty="0"/>
          </a:p>
          <a:p>
            <a:pPr marL="177800" indent="-177800">
              <a:spcAft>
                <a:spcPts val="400"/>
              </a:spcAft>
              <a:buSzPct val="100000"/>
              <a:buChar char="•"/>
            </a:pPr>
            <a:r>
              <a:rPr lang="en-US" sz="1250" dirty="0">
                <a:solidFill>
                  <a:schemeClr val="tx1"/>
                </a:solidFill>
              </a:rPr>
              <a:t>Works well on broadleaves; reasonable for needles</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SAIL: the canopy reflectance model</a:t>
            </a:r>
            <a:endParaRPr lang="en-US" sz="3200" dirty="0"/>
          </a:p>
        </p:txBody>
      </p:sp>
      <p:sp>
        <p:nvSpPr>
          <p:cNvPr id="4" name="diagram box"/>
          <p:cNvSpPr/>
          <p:nvPr/>
        </p:nvSpPr>
        <p:spPr>
          <a:xfrm>
            <a:off x="548640" y="1325880"/>
            <a:ext cx="1325880" cy="512064"/>
          </a:xfrm>
          <a:prstGeom prst="roundRect">
            <a:avLst>
              <a:gd name="adj" fmla="val 14286"/>
            </a:avLst>
          </a:prstGeom>
          <a:solidFill>
            <a:schemeClr val="accent4"/>
          </a:solidFill>
          <a:ln/>
        </p:spPr>
      </p:sp>
      <p:sp>
        <p:nvSpPr>
          <p:cNvPr id="5" name="Text 2"/>
          <p:cNvSpPr txBox="1"/>
          <p:nvPr/>
        </p:nvSpPr>
        <p:spPr>
          <a:xfrm>
            <a:off x="548640" y="1325880"/>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LAI</a:t>
            </a:r>
            <a:endParaRPr lang="en-US" sz="1250" dirty="0"/>
          </a:p>
        </p:txBody>
      </p:sp>
      <p:sp>
        <p:nvSpPr>
          <p:cNvPr id="6" name="Text 3"/>
          <p:cNvSpPr txBox="1"/>
          <p:nvPr/>
        </p:nvSpPr>
        <p:spPr>
          <a:xfrm>
            <a:off x="1965960" y="1325880"/>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leaf area index</a:t>
            </a:r>
            <a:endParaRPr lang="en-US" sz="1200" dirty="0"/>
          </a:p>
        </p:txBody>
      </p:sp>
      <p:sp>
        <p:nvSpPr>
          <p:cNvPr id="7" name="diagram box"/>
          <p:cNvSpPr/>
          <p:nvPr/>
        </p:nvSpPr>
        <p:spPr>
          <a:xfrm>
            <a:off x="548640" y="1947672"/>
            <a:ext cx="1325880" cy="512064"/>
          </a:xfrm>
          <a:prstGeom prst="roundRect">
            <a:avLst>
              <a:gd name="adj" fmla="val 14286"/>
            </a:avLst>
          </a:prstGeom>
          <a:solidFill>
            <a:schemeClr val="accent4"/>
          </a:solidFill>
          <a:ln/>
        </p:spPr>
      </p:sp>
      <p:sp>
        <p:nvSpPr>
          <p:cNvPr id="8" name="Text 5"/>
          <p:cNvSpPr txBox="1"/>
          <p:nvPr/>
        </p:nvSpPr>
        <p:spPr>
          <a:xfrm>
            <a:off x="548640" y="1947672"/>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LIDF / ALA</a:t>
            </a:r>
            <a:endParaRPr lang="en-US" sz="1250" dirty="0"/>
          </a:p>
        </p:txBody>
      </p:sp>
      <p:sp>
        <p:nvSpPr>
          <p:cNvPr id="9" name="Text 6"/>
          <p:cNvSpPr txBox="1"/>
          <p:nvPr/>
        </p:nvSpPr>
        <p:spPr>
          <a:xfrm>
            <a:off x="1965960" y="1947672"/>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leaf angle distribution (avg. angle)</a:t>
            </a:r>
            <a:endParaRPr lang="en-US" sz="1200" dirty="0"/>
          </a:p>
        </p:txBody>
      </p:sp>
      <p:sp>
        <p:nvSpPr>
          <p:cNvPr id="10" name="diagram box"/>
          <p:cNvSpPr/>
          <p:nvPr/>
        </p:nvSpPr>
        <p:spPr>
          <a:xfrm>
            <a:off x="548640" y="2569464"/>
            <a:ext cx="1325880" cy="512064"/>
          </a:xfrm>
          <a:prstGeom prst="roundRect">
            <a:avLst>
              <a:gd name="adj" fmla="val 14286"/>
            </a:avLst>
          </a:prstGeom>
          <a:solidFill>
            <a:schemeClr val="accent4"/>
          </a:solidFill>
          <a:ln/>
        </p:spPr>
      </p:sp>
      <p:sp>
        <p:nvSpPr>
          <p:cNvPr id="11" name="Text 8"/>
          <p:cNvSpPr txBox="1"/>
          <p:nvPr/>
        </p:nvSpPr>
        <p:spPr>
          <a:xfrm>
            <a:off x="548640" y="2569464"/>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hspot</a:t>
            </a:r>
            <a:endParaRPr lang="en-US" sz="1250" dirty="0"/>
          </a:p>
        </p:txBody>
      </p:sp>
      <p:sp>
        <p:nvSpPr>
          <p:cNvPr id="12" name="Text 9"/>
          <p:cNvSpPr txBox="1"/>
          <p:nvPr/>
        </p:nvSpPr>
        <p:spPr>
          <a:xfrm>
            <a:off x="1965960" y="2569464"/>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leaf length / canopy height</a:t>
            </a:r>
            <a:endParaRPr lang="en-US" sz="1200" dirty="0"/>
          </a:p>
        </p:txBody>
      </p:sp>
      <p:sp>
        <p:nvSpPr>
          <p:cNvPr id="13" name="diagram box"/>
          <p:cNvSpPr/>
          <p:nvPr/>
        </p:nvSpPr>
        <p:spPr>
          <a:xfrm>
            <a:off x="548640" y="3191256"/>
            <a:ext cx="1325880" cy="512064"/>
          </a:xfrm>
          <a:prstGeom prst="roundRect">
            <a:avLst>
              <a:gd name="adj" fmla="val 14286"/>
            </a:avLst>
          </a:prstGeom>
          <a:solidFill>
            <a:schemeClr val="accent4"/>
          </a:solidFill>
          <a:ln/>
        </p:spPr>
      </p:sp>
      <p:sp>
        <p:nvSpPr>
          <p:cNvPr id="14" name="Text 11"/>
          <p:cNvSpPr txBox="1"/>
          <p:nvPr/>
        </p:nvSpPr>
        <p:spPr>
          <a:xfrm>
            <a:off x="548640" y="3191256"/>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ρ</a:t>
            </a:r>
            <a:r>
              <a:rPr lang="en-US" sz="1250" b="1" baseline="-40000" dirty="0">
                <a:solidFill>
                  <a:schemeClr val="bg1"/>
                </a:solidFill>
              </a:rPr>
              <a:t>soil</a:t>
            </a:r>
            <a:endParaRPr lang="en-US" sz="1250" dirty="0"/>
          </a:p>
        </p:txBody>
      </p:sp>
      <p:sp>
        <p:nvSpPr>
          <p:cNvPr id="15" name="Text 12"/>
          <p:cNvSpPr txBox="1"/>
          <p:nvPr/>
        </p:nvSpPr>
        <p:spPr>
          <a:xfrm>
            <a:off x="1965960" y="3191256"/>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soil reflectance (Lambertian; psoil)</a:t>
            </a:r>
            <a:endParaRPr lang="en-US" sz="1200" dirty="0"/>
          </a:p>
        </p:txBody>
      </p:sp>
      <p:sp>
        <p:nvSpPr>
          <p:cNvPr id="16" name="diagram box"/>
          <p:cNvSpPr/>
          <p:nvPr/>
        </p:nvSpPr>
        <p:spPr>
          <a:xfrm>
            <a:off x="548640" y="3813048"/>
            <a:ext cx="1325880" cy="512064"/>
          </a:xfrm>
          <a:prstGeom prst="roundRect">
            <a:avLst>
              <a:gd name="adj" fmla="val 14286"/>
            </a:avLst>
          </a:prstGeom>
          <a:solidFill>
            <a:schemeClr val="accent4"/>
          </a:solidFill>
          <a:ln/>
        </p:spPr>
      </p:sp>
      <p:sp>
        <p:nvSpPr>
          <p:cNvPr id="17" name="Text 14"/>
          <p:cNvSpPr txBox="1"/>
          <p:nvPr/>
        </p:nvSpPr>
        <p:spPr>
          <a:xfrm>
            <a:off x="548640" y="3813048"/>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skyl</a:t>
            </a:r>
            <a:endParaRPr lang="en-US" sz="1250" dirty="0"/>
          </a:p>
        </p:txBody>
      </p:sp>
      <p:sp>
        <p:nvSpPr>
          <p:cNvPr id="18" name="Text 15"/>
          <p:cNvSpPr txBox="1"/>
          <p:nvPr/>
        </p:nvSpPr>
        <p:spPr>
          <a:xfrm>
            <a:off x="1965960" y="3813048"/>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diffuse / total irradiance</a:t>
            </a:r>
            <a:endParaRPr lang="en-US" sz="1200" dirty="0"/>
          </a:p>
        </p:txBody>
      </p:sp>
      <p:sp>
        <p:nvSpPr>
          <p:cNvPr id="19" name="diagram box"/>
          <p:cNvSpPr/>
          <p:nvPr/>
        </p:nvSpPr>
        <p:spPr>
          <a:xfrm>
            <a:off x="548640" y="4434840"/>
            <a:ext cx="1325880" cy="512064"/>
          </a:xfrm>
          <a:prstGeom prst="roundRect">
            <a:avLst>
              <a:gd name="adj" fmla="val 14286"/>
            </a:avLst>
          </a:prstGeom>
          <a:solidFill>
            <a:schemeClr val="accent4"/>
          </a:solidFill>
          <a:ln/>
        </p:spPr>
      </p:sp>
      <p:sp>
        <p:nvSpPr>
          <p:cNvPr id="20" name="Text 17"/>
          <p:cNvSpPr txBox="1"/>
          <p:nvPr/>
        </p:nvSpPr>
        <p:spPr>
          <a:xfrm>
            <a:off x="548640" y="4434840"/>
            <a:ext cx="1325880" cy="512064"/>
          </a:xfrm>
          <a:prstGeom prst="rect">
            <a:avLst/>
          </a:prstGeom>
          <a:noFill/>
          <a:ln/>
        </p:spPr>
        <p:txBody>
          <a:bodyPr wrap="square" lIns="508" tIns="508" rIns="508" bIns="508" rtlCol="0" anchor="ctr"/>
          <a:lstStyle/>
          <a:p>
            <a:pPr algn="ctr" indent="0" marL="0">
              <a:buNone/>
            </a:pPr>
            <a:r>
              <a:rPr lang="en-US" sz="1250" b="1" dirty="0">
                <a:solidFill>
                  <a:schemeClr val="bg1"/>
                </a:solidFill>
              </a:rPr>
              <a:t>θ</a:t>
            </a:r>
            <a:r>
              <a:rPr lang="en-US" sz="1250" b="1" baseline="-40000" dirty="0">
                <a:solidFill>
                  <a:schemeClr val="bg1"/>
                </a:solidFill>
              </a:rPr>
              <a:t>s</a:t>
            </a:r>
            <a:r>
              <a:rPr lang="en-US" sz="1250" b="1" dirty="0">
                <a:solidFill>
                  <a:schemeClr val="bg1"/>
                </a:solidFill>
              </a:rPr>
              <a:t>, θ</a:t>
            </a:r>
            <a:r>
              <a:rPr lang="en-US" sz="1250" b="1" baseline="-40000" dirty="0">
                <a:solidFill>
                  <a:schemeClr val="bg1"/>
                </a:solidFill>
              </a:rPr>
              <a:t>v</a:t>
            </a:r>
            <a:r>
              <a:rPr lang="en-US" sz="1250" b="1" dirty="0">
                <a:solidFill>
                  <a:schemeClr val="bg1"/>
                </a:solidFill>
              </a:rPr>
              <a:t>, φ</a:t>
            </a:r>
            <a:endParaRPr lang="en-US" sz="1250" dirty="0"/>
          </a:p>
        </p:txBody>
      </p:sp>
      <p:sp>
        <p:nvSpPr>
          <p:cNvPr id="21" name="Text 18"/>
          <p:cNvSpPr txBox="1"/>
          <p:nvPr/>
        </p:nvSpPr>
        <p:spPr>
          <a:xfrm>
            <a:off x="1965960" y="4434840"/>
            <a:ext cx="2377440" cy="512064"/>
          </a:xfrm>
          <a:prstGeom prst="rect">
            <a:avLst/>
          </a:prstGeom>
          <a:noFill/>
          <a:ln/>
        </p:spPr>
        <p:txBody>
          <a:bodyPr wrap="square" lIns="0" tIns="0" rIns="0" bIns="0" rtlCol="0" anchor="ctr"/>
          <a:lstStyle/>
          <a:p>
            <a:pPr algn="l" indent="0" marL="0">
              <a:buNone/>
            </a:pPr>
            <a:r>
              <a:rPr lang="en-US" sz="1200" dirty="0">
                <a:solidFill>
                  <a:schemeClr val="tx1"/>
                </a:solidFill>
              </a:rPr>
              <a:t>sun zenith, view zenith, rel. azimuth</a:t>
            </a:r>
            <a:endParaRPr lang="en-US" sz="1200" dirty="0"/>
          </a:p>
        </p:txBody>
      </p:sp>
      <p:sp>
        <p:nvSpPr>
          <p:cNvPr id="22" name="card"/>
          <p:cNvSpPr/>
          <p:nvPr/>
        </p:nvSpPr>
        <p:spPr>
          <a:xfrm>
            <a:off x="4526280" y="1325880"/>
            <a:ext cx="3383280"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4663440" y="1389888"/>
            <a:ext cx="3108960" cy="320040"/>
          </a:xfrm>
          <a:prstGeom prst="rect">
            <a:avLst/>
          </a:prstGeom>
          <a:noFill/>
          <a:ln/>
        </p:spPr>
        <p:txBody>
          <a:bodyPr wrap="square" lIns="0" tIns="0" rIns="0" bIns="0" rtlCol="0" anchor="ctr"/>
          <a:lstStyle/>
          <a:p>
            <a:pPr algn="l" indent="0" marL="0">
              <a:buNone/>
            </a:pPr>
            <a:r>
              <a:rPr lang="en-US" sz="1400" b="1" dirty="0">
                <a:solidFill>
                  <a:schemeClr val="tx2"/>
                </a:solidFill>
              </a:rPr>
              <a:t>Four-stream fluxes</a:t>
            </a:r>
            <a:endParaRPr lang="en-US" sz="1400" dirty="0"/>
          </a:p>
        </p:txBody>
      </p:sp>
      <p:sp>
        <p:nvSpPr>
          <p:cNvPr id="24" name="canopy layer"/>
          <p:cNvSpPr/>
          <p:nvPr/>
        </p:nvSpPr>
        <p:spPr>
          <a:xfrm>
            <a:off x="4754880" y="2377440"/>
            <a:ext cx="2926080" cy="1005840"/>
          </a:xfrm>
          <a:prstGeom prst="rect">
            <a:avLst/>
          </a:prstGeom>
          <a:solidFill>
            <a:srgbClr val="3F8F5A">
              <a:alpha val="30000"/>
            </a:srgbClr>
          </a:solidFill>
          <a:ln w="12700">
            <a:solidFill>
              <a:srgbClr val="3F8F5A"/>
            </a:solidFill>
            <a:prstDash val="solid"/>
          </a:ln>
        </p:spPr>
      </p:sp>
      <p:sp>
        <p:nvSpPr>
          <p:cNvPr id="25" name="Text 22"/>
          <p:cNvSpPr txBox="1"/>
          <p:nvPr/>
        </p:nvSpPr>
        <p:spPr>
          <a:xfrm>
            <a:off x="4800600" y="2395728"/>
            <a:ext cx="2286000" cy="274320"/>
          </a:xfrm>
          <a:prstGeom prst="rect">
            <a:avLst/>
          </a:prstGeom>
          <a:noFill/>
          <a:ln/>
        </p:spPr>
        <p:txBody>
          <a:bodyPr wrap="square" lIns="0" tIns="0" rIns="0" bIns="0" rtlCol="0" anchor="ctr"/>
          <a:lstStyle/>
          <a:p>
            <a:pPr algn="l" indent="0" marL="0">
              <a:buNone/>
            </a:pPr>
            <a:r>
              <a:rPr lang="en-US" sz="1050" b="1" dirty="0">
                <a:solidFill>
                  <a:schemeClr val="accent1"/>
                </a:solidFill>
              </a:rPr>
              <a:t>canopy layer (turbid)</a:t>
            </a:r>
            <a:endParaRPr lang="en-US" sz="1050" dirty="0"/>
          </a:p>
        </p:txBody>
      </p:sp>
      <p:sp>
        <p:nvSpPr>
          <p:cNvPr id="26" name="soil"/>
          <p:cNvSpPr/>
          <p:nvPr/>
        </p:nvSpPr>
        <p:spPr>
          <a:xfrm>
            <a:off x="4754880" y="3383280"/>
            <a:ext cx="2926080" cy="320040"/>
          </a:xfrm>
          <a:prstGeom prst="rect">
            <a:avLst/>
          </a:prstGeom>
          <a:solidFill>
            <a:srgbClr val="8C5E34">
              <a:alpha val="70000"/>
            </a:srgbClr>
          </a:solidFill>
          <a:ln/>
        </p:spPr>
      </p:sp>
      <p:sp>
        <p:nvSpPr>
          <p:cNvPr id="27" name="arrow"/>
          <p:cNvSpPr/>
          <p:nvPr/>
        </p:nvSpPr>
        <p:spPr>
          <a:xfrm>
            <a:off x="5029200" y="1783080"/>
            <a:ext cx="365760" cy="1554480"/>
          </a:xfrm>
          <a:prstGeom prst="line">
            <a:avLst/>
          </a:prstGeom>
          <a:noFill/>
          <a:ln w="31750">
            <a:solidFill>
              <a:srgbClr val="EDAE49"/>
            </a:solidFill>
            <a:prstDash val="solid"/>
            <a:tailEnd type="triangle"/>
          </a:ln>
        </p:spPr>
      </p:sp>
      <p:sp>
        <p:nvSpPr>
          <p:cNvPr id="28" name="Text 25"/>
          <p:cNvSpPr txBox="1"/>
          <p:nvPr/>
        </p:nvSpPr>
        <p:spPr>
          <a:xfrm>
            <a:off x="4983480" y="1828800"/>
            <a:ext cx="457200" cy="274320"/>
          </a:xfrm>
          <a:prstGeom prst="rect">
            <a:avLst/>
          </a:prstGeom>
          <a:noFill/>
          <a:ln/>
        </p:spPr>
        <p:txBody>
          <a:bodyPr wrap="square" lIns="0" tIns="0" rIns="0" bIns="0" rtlCol="0" anchor="ctr"/>
          <a:lstStyle/>
          <a:p>
            <a:pPr algn="l" indent="0" marL="0">
              <a:buNone/>
            </a:pPr>
            <a:r>
              <a:rPr lang="en-US" sz="1100" b="1" dirty="0">
                <a:solidFill>
                  <a:schemeClr val="accent3"/>
                </a:solidFill>
              </a:rPr>
              <a:t>E</a:t>
            </a:r>
            <a:r>
              <a:rPr lang="en-US" sz="1100" b="1" baseline="-40000" dirty="0">
                <a:solidFill>
                  <a:schemeClr val="accent3"/>
                </a:solidFill>
              </a:rPr>
              <a:t>s</a:t>
            </a:r>
            <a:endParaRPr lang="en-US" sz="1100" dirty="0"/>
          </a:p>
        </p:txBody>
      </p:sp>
      <p:sp>
        <p:nvSpPr>
          <p:cNvPr id="29" name="arrow"/>
          <p:cNvSpPr/>
          <p:nvPr/>
        </p:nvSpPr>
        <p:spPr>
          <a:xfrm>
            <a:off x="5943600" y="1783080"/>
            <a:ext cx="0" cy="1554480"/>
          </a:xfrm>
          <a:prstGeom prst="line">
            <a:avLst/>
          </a:prstGeom>
          <a:noFill/>
          <a:ln w="25400">
            <a:solidFill>
              <a:srgbClr val="2E86AB"/>
            </a:solidFill>
            <a:prstDash val="solid"/>
            <a:tailEnd type="triangle"/>
          </a:ln>
        </p:spPr>
      </p:sp>
      <p:sp>
        <p:nvSpPr>
          <p:cNvPr id="30" name="Text 27"/>
          <p:cNvSpPr txBox="1"/>
          <p:nvPr/>
        </p:nvSpPr>
        <p:spPr>
          <a:xfrm>
            <a:off x="5989320" y="1828800"/>
            <a:ext cx="457200" cy="274320"/>
          </a:xfrm>
          <a:prstGeom prst="rect">
            <a:avLst/>
          </a:prstGeom>
          <a:noFill/>
          <a:ln/>
        </p:spPr>
        <p:txBody>
          <a:bodyPr wrap="square" lIns="0" tIns="0" rIns="0" bIns="0" rtlCol="0" anchor="ctr"/>
          <a:lstStyle/>
          <a:p>
            <a:pPr algn="l" indent="0" marL="0">
              <a:buNone/>
            </a:pPr>
            <a:r>
              <a:rPr lang="en-US" sz="1100" b="1" dirty="0">
                <a:solidFill>
                  <a:schemeClr val="accent2"/>
                </a:solidFill>
              </a:rPr>
              <a:t>E</a:t>
            </a:r>
            <a:r>
              <a:rPr lang="en-US" sz="1100" b="1" baseline="-40000" dirty="0">
                <a:solidFill>
                  <a:schemeClr val="accent2"/>
                </a:solidFill>
              </a:rPr>
              <a:t>−</a:t>
            </a:r>
            <a:endParaRPr lang="en-US" sz="1100" dirty="0"/>
          </a:p>
        </p:txBody>
      </p:sp>
      <p:sp>
        <p:nvSpPr>
          <p:cNvPr id="31" name="arrow"/>
          <p:cNvSpPr/>
          <p:nvPr/>
        </p:nvSpPr>
        <p:spPr>
          <a:xfrm flipV="1">
            <a:off x="6675120" y="1783080"/>
            <a:ext cx="0" cy="1554480"/>
          </a:xfrm>
          <a:prstGeom prst="line">
            <a:avLst/>
          </a:prstGeom>
          <a:noFill/>
          <a:ln w="25400">
            <a:solidFill>
              <a:srgbClr val="6C4F9E"/>
            </a:solidFill>
            <a:prstDash val="solid"/>
            <a:tailEnd type="triangle"/>
          </a:ln>
        </p:spPr>
      </p:sp>
      <p:sp>
        <p:nvSpPr>
          <p:cNvPr id="32" name="Text 29"/>
          <p:cNvSpPr txBox="1"/>
          <p:nvPr/>
        </p:nvSpPr>
        <p:spPr>
          <a:xfrm>
            <a:off x="6720840" y="1828800"/>
            <a:ext cx="457200" cy="274320"/>
          </a:xfrm>
          <a:prstGeom prst="rect">
            <a:avLst/>
          </a:prstGeom>
          <a:noFill/>
          <a:ln/>
        </p:spPr>
        <p:txBody>
          <a:bodyPr wrap="square" lIns="0" tIns="0" rIns="0" bIns="0" rtlCol="0" anchor="ctr"/>
          <a:lstStyle/>
          <a:p>
            <a:pPr algn="l" indent="0" marL="0">
              <a:buNone/>
            </a:pPr>
            <a:r>
              <a:rPr lang="en-US" sz="1100" b="1" dirty="0">
                <a:solidFill>
                  <a:schemeClr val="accent5"/>
                </a:solidFill>
              </a:rPr>
              <a:t>E</a:t>
            </a:r>
            <a:r>
              <a:rPr lang="en-US" sz="1100" b="1" baseline="-40000" dirty="0">
                <a:solidFill>
                  <a:schemeClr val="accent5"/>
                </a:solidFill>
              </a:rPr>
              <a:t>+</a:t>
            </a:r>
            <a:endParaRPr lang="en-US" sz="1100" dirty="0"/>
          </a:p>
        </p:txBody>
      </p:sp>
      <p:sp>
        <p:nvSpPr>
          <p:cNvPr id="33" name="arrow"/>
          <p:cNvSpPr/>
          <p:nvPr/>
        </p:nvSpPr>
        <p:spPr>
          <a:xfrm flipV="1">
            <a:off x="7223760" y="1783080"/>
            <a:ext cx="365760" cy="1554480"/>
          </a:xfrm>
          <a:prstGeom prst="line">
            <a:avLst/>
          </a:prstGeom>
          <a:noFill/>
          <a:ln w="31750">
            <a:solidFill>
              <a:srgbClr val="3F8F5A"/>
            </a:solidFill>
            <a:prstDash val="solid"/>
            <a:tailEnd type="triangle"/>
          </a:ln>
        </p:spPr>
      </p:sp>
      <p:sp>
        <p:nvSpPr>
          <p:cNvPr id="34" name="Text 31"/>
          <p:cNvSpPr txBox="1"/>
          <p:nvPr/>
        </p:nvSpPr>
        <p:spPr>
          <a:xfrm>
            <a:off x="7315200" y="1828800"/>
            <a:ext cx="457200" cy="274320"/>
          </a:xfrm>
          <a:prstGeom prst="rect">
            <a:avLst/>
          </a:prstGeom>
          <a:noFill/>
          <a:ln/>
        </p:spPr>
        <p:txBody>
          <a:bodyPr wrap="square" lIns="0" tIns="0" rIns="0" bIns="0" rtlCol="0" anchor="ctr"/>
          <a:lstStyle/>
          <a:p>
            <a:pPr algn="l" indent="0" marL="0">
              <a:buNone/>
            </a:pPr>
            <a:r>
              <a:rPr lang="en-US" sz="1100" b="1" dirty="0">
                <a:solidFill>
                  <a:schemeClr val="accent1"/>
                </a:solidFill>
              </a:rPr>
              <a:t>E</a:t>
            </a:r>
            <a:r>
              <a:rPr lang="en-US" sz="1100" b="1" baseline="-40000" dirty="0">
                <a:solidFill>
                  <a:schemeClr val="accent1"/>
                </a:solidFill>
              </a:rPr>
              <a:t>o</a:t>
            </a:r>
            <a:endParaRPr lang="en-US" sz="1100" dirty="0"/>
          </a:p>
        </p:txBody>
      </p:sp>
      <p:sp>
        <p:nvSpPr>
          <p:cNvPr id="35" name="Text 32"/>
          <p:cNvSpPr txBox="1"/>
          <p:nvPr/>
        </p:nvSpPr>
        <p:spPr>
          <a:xfrm>
            <a:off x="4663440" y="3794760"/>
            <a:ext cx="3108960" cy="548640"/>
          </a:xfrm>
          <a:prstGeom prst="rect">
            <a:avLst/>
          </a:prstGeom>
          <a:noFill/>
          <a:ln/>
        </p:spPr>
        <p:txBody>
          <a:bodyPr wrap="square" lIns="0" tIns="0" rIns="0" bIns="0" rtlCol="0" anchor="ctr"/>
          <a:lstStyle/>
          <a:p>
            <a:pPr algn="ctr" indent="0" marL="0">
              <a:buNone/>
            </a:pPr>
            <a:r>
              <a:rPr lang="en-US" sz="1050" i="1" dirty="0">
                <a:solidFill>
                  <a:schemeClr val="accent6"/>
                </a:solidFill>
              </a:rPr>
              <a:t>direct sun · diffuse down · diffuse up · towards observer</a:t>
            </a:r>
            <a:endParaRPr lang="en-US" sz="1050" dirty="0"/>
          </a:p>
        </p:txBody>
      </p:sp>
      <p:sp>
        <p:nvSpPr>
          <p:cNvPr id="36" name="card"/>
          <p:cNvSpPr/>
          <p:nvPr/>
        </p:nvSpPr>
        <p:spPr>
          <a:xfrm>
            <a:off x="8138160" y="1325880"/>
            <a:ext cx="3502152"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37" name="icon circle"/>
          <p:cNvSpPr/>
          <p:nvPr/>
        </p:nvSpPr>
        <p:spPr>
          <a:xfrm>
            <a:off x="8321040" y="1481328"/>
            <a:ext cx="420624" cy="420624"/>
          </a:xfrm>
          <a:prstGeom prst="ellipse">
            <a:avLst/>
          </a:prstGeom>
          <a:solidFill>
            <a:schemeClr val="accent1"/>
          </a:solidFill>
          <a:ln/>
        </p:spPr>
      </p:sp>
      <p:pic>
        <p:nvPicPr>
          <p:cNvPr id="38" name="Image 0" descr="Seedling icon">    </p:cNvPr>
          <p:cNvPicPr>
            <a:picLocks noChangeAspect="1"/>
          </p:cNvPicPr>
          <p:nvPr/>
        </p:nvPicPr>
        <p:blipFill>
          <a:blip r:embed="rId1"/>
          <a:stretch>
            <a:fillRect/>
          </a:stretch>
        </p:blipFill>
        <p:spPr>
          <a:xfrm>
            <a:off x="8430402" y="1590690"/>
            <a:ext cx="201900" cy="201900"/>
          </a:xfrm>
          <a:prstGeom prst="rect">
            <a:avLst/>
          </a:prstGeom>
        </p:spPr>
      </p:pic>
      <p:sp>
        <p:nvSpPr>
          <p:cNvPr id="39" name="Text 35"/>
          <p:cNvSpPr txBox="1"/>
          <p:nvPr/>
        </p:nvSpPr>
        <p:spPr>
          <a:xfrm>
            <a:off x="8851392" y="14630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Outputs</a:t>
            </a:r>
            <a:endParaRPr lang="en-US" sz="1600" dirty="0"/>
          </a:p>
        </p:txBody>
      </p:sp>
      <p:sp>
        <p:nvSpPr>
          <p:cNvPr id="40" name="Text 36"/>
          <p:cNvSpPr txBox="1"/>
          <p:nvPr/>
        </p:nvSpPr>
        <p:spPr>
          <a:xfrm>
            <a:off x="8321040" y="2011680"/>
            <a:ext cx="3136392" cy="23317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Bidirectional reflectance ρ</a:t>
            </a:r>
            <a:r>
              <a:rPr lang="en-US" sz="1250" baseline="-40000" dirty="0">
                <a:solidFill>
                  <a:schemeClr val="tx1"/>
                </a:solidFill>
              </a:rPr>
              <a:t>c</a:t>
            </a:r>
            <a:endParaRPr lang="en-US" sz="1250" dirty="0"/>
          </a:p>
          <a:p>
            <a:pPr marL="177800" indent="-177800">
              <a:spcAft>
                <a:spcPts val="400"/>
              </a:spcAft>
              <a:buSzPct val="100000"/>
              <a:buChar char="•"/>
            </a:pPr>
            <a:r>
              <a:rPr lang="en-US" sz="1250" dirty="0">
                <a:solidFill>
                  <a:schemeClr val="tx1"/>
                </a:solidFill>
              </a:rPr>
              <a:t>Hemispherical reflectance, albedo</a:t>
            </a:r>
            <a:endParaRPr lang="en-US" sz="1250" dirty="0"/>
          </a:p>
          <a:p>
            <a:pPr marL="177800" indent="-177800">
              <a:spcAft>
                <a:spcPts val="400"/>
              </a:spcAft>
              <a:buSzPct val="100000"/>
              <a:buChar char="•"/>
            </a:pPr>
            <a:r>
              <a:rPr lang="en-US" sz="1250" dirty="0">
                <a:solidFill>
                  <a:schemeClr val="tx1"/>
                </a:solidFill>
              </a:rPr>
              <a:t>fAPAR, gap fraction</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26280" y="4617720"/>
          <a:ext cx="7114032" cy="914400"/>
        </p:xfrm>
        <a:graphic>
          <a:graphicData uri="http://schemas.openxmlformats.org/drawingml/2006/table">
            <a:tbl>
              <a:tblPr/>
              <a:tblGrid>
                <a:gridCol w="2011680"/>
                <a:gridCol w="5102352"/>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Adds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36576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SAILH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Hotspot (Kuusk 1991)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4SAIL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Fast, robust; thermal emission (Verhoef 2007)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36576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GeoSAIL / 4SAIL2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Clumping, crowns, vertical heterogeneity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36576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FluorSAIL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Chlorophyll fluorescence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PROSAIL: coupling leaf and canopy models</a:t>
            </a:r>
            <a:endParaRPr lang="en-US" sz="3200" dirty="0"/>
          </a:p>
        </p:txBody>
      </p:sp>
      <p:sp>
        <p:nvSpPr>
          <p:cNvPr id="4" name="figure frame"/>
          <p:cNvSpPr/>
          <p:nvPr/>
        </p:nvSpPr>
        <p:spPr>
          <a:xfrm>
            <a:off x="548640" y="1280160"/>
            <a:ext cx="5486400" cy="4114800"/>
          </a:xfrm>
          <a:prstGeom prst="roundRect">
            <a:avLst>
              <a:gd name="adj" fmla="val 133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PROSAIL coupling: forward (dark arrows) and inverse (light arrows). Jacquemoud et al. (2009) Remote Sens. Environ. 113:S56–S66, Fig. 2">    </p:cNvPr>
          <p:cNvPicPr>
            <a:picLocks noChangeAspect="1"/>
          </p:cNvPicPr>
          <p:nvPr/>
        </p:nvPicPr>
        <p:blipFill>
          <a:blip r:embed="rId1"/>
          <a:stretch>
            <a:fillRect/>
          </a:stretch>
        </p:blipFill>
        <p:spPr>
          <a:xfrm>
            <a:off x="823035" y="1371600"/>
            <a:ext cx="4937609" cy="3931920"/>
          </a:xfrm>
          <a:prstGeom prst="rect">
            <a:avLst/>
          </a:prstGeom>
        </p:spPr>
      </p:pic>
      <p:sp>
        <p:nvSpPr>
          <p:cNvPr id="6" name="Text 2"/>
          <p:cNvSpPr txBox="1"/>
          <p:nvPr/>
        </p:nvSpPr>
        <p:spPr>
          <a:xfrm>
            <a:off x="548640" y="5440680"/>
            <a:ext cx="5486400" cy="411480"/>
          </a:xfrm>
          <a:prstGeom prst="rect">
            <a:avLst/>
          </a:prstGeom>
          <a:noFill/>
          <a:ln/>
        </p:spPr>
        <p:txBody>
          <a:bodyPr wrap="square" lIns="0" tIns="0" rIns="0" bIns="0" rtlCol="0" anchor="t"/>
          <a:lstStyle/>
          <a:p>
            <a:pPr indent="0" marL="0">
              <a:buNone/>
            </a:pPr>
            <a:r>
              <a:rPr lang="en-US" sz="1100" i="1" dirty="0">
                <a:solidFill>
                  <a:schemeClr val="accent6"/>
                </a:solidFill>
              </a:rPr>
              <a:t>PROSAIL coupling: forward (dark arrows) and inverse (light arrows). Jacquemoud et al. (2009) Remote Sens. Environ. 113:S56–S66, Fig. 2</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280160"/>
          <a:ext cx="5376672" cy="914400"/>
        </p:xfrm>
        <a:graphic>
          <a:graphicData uri="http://schemas.openxmlformats.org/drawingml/2006/table">
            <a:tbl>
              <a:tblPr/>
              <a:tblGrid>
                <a:gridCol w="1325880"/>
                <a:gridCol w="3044952"/>
                <a:gridCol w="1005840"/>
              </a:tblGrid>
              <a:tr h="5029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PROSPECT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 Cab, Car, Cbrown, Cw (cm), Cm (g cm</a:t>
                      </a:r>
                      <a:r>
                        <a:rPr lang="en-US" sz="1150" baseline="30000" dirty="0">
                          <a:solidFill>
                            <a:schemeClr val="tx1"/>
                          </a:solidFill>
                          <a:latin typeface="Calibri" pitchFamily="34" charset="0"/>
                          <a:ea typeface="Calibri" pitchFamily="34" charset="-122"/>
                          <a:cs typeface="Calibri" pitchFamily="34" charset="-120"/>
                        </a:rPr>
                        <a:t>−2</a:t>
                      </a:r>
                      <a:r>
                        <a:rPr lang="en-US" sz="115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µg cm</a:t>
                      </a:r>
                      <a:r>
                        <a:rPr lang="en-US" sz="1150" baseline="300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SAIL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LAI, LIDF / ALA, hotspot s</a:t>
                      </a:r>
                      <a:r>
                        <a:rPr lang="en-US" sz="1150" baseline="-40000" dirty="0">
                          <a:solidFill>
                            <a:schemeClr val="tx1"/>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m² m</a:t>
                      </a:r>
                      <a:r>
                        <a:rPr lang="en-US" sz="1150" baseline="30000" dirty="0">
                          <a:solidFill>
                            <a:schemeClr val="tx1"/>
                          </a:solidFill>
                          <a:latin typeface="Calibri" pitchFamily="34" charset="0"/>
                          <a:ea typeface="Calibri" pitchFamily="34" charset="-122"/>
                          <a:cs typeface="Calibri" pitchFamily="34" charset="-120"/>
                        </a:rPr>
                        <a:t>−2</a:t>
                      </a:r>
                      <a:r>
                        <a:rPr lang="en-US" sz="1150" dirty="0">
                          <a:solidFill>
                            <a:schemeClr val="tx1"/>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Soil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ρ</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(Lambertian) or Hapke BRDF</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Illumination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SKYL, θ</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θ</a:t>
                      </a:r>
                      <a:r>
                        <a:rPr lang="en-US" sz="1150" baseline="-40000" dirty="0">
                          <a:solidFill>
                            <a:schemeClr val="tx1"/>
                          </a:solidFill>
                          <a:latin typeface="Calibri" pitchFamily="34" charset="0"/>
                          <a:ea typeface="Calibri" pitchFamily="34" charset="-122"/>
                          <a:cs typeface="Calibri" pitchFamily="34" charset="-120"/>
                        </a:rPr>
                        <a:t>v</a:t>
                      </a:r>
                      <a:r>
                        <a:rPr lang="en-US" sz="1150" dirty="0">
                          <a:solidFill>
                            <a:schemeClr val="tx1"/>
                          </a:solidFill>
                          <a:latin typeface="Calibri" pitchFamily="34" charset="0"/>
                          <a:ea typeface="Calibri" pitchFamily="34" charset="-122"/>
                          <a:cs typeface="Calibri" pitchFamily="34" charset="-120"/>
                        </a:rPr>
                        <a:t>, φ</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8" name="card"/>
          <p:cNvSpPr/>
          <p:nvPr/>
        </p:nvSpPr>
        <p:spPr>
          <a:xfrm>
            <a:off x="6263640" y="3931920"/>
            <a:ext cx="53766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6446520" y="4087368"/>
            <a:ext cx="420624" cy="420624"/>
          </a:xfrm>
          <a:prstGeom prst="ellipse">
            <a:avLst/>
          </a:prstGeom>
          <a:solidFill>
            <a:schemeClr val="accent2"/>
          </a:solidFill>
          <a:ln/>
        </p:spPr>
      </p:sp>
      <p:pic>
        <p:nvPicPr>
          <p:cNvPr id="10" name="Image 1" descr="ProjectDiagram icon">    </p:cNvPr>
          <p:cNvPicPr>
            <a:picLocks noChangeAspect="1"/>
          </p:cNvPicPr>
          <p:nvPr/>
        </p:nvPicPr>
        <p:blipFill>
          <a:blip r:embed="rId2"/>
          <a:stretch>
            <a:fillRect/>
          </a:stretch>
        </p:blipFill>
        <p:spPr>
          <a:xfrm>
            <a:off x="6555882" y="4196730"/>
            <a:ext cx="201900" cy="201900"/>
          </a:xfrm>
          <a:prstGeom prst="rect">
            <a:avLst/>
          </a:prstGeom>
        </p:spPr>
      </p:pic>
      <p:sp>
        <p:nvSpPr>
          <p:cNvPr id="11" name="Text 5"/>
          <p:cNvSpPr txBox="1"/>
          <p:nvPr/>
        </p:nvSpPr>
        <p:spPr>
          <a:xfrm>
            <a:off x="6976872" y="4069080"/>
            <a:ext cx="4526280" cy="457200"/>
          </a:xfrm>
          <a:prstGeom prst="rect">
            <a:avLst/>
          </a:prstGeom>
          <a:noFill/>
          <a:ln/>
        </p:spPr>
        <p:txBody>
          <a:bodyPr wrap="square" lIns="0" tIns="0" rIns="0" bIns="0" rtlCol="0" anchor="ctr"/>
          <a:lstStyle/>
          <a:p>
            <a:pPr indent="0" marL="0">
              <a:buNone/>
            </a:pPr>
            <a:r>
              <a:rPr lang="en-US" sz="1600" b="1" dirty="0">
                <a:solidFill>
                  <a:schemeClr val="tx2"/>
                </a:solidFill>
              </a:rPr>
              <a:t>Why coupling helps inversion</a:t>
            </a:r>
            <a:endParaRPr lang="en-US" sz="1600" dirty="0"/>
          </a:p>
        </p:txBody>
      </p:sp>
      <p:sp>
        <p:nvSpPr>
          <p:cNvPr id="12" name="Text 6"/>
          <p:cNvSpPr txBox="1"/>
          <p:nvPr/>
        </p:nvSpPr>
        <p:spPr>
          <a:xfrm>
            <a:off x="6446520" y="4617720"/>
            <a:ext cx="5010912" cy="146304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SAIL alone: 3 unknowns per wavelength (ρ</a:t>
            </a:r>
            <a:r>
              <a:rPr lang="en-US" sz="1250" baseline="-40000" dirty="0">
                <a:solidFill>
                  <a:schemeClr val="tx1"/>
                </a:solidFill>
              </a:rPr>
              <a:t>l</a:t>
            </a:r>
            <a:r>
              <a:rPr lang="en-US" sz="1250" dirty="0">
                <a:solidFill>
                  <a:schemeClr val="tx1"/>
                </a:solidFill>
              </a:rPr>
              <a:t>, τ</a:t>
            </a:r>
            <a:r>
              <a:rPr lang="en-US" sz="1250" baseline="-40000" dirty="0">
                <a:solidFill>
                  <a:schemeClr val="tx1"/>
                </a:solidFill>
              </a:rPr>
              <a:t>l</a:t>
            </a:r>
            <a:r>
              <a:rPr lang="en-US" sz="1250" dirty="0">
                <a:solidFill>
                  <a:schemeClr val="tx1"/>
                </a:solidFill>
              </a:rPr>
              <a:t>, ρ</a:t>
            </a:r>
            <a:r>
              <a:rPr lang="en-US" sz="1250" baseline="-40000" dirty="0">
                <a:solidFill>
                  <a:schemeClr val="tx1"/>
                </a:solidFill>
              </a:rPr>
              <a:t>s</a:t>
            </a:r>
            <a:r>
              <a:rPr lang="en-US" sz="1250" dirty="0">
                <a:solidFill>
                  <a:schemeClr val="tx1"/>
                </a:solidFill>
              </a:rPr>
              <a:t>) → under-determined</a:t>
            </a:r>
            <a:endParaRPr lang="en-US" sz="1250" dirty="0"/>
          </a:p>
          <a:p>
            <a:pPr marL="177800" indent="-177800">
              <a:spcAft>
                <a:spcPts val="400"/>
              </a:spcAft>
              <a:buSzPct val="100000"/>
              <a:buChar char="•"/>
            </a:pPr>
            <a:r>
              <a:rPr lang="en-US" sz="1250" dirty="0">
                <a:solidFill>
                  <a:schemeClr val="tx1"/>
                </a:solidFill>
              </a:rPr>
              <a:t>PROSAIL: ~5 leaf + ~3 canopy variables explain the whole spectrum</a:t>
            </a:r>
            <a:endParaRPr lang="en-US" sz="1250" dirty="0"/>
          </a:p>
          <a:p>
            <a:pPr marL="177800" indent="-177800">
              <a:spcAft>
                <a:spcPts val="400"/>
              </a:spcAft>
              <a:buSzPct val="100000"/>
              <a:buChar char="•"/>
            </a:pPr>
            <a:r>
              <a:rPr lang="en-US" sz="1250" dirty="0">
                <a:solidFill>
                  <a:schemeClr val="tx1"/>
                </a:solidFill>
              </a:rPr>
              <a:t>Still compensations (e.g. </a:t>
            </a:r>
            <a:r>
              <a:rPr lang="en-US" sz="1250" b="1" dirty="0">
                <a:solidFill>
                  <a:schemeClr val="tx1"/>
                </a:solidFill>
              </a:rPr>
              <a:t>LAI ↔ ALA</a:t>
            </a:r>
            <a:r>
              <a:rPr lang="en-US" sz="1250" dirty="0">
                <a:solidFill>
                  <a:schemeClr val="tx1"/>
                </a:solidFill>
              </a:rPr>
              <a:t>) → use canopy-level Cab × LAI</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Sensitivity analysis: which variable controls which band?</a:t>
            </a:r>
            <a:endParaRPr lang="en-US" sz="3200" dirty="0"/>
          </a:p>
        </p:txBody>
      </p:sp>
      <p:sp>
        <p:nvSpPr>
          <p:cNvPr id="4" name="figure frame"/>
          <p:cNvSpPr/>
          <p:nvPr/>
        </p:nvSpPr>
        <p:spPr>
          <a:xfrm>
            <a:off x="548640" y="1280160"/>
            <a:ext cx="6035040" cy="3657600"/>
          </a:xfrm>
          <a:prstGeom prst="roundRect">
            <a:avLst>
              <a:gd name="adj" fmla="val 15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Contribution (%) of each PROSAIL variable to reflectance variance, 400–2500 nm. Jacquemoud et al. (2009) Remote Sens. Environ. 113:S56–S66, Fig. 4">    </p:cNvPr>
          <p:cNvPicPr>
            <a:picLocks noChangeAspect="1"/>
          </p:cNvPicPr>
          <p:nvPr/>
        </p:nvPicPr>
        <p:blipFill>
          <a:blip r:embed="rId1"/>
          <a:stretch>
            <a:fillRect/>
          </a:stretch>
        </p:blipFill>
        <p:spPr>
          <a:xfrm>
            <a:off x="845324" y="1371600"/>
            <a:ext cx="5441672" cy="3474720"/>
          </a:xfrm>
          <a:prstGeom prst="rect">
            <a:avLst/>
          </a:prstGeom>
        </p:spPr>
      </p:pic>
      <p:sp>
        <p:nvSpPr>
          <p:cNvPr id="6" name="Text 2"/>
          <p:cNvSpPr txBox="1"/>
          <p:nvPr/>
        </p:nvSpPr>
        <p:spPr>
          <a:xfrm>
            <a:off x="548640" y="4983480"/>
            <a:ext cx="6035040" cy="411480"/>
          </a:xfrm>
          <a:prstGeom prst="rect">
            <a:avLst/>
          </a:prstGeom>
          <a:noFill/>
          <a:ln/>
        </p:spPr>
        <p:txBody>
          <a:bodyPr wrap="square" lIns="0" tIns="0" rIns="0" bIns="0" rtlCol="0" anchor="t"/>
          <a:lstStyle/>
          <a:p>
            <a:pPr indent="0" marL="0">
              <a:buNone/>
            </a:pPr>
            <a:r>
              <a:rPr lang="en-US" sz="1100" i="1" dirty="0">
                <a:solidFill>
                  <a:schemeClr val="accent6"/>
                </a:solidFill>
              </a:rPr>
              <a:t>Contribution (%) of each PROSAIL variable to reflectance variance, 400–2500 nm. Jacquemoud et al. (2009) Remote Sens. Environ. 113:S56–S66, Fig. 4</a:t>
            </a:r>
            <a:endParaRPr lang="en-US" sz="1100" dirty="0"/>
          </a:p>
        </p:txBody>
      </p:sp>
      <p:sp>
        <p:nvSpPr>
          <p:cNvPr id="7" name="card"/>
          <p:cNvSpPr/>
          <p:nvPr/>
        </p:nvSpPr>
        <p:spPr>
          <a:xfrm>
            <a:off x="6812280" y="1280160"/>
            <a:ext cx="4828032" cy="4114800"/>
          </a:xfrm>
          <a:prstGeom prst="roundRect">
            <a:avLst>
              <a:gd name="adj" fmla="val 1778"/>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6995160" y="1435608"/>
            <a:ext cx="420624" cy="420624"/>
          </a:xfrm>
          <a:prstGeom prst="ellipse">
            <a:avLst/>
          </a:prstGeom>
          <a:solidFill>
            <a:schemeClr val="accent5"/>
          </a:solidFill>
          <a:ln/>
        </p:spPr>
      </p:sp>
      <p:pic>
        <p:nvPicPr>
          <p:cNvPr id="9" name="Image 1" descr="Search icon">    </p:cNvPr>
          <p:cNvPicPr>
            <a:picLocks noChangeAspect="1"/>
          </p:cNvPicPr>
          <p:nvPr/>
        </p:nvPicPr>
        <p:blipFill>
          <a:blip r:embed="rId2"/>
          <a:stretch>
            <a:fillRect/>
          </a:stretch>
        </p:blipFill>
        <p:spPr>
          <a:xfrm>
            <a:off x="7104522" y="1544970"/>
            <a:ext cx="201900" cy="201900"/>
          </a:xfrm>
          <a:prstGeom prst="rect">
            <a:avLst/>
          </a:prstGeom>
        </p:spPr>
      </p:pic>
      <p:sp>
        <p:nvSpPr>
          <p:cNvPr id="10" name="Text 5"/>
          <p:cNvSpPr txBox="1"/>
          <p:nvPr/>
        </p:nvSpPr>
        <p:spPr>
          <a:xfrm>
            <a:off x="7525512" y="1417320"/>
            <a:ext cx="3977640" cy="457200"/>
          </a:xfrm>
          <a:prstGeom prst="rect">
            <a:avLst/>
          </a:prstGeom>
          <a:noFill/>
          <a:ln/>
        </p:spPr>
        <p:txBody>
          <a:bodyPr wrap="square" lIns="0" tIns="0" rIns="0" bIns="0" rtlCol="0" anchor="ctr"/>
          <a:lstStyle/>
          <a:p>
            <a:pPr indent="0" marL="0">
              <a:buNone/>
            </a:pPr>
            <a:r>
              <a:rPr lang="en-US" sz="1600" b="1" dirty="0">
                <a:solidFill>
                  <a:schemeClr val="tx2"/>
                </a:solidFill>
              </a:rPr>
              <a:t>What to remember</a:t>
            </a:r>
            <a:endParaRPr lang="en-US" sz="1600" dirty="0"/>
          </a:p>
        </p:txBody>
      </p:sp>
      <p:sp>
        <p:nvSpPr>
          <p:cNvPr id="11" name="Text 6"/>
          <p:cNvSpPr txBox="1"/>
          <p:nvPr/>
        </p:nvSpPr>
        <p:spPr>
          <a:xfrm>
            <a:off x="6995160" y="1965960"/>
            <a:ext cx="4462272" cy="333756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VIS</a:t>
            </a:r>
            <a:r>
              <a:rPr lang="en-US" sz="1300" dirty="0">
                <a:solidFill>
                  <a:schemeClr val="tx1"/>
                </a:solidFill>
              </a:rPr>
              <a:t>: Cab ≈ 60%; weaker at 550 and 700 nm (no saturation → red-edge indices)</a:t>
            </a:r>
            <a:endParaRPr lang="en-US" sz="1300" dirty="0"/>
          </a:p>
          <a:p>
            <a:pPr marL="177800" indent="-177800">
              <a:spcAft>
                <a:spcPts val="400"/>
              </a:spcAft>
              <a:buSzPct val="100000"/>
              <a:buChar char="•"/>
            </a:pPr>
            <a:r>
              <a:rPr lang="en-US" sz="1300" b="1" dirty="0">
                <a:solidFill>
                  <a:schemeClr val="tx1"/>
                </a:solidFill>
              </a:rPr>
              <a:t>NIR</a:t>
            </a:r>
            <a:r>
              <a:rPr lang="en-US" sz="1300" dirty="0">
                <a:solidFill>
                  <a:schemeClr val="tx1"/>
                </a:solidFill>
              </a:rPr>
              <a:t>: LAI and ALA ≈ equal → they compensate in inversion</a:t>
            </a:r>
            <a:endParaRPr lang="en-US" sz="1300" dirty="0"/>
          </a:p>
          <a:p>
            <a:pPr marL="177800" indent="-177800">
              <a:spcAft>
                <a:spcPts val="400"/>
              </a:spcAft>
              <a:buSzPct val="100000"/>
              <a:buChar char="•"/>
            </a:pPr>
            <a:r>
              <a:rPr lang="en-US" sz="1300" b="1" dirty="0">
                <a:solidFill>
                  <a:schemeClr val="tx1"/>
                </a:solidFill>
              </a:rPr>
              <a:t>SWIR</a:t>
            </a:r>
            <a:r>
              <a:rPr lang="en-US" sz="1300" dirty="0">
                <a:solidFill>
                  <a:schemeClr val="tx1"/>
                </a:solidFill>
              </a:rPr>
              <a:t>: Cw ≈ 50% (1450–2100 nm); LAI takes over at strong water bands</a:t>
            </a:r>
            <a:endParaRPr lang="en-US" sz="1300" dirty="0"/>
          </a:p>
          <a:p>
            <a:pPr marL="177800" indent="-177800">
              <a:spcAft>
                <a:spcPts val="400"/>
              </a:spcAft>
              <a:buSzPct val="100000"/>
              <a:buChar char="•"/>
            </a:pPr>
            <a:r>
              <a:rPr lang="en-US" sz="1300" b="1" dirty="0">
                <a:solidFill>
                  <a:schemeClr val="tx1"/>
                </a:solidFill>
              </a:rPr>
              <a:t>N</a:t>
            </a:r>
            <a:r>
              <a:rPr lang="en-US" sz="1300" dirty="0">
                <a:solidFill>
                  <a:schemeClr val="tx1"/>
                </a:solidFill>
              </a:rPr>
              <a:t> (structure) has small effect everywhere</a:t>
            </a:r>
            <a:endParaRPr lang="en-US" sz="1300" dirty="0"/>
          </a:p>
          <a:p>
            <a:pPr marL="177800" indent="-177800">
              <a:spcAft>
                <a:spcPts val="400"/>
              </a:spcAft>
              <a:buSzPct val="100000"/>
              <a:buChar char="•"/>
            </a:pPr>
            <a:r>
              <a:rPr lang="en-US" sz="1300" dirty="0">
                <a:solidFill>
                  <a:schemeClr val="tx1"/>
                </a:solidFill>
              </a:rPr>
              <a:t>Interactions: Cab×LAI, Cab×ALA ≈ 8% (VIS); LAI×ALA 5–6% (NIR)</a:t>
            </a:r>
            <a:endParaRPr lang="en-US" sz="1300" dirty="0"/>
          </a:p>
        </p:txBody>
      </p:sp>
      <p:sp>
        <p:nvSpPr>
          <p:cNvPr id="12" name="insight"/>
          <p:cNvSpPr/>
          <p:nvPr/>
        </p:nvSpPr>
        <p:spPr>
          <a:xfrm>
            <a:off x="548640" y="5577840"/>
            <a:ext cx="11094415" cy="594360"/>
          </a:xfrm>
          <a:prstGeom prst="roundRect">
            <a:avLst>
              <a:gd name="adj" fmla="val 12308"/>
            </a:avLst>
          </a:prstGeom>
          <a:solidFill>
            <a:schemeClr val="bg2"/>
          </a:solidFill>
          <a:ln/>
        </p:spPr>
      </p:sp>
      <p:sp>
        <p:nvSpPr>
          <p:cNvPr id="13" name="icon circle"/>
          <p:cNvSpPr/>
          <p:nvPr/>
        </p:nvSpPr>
        <p:spPr>
          <a:xfrm>
            <a:off x="685800" y="5637276"/>
            <a:ext cx="475488" cy="475488"/>
          </a:xfrm>
          <a:prstGeom prst="ellipse">
            <a:avLst/>
          </a:prstGeom>
          <a:solidFill>
            <a:schemeClr val="accent3"/>
          </a:solidFill>
          <a:ln/>
        </p:spPr>
      </p:sp>
      <p:pic>
        <p:nvPicPr>
          <p:cNvPr id="14" name="Image 2" descr="Lightbulb icon">    </p:cNvPr>
          <p:cNvPicPr>
            <a:picLocks noChangeAspect="1"/>
          </p:cNvPicPr>
          <p:nvPr/>
        </p:nvPicPr>
        <p:blipFill>
          <a:blip r:embed="rId3"/>
          <a:stretch>
            <a:fillRect/>
          </a:stretch>
        </p:blipFill>
        <p:spPr>
          <a:xfrm>
            <a:off x="809427" y="5760903"/>
            <a:ext cx="228234" cy="228234"/>
          </a:xfrm>
          <a:prstGeom prst="rect">
            <a:avLst/>
          </a:prstGeom>
        </p:spPr>
      </p:pic>
      <p:sp>
        <p:nvSpPr>
          <p:cNvPr id="15" name="Text 9"/>
          <p:cNvSpPr txBox="1"/>
          <p:nvPr/>
        </p:nvSpPr>
        <p:spPr>
          <a:xfrm>
            <a:off x="1325880" y="5614416"/>
            <a:ext cx="10180015" cy="52120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Leaf biochemical signals can be enhanced up to ~2× at canopy level (Baret et al. 1994) — but LAI and ALA must be known well.</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Directional sensitivity: where to look from</a:t>
            </a:r>
            <a:endParaRPr lang="en-US" sz="3200" dirty="0"/>
          </a:p>
        </p:txBody>
      </p:sp>
      <p:sp>
        <p:nvSpPr>
          <p:cNvPr id="4" name="figure frame"/>
          <p:cNvSpPr/>
          <p:nvPr/>
        </p:nvSpPr>
        <p:spPr>
          <a:xfrm>
            <a:off x="548640" y="1280160"/>
            <a:ext cx="4754880" cy="4343400"/>
          </a:xfrm>
          <a:prstGeom prst="roundRect">
            <a:avLst>
              <a:gd name="adj" fmla="val 12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Directional contribution of Cab (a,b), LAI (c,d) and ALA (e,f) in VIS and NIR; star = sun. Jacquemoud et al. (2009) Remote Sens. Environ. 113:S56–S66, Fig. 6">    </p:cNvPr>
          <p:cNvPicPr>
            <a:picLocks noChangeAspect="1"/>
          </p:cNvPicPr>
          <p:nvPr/>
        </p:nvPicPr>
        <p:blipFill>
          <a:blip r:embed="rId1"/>
          <a:stretch>
            <a:fillRect/>
          </a:stretch>
        </p:blipFill>
        <p:spPr>
          <a:xfrm>
            <a:off x="1095764" y="1371600"/>
            <a:ext cx="3660633" cy="4160520"/>
          </a:xfrm>
          <a:prstGeom prst="rect">
            <a:avLst/>
          </a:prstGeom>
        </p:spPr>
      </p:pic>
      <p:sp>
        <p:nvSpPr>
          <p:cNvPr id="6" name="Text 2"/>
          <p:cNvSpPr txBox="1"/>
          <p:nvPr/>
        </p:nvSpPr>
        <p:spPr>
          <a:xfrm>
            <a:off x="548640" y="5669280"/>
            <a:ext cx="4754880" cy="502920"/>
          </a:xfrm>
          <a:prstGeom prst="rect">
            <a:avLst/>
          </a:prstGeom>
          <a:noFill/>
          <a:ln/>
        </p:spPr>
        <p:txBody>
          <a:bodyPr wrap="square" lIns="0" tIns="0" rIns="0" bIns="0" rtlCol="0" anchor="t"/>
          <a:lstStyle/>
          <a:p>
            <a:pPr indent="0" marL="0">
              <a:buNone/>
            </a:pPr>
            <a:r>
              <a:rPr lang="en-US" sz="1100" i="1" dirty="0">
                <a:solidFill>
                  <a:schemeClr val="accent6"/>
                </a:solidFill>
              </a:rPr>
              <a:t>Directional contribution of Cab (a,b), LAI (c,d) and ALA (e,f) in VIS and NIR; star = sun. Jacquemoud et al. (2009) Remote Sens. Environ. 113:S56–S66, Fig. 6</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577840" y="1325880"/>
          <a:ext cx="6062472" cy="914400"/>
        </p:xfrm>
        <a:graphic>
          <a:graphicData uri="http://schemas.openxmlformats.org/drawingml/2006/table">
            <a:tbl>
              <a:tblPr/>
              <a:tblGrid>
                <a:gridCol w="1828800"/>
                <a:gridCol w="4233672"/>
              </a:tblGrid>
              <a:tr h="54864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Most informative view</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Cab (VIS)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Backward (shadows hidden)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LAI (NIR)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Oblique forward and backward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ALA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Near nadir (soil visible)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8" name="card"/>
          <p:cNvSpPr/>
          <p:nvPr/>
        </p:nvSpPr>
        <p:spPr>
          <a:xfrm>
            <a:off x="5577840" y="3657600"/>
            <a:ext cx="6062472" cy="2514600"/>
          </a:xfrm>
          <a:prstGeom prst="roundRect">
            <a:avLst>
              <a:gd name="adj" fmla="val 2909"/>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5760720" y="3813048"/>
            <a:ext cx="420624" cy="420624"/>
          </a:xfrm>
          <a:prstGeom prst="ellipse">
            <a:avLst/>
          </a:prstGeom>
          <a:solidFill>
            <a:schemeClr val="accent2"/>
          </a:solidFill>
          <a:ln/>
        </p:spPr>
      </p:sp>
      <p:pic>
        <p:nvPicPr>
          <p:cNvPr id="10" name="Image 1" descr="Eye icon">    </p:cNvPr>
          <p:cNvPicPr>
            <a:picLocks noChangeAspect="1"/>
          </p:cNvPicPr>
          <p:nvPr/>
        </p:nvPicPr>
        <p:blipFill>
          <a:blip r:embed="rId2"/>
          <a:stretch>
            <a:fillRect/>
          </a:stretch>
        </p:blipFill>
        <p:spPr>
          <a:xfrm>
            <a:off x="5870082" y="3922410"/>
            <a:ext cx="201900" cy="201900"/>
          </a:xfrm>
          <a:prstGeom prst="rect">
            <a:avLst/>
          </a:prstGeom>
        </p:spPr>
      </p:pic>
      <p:sp>
        <p:nvSpPr>
          <p:cNvPr id="11" name="Text 5"/>
          <p:cNvSpPr txBox="1"/>
          <p:nvPr/>
        </p:nvSpPr>
        <p:spPr>
          <a:xfrm>
            <a:off x="6291072" y="3794760"/>
            <a:ext cx="5212080" cy="457200"/>
          </a:xfrm>
          <a:prstGeom prst="rect">
            <a:avLst/>
          </a:prstGeom>
          <a:noFill/>
          <a:ln/>
        </p:spPr>
        <p:txBody>
          <a:bodyPr wrap="square" lIns="0" tIns="0" rIns="0" bIns="0" rtlCol="0" anchor="ctr"/>
          <a:lstStyle/>
          <a:p>
            <a:pPr indent="0" marL="0">
              <a:buNone/>
            </a:pPr>
            <a:r>
              <a:rPr lang="en-US" sz="1600" b="1" dirty="0">
                <a:solidFill>
                  <a:schemeClr val="tx2"/>
                </a:solidFill>
              </a:rPr>
              <a:t>Implications</a:t>
            </a:r>
            <a:endParaRPr lang="en-US" sz="1600" dirty="0"/>
          </a:p>
        </p:txBody>
      </p:sp>
      <p:sp>
        <p:nvSpPr>
          <p:cNvPr id="12" name="Text 6"/>
          <p:cNvSpPr txBox="1"/>
          <p:nvPr/>
        </p:nvSpPr>
        <p:spPr>
          <a:xfrm>
            <a:off x="5760720" y="4343400"/>
            <a:ext cx="5696712"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Nadir-only view is poor for LAI</a:t>
            </a:r>
            <a:endParaRPr lang="en-US" sz="1300" dirty="0"/>
          </a:p>
          <a:p>
            <a:pPr marL="177800" indent="-177800">
              <a:spcAft>
                <a:spcPts val="400"/>
              </a:spcAft>
              <a:buSzPct val="100000"/>
              <a:buChar char="•"/>
            </a:pPr>
            <a:r>
              <a:rPr lang="en-US" sz="1300" dirty="0">
                <a:solidFill>
                  <a:schemeClr val="tx1"/>
                </a:solidFill>
              </a:rPr>
              <a:t>Best joint retrieval of Cab, LAI, ALA needs </a:t>
            </a:r>
            <a:r>
              <a:rPr lang="en-US" sz="1300" b="1" dirty="0">
                <a:solidFill>
                  <a:schemeClr val="tx1"/>
                </a:solidFill>
              </a:rPr>
              <a:t>≥ 3 views</a:t>
            </a:r>
            <a:r>
              <a:rPr lang="en-US" sz="1300" dirty="0">
                <a:solidFill>
                  <a:schemeClr val="tx1"/>
                </a:solidFill>
              </a:rPr>
              <a:t>: forward, nadir, backward</a:t>
            </a:r>
            <a:endParaRPr lang="en-US" sz="1300" dirty="0"/>
          </a:p>
          <a:p>
            <a:pPr marL="177800" indent="-177800">
              <a:spcAft>
                <a:spcPts val="400"/>
              </a:spcAft>
              <a:buSzPct val="100000"/>
              <a:buChar char="•"/>
            </a:pPr>
            <a:r>
              <a:rPr lang="en-US" sz="1300" dirty="0">
                <a:solidFill>
                  <a:schemeClr val="tx1"/>
                </a:solidFill>
              </a:rPr>
              <a:t>IARI inversions used the </a:t>
            </a:r>
            <a:r>
              <a:rPr lang="en-US" sz="1300" b="1" dirty="0">
                <a:solidFill>
                  <a:schemeClr val="tx1"/>
                </a:solidFill>
              </a:rPr>
              <a:t>hotspot view (40° backward, principal plane)</a:t>
            </a:r>
            <a:r>
              <a:rPr lang="en-US" sz="1300" dirty="0">
                <a:solidFill>
                  <a:schemeClr val="tx1"/>
                </a:solidFill>
              </a:rPr>
              <a:t> where inversion performed best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Using PROSAIL in forward mode</a:t>
            </a:r>
            <a:endParaRPr lang="en-US" sz="3200" dirty="0"/>
          </a:p>
        </p:txBody>
      </p:sp>
      <p:sp>
        <p:nvSpPr>
          <p:cNvPr id="4" name="card"/>
          <p:cNvSpPr/>
          <p:nvPr/>
        </p:nvSpPr>
        <p:spPr>
          <a:xfrm>
            <a:off x="548640" y="1371600"/>
            <a:ext cx="2103120" cy="30175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1234440" y="1554480"/>
            <a:ext cx="731520" cy="731520"/>
          </a:xfrm>
          <a:prstGeom prst="ellipse">
            <a:avLst/>
          </a:prstGeom>
          <a:solidFill>
            <a:schemeClr val="accent2"/>
          </a:solidFill>
          <a:ln/>
        </p:spPr>
      </p:sp>
      <p:pic>
        <p:nvPicPr>
          <p:cNvPr id="6" name="Image 0" descr="Table icon">    </p:cNvPr>
          <p:cNvPicPr>
            <a:picLocks noChangeAspect="1"/>
          </p:cNvPicPr>
          <p:nvPr/>
        </p:nvPicPr>
        <p:blipFill>
          <a:blip r:embed="rId1"/>
          <a:stretch>
            <a:fillRect/>
          </a:stretch>
        </p:blipFill>
        <p:spPr>
          <a:xfrm>
            <a:off x="1424635" y="1744675"/>
            <a:ext cx="351130" cy="351130"/>
          </a:xfrm>
          <a:prstGeom prst="rect">
            <a:avLst/>
          </a:prstGeom>
        </p:spPr>
      </p:pic>
      <p:sp>
        <p:nvSpPr>
          <p:cNvPr id="7" name="Text 3"/>
          <p:cNvSpPr txBox="1"/>
          <p:nvPr/>
        </p:nvSpPr>
        <p:spPr>
          <a:xfrm>
            <a:off x="658368" y="2423160"/>
            <a:ext cx="1883664" cy="1874520"/>
          </a:xfrm>
          <a:prstGeom prst="rect">
            <a:avLst/>
          </a:prstGeom>
          <a:noFill/>
          <a:ln/>
        </p:spPr>
        <p:txBody>
          <a:bodyPr wrap="square" lIns="508" tIns="508" rIns="508" bIns="508" rtlCol="0" anchor="t"/>
          <a:lstStyle/>
          <a:p>
            <a:pPr algn="ctr" indent="0" marL="0">
              <a:spcAft>
                <a:spcPts val="600"/>
              </a:spcAft>
              <a:buNone/>
            </a:pPr>
            <a:r>
              <a:rPr lang="en-US" sz="1400" b="1" dirty="0">
                <a:solidFill>
                  <a:schemeClr val="tx2"/>
                </a:solidFill>
              </a:rPr>
              <a:t>Generate databases</a:t>
            </a:r>
            <a:endParaRPr lang="en-US" sz="1400" dirty="0"/>
          </a:p>
          <a:p>
            <a:pPr algn="ctr" indent="0" marL="0">
              <a:spcAft>
                <a:spcPts val="600"/>
              </a:spcAft>
              <a:buNone/>
            </a:pPr>
            <a:r>
              <a:rPr lang="en-US" sz="1200" dirty="0">
                <a:solidFill>
                  <a:schemeClr val="tx1"/>
                </a:solidFill>
              </a:rPr>
              <a:t>Simulated spectra for known inputs (e.g. 54,000 cases)</a:t>
            </a:r>
            <a:endParaRPr lang="en-US" sz="1400" dirty="0"/>
          </a:p>
        </p:txBody>
      </p:sp>
      <p:sp>
        <p:nvSpPr>
          <p:cNvPr id="8" name="card"/>
          <p:cNvSpPr/>
          <p:nvPr/>
        </p:nvSpPr>
        <p:spPr>
          <a:xfrm>
            <a:off x="2788920" y="1371600"/>
            <a:ext cx="2103120" cy="30175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3474720" y="1554480"/>
            <a:ext cx="731520" cy="731520"/>
          </a:xfrm>
          <a:prstGeom prst="ellipse">
            <a:avLst/>
          </a:prstGeom>
          <a:solidFill>
            <a:schemeClr val="accent3"/>
          </a:solidFill>
          <a:ln/>
        </p:spPr>
      </p:sp>
      <p:pic>
        <p:nvPicPr>
          <p:cNvPr id="10" name="Image 1" descr="ChartLine icon">    </p:cNvPr>
          <p:cNvPicPr>
            <a:picLocks noChangeAspect="1"/>
          </p:cNvPicPr>
          <p:nvPr/>
        </p:nvPicPr>
        <p:blipFill>
          <a:blip r:embed="rId2"/>
          <a:stretch>
            <a:fillRect/>
          </a:stretch>
        </p:blipFill>
        <p:spPr>
          <a:xfrm>
            <a:off x="3664915" y="1744675"/>
            <a:ext cx="351130" cy="351130"/>
          </a:xfrm>
          <a:prstGeom prst="rect">
            <a:avLst/>
          </a:prstGeom>
        </p:spPr>
      </p:pic>
      <p:sp>
        <p:nvSpPr>
          <p:cNvPr id="11" name="Text 6"/>
          <p:cNvSpPr txBox="1"/>
          <p:nvPr/>
        </p:nvSpPr>
        <p:spPr>
          <a:xfrm>
            <a:off x="2898648" y="2423160"/>
            <a:ext cx="1883664" cy="1874520"/>
          </a:xfrm>
          <a:prstGeom prst="rect">
            <a:avLst/>
          </a:prstGeom>
          <a:noFill/>
          <a:ln/>
        </p:spPr>
        <p:txBody>
          <a:bodyPr wrap="square" lIns="508" tIns="508" rIns="508" bIns="508" rtlCol="0" anchor="t"/>
          <a:lstStyle/>
          <a:p>
            <a:pPr algn="ctr" indent="0" marL="0">
              <a:spcAft>
                <a:spcPts val="600"/>
              </a:spcAft>
              <a:buNone/>
            </a:pPr>
            <a:r>
              <a:rPr lang="en-US" sz="1400" b="1" dirty="0">
                <a:solidFill>
                  <a:schemeClr val="tx2"/>
                </a:solidFill>
              </a:rPr>
              <a:t>Design / test VIs</a:t>
            </a:r>
            <a:endParaRPr lang="en-US" sz="1400" dirty="0"/>
          </a:p>
          <a:p>
            <a:pPr algn="ctr" indent="0" marL="0">
              <a:spcAft>
                <a:spcPts val="600"/>
              </a:spcAft>
              <a:buNone/>
            </a:pPr>
            <a:r>
              <a:rPr lang="en-US" sz="1200" dirty="0">
                <a:solidFill>
                  <a:schemeClr val="tx1"/>
                </a:solidFill>
              </a:rPr>
              <a:t>TCARI/OSAVI, MTCI, NDWI; red-edge position</a:t>
            </a:r>
            <a:endParaRPr lang="en-US" sz="1400" dirty="0"/>
          </a:p>
        </p:txBody>
      </p:sp>
      <p:sp>
        <p:nvSpPr>
          <p:cNvPr id="12" name="card"/>
          <p:cNvSpPr/>
          <p:nvPr/>
        </p:nvSpPr>
        <p:spPr>
          <a:xfrm>
            <a:off x="5029200" y="1371600"/>
            <a:ext cx="2103120" cy="30175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5715000" y="1554480"/>
            <a:ext cx="731520" cy="731520"/>
          </a:xfrm>
          <a:prstGeom prst="ellipse">
            <a:avLst/>
          </a:prstGeom>
          <a:solidFill>
            <a:schemeClr val="accent5"/>
          </a:solidFill>
          <a:ln/>
        </p:spPr>
      </p:sp>
      <p:pic>
        <p:nvPicPr>
          <p:cNvPr id="14" name="Image 2" descr="Search icon">    </p:cNvPr>
          <p:cNvPicPr>
            <a:picLocks noChangeAspect="1"/>
          </p:cNvPicPr>
          <p:nvPr/>
        </p:nvPicPr>
        <p:blipFill>
          <a:blip r:embed="rId3"/>
          <a:stretch>
            <a:fillRect/>
          </a:stretch>
        </p:blipFill>
        <p:spPr>
          <a:xfrm>
            <a:off x="5905195" y="1744675"/>
            <a:ext cx="351130" cy="351130"/>
          </a:xfrm>
          <a:prstGeom prst="rect">
            <a:avLst/>
          </a:prstGeom>
        </p:spPr>
      </p:pic>
      <p:sp>
        <p:nvSpPr>
          <p:cNvPr id="15" name="Text 9"/>
          <p:cNvSpPr txBox="1"/>
          <p:nvPr/>
        </p:nvSpPr>
        <p:spPr>
          <a:xfrm>
            <a:off x="5138928" y="2423160"/>
            <a:ext cx="1883664" cy="1874520"/>
          </a:xfrm>
          <a:prstGeom prst="rect">
            <a:avLst/>
          </a:prstGeom>
          <a:noFill/>
          <a:ln/>
        </p:spPr>
        <p:txBody>
          <a:bodyPr wrap="square" lIns="508" tIns="508" rIns="508" bIns="508" rtlCol="0" anchor="t"/>
          <a:lstStyle/>
          <a:p>
            <a:pPr algn="ctr" indent="0" marL="0">
              <a:spcAft>
                <a:spcPts val="600"/>
              </a:spcAft>
              <a:buNone/>
            </a:pPr>
            <a:r>
              <a:rPr lang="en-US" sz="1400" b="1" dirty="0">
                <a:solidFill>
                  <a:schemeClr val="tx2"/>
                </a:solidFill>
              </a:rPr>
              <a:t>Sensitivity analysis</a:t>
            </a:r>
            <a:endParaRPr lang="en-US" sz="1400" dirty="0"/>
          </a:p>
          <a:p>
            <a:pPr algn="ctr" indent="0" marL="0">
              <a:spcAft>
                <a:spcPts val="600"/>
              </a:spcAft>
              <a:buNone/>
            </a:pPr>
            <a:r>
              <a:rPr lang="en-US" sz="1200" dirty="0">
                <a:solidFill>
                  <a:schemeClr val="tx1"/>
                </a:solidFill>
              </a:rPr>
              <a:t>DOES, EFAST → optimal bands and angles</a:t>
            </a:r>
            <a:endParaRPr lang="en-US" sz="1400" dirty="0"/>
          </a:p>
        </p:txBody>
      </p:sp>
      <p:sp>
        <p:nvSpPr>
          <p:cNvPr id="16" name="card"/>
          <p:cNvSpPr/>
          <p:nvPr/>
        </p:nvSpPr>
        <p:spPr>
          <a:xfrm>
            <a:off x="7269480" y="1371600"/>
            <a:ext cx="2103120" cy="30175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955280" y="1554480"/>
            <a:ext cx="731520" cy="731520"/>
          </a:xfrm>
          <a:prstGeom prst="ellipse">
            <a:avLst/>
          </a:prstGeom>
          <a:solidFill>
            <a:schemeClr val="accent1"/>
          </a:solidFill>
          <a:ln/>
        </p:spPr>
      </p:sp>
      <p:pic>
        <p:nvPicPr>
          <p:cNvPr id="18" name="Image 3" descr="Satellite icon">    </p:cNvPr>
          <p:cNvPicPr>
            <a:picLocks noChangeAspect="1"/>
          </p:cNvPicPr>
          <p:nvPr/>
        </p:nvPicPr>
        <p:blipFill>
          <a:blip r:embed="rId4"/>
          <a:stretch>
            <a:fillRect/>
          </a:stretch>
        </p:blipFill>
        <p:spPr>
          <a:xfrm>
            <a:off x="8145475" y="1744675"/>
            <a:ext cx="351130" cy="351130"/>
          </a:xfrm>
          <a:prstGeom prst="rect">
            <a:avLst/>
          </a:prstGeom>
        </p:spPr>
      </p:pic>
      <p:sp>
        <p:nvSpPr>
          <p:cNvPr id="19" name="Text 12"/>
          <p:cNvSpPr txBox="1"/>
          <p:nvPr/>
        </p:nvSpPr>
        <p:spPr>
          <a:xfrm>
            <a:off x="7379208" y="2423160"/>
            <a:ext cx="1883664" cy="1874520"/>
          </a:xfrm>
          <a:prstGeom prst="rect">
            <a:avLst/>
          </a:prstGeom>
          <a:noFill/>
          <a:ln/>
        </p:spPr>
        <p:txBody>
          <a:bodyPr wrap="square" lIns="508" tIns="508" rIns="508" bIns="508" rtlCol="0" anchor="t"/>
          <a:lstStyle/>
          <a:p>
            <a:pPr algn="ctr" indent="0" marL="0">
              <a:spcAft>
                <a:spcPts val="600"/>
              </a:spcAft>
              <a:buNone/>
            </a:pPr>
            <a:r>
              <a:rPr lang="en-US" sz="1400" b="1" dirty="0">
                <a:solidFill>
                  <a:schemeClr val="tx2"/>
                </a:solidFill>
              </a:rPr>
              <a:t>Sensor design</a:t>
            </a:r>
            <a:endParaRPr lang="en-US" sz="1400" dirty="0"/>
          </a:p>
          <a:p>
            <a:pPr algn="ctr" indent="0" marL="0">
              <a:spcAft>
                <a:spcPts val="600"/>
              </a:spcAft>
              <a:buNone/>
            </a:pPr>
            <a:r>
              <a:rPr lang="en-US" sz="1200" dirty="0">
                <a:solidFill>
                  <a:schemeClr val="tx1"/>
                </a:solidFill>
              </a:rPr>
              <a:t>Simulate missions before launch (CHRIS, Sentinel-2)</a:t>
            </a:r>
            <a:endParaRPr lang="en-US" sz="1400" dirty="0"/>
          </a:p>
        </p:txBody>
      </p:sp>
      <p:sp>
        <p:nvSpPr>
          <p:cNvPr id="20" name="card"/>
          <p:cNvSpPr/>
          <p:nvPr/>
        </p:nvSpPr>
        <p:spPr>
          <a:xfrm>
            <a:off x="9509760" y="1371600"/>
            <a:ext cx="2103120" cy="30175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1" name="icon circle"/>
          <p:cNvSpPr/>
          <p:nvPr/>
        </p:nvSpPr>
        <p:spPr>
          <a:xfrm>
            <a:off x="10195560" y="1554480"/>
            <a:ext cx="731520" cy="731520"/>
          </a:xfrm>
          <a:prstGeom prst="ellipse">
            <a:avLst/>
          </a:prstGeom>
          <a:solidFill>
            <a:schemeClr val="accent4"/>
          </a:solidFill>
          <a:ln/>
        </p:spPr>
      </p:sp>
      <p:pic>
        <p:nvPicPr>
          <p:cNvPr id="22" name="Image 4" descr="Brain icon">    </p:cNvPr>
          <p:cNvPicPr>
            <a:picLocks noChangeAspect="1"/>
          </p:cNvPicPr>
          <p:nvPr/>
        </p:nvPicPr>
        <p:blipFill>
          <a:blip r:embed="rId5"/>
          <a:stretch>
            <a:fillRect/>
          </a:stretch>
        </p:blipFill>
        <p:spPr>
          <a:xfrm>
            <a:off x="10385755" y="1744675"/>
            <a:ext cx="351130" cy="351130"/>
          </a:xfrm>
          <a:prstGeom prst="rect">
            <a:avLst/>
          </a:prstGeom>
        </p:spPr>
      </p:pic>
      <p:sp>
        <p:nvSpPr>
          <p:cNvPr id="23" name="Text 15"/>
          <p:cNvSpPr txBox="1"/>
          <p:nvPr/>
        </p:nvSpPr>
        <p:spPr>
          <a:xfrm>
            <a:off x="9619488" y="2423160"/>
            <a:ext cx="1883664" cy="1874520"/>
          </a:xfrm>
          <a:prstGeom prst="rect">
            <a:avLst/>
          </a:prstGeom>
          <a:noFill/>
          <a:ln/>
        </p:spPr>
        <p:txBody>
          <a:bodyPr wrap="square" lIns="508" tIns="508" rIns="508" bIns="508" rtlCol="0" anchor="t"/>
          <a:lstStyle/>
          <a:p>
            <a:pPr algn="ctr" indent="0" marL="0">
              <a:spcAft>
                <a:spcPts val="600"/>
              </a:spcAft>
              <a:buNone/>
            </a:pPr>
            <a:r>
              <a:rPr lang="en-US" sz="1400" b="1" dirty="0">
                <a:solidFill>
                  <a:schemeClr val="tx2"/>
                </a:solidFill>
              </a:rPr>
              <a:t>Train retrieval</a:t>
            </a:r>
            <a:endParaRPr lang="en-US" sz="1400" dirty="0"/>
          </a:p>
          <a:p>
            <a:pPr algn="ctr" indent="0" marL="0">
              <a:spcAft>
                <a:spcPts val="600"/>
              </a:spcAft>
              <a:buNone/>
            </a:pPr>
            <a:r>
              <a:rPr lang="en-US" sz="1200" dirty="0">
                <a:solidFill>
                  <a:schemeClr val="tx1"/>
                </a:solidFill>
              </a:rPr>
              <a:t>LUT and ML training sets (hybrid methods)</a:t>
            </a:r>
            <a:endParaRPr lang="en-US" sz="1400" dirty="0"/>
          </a:p>
        </p:txBody>
      </p:sp>
      <p:sp>
        <p:nvSpPr>
          <p:cNvPr id="24" name="card"/>
          <p:cNvSpPr/>
          <p:nvPr/>
        </p:nvSpPr>
        <p:spPr>
          <a:xfrm>
            <a:off x="548640" y="4572000"/>
            <a:ext cx="11094415"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5" name="Text 17"/>
          <p:cNvSpPr txBox="1"/>
          <p:nvPr/>
        </p:nvSpPr>
        <p:spPr>
          <a:xfrm>
            <a:off x="731520" y="4709160"/>
            <a:ext cx="10774375" cy="365760"/>
          </a:xfrm>
          <a:prstGeom prst="rect">
            <a:avLst/>
          </a:prstGeom>
          <a:noFill/>
          <a:ln/>
        </p:spPr>
        <p:txBody>
          <a:bodyPr wrap="square" lIns="0" tIns="0" rIns="0" bIns="0" rtlCol="0" anchor="ctr"/>
          <a:lstStyle/>
          <a:p>
            <a:pPr indent="0" marL="0">
              <a:buNone/>
            </a:pPr>
            <a:r>
              <a:rPr lang="en-US" sz="1600" b="1" dirty="0">
                <a:solidFill>
                  <a:schemeClr val="tx2"/>
                </a:solidFill>
              </a:rPr>
              <a:t>Example: red edge</a:t>
            </a:r>
            <a:endParaRPr lang="en-US" sz="1600" dirty="0"/>
          </a:p>
        </p:txBody>
      </p:sp>
      <p:sp>
        <p:nvSpPr>
          <p:cNvPr id="26" name="Text 18"/>
          <p:cNvSpPr txBox="1"/>
          <p:nvPr/>
        </p:nvSpPr>
        <p:spPr>
          <a:xfrm>
            <a:off x="731520" y="5120640"/>
            <a:ext cx="10728655" cy="9601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PROSAIL showed red-edge shifts come mainly from Cab and LAI and are almost insensitive to soil and atmosphere; at 1 nm resolution the red-edge position jumps from ~695 to ~725 nm when Cab &gt; 45 µg cm</a:t>
            </a:r>
            <a:r>
              <a:rPr lang="en-US" sz="1300" baseline="30000" dirty="0">
                <a:solidFill>
                  <a:schemeClr val="tx1"/>
                </a:solidFill>
              </a:rPr>
              <a:t>−2</a:t>
            </a:r>
            <a:r>
              <a:rPr lang="en-US" sz="1300" dirty="0">
                <a:solidFill>
                  <a:schemeClr val="tx1"/>
                </a:solidFill>
              </a:rPr>
              <a:t> (Le Maire et al. 2004)</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Validating PROSAIL on wheat (IARI)</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Bidirectional reflectance of wheat under contrasting nitrogen, and how well PROSAIL5B reproduces it</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Experimental methodology: goniometer BRF of wheat</a:t>
            </a:r>
            <a:endParaRPr lang="en-US" sz="3200" dirty="0"/>
          </a:p>
        </p:txBody>
      </p:sp>
      <p:sp>
        <p:nvSpPr>
          <p:cNvPr id="4" name="step number"/>
          <p:cNvSpPr/>
          <p:nvPr/>
        </p:nvSpPr>
        <p:spPr>
          <a:xfrm>
            <a:off x="548640" y="1522476"/>
            <a:ext cx="384048" cy="384048"/>
          </a:xfrm>
          <a:prstGeom prst="ellipse">
            <a:avLst/>
          </a:prstGeom>
          <a:solidFill>
            <a:schemeClr val="accent1"/>
          </a:solidFill>
          <a:ln/>
        </p:spPr>
      </p:sp>
      <p:sp>
        <p:nvSpPr>
          <p:cNvPr id="5" name="Text 2"/>
          <p:cNvSpPr txBox="1"/>
          <p:nvPr/>
        </p:nvSpPr>
        <p:spPr>
          <a:xfrm>
            <a:off x="548640" y="15224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25880"/>
            <a:ext cx="5897880" cy="731520"/>
          </a:xfrm>
          <a:prstGeom prst="rect">
            <a:avLst/>
          </a:prstGeom>
          <a:noFill/>
          <a:ln/>
        </p:spPr>
        <p:txBody>
          <a:bodyPr wrap="square" lIns="0" tIns="0" rIns="0" bIns="0" rtlCol="0" anchor="ctr"/>
          <a:lstStyle/>
          <a:p>
            <a:pPr indent="0" marL="0">
              <a:buNone/>
            </a:pPr>
            <a:r>
              <a:rPr lang="en-US" sz="1350" dirty="0">
                <a:solidFill>
                  <a:schemeClr val="tx1"/>
                </a:solidFill>
              </a:rPr>
              <a:t>Wheat PBW-502, rabi 2010–11; </a:t>
            </a:r>
            <a:r>
              <a:rPr lang="en-US" sz="1350" b="1" dirty="0">
                <a:solidFill>
                  <a:schemeClr val="tx1"/>
                </a:solidFill>
              </a:rPr>
              <a:t>N0 vs N120</a:t>
            </a:r>
            <a:r>
              <a:rPr lang="en-US" sz="1350" dirty="0">
                <a:solidFill>
                  <a:schemeClr val="tx1"/>
                </a:solidFill>
              </a:rPr>
              <a:t> kg ha</a:t>
            </a:r>
            <a:r>
              <a:rPr lang="en-US" sz="1350" baseline="30000" dirty="0">
                <a:solidFill>
                  <a:schemeClr val="tx1"/>
                </a:solidFill>
              </a:rPr>
              <a:t>−1</a:t>
            </a:r>
            <a:r>
              <a:rPr lang="en-US" sz="1350" dirty="0">
                <a:solidFill>
                  <a:schemeClr val="tx1"/>
                </a:solidFill>
              </a:rPr>
              <a:t> (6 × 6 m plots, 3 reps)</a:t>
            </a:r>
            <a:endParaRPr lang="en-US" sz="1350" dirty="0"/>
          </a:p>
        </p:txBody>
      </p:sp>
      <p:sp>
        <p:nvSpPr>
          <p:cNvPr id="7" name="step number"/>
          <p:cNvSpPr/>
          <p:nvPr/>
        </p:nvSpPr>
        <p:spPr>
          <a:xfrm>
            <a:off x="548640" y="2299716"/>
            <a:ext cx="384048" cy="384048"/>
          </a:xfrm>
          <a:prstGeom prst="ellipse">
            <a:avLst/>
          </a:prstGeom>
          <a:solidFill>
            <a:schemeClr val="accent1"/>
          </a:solidFill>
          <a:ln/>
        </p:spPr>
      </p:sp>
      <p:sp>
        <p:nvSpPr>
          <p:cNvPr id="8" name="Text 5"/>
          <p:cNvSpPr txBox="1"/>
          <p:nvPr/>
        </p:nvSpPr>
        <p:spPr>
          <a:xfrm>
            <a:off x="548640" y="22997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103120"/>
            <a:ext cx="5897880" cy="731520"/>
          </a:xfrm>
          <a:prstGeom prst="rect">
            <a:avLst/>
          </a:prstGeom>
          <a:noFill/>
          <a:ln/>
        </p:spPr>
        <p:txBody>
          <a:bodyPr wrap="square" lIns="0" tIns="0" rIns="0" bIns="0" rtlCol="0" anchor="ctr"/>
          <a:lstStyle/>
          <a:p>
            <a:pPr indent="0" marL="0">
              <a:buNone/>
            </a:pPr>
            <a:r>
              <a:rPr lang="en-US" sz="1350" dirty="0">
                <a:solidFill>
                  <a:schemeClr val="tx1"/>
                </a:solidFill>
              </a:rPr>
              <a:t>ASD FieldSpec-3 (350–2500 nm), FOV 10°, on field goniometer</a:t>
            </a:r>
            <a:endParaRPr lang="en-US" sz="1350" dirty="0"/>
          </a:p>
        </p:txBody>
      </p:sp>
      <p:sp>
        <p:nvSpPr>
          <p:cNvPr id="10" name="step number"/>
          <p:cNvSpPr/>
          <p:nvPr/>
        </p:nvSpPr>
        <p:spPr>
          <a:xfrm>
            <a:off x="548640" y="3076956"/>
            <a:ext cx="384048" cy="384048"/>
          </a:xfrm>
          <a:prstGeom prst="ellipse">
            <a:avLst/>
          </a:prstGeom>
          <a:solidFill>
            <a:schemeClr val="accent1"/>
          </a:solidFill>
          <a:ln/>
        </p:spPr>
      </p:sp>
      <p:sp>
        <p:nvSpPr>
          <p:cNvPr id="11" name="Text 8"/>
          <p:cNvSpPr txBox="1"/>
          <p:nvPr/>
        </p:nvSpPr>
        <p:spPr>
          <a:xfrm>
            <a:off x="548640" y="30769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880360"/>
            <a:ext cx="5897880" cy="731520"/>
          </a:xfrm>
          <a:prstGeom prst="rect">
            <a:avLst/>
          </a:prstGeom>
          <a:noFill/>
          <a:ln/>
        </p:spPr>
        <p:txBody>
          <a:bodyPr wrap="square" lIns="0" tIns="0" rIns="0" bIns="0" rtlCol="0" anchor="ctr"/>
          <a:lstStyle/>
          <a:p>
            <a:pPr indent="0" marL="0">
              <a:buNone/>
            </a:pPr>
            <a:r>
              <a:rPr lang="en-US" sz="1350" b="1" dirty="0">
                <a:solidFill>
                  <a:schemeClr val="tx1"/>
                </a:solidFill>
              </a:rPr>
              <a:t>8 azimuths</a:t>
            </a:r>
            <a:r>
              <a:rPr lang="en-US" sz="1350" dirty="0">
                <a:solidFill>
                  <a:schemeClr val="tx1"/>
                </a:solidFill>
              </a:rPr>
              <a:t> (0–315°) × </a:t>
            </a:r>
            <a:r>
              <a:rPr lang="en-US" sz="1350" b="1" dirty="0">
                <a:solidFill>
                  <a:schemeClr val="tx1"/>
                </a:solidFill>
              </a:rPr>
              <a:t>6 zenith angles</a:t>
            </a:r>
            <a:r>
              <a:rPr lang="en-US" sz="1350" dirty="0">
                <a:solidFill>
                  <a:schemeClr val="tx1"/>
                </a:solidFill>
              </a:rPr>
              <a:t> (nadir, 20–60°); BaSO</a:t>
            </a:r>
            <a:r>
              <a:rPr lang="en-US" sz="1350" baseline="-40000" dirty="0">
                <a:solidFill>
                  <a:schemeClr val="tx1"/>
                </a:solidFill>
              </a:rPr>
              <a:t>4</a:t>
            </a:r>
            <a:r>
              <a:rPr lang="en-US" sz="1350" dirty="0">
                <a:solidFill>
                  <a:schemeClr val="tx1"/>
                </a:solidFill>
              </a:rPr>
              <a:t> panel each view</a:t>
            </a:r>
            <a:endParaRPr lang="en-US" sz="1350" dirty="0"/>
          </a:p>
        </p:txBody>
      </p:sp>
      <p:sp>
        <p:nvSpPr>
          <p:cNvPr id="13" name="step number"/>
          <p:cNvSpPr/>
          <p:nvPr/>
        </p:nvSpPr>
        <p:spPr>
          <a:xfrm>
            <a:off x="548640" y="3854196"/>
            <a:ext cx="384048" cy="384048"/>
          </a:xfrm>
          <a:prstGeom prst="ellipse">
            <a:avLst/>
          </a:prstGeom>
          <a:solidFill>
            <a:schemeClr val="accent1"/>
          </a:solidFill>
          <a:ln/>
        </p:spPr>
      </p:sp>
      <p:sp>
        <p:nvSpPr>
          <p:cNvPr id="14" name="Text 11"/>
          <p:cNvSpPr txBox="1"/>
          <p:nvPr/>
        </p:nvSpPr>
        <p:spPr>
          <a:xfrm>
            <a:off x="548640" y="38541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657600"/>
            <a:ext cx="5897880" cy="731520"/>
          </a:xfrm>
          <a:prstGeom prst="rect">
            <a:avLst/>
          </a:prstGeom>
          <a:noFill/>
          <a:ln/>
        </p:spPr>
        <p:txBody>
          <a:bodyPr wrap="square" lIns="0" tIns="0" rIns="0" bIns="0" rtlCol="0" anchor="ctr"/>
          <a:lstStyle/>
          <a:p>
            <a:pPr indent="0" marL="0">
              <a:buNone/>
            </a:pPr>
            <a:r>
              <a:rPr lang="en-US" sz="1350" dirty="0">
                <a:solidFill>
                  <a:schemeClr val="tx1"/>
                </a:solidFill>
              </a:rPr>
              <a:t>Plant inputs: LAI (LAI-2000), Cab (DMSO, 645/663 nm), Cm, Cw, leaf angle, hspot</a:t>
            </a:r>
            <a:endParaRPr lang="en-US" sz="1350" dirty="0"/>
          </a:p>
        </p:txBody>
      </p:sp>
      <p:sp>
        <p:nvSpPr>
          <p:cNvPr id="16" name="step number"/>
          <p:cNvSpPr/>
          <p:nvPr/>
        </p:nvSpPr>
        <p:spPr>
          <a:xfrm>
            <a:off x="548640" y="4631436"/>
            <a:ext cx="384048" cy="384048"/>
          </a:xfrm>
          <a:prstGeom prst="ellipse">
            <a:avLst/>
          </a:prstGeom>
          <a:solidFill>
            <a:schemeClr val="accent1"/>
          </a:solidFill>
          <a:ln/>
        </p:spPr>
      </p:sp>
      <p:sp>
        <p:nvSpPr>
          <p:cNvPr id="17" name="Text 14"/>
          <p:cNvSpPr txBox="1"/>
          <p:nvPr/>
        </p:nvSpPr>
        <p:spPr>
          <a:xfrm>
            <a:off x="548640" y="46314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434840"/>
            <a:ext cx="5897880" cy="731520"/>
          </a:xfrm>
          <a:prstGeom prst="rect">
            <a:avLst/>
          </a:prstGeom>
          <a:noFill/>
          <a:ln/>
        </p:spPr>
        <p:txBody>
          <a:bodyPr wrap="square" lIns="0" tIns="0" rIns="0" bIns="0" rtlCol="0" anchor="ctr"/>
          <a:lstStyle/>
          <a:p>
            <a:pPr indent="0" marL="0">
              <a:buNone/>
            </a:pPr>
            <a:r>
              <a:rPr lang="en-US" sz="1350" dirty="0">
                <a:solidFill>
                  <a:schemeClr val="tx1"/>
                </a:solidFill>
              </a:rPr>
              <a:t>BRF surface plots at LISS-3 centres: 568, 660, 790, 1634 nm</a:t>
            </a:r>
            <a:endParaRPr lang="en-US" sz="1350" dirty="0"/>
          </a:p>
        </p:txBody>
      </p:sp>
      <p:sp>
        <p:nvSpPr>
          <p:cNvPr id="19" name="step number"/>
          <p:cNvSpPr/>
          <p:nvPr/>
        </p:nvSpPr>
        <p:spPr>
          <a:xfrm>
            <a:off x="548640" y="5408676"/>
            <a:ext cx="384048" cy="384048"/>
          </a:xfrm>
          <a:prstGeom prst="ellipse">
            <a:avLst/>
          </a:prstGeom>
          <a:solidFill>
            <a:schemeClr val="accent1"/>
          </a:solidFill>
          <a:ln/>
        </p:spPr>
      </p:sp>
      <p:sp>
        <p:nvSpPr>
          <p:cNvPr id="20" name="Text 17"/>
          <p:cNvSpPr txBox="1"/>
          <p:nvPr/>
        </p:nvSpPr>
        <p:spPr>
          <a:xfrm>
            <a:off x="548640" y="54086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5212080"/>
            <a:ext cx="5897880" cy="731520"/>
          </a:xfrm>
          <a:prstGeom prst="rect">
            <a:avLst/>
          </a:prstGeom>
          <a:noFill/>
          <a:ln/>
        </p:spPr>
        <p:txBody>
          <a:bodyPr wrap="square" lIns="0" tIns="0" rIns="0" bIns="0" rtlCol="0" anchor="ctr"/>
          <a:lstStyle/>
          <a:p>
            <a:pPr indent="0" marL="0">
              <a:buNone/>
            </a:pPr>
            <a:r>
              <a:rPr lang="en-US" sz="1350" dirty="0">
                <a:solidFill>
                  <a:schemeClr val="tx1"/>
                </a:solidFill>
              </a:rPr>
              <a:t>Run PROSAIL5B with measured inputs → compare in principal plane (RMSE, nRMSE)</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78040" y="1325880"/>
          <a:ext cx="4462272" cy="914400"/>
        </p:xfrm>
        <a:graphic>
          <a:graphicData uri="http://schemas.openxmlformats.org/drawingml/2006/table">
            <a:tbl>
              <a:tblPr/>
              <a:tblGrid>
                <a:gridCol w="1463040"/>
                <a:gridCol w="749808"/>
                <a:gridCol w="749808"/>
                <a:gridCol w="749808"/>
                <a:gridCol w="749808"/>
              </a:tblGrid>
              <a:tr h="4572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N0 46 DAS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N0 106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N120 46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N120 106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LAI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Cab (µg cm</a:t>
                      </a:r>
                      <a:r>
                        <a:rPr lang="en-US" sz="1100" b="1" baseline="30000" dirty="0">
                          <a:solidFill>
                            <a:schemeClr val="tx2"/>
                          </a:solidFill>
                          <a:latin typeface="Calibri" pitchFamily="34" charset="0"/>
                          <a:ea typeface="Calibri" pitchFamily="34" charset="-122"/>
                          <a:cs typeface="Calibri" pitchFamily="34" charset="-120"/>
                        </a:rPr>
                        <a:t>−2</a:t>
                      </a:r>
                      <a:r>
                        <a:rPr lang="en-US" sz="11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52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Cw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0.033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0.027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0.024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0.030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Avg. leaf angle (°)</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hspot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0.79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23" name="card"/>
          <p:cNvSpPr/>
          <p:nvPr/>
        </p:nvSpPr>
        <p:spPr>
          <a:xfrm>
            <a:off x="7178040" y="4343400"/>
            <a:ext cx="44622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4" name="Text 20"/>
          <p:cNvSpPr txBox="1"/>
          <p:nvPr/>
        </p:nvSpPr>
        <p:spPr>
          <a:xfrm>
            <a:off x="7360920" y="4480560"/>
            <a:ext cx="4142232" cy="365760"/>
          </a:xfrm>
          <a:prstGeom prst="rect">
            <a:avLst/>
          </a:prstGeom>
          <a:noFill/>
          <a:ln/>
        </p:spPr>
        <p:txBody>
          <a:bodyPr wrap="square" lIns="0" tIns="0" rIns="0" bIns="0" rtlCol="0" anchor="ctr"/>
          <a:lstStyle/>
          <a:p>
            <a:pPr indent="0" marL="0">
              <a:buNone/>
            </a:pPr>
            <a:r>
              <a:rPr lang="en-US" sz="1600" b="1" dirty="0">
                <a:solidFill>
                  <a:schemeClr val="tx2"/>
                </a:solidFill>
              </a:rPr>
              <a:t>Why two N extremes?</a:t>
            </a:r>
            <a:endParaRPr lang="en-US" sz="1600" dirty="0"/>
          </a:p>
        </p:txBody>
      </p:sp>
      <p:sp>
        <p:nvSpPr>
          <p:cNvPr id="25" name="Text 21"/>
          <p:cNvSpPr txBox="1"/>
          <p:nvPr/>
        </p:nvSpPr>
        <p:spPr>
          <a:xfrm>
            <a:off x="7360920" y="4892040"/>
            <a:ext cx="4096512" cy="118872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Sparse low-chlorophyll (N0) vs dense high-chlorophyll (N120) canopy → tests the model over a wide range</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Result 1: wheat reflectance is strongly anisotropic</a:t>
            </a:r>
            <a:endParaRPr lang="en-US" sz="3200" dirty="0"/>
          </a:p>
        </p:txBody>
      </p:sp>
      <p:sp>
        <p:nvSpPr>
          <p:cNvPr id="4" name="figure frame"/>
          <p:cNvSpPr/>
          <p:nvPr/>
        </p:nvSpPr>
        <p:spPr>
          <a:xfrm>
            <a:off x="548640" y="1280160"/>
            <a:ext cx="4572000" cy="4343400"/>
          </a:xfrm>
          <a:prstGeom prst="roundRect">
            <a:avLst>
              <a:gd name="adj" fmla="val 12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BRF polar plots at 568, 660, 790, 1634 nm; N0 (a–d) and N120 (e–h), 46 DAS. Chakraborty, Sehgal, Sahoo et al. (2015) J. Indian Soc. Remote Sens. 43:297–310, Fig. 1">    </p:cNvPr>
          <p:cNvPicPr>
            <a:picLocks noChangeAspect="1"/>
          </p:cNvPicPr>
          <p:nvPr/>
        </p:nvPicPr>
        <p:blipFill>
          <a:blip r:embed="rId1"/>
          <a:stretch>
            <a:fillRect/>
          </a:stretch>
        </p:blipFill>
        <p:spPr>
          <a:xfrm>
            <a:off x="1163375" y="1371600"/>
            <a:ext cx="3342530" cy="4160520"/>
          </a:xfrm>
          <a:prstGeom prst="rect">
            <a:avLst/>
          </a:prstGeom>
        </p:spPr>
      </p:pic>
      <p:sp>
        <p:nvSpPr>
          <p:cNvPr id="6" name="Text 2"/>
          <p:cNvSpPr txBox="1"/>
          <p:nvPr/>
        </p:nvSpPr>
        <p:spPr>
          <a:xfrm>
            <a:off x="548640" y="5669280"/>
            <a:ext cx="4572000" cy="502920"/>
          </a:xfrm>
          <a:prstGeom prst="rect">
            <a:avLst/>
          </a:prstGeom>
          <a:noFill/>
          <a:ln/>
        </p:spPr>
        <p:txBody>
          <a:bodyPr wrap="square" lIns="0" tIns="0" rIns="0" bIns="0" rtlCol="0" anchor="t"/>
          <a:lstStyle/>
          <a:p>
            <a:pPr indent="0" marL="0">
              <a:buNone/>
            </a:pPr>
            <a:r>
              <a:rPr lang="en-US" sz="1100" i="1" dirty="0">
                <a:solidFill>
                  <a:schemeClr val="accent6"/>
                </a:solidFill>
              </a:rPr>
              <a:t>BRF polar plots at 568, 660, 790, 1634 nm; N0 (a–d) and N120 (e–h), 46 DAS. Chakraborty, Sehgal, Sahoo et al. (2015) J. Indian Soc. Remote Sens. 43:297–310, Fig. 1</a:t>
            </a:r>
            <a:endParaRPr lang="en-US" sz="1100" dirty="0"/>
          </a:p>
        </p:txBody>
      </p:sp>
      <p:sp>
        <p:nvSpPr>
          <p:cNvPr id="7" name="card"/>
          <p:cNvSpPr/>
          <p:nvPr/>
        </p:nvSpPr>
        <p:spPr>
          <a:xfrm>
            <a:off x="5349240" y="1280160"/>
            <a:ext cx="6291072" cy="4892040"/>
          </a:xfrm>
          <a:prstGeom prst="roundRect">
            <a:avLst>
              <a:gd name="adj" fmla="val 1495"/>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5532120" y="1435608"/>
            <a:ext cx="420624" cy="420624"/>
          </a:xfrm>
          <a:prstGeom prst="ellipse">
            <a:avLst/>
          </a:prstGeom>
          <a:solidFill>
            <a:schemeClr val="accent3"/>
          </a:solidFill>
          <a:ln/>
        </p:spPr>
      </p:sp>
      <p:pic>
        <p:nvPicPr>
          <p:cNvPr id="9" name="Image 1" descr="Sun icon">    </p:cNvPr>
          <p:cNvPicPr>
            <a:picLocks noChangeAspect="1"/>
          </p:cNvPicPr>
          <p:nvPr/>
        </p:nvPicPr>
        <p:blipFill>
          <a:blip r:embed="rId2"/>
          <a:stretch>
            <a:fillRect/>
          </a:stretch>
        </p:blipFill>
        <p:spPr>
          <a:xfrm>
            <a:off x="5641482" y="1544970"/>
            <a:ext cx="201900" cy="201900"/>
          </a:xfrm>
          <a:prstGeom prst="rect">
            <a:avLst/>
          </a:prstGeom>
        </p:spPr>
      </p:pic>
      <p:sp>
        <p:nvSpPr>
          <p:cNvPr id="10" name="Text 5"/>
          <p:cNvSpPr txBox="1"/>
          <p:nvPr/>
        </p:nvSpPr>
        <p:spPr>
          <a:xfrm>
            <a:off x="6062472" y="1417320"/>
            <a:ext cx="5440680" cy="457200"/>
          </a:xfrm>
          <a:prstGeom prst="rect">
            <a:avLst/>
          </a:prstGeom>
          <a:noFill/>
          <a:ln/>
        </p:spPr>
        <p:txBody>
          <a:bodyPr wrap="square" lIns="0" tIns="0" rIns="0" bIns="0" rtlCol="0" anchor="ctr"/>
          <a:lstStyle/>
          <a:p>
            <a:pPr indent="0" marL="0">
              <a:buNone/>
            </a:pPr>
            <a:r>
              <a:rPr lang="en-US" sz="1600" b="1" dirty="0">
                <a:solidFill>
                  <a:schemeClr val="tx2"/>
                </a:solidFill>
              </a:rPr>
              <a:t>Findings</a:t>
            </a:r>
            <a:endParaRPr lang="en-US" sz="1600" dirty="0"/>
          </a:p>
        </p:txBody>
      </p:sp>
      <p:sp>
        <p:nvSpPr>
          <p:cNvPr id="11" name="Text 6"/>
          <p:cNvSpPr txBox="1"/>
          <p:nvPr/>
        </p:nvSpPr>
        <p:spPr>
          <a:xfrm>
            <a:off x="5532120" y="1965960"/>
            <a:ext cx="5925312" cy="411480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Backward &gt; forward</a:t>
            </a:r>
            <a:r>
              <a:rPr lang="en-US" sz="1300" dirty="0">
                <a:solidFill>
                  <a:schemeClr val="tx1"/>
                </a:solidFill>
              </a:rPr>
              <a:t> at all wavelengths and treatments</a:t>
            </a:r>
            <a:endParaRPr lang="en-US" sz="1300" dirty="0"/>
          </a:p>
          <a:p>
            <a:pPr marL="177800" indent="-177800">
              <a:spcAft>
                <a:spcPts val="400"/>
              </a:spcAft>
              <a:buSzPct val="100000"/>
              <a:buChar char="•"/>
            </a:pPr>
            <a:r>
              <a:rPr lang="en-US" sz="1300" b="1" dirty="0">
                <a:solidFill>
                  <a:schemeClr val="tx1"/>
                </a:solidFill>
              </a:rPr>
              <a:t>Hotspot</a:t>
            </a:r>
            <a:r>
              <a:rPr lang="en-US" sz="1300" dirty="0">
                <a:solidFill>
                  <a:schemeClr val="tx1"/>
                </a:solidFill>
              </a:rPr>
              <a:t> in principal plane, backward, 50–60° view zenith (synchronised with sun zenith)</a:t>
            </a:r>
            <a:endParaRPr lang="en-US" sz="1300" dirty="0"/>
          </a:p>
          <a:p>
            <a:pPr marL="177800" indent="-177800">
              <a:spcAft>
                <a:spcPts val="400"/>
              </a:spcAft>
              <a:buSzPct val="100000"/>
              <a:buChar char="•"/>
            </a:pPr>
            <a:r>
              <a:rPr lang="en-US" sz="1300" b="1" dirty="0">
                <a:solidFill>
                  <a:schemeClr val="tx1"/>
                </a:solidFill>
              </a:rPr>
              <a:t>Darkspot</a:t>
            </a:r>
            <a:r>
              <a:rPr lang="en-US" sz="1300" dirty="0">
                <a:solidFill>
                  <a:schemeClr val="tx1"/>
                </a:solidFill>
              </a:rPr>
              <a:t> in forward direction at high view zenith (more shadow)</a:t>
            </a:r>
            <a:endParaRPr lang="en-US" sz="1300" dirty="0"/>
          </a:p>
          <a:p>
            <a:pPr marL="177800" indent="-177800">
              <a:spcAft>
                <a:spcPts val="400"/>
              </a:spcAft>
              <a:buSzPct val="100000"/>
              <a:buChar char="•"/>
            </a:pPr>
            <a:r>
              <a:rPr lang="en-US" sz="1300" dirty="0">
                <a:solidFill>
                  <a:schemeClr val="tx1"/>
                </a:solidFill>
              </a:rPr>
              <a:t>NIR (790 nm): reflectance ↑ with view angle in all directions → </a:t>
            </a:r>
            <a:r>
              <a:rPr lang="en-US" sz="1300" b="1" dirty="0">
                <a:solidFill>
                  <a:schemeClr val="tx1"/>
                </a:solidFill>
              </a:rPr>
              <a:t>bowl shape</a:t>
            </a:r>
            <a:endParaRPr lang="en-US" sz="1300" dirty="0"/>
          </a:p>
          <a:p>
            <a:pPr marL="177800" indent="-177800">
              <a:spcAft>
                <a:spcPts val="400"/>
              </a:spcAft>
              <a:buSzPct val="100000"/>
              <a:buChar char="•"/>
            </a:pPr>
            <a:r>
              <a:rPr lang="en-US" sz="1300" dirty="0">
                <a:solidFill>
                  <a:schemeClr val="tx1"/>
                </a:solidFill>
              </a:rPr>
              <a:t>Hotspot </a:t>
            </a:r>
            <a:r>
              <a:rPr lang="en-US" sz="1300" b="1" dirty="0">
                <a:solidFill>
                  <a:schemeClr val="tx1"/>
                </a:solidFill>
              </a:rPr>
              <a:t>broadens with growth</a:t>
            </a:r>
            <a:r>
              <a:rPr lang="en-US" sz="1300" dirty="0">
                <a:solidFill>
                  <a:schemeClr val="tx1"/>
                </a:solidFill>
              </a:rPr>
              <a:t> (LAI, leaf size, planophile leaves, lower sun zenith)</a:t>
            </a:r>
            <a:endParaRPr lang="en-US" sz="1300" dirty="0"/>
          </a:p>
          <a:p>
            <a:pPr marL="177800" indent="-177800">
              <a:spcAft>
                <a:spcPts val="400"/>
              </a:spcAft>
              <a:buSzPct val="100000"/>
              <a:buChar char="•"/>
            </a:pPr>
            <a:r>
              <a:rPr lang="en-US" sz="1300" dirty="0">
                <a:solidFill>
                  <a:schemeClr val="tx1"/>
                </a:solidFill>
              </a:rPr>
              <a:t>Sparse N0 at 46 DAS: hotspot shifted to 45° azimuth → soil (strongly anisotropic) dominates</a:t>
            </a:r>
            <a:endParaRPr lang="en-US" sz="1300" dirty="0"/>
          </a:p>
          <a:p>
            <a:pPr marL="177800" indent="-177800">
              <a:spcAft>
                <a:spcPts val="400"/>
              </a:spcAft>
              <a:buSzPct val="100000"/>
              <a:buChar char="•"/>
            </a:pPr>
            <a:r>
              <a:rPr lang="en-US" sz="1300" dirty="0">
                <a:solidFill>
                  <a:schemeClr val="tx1"/>
                </a:solidFill>
              </a:rPr>
              <a:t>Pattern holds equally in </a:t>
            </a:r>
            <a:r>
              <a:rPr lang="en-US" sz="1300" b="1" dirty="0">
                <a:solidFill>
                  <a:schemeClr val="tx1"/>
                </a:solidFill>
              </a:rPr>
              <a:t>SWIR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Result 2: PROSAIL5B reproduces the spectral shape</a:t>
            </a:r>
            <a:endParaRPr lang="en-US" sz="3200" dirty="0"/>
          </a:p>
        </p:txBody>
      </p:sp>
      <p:sp>
        <p:nvSpPr>
          <p:cNvPr id="4" name="figure frame"/>
          <p:cNvSpPr/>
          <p:nvPr/>
        </p:nvSpPr>
        <p:spPr>
          <a:xfrm>
            <a:off x="548640" y="1280160"/>
            <a:ext cx="6309360" cy="3657600"/>
          </a:xfrm>
          <a:prstGeom prst="roundRect">
            <a:avLst>
              <a:gd name="adj" fmla="val 15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Observed vs PROSAIL5B spectra, N120, 106 DAS, backward principal plane, view zenith 20–50°. Chakraborty, Sehgal, Sahoo et al. (2015) J. Indian Soc. Remote Sens. 43:297–310, Fig. 3">    </p:cNvPr>
          <p:cNvPicPr>
            <a:picLocks noChangeAspect="1"/>
          </p:cNvPicPr>
          <p:nvPr/>
        </p:nvPicPr>
        <p:blipFill>
          <a:blip r:embed="rId1"/>
          <a:stretch>
            <a:fillRect/>
          </a:stretch>
        </p:blipFill>
        <p:spPr>
          <a:xfrm>
            <a:off x="1009940" y="1371600"/>
            <a:ext cx="5386760" cy="3474720"/>
          </a:xfrm>
          <a:prstGeom prst="rect">
            <a:avLst/>
          </a:prstGeom>
        </p:spPr>
      </p:pic>
      <p:sp>
        <p:nvSpPr>
          <p:cNvPr id="6" name="Text 2"/>
          <p:cNvSpPr txBox="1"/>
          <p:nvPr/>
        </p:nvSpPr>
        <p:spPr>
          <a:xfrm>
            <a:off x="548640" y="4983480"/>
            <a:ext cx="6309360" cy="411480"/>
          </a:xfrm>
          <a:prstGeom prst="rect">
            <a:avLst/>
          </a:prstGeom>
          <a:noFill/>
          <a:ln/>
        </p:spPr>
        <p:txBody>
          <a:bodyPr wrap="square" lIns="0" tIns="0" rIns="0" bIns="0" rtlCol="0" anchor="t"/>
          <a:lstStyle/>
          <a:p>
            <a:pPr indent="0" marL="0">
              <a:buNone/>
            </a:pPr>
            <a:r>
              <a:rPr lang="en-US" sz="1100" i="1" dirty="0">
                <a:solidFill>
                  <a:schemeClr val="accent6"/>
                </a:solidFill>
              </a:rPr>
              <a:t>Observed vs PROSAIL5B spectra, N120, 106 DAS, backward principal plane, view zenith 20–50°. Chakraborty, Sehgal, Sahoo et al. (2015) J. Indian Soc. Remote Sens. 43:297–310, Fig. 3</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086600" y="1280160"/>
          <a:ext cx="4553712" cy="914400"/>
        </p:xfrm>
        <a:graphic>
          <a:graphicData uri="http://schemas.openxmlformats.org/drawingml/2006/table">
            <a:tbl>
              <a:tblPr/>
              <a:tblGrid>
                <a:gridCol w="1737360"/>
                <a:gridCol w="2816352"/>
              </a:tblGrid>
              <a:tr h="4572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PROSAIL5B setting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572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N (structure)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1.0 (best fit, monocot)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Car / Cbrown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 µg cm</a:t>
                      </a:r>
                      <a:r>
                        <a:rPr lang="en-US" sz="1150" baseline="30000" dirty="0">
                          <a:solidFill>
                            <a:schemeClr val="tx1"/>
                          </a:solidFill>
                          <a:latin typeface="Calibri" pitchFamily="34" charset="0"/>
                          <a:ea typeface="Calibri" pitchFamily="34" charset="-122"/>
                          <a:cs typeface="Calibri" pitchFamily="34" charset="-120"/>
                        </a:rPr>
                        <a:t>−2</a:t>
                      </a:r>
                      <a:r>
                        <a:rPr lang="en-US" sz="1150" dirty="0">
                          <a:solidFill>
                            <a:schemeClr val="tx1"/>
                          </a:solidFill>
                          <a:latin typeface="Calibri" pitchFamily="34" charset="0"/>
                          <a:ea typeface="Calibri" pitchFamily="34" charset="-122"/>
                          <a:cs typeface="Calibri" pitchFamily="34" charset="-120"/>
                        </a:rPr>
                        <a:t> / 0.05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skyl (diffuse %)</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10 (clear sky)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psoil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0.1 (shaded soil)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Other inputs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measured LAI, Cab, Cw, Cm, ALA, hspot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8" name="card"/>
          <p:cNvSpPr/>
          <p:nvPr/>
        </p:nvSpPr>
        <p:spPr>
          <a:xfrm>
            <a:off x="7086600" y="4160520"/>
            <a:ext cx="4553712" cy="2011680"/>
          </a:xfrm>
          <a:prstGeom prst="roundRect">
            <a:avLst>
              <a:gd name="adj" fmla="val 3636"/>
            </a:avLst>
          </a:prstGeom>
          <a:solidFill>
            <a:schemeClr val="bg2"/>
          </a:solidFill>
          <a:ln/>
          <a:effectLst>
            <a:outerShdw sx="100000" sy="100000" kx="0" ky="0" algn="bl" rotWithShape="0" blurRad="76200" dist="25400" dir="5400000">
              <a:srgbClr val="000000">
                <a:alpha val="14000"/>
              </a:srgbClr>
            </a:outerShdw>
          </a:effectLst>
        </p:spPr>
      </p:sp>
      <p:sp>
        <p:nvSpPr>
          <p:cNvPr id="9" name="Text 4"/>
          <p:cNvSpPr txBox="1"/>
          <p:nvPr/>
        </p:nvSpPr>
        <p:spPr>
          <a:xfrm>
            <a:off x="7269480" y="4297680"/>
            <a:ext cx="4233672" cy="365760"/>
          </a:xfrm>
          <a:prstGeom prst="rect">
            <a:avLst/>
          </a:prstGeom>
          <a:noFill/>
          <a:ln/>
        </p:spPr>
        <p:txBody>
          <a:bodyPr wrap="square" lIns="0" tIns="0" rIns="0" bIns="0" rtlCol="0" anchor="ctr"/>
          <a:lstStyle/>
          <a:p>
            <a:pPr indent="0" marL="0">
              <a:buNone/>
            </a:pPr>
            <a:r>
              <a:rPr lang="en-US" sz="1600" b="1" dirty="0">
                <a:solidFill>
                  <a:schemeClr val="tx2"/>
                </a:solidFill>
              </a:rPr>
              <a:t>Errors</a:t>
            </a:r>
            <a:endParaRPr lang="en-US" sz="1600" dirty="0"/>
          </a:p>
        </p:txBody>
      </p:sp>
      <p:sp>
        <p:nvSpPr>
          <p:cNvPr id="10" name="Text 5"/>
          <p:cNvSpPr txBox="1"/>
          <p:nvPr/>
        </p:nvSpPr>
        <p:spPr>
          <a:xfrm>
            <a:off x="7269480" y="4709160"/>
            <a:ext cx="4187952" cy="13716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RMSE VIS 0.01–0.02; NIR 0.02–0.05; SWIR 0.01–0.04 (backward)</a:t>
            </a:r>
            <a:endParaRPr lang="en-US" sz="1250" dirty="0"/>
          </a:p>
          <a:p>
            <a:pPr marL="177800" indent="-177800">
              <a:spcAft>
                <a:spcPts val="400"/>
              </a:spcAft>
              <a:buSzPct val="100000"/>
              <a:buChar char="•"/>
            </a:pPr>
            <a:r>
              <a:rPr lang="en-US" sz="1250" dirty="0">
                <a:solidFill>
                  <a:schemeClr val="tx1"/>
                </a:solidFill>
              </a:rPr>
              <a:t>Forward direction better; worst near hotspot</a:t>
            </a:r>
            <a:endParaRPr lang="en-US" sz="1250" dirty="0"/>
          </a:p>
          <a:p>
            <a:pPr marL="177800" indent="-177800">
              <a:spcAft>
                <a:spcPts val="400"/>
              </a:spcAft>
              <a:buSzPct val="100000"/>
              <a:buChar char="•"/>
            </a:pPr>
            <a:r>
              <a:rPr lang="en-US" sz="1250" dirty="0">
                <a:solidFill>
                  <a:schemeClr val="tx1"/>
                </a:solidFill>
              </a:rPr>
              <a:t>Green peak simulated at 525 vs 550 nm</a:t>
            </a:r>
            <a:endParaRPr lang="en-US" sz="1250" dirty="0"/>
          </a:p>
        </p:txBody>
      </p:sp>
      <p:sp>
        <p:nvSpPr>
          <p:cNvPr id="11" name="Text 6"/>
          <p:cNvSpPr txBox="1"/>
          <p:nvPr/>
        </p:nvSpPr>
        <p:spPr>
          <a:xfrm>
            <a:off x="548640" y="5532120"/>
            <a:ext cx="6309360" cy="457200"/>
          </a:xfrm>
          <a:prstGeom prst="rect">
            <a:avLst/>
          </a:prstGeom>
          <a:noFill/>
          <a:ln/>
        </p:spPr>
        <p:txBody>
          <a:bodyPr wrap="square" lIns="0" tIns="0" rIns="0" bIns="0" rtlCol="0" anchor="ctr"/>
          <a:lstStyle/>
          <a:p>
            <a:pPr algn="l" indent="0" marL="0">
              <a:buNone/>
            </a:pPr>
            <a:r>
              <a:rPr lang="en-US" sz="1150" i="1" dirty="0">
                <a:solidFill>
                  <a:schemeClr val="accent6"/>
                </a:solidFill>
              </a:rPr>
              <a:t>Water bands 1350–1400, 1800–2000, 2400–2500 nm excluded (atmospheric noise)</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Result 3: where PROSAIL works and where it fails</a:t>
            </a:r>
            <a:endParaRPr lang="en-US" sz="3200" dirty="0"/>
          </a:p>
        </p:txBody>
      </p:sp>
      <p:sp>
        <p:nvSpPr>
          <p:cNvPr id="4" name="figure frame"/>
          <p:cNvSpPr/>
          <p:nvPr/>
        </p:nvSpPr>
        <p:spPr>
          <a:xfrm>
            <a:off x="548640" y="1280160"/>
            <a:ext cx="6309360" cy="3611880"/>
          </a:xfrm>
          <a:prstGeom prst="roundRect">
            <a:avLst>
              <a:gd name="adj" fmla="val 151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Observed (solid) vs simulated (dashed) in principal plane, −60° to +60°; N0 blue, N120 red, 46 DAS. Chakraborty, Sehgal, Sahoo et al. (2015) J. Indian Soc. Remote Sens. 43:297–310, Fig. 5">    </p:cNvPr>
          <p:cNvPicPr>
            <a:picLocks noChangeAspect="1"/>
          </p:cNvPicPr>
          <p:nvPr/>
        </p:nvPicPr>
        <p:blipFill>
          <a:blip r:embed="rId1"/>
          <a:stretch>
            <a:fillRect/>
          </a:stretch>
        </p:blipFill>
        <p:spPr>
          <a:xfrm>
            <a:off x="1121816" y="1371600"/>
            <a:ext cx="5163008" cy="3429000"/>
          </a:xfrm>
          <a:prstGeom prst="rect">
            <a:avLst/>
          </a:prstGeom>
        </p:spPr>
      </p:pic>
      <p:sp>
        <p:nvSpPr>
          <p:cNvPr id="6" name="Text 2"/>
          <p:cNvSpPr txBox="1"/>
          <p:nvPr/>
        </p:nvSpPr>
        <p:spPr>
          <a:xfrm>
            <a:off x="548640" y="4937760"/>
            <a:ext cx="6309360" cy="411480"/>
          </a:xfrm>
          <a:prstGeom prst="rect">
            <a:avLst/>
          </a:prstGeom>
          <a:noFill/>
          <a:ln/>
        </p:spPr>
        <p:txBody>
          <a:bodyPr wrap="square" lIns="0" tIns="0" rIns="0" bIns="0" rtlCol="0" anchor="t"/>
          <a:lstStyle/>
          <a:p>
            <a:pPr indent="0" marL="0">
              <a:buNone/>
            </a:pPr>
            <a:r>
              <a:rPr lang="en-US" sz="1100" i="1" dirty="0">
                <a:solidFill>
                  <a:schemeClr val="accent6"/>
                </a:solidFill>
              </a:rPr>
              <a:t>Observed (solid) vs simulated (dashed) in principal plane, −60° to +60°; N0 blue, N120 red, 46 DAS. Chakraborty, Sehgal, Sahoo et al. (2015) J. Indian Soc. Remote Sens. 43:297–310, Fig. 5</a:t>
            </a:r>
            <a:endParaRPr lang="en-US" sz="1100" dirty="0"/>
          </a:p>
        </p:txBody>
      </p:sp>
      <p:sp>
        <p:nvSpPr>
          <p:cNvPr id="7" name="card"/>
          <p:cNvSpPr/>
          <p:nvPr/>
        </p:nvSpPr>
        <p:spPr>
          <a:xfrm>
            <a:off x="7086600" y="1280160"/>
            <a:ext cx="1444752"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8" name="Text 4"/>
          <p:cNvSpPr txBox="1"/>
          <p:nvPr/>
        </p:nvSpPr>
        <p:spPr>
          <a:xfrm>
            <a:off x="7086600" y="1353312"/>
            <a:ext cx="1444752"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NIR</a:t>
            </a:r>
            <a:endParaRPr lang="en-US" sz="2400" dirty="0"/>
          </a:p>
        </p:txBody>
      </p:sp>
      <p:sp>
        <p:nvSpPr>
          <p:cNvPr id="9" name="Text 5"/>
          <p:cNvSpPr txBox="1"/>
          <p:nvPr/>
        </p:nvSpPr>
        <p:spPr>
          <a:xfrm>
            <a:off x="7178040" y="1883664"/>
            <a:ext cx="1261872" cy="384048"/>
          </a:xfrm>
          <a:prstGeom prst="rect">
            <a:avLst/>
          </a:prstGeom>
          <a:noFill/>
          <a:ln/>
        </p:spPr>
        <p:txBody>
          <a:bodyPr wrap="square" lIns="0" tIns="0" rIns="0" bIns="0" rtlCol="0" anchor="t"/>
          <a:lstStyle/>
          <a:p>
            <a:pPr algn="ctr" indent="0" marL="0">
              <a:buNone/>
            </a:pPr>
            <a:r>
              <a:rPr lang="en-US" sz="1100" dirty="0">
                <a:solidFill>
                  <a:schemeClr val="accent6"/>
                </a:solidFill>
              </a:rPr>
              <a:t>best (nRMSE ~0.14 for N120)</a:t>
            </a:r>
            <a:endParaRPr lang="en-US" sz="1100" dirty="0"/>
          </a:p>
        </p:txBody>
      </p:sp>
      <p:sp>
        <p:nvSpPr>
          <p:cNvPr id="10" name="card"/>
          <p:cNvSpPr/>
          <p:nvPr/>
        </p:nvSpPr>
        <p:spPr>
          <a:xfrm>
            <a:off x="8641080" y="1280160"/>
            <a:ext cx="1444752"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1" name="Text 7"/>
          <p:cNvSpPr txBox="1"/>
          <p:nvPr/>
        </p:nvSpPr>
        <p:spPr>
          <a:xfrm>
            <a:off x="8641080" y="1353312"/>
            <a:ext cx="1444752"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Cambria" pitchFamily="34" charset="0"/>
                <a:ea typeface="Cambria" pitchFamily="34" charset="-122"/>
                <a:cs typeface="Cambria" pitchFamily="34" charset="-120"/>
              </a:rPr>
              <a:t>SWIR</a:t>
            </a:r>
            <a:endParaRPr lang="en-US" sz="2400" dirty="0"/>
          </a:p>
        </p:txBody>
      </p:sp>
      <p:sp>
        <p:nvSpPr>
          <p:cNvPr id="12" name="Text 8"/>
          <p:cNvSpPr txBox="1"/>
          <p:nvPr/>
        </p:nvSpPr>
        <p:spPr>
          <a:xfrm>
            <a:off x="8732520" y="1883664"/>
            <a:ext cx="1261872" cy="384048"/>
          </a:xfrm>
          <a:prstGeom prst="rect">
            <a:avLst/>
          </a:prstGeom>
          <a:noFill/>
          <a:ln/>
        </p:spPr>
        <p:txBody>
          <a:bodyPr wrap="square" lIns="0" tIns="0" rIns="0" bIns="0" rtlCol="0" anchor="t"/>
          <a:lstStyle/>
          <a:p>
            <a:pPr algn="ctr" indent="0" marL="0">
              <a:buNone/>
            </a:pPr>
            <a:r>
              <a:rPr lang="en-US" sz="1100" dirty="0">
                <a:solidFill>
                  <a:schemeClr val="accent6"/>
                </a:solidFill>
              </a:rPr>
              <a:t>second</a:t>
            </a:r>
            <a:endParaRPr lang="en-US" sz="1100" dirty="0"/>
          </a:p>
        </p:txBody>
      </p:sp>
      <p:sp>
        <p:nvSpPr>
          <p:cNvPr id="13" name="card"/>
          <p:cNvSpPr/>
          <p:nvPr/>
        </p:nvSpPr>
        <p:spPr>
          <a:xfrm>
            <a:off x="10195560" y="1280160"/>
            <a:ext cx="1444752"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4" name="Text 10"/>
          <p:cNvSpPr txBox="1"/>
          <p:nvPr/>
        </p:nvSpPr>
        <p:spPr>
          <a:xfrm>
            <a:off x="10195560" y="1353312"/>
            <a:ext cx="1444752"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VIS</a:t>
            </a:r>
            <a:endParaRPr lang="en-US" sz="2400" dirty="0"/>
          </a:p>
        </p:txBody>
      </p:sp>
      <p:sp>
        <p:nvSpPr>
          <p:cNvPr id="15" name="Text 11"/>
          <p:cNvSpPr txBox="1"/>
          <p:nvPr/>
        </p:nvSpPr>
        <p:spPr>
          <a:xfrm>
            <a:off x="10287000" y="1883664"/>
            <a:ext cx="1261872" cy="384048"/>
          </a:xfrm>
          <a:prstGeom prst="rect">
            <a:avLst/>
          </a:prstGeom>
          <a:noFill/>
          <a:ln/>
        </p:spPr>
        <p:txBody>
          <a:bodyPr wrap="square" lIns="0" tIns="0" rIns="0" bIns="0" rtlCol="0" anchor="t"/>
          <a:lstStyle/>
          <a:p>
            <a:pPr algn="ctr" indent="0" marL="0">
              <a:buNone/>
            </a:pPr>
            <a:r>
              <a:rPr lang="en-US" sz="1100" dirty="0">
                <a:solidFill>
                  <a:schemeClr val="accent6"/>
                </a:solidFill>
              </a:rPr>
              <a:t>worst (nRMSE ~0.33–0.38)</a:t>
            </a:r>
            <a:endParaRPr lang="en-US" sz="1100" dirty="0"/>
          </a:p>
        </p:txBody>
      </p:sp>
      <p:sp>
        <p:nvSpPr>
          <p:cNvPr id="16" name="card"/>
          <p:cNvSpPr/>
          <p:nvPr/>
        </p:nvSpPr>
        <p:spPr>
          <a:xfrm>
            <a:off x="7086600" y="2514600"/>
            <a:ext cx="4553712" cy="2834640"/>
          </a:xfrm>
          <a:prstGeom prst="roundRect">
            <a:avLst>
              <a:gd name="adj" fmla="val 2581"/>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269480" y="2670048"/>
            <a:ext cx="420624" cy="420624"/>
          </a:xfrm>
          <a:prstGeom prst="ellipse">
            <a:avLst/>
          </a:prstGeom>
          <a:solidFill>
            <a:schemeClr val="accent3"/>
          </a:solidFill>
          <a:ln/>
        </p:spPr>
      </p:sp>
      <p:pic>
        <p:nvPicPr>
          <p:cNvPr id="18" name="Image 1" descr="ExclamationTriangle icon">    </p:cNvPr>
          <p:cNvPicPr>
            <a:picLocks noChangeAspect="1"/>
          </p:cNvPicPr>
          <p:nvPr/>
        </p:nvPicPr>
        <p:blipFill>
          <a:blip r:embed="rId2"/>
          <a:stretch>
            <a:fillRect/>
          </a:stretch>
        </p:blipFill>
        <p:spPr>
          <a:xfrm>
            <a:off x="7378842" y="2779410"/>
            <a:ext cx="201900" cy="201900"/>
          </a:xfrm>
          <a:prstGeom prst="rect">
            <a:avLst/>
          </a:prstGeom>
        </p:spPr>
      </p:pic>
      <p:sp>
        <p:nvSpPr>
          <p:cNvPr id="19" name="Text 14"/>
          <p:cNvSpPr txBox="1"/>
          <p:nvPr/>
        </p:nvSpPr>
        <p:spPr>
          <a:xfrm>
            <a:off x="7799832" y="2651760"/>
            <a:ext cx="3703320" cy="457200"/>
          </a:xfrm>
          <a:prstGeom prst="rect">
            <a:avLst/>
          </a:prstGeom>
          <a:noFill/>
          <a:ln/>
        </p:spPr>
        <p:txBody>
          <a:bodyPr wrap="square" lIns="0" tIns="0" rIns="0" bIns="0" rtlCol="0" anchor="ctr"/>
          <a:lstStyle/>
          <a:p>
            <a:pPr indent="0" marL="0">
              <a:buNone/>
            </a:pPr>
            <a:r>
              <a:rPr lang="en-US" sz="1600" b="1" dirty="0">
                <a:solidFill>
                  <a:schemeClr val="tx2"/>
                </a:solidFill>
              </a:rPr>
              <a:t>Conclusions</a:t>
            </a:r>
            <a:endParaRPr lang="en-US" sz="1600" dirty="0"/>
          </a:p>
        </p:txBody>
      </p:sp>
      <p:sp>
        <p:nvSpPr>
          <p:cNvPr id="20" name="Text 15"/>
          <p:cNvSpPr txBox="1"/>
          <p:nvPr/>
        </p:nvSpPr>
        <p:spPr>
          <a:xfrm>
            <a:off x="7269480" y="3200400"/>
            <a:ext cx="4187952" cy="20574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Average error over spectrum and angles </a:t>
            </a:r>
            <a:r>
              <a:rPr lang="en-US" sz="1250" b="1" dirty="0">
                <a:solidFill>
                  <a:schemeClr val="tx1"/>
                </a:solidFill>
              </a:rPr>
              <a:t>≈ 26%</a:t>
            </a:r>
            <a:endParaRPr lang="en-US" sz="1250" dirty="0"/>
          </a:p>
          <a:p>
            <a:pPr marL="177800" indent="-177800">
              <a:spcAft>
                <a:spcPts val="400"/>
              </a:spcAft>
              <a:buSzPct val="100000"/>
              <a:buChar char="•"/>
            </a:pPr>
            <a:r>
              <a:rPr lang="en-US" sz="1250" dirty="0">
                <a:solidFill>
                  <a:schemeClr val="tx1"/>
                </a:solidFill>
              </a:rPr>
              <a:t>Underestimates near hotspot (backward)</a:t>
            </a:r>
            <a:endParaRPr lang="en-US" sz="1250" dirty="0"/>
          </a:p>
          <a:p>
            <a:pPr marL="177800" indent="-177800">
              <a:spcAft>
                <a:spcPts val="400"/>
              </a:spcAft>
              <a:buSzPct val="100000"/>
              <a:buChar char="•"/>
            </a:pPr>
            <a:r>
              <a:rPr lang="en-US" sz="1250" dirty="0">
                <a:solidFill>
                  <a:schemeClr val="tx1"/>
                </a:solidFill>
              </a:rPr>
              <a:t>NIR bowl shape reproduced; not in VIS / SWIR</a:t>
            </a:r>
            <a:endParaRPr lang="en-US" sz="1250" dirty="0"/>
          </a:p>
          <a:p>
            <a:pPr marL="177800" indent="-177800">
              <a:spcAft>
                <a:spcPts val="400"/>
              </a:spcAft>
              <a:buSzPct val="100000"/>
              <a:buChar char="•"/>
            </a:pPr>
            <a:r>
              <a:rPr lang="en-US" sz="1250" b="1" dirty="0">
                <a:solidFill>
                  <a:schemeClr val="tx1"/>
                </a:solidFill>
              </a:rPr>
              <a:t>Dense canopy (N120) ≫ sparse (N0)</a:t>
            </a:r>
            <a:r>
              <a:rPr lang="en-US" sz="1250" dirty="0">
                <a:solidFill>
                  <a:schemeClr val="tx1"/>
                </a:solidFill>
              </a:rPr>
              <a:t>: Lambertian soil assumption fails at low LAI</a:t>
            </a:r>
            <a:endParaRPr lang="en-US" sz="1250" dirty="0"/>
          </a:p>
        </p:txBody>
      </p:sp>
      <p:sp>
        <p:nvSpPr>
          <p:cNvPr id="21" name="insight"/>
          <p:cNvSpPr/>
          <p:nvPr/>
        </p:nvSpPr>
        <p:spPr>
          <a:xfrm>
            <a:off x="548640" y="5532120"/>
            <a:ext cx="11094415" cy="640080"/>
          </a:xfrm>
          <a:prstGeom prst="roundRect">
            <a:avLst>
              <a:gd name="adj" fmla="val 11429"/>
            </a:avLst>
          </a:prstGeom>
          <a:solidFill>
            <a:schemeClr val="bg2"/>
          </a:solidFill>
          <a:ln/>
        </p:spPr>
      </p:sp>
      <p:sp>
        <p:nvSpPr>
          <p:cNvPr id="22" name="icon circle"/>
          <p:cNvSpPr/>
          <p:nvPr/>
        </p:nvSpPr>
        <p:spPr>
          <a:xfrm>
            <a:off x="685800" y="5614416"/>
            <a:ext cx="475488" cy="475488"/>
          </a:xfrm>
          <a:prstGeom prst="ellipse">
            <a:avLst/>
          </a:prstGeom>
          <a:solidFill>
            <a:schemeClr val="accent3"/>
          </a:solidFill>
          <a:ln/>
        </p:spPr>
      </p:sp>
      <p:pic>
        <p:nvPicPr>
          <p:cNvPr id="23" name="Image 2" descr="Lightbulb icon">    </p:cNvPr>
          <p:cNvPicPr>
            <a:picLocks noChangeAspect="1"/>
          </p:cNvPicPr>
          <p:nvPr/>
        </p:nvPicPr>
        <p:blipFill>
          <a:blip r:embed="rId3"/>
          <a:stretch>
            <a:fillRect/>
          </a:stretch>
        </p:blipFill>
        <p:spPr>
          <a:xfrm>
            <a:off x="809427" y="5738043"/>
            <a:ext cx="228234" cy="228234"/>
          </a:xfrm>
          <a:prstGeom prst="rect">
            <a:avLst/>
          </a:prstGeom>
        </p:spPr>
      </p:pic>
      <p:sp>
        <p:nvSpPr>
          <p:cNvPr id="24" name="Text 18"/>
          <p:cNvSpPr txBox="1"/>
          <p:nvPr/>
        </p:nvSpPr>
        <p:spPr>
          <a:xfrm>
            <a:off x="1325880" y="5568696"/>
            <a:ext cx="10180015" cy="56692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Need: an </a:t>
            </a:r>
            <a:r>
              <a:rPr lang="en-US" sz="1350" b="1" dirty="0">
                <a:solidFill>
                  <a:schemeClr val="tx1"/>
                </a:solidFill>
              </a:rPr>
              <a:t>anisotropic soil BRDF</a:t>
            </a:r>
            <a:r>
              <a:rPr lang="en-US" sz="1350" dirty="0">
                <a:solidFill>
                  <a:schemeClr val="tx1"/>
                </a:solidFill>
              </a:rPr>
              <a:t> (e.g. Hapke) in SAIL for sparse crops, and better VIS simulation for chlorophyll retrieval.</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Inverting PROSAIL</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The inverse problem, look-up tables, genetic algorithms, neural networks — and a LAI map from IRS LISS-3</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inverse problem and why it is ill-posed</a:t>
            </a:r>
            <a:endParaRPr lang="en-US" sz="3200" dirty="0"/>
          </a:p>
        </p:txBody>
      </p:sp>
      <p:sp>
        <p:nvSpPr>
          <p:cNvPr id="4" name="card"/>
          <p:cNvSpPr/>
          <p:nvPr/>
        </p:nvSpPr>
        <p:spPr>
          <a:xfrm>
            <a:off x="548640" y="1325880"/>
            <a:ext cx="4846320"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25880"/>
            <a:ext cx="4572000" cy="731520"/>
          </a:xfrm>
          <a:prstGeom prst="rect">
            <a:avLst/>
          </a:prstGeom>
          <a:noFill/>
          <a:ln/>
        </p:spPr>
        <p:txBody>
          <a:bodyPr wrap="square" lIns="0" tIns="0" rIns="0" bIns="0" rtlCol="0" anchor="ctr"/>
          <a:lstStyle/>
          <a:p>
            <a:pPr algn="ctr" indent="0" marL="0">
              <a:buNone/>
            </a:pPr>
            <a:r>
              <a:rPr lang="en-US" sz="2200" b="1" dirty="0">
                <a:solidFill>
                  <a:schemeClr val="bg1"/>
                </a:solidFill>
              </a:rPr>
              <a:t>R = m(x) + ε</a:t>
            </a:r>
            <a:endParaRPr lang="en-US" sz="2200" dirty="0"/>
          </a:p>
        </p:txBody>
      </p:sp>
      <p:sp>
        <p:nvSpPr>
          <p:cNvPr id="6" name="card"/>
          <p:cNvSpPr/>
          <p:nvPr/>
        </p:nvSpPr>
        <p:spPr>
          <a:xfrm>
            <a:off x="5577840" y="1325880"/>
            <a:ext cx="6062472" cy="731520"/>
          </a:xfrm>
          <a:prstGeom prst="roundRect">
            <a:avLst>
              <a:gd name="adj" fmla="val 10000"/>
            </a:avLst>
          </a:prstGeom>
          <a:solidFill>
            <a:schemeClr val="accent2"/>
          </a:solidFill>
          <a:ln/>
          <a:effectLst>
            <a:outerShdw sx="100000" sy="100000" kx="0" ky="0" algn="bl" rotWithShape="0" blurRad="76200" dist="25400" dir="5400000">
              <a:srgbClr val="000000">
                <a:alpha val="14000"/>
              </a:srgbClr>
            </a:outerShdw>
          </a:effectLst>
        </p:spPr>
      </p:sp>
      <p:sp>
        <p:nvSpPr>
          <p:cNvPr id="7" name="Text 4"/>
          <p:cNvSpPr txBox="1"/>
          <p:nvPr/>
        </p:nvSpPr>
        <p:spPr>
          <a:xfrm>
            <a:off x="5715000" y="1325880"/>
            <a:ext cx="5788152" cy="731520"/>
          </a:xfrm>
          <a:prstGeom prst="rect">
            <a:avLst/>
          </a:prstGeom>
          <a:noFill/>
          <a:ln/>
        </p:spPr>
        <p:txBody>
          <a:bodyPr wrap="square" lIns="0" tIns="0" rIns="0" bIns="0" rtlCol="0" anchor="ctr"/>
          <a:lstStyle/>
          <a:p>
            <a:pPr algn="ctr" indent="0" marL="0">
              <a:buNone/>
            </a:pPr>
            <a:r>
              <a:rPr lang="en-US" sz="1600" b="1" dirty="0">
                <a:solidFill>
                  <a:schemeClr val="bg1"/>
                </a:solidFill>
              </a:rPr>
              <a:t>δ² = Σ[(R</a:t>
            </a:r>
            <a:r>
              <a:rPr lang="en-US" sz="1600" b="1" baseline="-40000" dirty="0">
                <a:solidFill>
                  <a:schemeClr val="bg1"/>
                </a:solidFill>
              </a:rPr>
              <a:t>i</a:t>
            </a:r>
            <a:r>
              <a:rPr lang="en-US" sz="1600" b="1" dirty="0">
                <a:solidFill>
                  <a:schemeClr val="bg1"/>
                </a:solidFill>
              </a:rPr>
              <a:t> − m</a:t>
            </a:r>
            <a:r>
              <a:rPr lang="en-US" sz="1600" b="1" baseline="-40000" dirty="0">
                <a:solidFill>
                  <a:schemeClr val="bg1"/>
                </a:solidFill>
              </a:rPr>
              <a:t>i</a:t>
            </a:r>
            <a:r>
              <a:rPr lang="en-US" sz="1600" b="1" dirty="0">
                <a:solidFill>
                  <a:schemeClr val="bg1"/>
                </a:solidFill>
              </a:rPr>
              <a:t>(x))/σ</a:t>
            </a:r>
            <a:r>
              <a:rPr lang="en-US" sz="1600" b="1" baseline="-40000" dirty="0">
                <a:solidFill>
                  <a:schemeClr val="bg1"/>
                </a:solidFill>
              </a:rPr>
              <a:t>Ri</a:t>
            </a:r>
            <a:r>
              <a:rPr lang="en-US" sz="1600" b="1" dirty="0">
                <a:solidFill>
                  <a:schemeClr val="bg1"/>
                </a:solidFill>
              </a:rPr>
              <a:t>]² + Σ[(x</a:t>
            </a:r>
            <a:r>
              <a:rPr lang="en-US" sz="1600" b="1" baseline="-40000" dirty="0">
                <a:solidFill>
                  <a:schemeClr val="bg1"/>
                </a:solidFill>
              </a:rPr>
              <a:t>j</a:t>
            </a:r>
            <a:r>
              <a:rPr lang="en-US" sz="1600" b="1" dirty="0">
                <a:solidFill>
                  <a:schemeClr val="bg1"/>
                </a:solidFill>
              </a:rPr>
              <a:t> − x</a:t>
            </a:r>
            <a:r>
              <a:rPr lang="en-US" sz="1600" b="1" baseline="-40000" dirty="0">
                <a:solidFill>
                  <a:schemeClr val="bg1"/>
                </a:solidFill>
              </a:rPr>
              <a:t>j</a:t>
            </a:r>
            <a:r>
              <a:rPr lang="en-US" sz="1600" b="1" baseline="30000" dirty="0">
                <a:solidFill>
                  <a:schemeClr val="bg1"/>
                </a:solidFill>
              </a:rPr>
              <a:t>prior</a:t>
            </a:r>
            <a:r>
              <a:rPr lang="en-US" sz="1600" b="1" dirty="0">
                <a:solidFill>
                  <a:schemeClr val="bg1"/>
                </a:solidFill>
              </a:rPr>
              <a:t>)/σ</a:t>
            </a:r>
            <a:r>
              <a:rPr lang="en-US" sz="1600" b="1" baseline="-40000" dirty="0">
                <a:solidFill>
                  <a:schemeClr val="bg1"/>
                </a:solidFill>
              </a:rPr>
              <a:t>xj</a:t>
            </a:r>
            <a:r>
              <a:rPr lang="en-US" sz="1600" b="1" dirty="0">
                <a:solidFill>
                  <a:schemeClr val="bg1"/>
                </a:solidFill>
              </a:rPr>
              <a:t>]²</a:t>
            </a:r>
            <a:endParaRPr lang="en-US" sz="1600" dirty="0"/>
          </a:p>
        </p:txBody>
      </p:sp>
      <p:sp>
        <p:nvSpPr>
          <p:cNvPr id="8" name="Text 5"/>
          <p:cNvSpPr txBox="1"/>
          <p:nvPr/>
        </p:nvSpPr>
        <p:spPr>
          <a:xfrm>
            <a:off x="5577840" y="2084832"/>
            <a:ext cx="6062472" cy="274320"/>
          </a:xfrm>
          <a:prstGeom prst="rect">
            <a:avLst/>
          </a:prstGeom>
          <a:noFill/>
          <a:ln/>
        </p:spPr>
        <p:txBody>
          <a:bodyPr wrap="square" lIns="0" tIns="0" rIns="0" bIns="0" rtlCol="0" anchor="ctr"/>
          <a:lstStyle/>
          <a:p>
            <a:pPr algn="ctr" indent="0" marL="0">
              <a:buNone/>
            </a:pPr>
            <a:r>
              <a:rPr lang="en-US" sz="1100" i="1" dirty="0">
                <a:solidFill>
                  <a:schemeClr val="accent6"/>
                </a:solidFill>
              </a:rPr>
              <a:t>measurement / model misfit  +  prior information on variables (Jacquemoud et al. 2009, Eq. 2)</a:t>
            </a:r>
            <a:endParaRPr lang="en-US" sz="1100" dirty="0"/>
          </a:p>
        </p:txBody>
      </p:sp>
      <p:sp>
        <p:nvSpPr>
          <p:cNvPr id="9" name="card"/>
          <p:cNvSpPr/>
          <p:nvPr/>
        </p:nvSpPr>
        <p:spPr>
          <a:xfrm>
            <a:off x="548640" y="2514600"/>
            <a:ext cx="5440680" cy="356616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731520" y="2670048"/>
            <a:ext cx="420624" cy="420624"/>
          </a:xfrm>
          <a:prstGeom prst="ellipse">
            <a:avLst/>
          </a:prstGeom>
          <a:solidFill>
            <a:schemeClr val="accent3"/>
          </a:solidFill>
          <a:ln/>
        </p:spPr>
      </p:sp>
      <p:pic>
        <p:nvPicPr>
          <p:cNvPr id="11" name="Image 0" descr="ExclamationTriangle icon">    </p:cNvPr>
          <p:cNvPicPr>
            <a:picLocks noChangeAspect="1"/>
          </p:cNvPicPr>
          <p:nvPr/>
        </p:nvPicPr>
        <p:blipFill>
          <a:blip r:embed="rId1"/>
          <a:stretch>
            <a:fillRect/>
          </a:stretch>
        </p:blipFill>
        <p:spPr>
          <a:xfrm>
            <a:off x="840882" y="2779410"/>
            <a:ext cx="201900" cy="201900"/>
          </a:xfrm>
          <a:prstGeom prst="rect">
            <a:avLst/>
          </a:prstGeom>
        </p:spPr>
      </p:pic>
      <p:sp>
        <p:nvSpPr>
          <p:cNvPr id="12" name="Text 8"/>
          <p:cNvSpPr txBox="1"/>
          <p:nvPr/>
        </p:nvSpPr>
        <p:spPr>
          <a:xfrm>
            <a:off x="1261872" y="26517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Why ill-posed?</a:t>
            </a:r>
            <a:endParaRPr lang="en-US" sz="1600" dirty="0"/>
          </a:p>
        </p:txBody>
      </p:sp>
      <p:sp>
        <p:nvSpPr>
          <p:cNvPr id="13" name="Text 9"/>
          <p:cNvSpPr txBox="1"/>
          <p:nvPr/>
        </p:nvSpPr>
        <p:spPr>
          <a:xfrm>
            <a:off x="731520" y="3200400"/>
            <a:ext cx="5074920" cy="27889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More unknowns than independent observations</a:t>
            </a:r>
            <a:endParaRPr lang="en-US" sz="1300" dirty="0"/>
          </a:p>
          <a:p>
            <a:pPr marL="177800" indent="-177800">
              <a:spcAft>
                <a:spcPts val="400"/>
              </a:spcAft>
              <a:buSzPct val="100000"/>
              <a:buChar char="•"/>
            </a:pPr>
            <a:r>
              <a:rPr lang="en-US" sz="1300" b="1" dirty="0">
                <a:solidFill>
                  <a:schemeClr val="tx1"/>
                </a:solidFill>
              </a:rPr>
              <a:t>Compensation</a:t>
            </a:r>
            <a:r>
              <a:rPr lang="en-US" sz="1300" dirty="0">
                <a:solidFill>
                  <a:schemeClr val="tx1"/>
                </a:solidFill>
              </a:rPr>
              <a:t>: LAI ↔ ALA give similar NIR; Cab ↔ LAI in VIS</a:t>
            </a:r>
            <a:endParaRPr lang="en-US" sz="1300" dirty="0"/>
          </a:p>
          <a:p>
            <a:pPr marL="177800" indent="-177800">
              <a:spcAft>
                <a:spcPts val="400"/>
              </a:spcAft>
              <a:buSzPct val="100000"/>
              <a:buChar char="•"/>
            </a:pPr>
            <a:r>
              <a:rPr lang="en-US" sz="1300" dirty="0">
                <a:solidFill>
                  <a:schemeClr val="tx1"/>
                </a:solidFill>
              </a:rPr>
              <a:t>Measurement noise + model error (e.g. Lambertian soil)</a:t>
            </a:r>
            <a:endParaRPr lang="en-US" sz="1300" dirty="0"/>
          </a:p>
          <a:p>
            <a:pPr marL="177800" indent="-177800">
              <a:spcAft>
                <a:spcPts val="400"/>
              </a:spcAft>
              <a:buSzPct val="100000"/>
              <a:buChar char="•"/>
            </a:pPr>
            <a:r>
              <a:rPr lang="en-US" sz="1300" dirty="0">
                <a:solidFill>
                  <a:schemeClr val="tx1"/>
                </a:solidFill>
              </a:rPr>
              <a:t>Hadamard: unique, stable solution often not guaranteed</a:t>
            </a:r>
            <a:endParaRPr lang="en-US" sz="1300" dirty="0"/>
          </a:p>
        </p:txBody>
      </p:sp>
      <p:sp>
        <p:nvSpPr>
          <p:cNvPr id="14" name="card"/>
          <p:cNvSpPr/>
          <p:nvPr/>
        </p:nvSpPr>
        <p:spPr>
          <a:xfrm>
            <a:off x="6199632" y="2514600"/>
            <a:ext cx="5440680" cy="356616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6382512" y="2670048"/>
            <a:ext cx="420624" cy="420624"/>
          </a:xfrm>
          <a:prstGeom prst="ellipse">
            <a:avLst/>
          </a:prstGeom>
          <a:solidFill>
            <a:schemeClr val="accent1"/>
          </a:solidFill>
          <a:ln/>
        </p:spPr>
      </p:sp>
      <p:pic>
        <p:nvPicPr>
          <p:cNvPr id="16" name="Image 1" descr="Check icon">    </p:cNvPr>
          <p:cNvPicPr>
            <a:picLocks noChangeAspect="1"/>
          </p:cNvPicPr>
          <p:nvPr/>
        </p:nvPicPr>
        <p:blipFill>
          <a:blip r:embed="rId2"/>
          <a:stretch>
            <a:fillRect/>
          </a:stretch>
        </p:blipFill>
        <p:spPr>
          <a:xfrm>
            <a:off x="6491874" y="2779410"/>
            <a:ext cx="201900" cy="201900"/>
          </a:xfrm>
          <a:prstGeom prst="rect">
            <a:avLst/>
          </a:prstGeom>
        </p:spPr>
      </p:pic>
      <p:sp>
        <p:nvSpPr>
          <p:cNvPr id="17" name="Text 12"/>
          <p:cNvSpPr txBox="1"/>
          <p:nvPr/>
        </p:nvSpPr>
        <p:spPr>
          <a:xfrm>
            <a:off x="6912864" y="26517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How to regularise</a:t>
            </a:r>
            <a:endParaRPr lang="en-US" sz="1600" dirty="0"/>
          </a:p>
        </p:txBody>
      </p:sp>
      <p:sp>
        <p:nvSpPr>
          <p:cNvPr id="18" name="Text 13"/>
          <p:cNvSpPr txBox="1"/>
          <p:nvPr/>
        </p:nvSpPr>
        <p:spPr>
          <a:xfrm>
            <a:off x="6382512" y="3200400"/>
            <a:ext cx="5074920" cy="27889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Prior ranges / distributions</a:t>
            </a:r>
            <a:r>
              <a:rPr lang="en-US" sz="1300" dirty="0">
                <a:solidFill>
                  <a:schemeClr val="tx1"/>
                </a:solidFill>
              </a:rPr>
              <a:t> from field data and literature</a:t>
            </a:r>
            <a:endParaRPr lang="en-US" sz="1300" dirty="0"/>
          </a:p>
          <a:p>
            <a:pPr marL="177800" indent="-177800">
              <a:spcAft>
                <a:spcPts val="400"/>
              </a:spcAft>
              <a:buSzPct val="100000"/>
              <a:buChar char="•"/>
            </a:pPr>
            <a:r>
              <a:rPr lang="en-US" sz="1300" dirty="0">
                <a:solidFill>
                  <a:schemeClr val="tx1"/>
                </a:solidFill>
              </a:rPr>
              <a:t>Fix poorly sensitive inputs (N, Car, Cbrown, psoil)</a:t>
            </a:r>
            <a:endParaRPr lang="en-US" sz="1300" dirty="0"/>
          </a:p>
          <a:p>
            <a:pPr marL="177800" indent="-177800">
              <a:spcAft>
                <a:spcPts val="400"/>
              </a:spcAft>
              <a:buSzPct val="100000"/>
              <a:buChar char="•"/>
            </a:pPr>
            <a:r>
              <a:rPr lang="en-US" sz="1300" dirty="0">
                <a:solidFill>
                  <a:schemeClr val="tx1"/>
                </a:solidFill>
              </a:rPr>
              <a:t>Retrieve </a:t>
            </a:r>
            <a:r>
              <a:rPr lang="en-US" sz="1300" b="1" dirty="0">
                <a:solidFill>
                  <a:schemeClr val="tx1"/>
                </a:solidFill>
              </a:rPr>
              <a:t>canopy-level</a:t>
            </a:r>
            <a:r>
              <a:rPr lang="en-US" sz="1300" dirty="0">
                <a:solidFill>
                  <a:schemeClr val="tx1"/>
                </a:solidFill>
              </a:rPr>
              <a:t> variables: CCC = Cab × LAI, Cw × LAI</a:t>
            </a:r>
            <a:endParaRPr lang="en-US" sz="1300" dirty="0"/>
          </a:p>
          <a:p>
            <a:pPr marL="177800" indent="-177800">
              <a:spcAft>
                <a:spcPts val="400"/>
              </a:spcAft>
              <a:buSzPct val="100000"/>
              <a:buChar char="•"/>
            </a:pPr>
            <a:r>
              <a:rPr lang="en-US" sz="1300" dirty="0">
                <a:solidFill>
                  <a:schemeClr val="tx1"/>
                </a:solidFill>
              </a:rPr>
              <a:t>Use more bands / </a:t>
            </a:r>
            <a:r>
              <a:rPr lang="en-US" sz="1300" b="1" dirty="0">
                <a:solidFill>
                  <a:schemeClr val="tx1"/>
                </a:solidFill>
              </a:rPr>
              <a:t>view angles</a:t>
            </a:r>
            <a:r>
              <a:rPr lang="en-US" sz="1300" dirty="0">
                <a:solidFill>
                  <a:schemeClr val="tx1"/>
                </a:solidFill>
              </a:rPr>
              <a:t>; spatial or temporal constraints</a:t>
            </a:r>
            <a:endParaRPr lang="en-US" sz="1300" dirty="0"/>
          </a:p>
          <a:p>
            <a:pPr marL="177800" indent="-177800">
              <a:spcAft>
                <a:spcPts val="400"/>
              </a:spcAft>
              <a:buSzPct val="100000"/>
              <a:buChar char="•"/>
            </a:pPr>
            <a:r>
              <a:rPr lang="en-US" sz="1300" dirty="0">
                <a:solidFill>
                  <a:schemeClr val="tx1"/>
                </a:solidFill>
              </a:rPr>
              <a:t>Take </a:t>
            </a:r>
            <a:r>
              <a:rPr lang="en-US" sz="1300" b="1" dirty="0">
                <a:solidFill>
                  <a:schemeClr val="tx1"/>
                </a:solidFill>
              </a:rPr>
              <a:t>mean of several best solutions</a:t>
            </a:r>
            <a:r>
              <a:rPr lang="en-US" sz="1300" dirty="0">
                <a:solidFill>
                  <a:schemeClr val="tx1"/>
                </a:solidFill>
              </a:rPr>
              <a:t> (LUT-II)</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Inversion strategies compared</a:t>
            </a:r>
            <a:endParaRPr lang="en-US" sz="3200" dirty="0"/>
          </a:p>
        </p:txBody>
      </p:sp>
      <p:sp>
        <p:nvSpPr>
          <p:cNvPr id="4" name="diagram box"/>
          <p:cNvSpPr/>
          <p:nvPr/>
        </p:nvSpPr>
        <p:spPr>
          <a:xfrm>
            <a:off x="3813048" y="1325880"/>
            <a:ext cx="4572000" cy="640080"/>
          </a:xfrm>
          <a:prstGeom prst="roundRect">
            <a:avLst>
              <a:gd name="adj" fmla="val 11429"/>
            </a:avLst>
          </a:prstGeom>
          <a:solidFill>
            <a:schemeClr val="tx2"/>
          </a:solidFill>
          <a:ln/>
        </p:spPr>
      </p:sp>
      <p:sp>
        <p:nvSpPr>
          <p:cNvPr id="5" name="Text 2"/>
          <p:cNvSpPr txBox="1"/>
          <p:nvPr/>
        </p:nvSpPr>
        <p:spPr>
          <a:xfrm>
            <a:off x="3813048" y="1325880"/>
            <a:ext cx="457200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PROSAIL inversion methods</a:t>
            </a:r>
            <a:endParaRPr lang="en-US" sz="1600" dirty="0"/>
          </a:p>
        </p:txBody>
      </p:sp>
      <p:sp>
        <p:nvSpPr>
          <p:cNvPr id="6" name="arrow"/>
          <p:cNvSpPr/>
          <p:nvPr/>
        </p:nvSpPr>
        <p:spPr>
          <a:xfrm flipH="1">
            <a:off x="1865376" y="1965960"/>
            <a:ext cx="4233672" cy="365760"/>
          </a:xfrm>
          <a:prstGeom prst="line">
            <a:avLst/>
          </a:prstGeom>
          <a:noFill/>
          <a:ln w="25400">
            <a:solidFill>
              <a:srgbClr val="1F4E3D"/>
            </a:solidFill>
            <a:prstDash val="solid"/>
          </a:ln>
        </p:spPr>
      </p:sp>
      <p:sp>
        <p:nvSpPr>
          <p:cNvPr id="7" name="diagram box"/>
          <p:cNvSpPr/>
          <p:nvPr/>
        </p:nvSpPr>
        <p:spPr>
          <a:xfrm>
            <a:off x="548640" y="2331720"/>
            <a:ext cx="2633472" cy="566928"/>
          </a:xfrm>
          <a:prstGeom prst="roundRect">
            <a:avLst>
              <a:gd name="adj" fmla="val 12903"/>
            </a:avLst>
          </a:prstGeom>
          <a:solidFill>
            <a:schemeClr val="accent1"/>
          </a:solidFill>
          <a:ln/>
        </p:spPr>
      </p:sp>
      <p:sp>
        <p:nvSpPr>
          <p:cNvPr id="8" name="Text 5"/>
          <p:cNvSpPr txBox="1"/>
          <p:nvPr/>
        </p:nvSpPr>
        <p:spPr>
          <a:xfrm>
            <a:off x="548640"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Iterative optimisation</a:t>
            </a:r>
            <a:endParaRPr lang="en-US" sz="1400" dirty="0"/>
          </a:p>
        </p:txBody>
      </p:sp>
      <p:sp>
        <p:nvSpPr>
          <p:cNvPr id="9" name="card"/>
          <p:cNvSpPr/>
          <p:nvPr/>
        </p:nvSpPr>
        <p:spPr>
          <a:xfrm>
            <a:off x="548640" y="2990088"/>
            <a:ext cx="26334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658368" y="3081528"/>
            <a:ext cx="2414016" cy="21031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Simplex, quasi-Newton</a:t>
            </a:r>
            <a:endParaRPr lang="en-US" sz="1250" dirty="0"/>
          </a:p>
          <a:p>
            <a:pPr marL="177800" indent="-177800">
              <a:spcAft>
                <a:spcPts val="400"/>
              </a:spcAft>
              <a:buSzPct val="100000"/>
              <a:buChar char="•"/>
            </a:pPr>
            <a:r>
              <a:rPr lang="en-US" sz="1250" dirty="0">
                <a:solidFill>
                  <a:schemeClr val="tx1"/>
                </a:solidFill>
              </a:rPr>
              <a:t>+ accurate, no training</a:t>
            </a:r>
            <a:endParaRPr lang="en-US" sz="1250" dirty="0"/>
          </a:p>
          <a:p>
            <a:pPr marL="177800" indent="-177800">
              <a:spcAft>
                <a:spcPts val="400"/>
              </a:spcAft>
              <a:buSzPct val="100000"/>
              <a:buChar char="•"/>
            </a:pPr>
            <a:r>
              <a:rPr lang="en-US" sz="1250" dirty="0">
                <a:solidFill>
                  <a:schemeClr val="tx1"/>
                </a:solidFill>
              </a:rPr>
              <a:t>− slow per pixel, local minima, needs start values</a:t>
            </a:r>
            <a:endParaRPr lang="en-US" sz="1250" dirty="0"/>
          </a:p>
        </p:txBody>
      </p:sp>
      <p:sp>
        <p:nvSpPr>
          <p:cNvPr id="11" name="arrow"/>
          <p:cNvSpPr/>
          <p:nvPr/>
        </p:nvSpPr>
        <p:spPr>
          <a:xfrm flipH="1">
            <a:off x="4663440" y="1965960"/>
            <a:ext cx="1435608" cy="365760"/>
          </a:xfrm>
          <a:prstGeom prst="line">
            <a:avLst/>
          </a:prstGeom>
          <a:noFill/>
          <a:ln w="25400">
            <a:solidFill>
              <a:srgbClr val="1F4E3D"/>
            </a:solidFill>
            <a:prstDash val="solid"/>
          </a:ln>
        </p:spPr>
      </p:sp>
      <p:sp>
        <p:nvSpPr>
          <p:cNvPr id="12" name="diagram box"/>
          <p:cNvSpPr/>
          <p:nvPr/>
        </p:nvSpPr>
        <p:spPr>
          <a:xfrm>
            <a:off x="3346704" y="2331720"/>
            <a:ext cx="2633472" cy="566928"/>
          </a:xfrm>
          <a:prstGeom prst="roundRect">
            <a:avLst>
              <a:gd name="adj" fmla="val 12903"/>
            </a:avLst>
          </a:prstGeom>
          <a:solidFill>
            <a:schemeClr val="accent5"/>
          </a:solidFill>
          <a:ln/>
        </p:spPr>
      </p:sp>
      <p:sp>
        <p:nvSpPr>
          <p:cNvPr id="13" name="Text 10"/>
          <p:cNvSpPr txBox="1"/>
          <p:nvPr/>
        </p:nvSpPr>
        <p:spPr>
          <a:xfrm>
            <a:off x="3346704"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Genetic algorithm</a:t>
            </a:r>
            <a:endParaRPr lang="en-US" sz="1400" dirty="0"/>
          </a:p>
        </p:txBody>
      </p:sp>
      <p:sp>
        <p:nvSpPr>
          <p:cNvPr id="14" name="card"/>
          <p:cNvSpPr/>
          <p:nvPr/>
        </p:nvSpPr>
        <p:spPr>
          <a:xfrm>
            <a:off x="3346704" y="2990088"/>
            <a:ext cx="26334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3456432" y="3081528"/>
            <a:ext cx="2414016" cy="21031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Population, selection, crossover, mutation</a:t>
            </a:r>
            <a:endParaRPr lang="en-US" sz="1250" dirty="0"/>
          </a:p>
          <a:p>
            <a:pPr marL="177800" indent="-177800">
              <a:spcAft>
                <a:spcPts val="400"/>
              </a:spcAft>
              <a:buSzPct val="100000"/>
              <a:buChar char="•"/>
            </a:pPr>
            <a:r>
              <a:rPr lang="en-US" sz="1250" dirty="0">
                <a:solidFill>
                  <a:schemeClr val="tx1"/>
                </a:solidFill>
              </a:rPr>
              <a:t>+ global search, no derivatives, no initial guess</a:t>
            </a:r>
            <a:endParaRPr lang="en-US" sz="1250" dirty="0"/>
          </a:p>
          <a:p>
            <a:pPr marL="177800" indent="-177800">
              <a:spcAft>
                <a:spcPts val="400"/>
              </a:spcAft>
              <a:buSzPct val="100000"/>
              <a:buChar char="•"/>
            </a:pPr>
            <a:r>
              <a:rPr lang="en-US" sz="1250" dirty="0">
                <a:solidFill>
                  <a:schemeClr val="tx1"/>
                </a:solidFill>
              </a:rPr>
              <a:t>− many model runs</a:t>
            </a:r>
            <a:endParaRPr lang="en-US" sz="1250" dirty="0"/>
          </a:p>
        </p:txBody>
      </p:sp>
      <p:sp>
        <p:nvSpPr>
          <p:cNvPr id="16" name="arrow"/>
          <p:cNvSpPr/>
          <p:nvPr/>
        </p:nvSpPr>
        <p:spPr>
          <a:xfrm>
            <a:off x="6099048" y="1965960"/>
            <a:ext cx="1362456" cy="365760"/>
          </a:xfrm>
          <a:prstGeom prst="line">
            <a:avLst/>
          </a:prstGeom>
          <a:noFill/>
          <a:ln w="25400">
            <a:solidFill>
              <a:srgbClr val="1F4E3D"/>
            </a:solidFill>
            <a:prstDash val="solid"/>
          </a:ln>
        </p:spPr>
      </p:sp>
      <p:sp>
        <p:nvSpPr>
          <p:cNvPr id="17" name="diagram box"/>
          <p:cNvSpPr/>
          <p:nvPr/>
        </p:nvSpPr>
        <p:spPr>
          <a:xfrm>
            <a:off x="6144768" y="2331720"/>
            <a:ext cx="2633472" cy="566928"/>
          </a:xfrm>
          <a:prstGeom prst="roundRect">
            <a:avLst>
              <a:gd name="adj" fmla="val 12903"/>
            </a:avLst>
          </a:prstGeom>
          <a:solidFill>
            <a:schemeClr val="accent2"/>
          </a:solidFill>
          <a:ln/>
        </p:spPr>
      </p:sp>
      <p:sp>
        <p:nvSpPr>
          <p:cNvPr id="18" name="Text 15"/>
          <p:cNvSpPr txBox="1"/>
          <p:nvPr/>
        </p:nvSpPr>
        <p:spPr>
          <a:xfrm>
            <a:off x="6144768"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Look-up table (LUT)</a:t>
            </a:r>
            <a:endParaRPr lang="en-US" sz="1400" dirty="0"/>
          </a:p>
        </p:txBody>
      </p:sp>
      <p:sp>
        <p:nvSpPr>
          <p:cNvPr id="19" name="card"/>
          <p:cNvSpPr/>
          <p:nvPr/>
        </p:nvSpPr>
        <p:spPr>
          <a:xfrm>
            <a:off x="6144768" y="2990088"/>
            <a:ext cx="26334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6254496" y="3081528"/>
            <a:ext cx="2414016" cy="21031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Pre-computed simulations; search best match</a:t>
            </a:r>
            <a:endParaRPr lang="en-US" sz="1250" dirty="0"/>
          </a:p>
          <a:p>
            <a:pPr marL="177800" indent="-177800">
              <a:spcAft>
                <a:spcPts val="400"/>
              </a:spcAft>
              <a:buSzPct val="100000"/>
              <a:buChar char="•"/>
            </a:pPr>
            <a:r>
              <a:rPr lang="en-US" sz="1250" dirty="0">
                <a:solidFill>
                  <a:schemeClr val="tx1"/>
                </a:solidFill>
              </a:rPr>
              <a:t>+ global minimum, fast, simple</a:t>
            </a:r>
            <a:endParaRPr lang="en-US" sz="1250" dirty="0"/>
          </a:p>
          <a:p>
            <a:pPr marL="177800" indent="-177800">
              <a:spcAft>
                <a:spcPts val="400"/>
              </a:spcAft>
              <a:buSzPct val="100000"/>
              <a:buChar char="•"/>
            </a:pPr>
            <a:r>
              <a:rPr lang="en-US" sz="1250" dirty="0">
                <a:solidFill>
                  <a:schemeClr val="tx1"/>
                </a:solidFill>
              </a:rPr>
              <a:t>− large table; bounded by ranges</a:t>
            </a:r>
            <a:endParaRPr lang="en-US" sz="1250" dirty="0"/>
          </a:p>
        </p:txBody>
      </p:sp>
      <p:sp>
        <p:nvSpPr>
          <p:cNvPr id="21" name="arrow"/>
          <p:cNvSpPr/>
          <p:nvPr/>
        </p:nvSpPr>
        <p:spPr>
          <a:xfrm>
            <a:off x="6099048" y="1965960"/>
            <a:ext cx="4160520" cy="365760"/>
          </a:xfrm>
          <a:prstGeom prst="line">
            <a:avLst/>
          </a:prstGeom>
          <a:noFill/>
          <a:ln w="25400">
            <a:solidFill>
              <a:srgbClr val="1F4E3D"/>
            </a:solidFill>
            <a:prstDash val="solid"/>
          </a:ln>
        </p:spPr>
      </p:sp>
      <p:sp>
        <p:nvSpPr>
          <p:cNvPr id="22" name="diagram box"/>
          <p:cNvSpPr/>
          <p:nvPr/>
        </p:nvSpPr>
        <p:spPr>
          <a:xfrm>
            <a:off x="8942832" y="2331720"/>
            <a:ext cx="2633472" cy="566928"/>
          </a:xfrm>
          <a:prstGeom prst="roundRect">
            <a:avLst>
              <a:gd name="adj" fmla="val 12903"/>
            </a:avLst>
          </a:prstGeom>
          <a:solidFill>
            <a:schemeClr val="accent4"/>
          </a:solidFill>
          <a:ln/>
        </p:spPr>
      </p:sp>
      <p:sp>
        <p:nvSpPr>
          <p:cNvPr id="23" name="Text 20"/>
          <p:cNvSpPr txBox="1"/>
          <p:nvPr/>
        </p:nvSpPr>
        <p:spPr>
          <a:xfrm>
            <a:off x="8942832" y="2331720"/>
            <a:ext cx="2633472"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ANN / ML (hybrid)</a:t>
            </a:r>
            <a:endParaRPr lang="en-US" sz="1400" dirty="0"/>
          </a:p>
        </p:txBody>
      </p:sp>
      <p:sp>
        <p:nvSpPr>
          <p:cNvPr id="24" name="card"/>
          <p:cNvSpPr/>
          <p:nvPr/>
        </p:nvSpPr>
        <p:spPr>
          <a:xfrm>
            <a:off x="8942832" y="2990088"/>
            <a:ext cx="26334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9052560" y="3081528"/>
            <a:ext cx="2414016" cy="21031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Trained on simulated spectra</a:t>
            </a:r>
            <a:endParaRPr lang="en-US" sz="1250" dirty="0"/>
          </a:p>
          <a:p>
            <a:pPr marL="177800" indent="-177800">
              <a:spcAft>
                <a:spcPts val="400"/>
              </a:spcAft>
              <a:buSzPct val="100000"/>
              <a:buChar char="•"/>
            </a:pPr>
            <a:r>
              <a:rPr lang="en-US" sz="1250" dirty="0">
                <a:solidFill>
                  <a:schemeClr val="tx1"/>
                </a:solidFill>
              </a:rPr>
              <a:t>+ fastest, operational (MODIS, S-2)</a:t>
            </a:r>
            <a:endParaRPr lang="en-US" sz="1250" dirty="0"/>
          </a:p>
          <a:p>
            <a:pPr marL="177800" indent="-177800">
              <a:spcAft>
                <a:spcPts val="400"/>
              </a:spcAft>
              <a:buSzPct val="100000"/>
              <a:buChar char="•"/>
            </a:pPr>
            <a:r>
              <a:rPr lang="en-US" sz="1250" dirty="0">
                <a:solidFill>
                  <a:schemeClr val="tx1"/>
                </a:solidFill>
              </a:rPr>
              <a:t>− black box; varies with training</a:t>
            </a:r>
            <a:endParaRPr lang="en-US" sz="1250" dirty="0"/>
          </a:p>
        </p:txBody>
      </p:sp>
      <p:sp>
        <p:nvSpPr>
          <p:cNvPr id="26" name="Text 23"/>
          <p:cNvSpPr txBox="1"/>
          <p:nvPr/>
        </p:nvSpPr>
        <p:spPr>
          <a:xfrm>
            <a:off x="548640" y="5303520"/>
            <a:ext cx="5486400" cy="274320"/>
          </a:xfrm>
          <a:prstGeom prst="rect">
            <a:avLst/>
          </a:prstGeom>
          <a:noFill/>
          <a:ln/>
        </p:spPr>
        <p:txBody>
          <a:bodyPr wrap="square" lIns="0" tIns="0" rIns="0" bIns="0" rtlCol="0" anchor="ctr"/>
          <a:lstStyle/>
          <a:p>
            <a:pPr algn="l" indent="0" marL="0">
              <a:buNone/>
            </a:pPr>
            <a:r>
              <a:rPr lang="en-US" sz="1150" i="1" dirty="0">
                <a:solidFill>
                  <a:schemeClr val="accent6"/>
                </a:solidFill>
              </a:rPr>
              <a:t>← observation space (minimise reflectance misfit)</a:t>
            </a:r>
            <a:endParaRPr lang="en-US" sz="1150" dirty="0"/>
          </a:p>
        </p:txBody>
      </p:sp>
      <p:sp>
        <p:nvSpPr>
          <p:cNvPr id="27" name="Text 24"/>
          <p:cNvSpPr txBox="1"/>
          <p:nvPr/>
        </p:nvSpPr>
        <p:spPr>
          <a:xfrm>
            <a:off x="6126480" y="5303520"/>
            <a:ext cx="5513832" cy="274320"/>
          </a:xfrm>
          <a:prstGeom prst="rect">
            <a:avLst/>
          </a:prstGeom>
          <a:noFill/>
          <a:ln/>
        </p:spPr>
        <p:txBody>
          <a:bodyPr wrap="square" lIns="0" tIns="0" rIns="0" bIns="0" rtlCol="0" anchor="ctr"/>
          <a:lstStyle/>
          <a:p>
            <a:pPr algn="r" indent="0" marL="0">
              <a:buNone/>
            </a:pPr>
            <a:r>
              <a:rPr lang="en-US" sz="1150" i="1" dirty="0">
                <a:solidFill>
                  <a:schemeClr val="accent6"/>
                </a:solidFill>
              </a:rPr>
              <a:t>variable space (map reflectance → variables) →</a:t>
            </a:r>
            <a:endParaRPr lang="en-US" sz="1150" dirty="0"/>
          </a:p>
        </p:txBody>
      </p:sp>
      <p:sp>
        <p:nvSpPr>
          <p:cNvPr id="28" name="insight"/>
          <p:cNvSpPr/>
          <p:nvPr/>
        </p:nvSpPr>
        <p:spPr>
          <a:xfrm>
            <a:off x="548640" y="5623560"/>
            <a:ext cx="11094415" cy="566928"/>
          </a:xfrm>
          <a:prstGeom prst="roundRect">
            <a:avLst>
              <a:gd name="adj" fmla="val 12903"/>
            </a:avLst>
          </a:prstGeom>
          <a:solidFill>
            <a:schemeClr val="bg2"/>
          </a:solidFill>
          <a:ln/>
        </p:spPr>
      </p:sp>
      <p:sp>
        <p:nvSpPr>
          <p:cNvPr id="29" name="icon circle"/>
          <p:cNvSpPr/>
          <p:nvPr/>
        </p:nvSpPr>
        <p:spPr>
          <a:xfrm>
            <a:off x="685800" y="5669280"/>
            <a:ext cx="475488" cy="475488"/>
          </a:xfrm>
          <a:prstGeom prst="ellipse">
            <a:avLst/>
          </a:prstGeom>
          <a:solidFill>
            <a:schemeClr val="accent3"/>
          </a:solidFill>
          <a:ln/>
        </p:spPr>
      </p:sp>
      <p:pic>
        <p:nvPicPr>
          <p:cNvPr id="30" name="Image 0" descr="Lightbulb icon">    </p:cNvPr>
          <p:cNvPicPr>
            <a:picLocks noChangeAspect="1"/>
          </p:cNvPicPr>
          <p:nvPr/>
        </p:nvPicPr>
        <p:blipFill>
          <a:blip r:embed="rId1"/>
          <a:stretch>
            <a:fillRect/>
          </a:stretch>
        </p:blipFill>
        <p:spPr>
          <a:xfrm>
            <a:off x="809427" y="5792907"/>
            <a:ext cx="228234" cy="228234"/>
          </a:xfrm>
          <a:prstGeom prst="rect">
            <a:avLst/>
          </a:prstGeom>
        </p:spPr>
      </p:pic>
      <p:sp>
        <p:nvSpPr>
          <p:cNvPr id="31" name="Text 27"/>
          <p:cNvSpPr txBox="1"/>
          <p:nvPr/>
        </p:nvSpPr>
        <p:spPr>
          <a:xfrm>
            <a:off x="1325880" y="5660136"/>
            <a:ext cx="10180015" cy="493776"/>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Jacquemoud et al.: no universal best method — accuracy depends more on </a:t>
            </a:r>
            <a:r>
              <a:rPr lang="en-US" sz="1350" b="1" dirty="0">
                <a:solidFill>
                  <a:schemeClr val="tx1"/>
                </a:solidFill>
              </a:rPr>
              <a:t>model uncertainty and prior information</a:t>
            </a:r>
            <a:r>
              <a:rPr lang="en-US" sz="1350" dirty="0">
                <a:solidFill>
                  <a:schemeClr val="tx1"/>
                </a:solidFill>
              </a:rPr>
              <a:t> than on the algorithm.</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Look-up table inversion: step-by-step methodology</a:t>
            </a:r>
            <a:endParaRPr lang="en-US" sz="3200" dirty="0"/>
          </a:p>
        </p:txBody>
      </p:sp>
      <p:sp>
        <p:nvSpPr>
          <p:cNvPr id="4" name="figure frame"/>
          <p:cNvSpPr/>
          <p:nvPr/>
        </p:nvSpPr>
        <p:spPr>
          <a:xfrm>
            <a:off x="548640" y="1280160"/>
            <a:ext cx="4846320" cy="2697480"/>
          </a:xfrm>
          <a:prstGeom prst="roundRect">
            <a:avLst>
              <a:gd name="adj" fmla="val 203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Generalised LUT inversion. Verrelst et al. (2015) ISPRS J. Photogramm. Remote Sens. 108:273–290, Fig. 3">    </p:cNvPr>
          <p:cNvPicPr>
            <a:picLocks noChangeAspect="1"/>
          </p:cNvPicPr>
          <p:nvPr/>
        </p:nvPicPr>
        <p:blipFill>
          <a:blip r:embed="rId1"/>
          <a:stretch>
            <a:fillRect/>
          </a:stretch>
        </p:blipFill>
        <p:spPr>
          <a:xfrm>
            <a:off x="685401" y="1371600"/>
            <a:ext cx="4572798" cy="2514600"/>
          </a:xfrm>
          <a:prstGeom prst="rect">
            <a:avLst/>
          </a:prstGeom>
        </p:spPr>
      </p:pic>
      <p:sp>
        <p:nvSpPr>
          <p:cNvPr id="6" name="Text 2"/>
          <p:cNvSpPr txBox="1"/>
          <p:nvPr/>
        </p:nvSpPr>
        <p:spPr>
          <a:xfrm>
            <a:off x="548640" y="4023360"/>
            <a:ext cx="4846320" cy="365760"/>
          </a:xfrm>
          <a:prstGeom prst="rect">
            <a:avLst/>
          </a:prstGeom>
          <a:noFill/>
          <a:ln/>
        </p:spPr>
        <p:txBody>
          <a:bodyPr wrap="square" lIns="0" tIns="0" rIns="0" bIns="0" rtlCol="0" anchor="t"/>
          <a:lstStyle/>
          <a:p>
            <a:pPr indent="0" marL="0">
              <a:buNone/>
            </a:pPr>
            <a:r>
              <a:rPr lang="en-US" sz="1100" i="1" dirty="0">
                <a:solidFill>
                  <a:schemeClr val="accent6"/>
                </a:solidFill>
              </a:rPr>
              <a:t>Generalised LUT inversion. Verrelst et al. (2015) ISPRS J. Photogramm. Remote Sens. 108:273–290, Fig. 3</a:t>
            </a:r>
            <a:endParaRPr lang="en-US" sz="1100" dirty="0"/>
          </a:p>
        </p:txBody>
      </p:sp>
      <p:sp>
        <p:nvSpPr>
          <p:cNvPr id="7" name="step number"/>
          <p:cNvSpPr/>
          <p:nvPr/>
        </p:nvSpPr>
        <p:spPr>
          <a:xfrm>
            <a:off x="5669280" y="1490472"/>
            <a:ext cx="384048" cy="384048"/>
          </a:xfrm>
          <a:prstGeom prst="ellipse">
            <a:avLst/>
          </a:prstGeom>
          <a:solidFill>
            <a:schemeClr val="accent2"/>
          </a:solidFill>
          <a:ln/>
        </p:spPr>
      </p:sp>
      <p:sp>
        <p:nvSpPr>
          <p:cNvPr id="8" name="Text 4"/>
          <p:cNvSpPr txBox="1"/>
          <p:nvPr/>
        </p:nvSpPr>
        <p:spPr>
          <a:xfrm>
            <a:off x="5669280" y="1490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5"/>
          <p:cNvSpPr txBox="1"/>
          <p:nvPr/>
        </p:nvSpPr>
        <p:spPr>
          <a:xfrm>
            <a:off x="6172200" y="1325880"/>
            <a:ext cx="5468112" cy="667512"/>
          </a:xfrm>
          <a:prstGeom prst="rect">
            <a:avLst/>
          </a:prstGeom>
          <a:noFill/>
          <a:ln/>
        </p:spPr>
        <p:txBody>
          <a:bodyPr wrap="square" lIns="0" tIns="0" rIns="0" bIns="0" rtlCol="0" anchor="ctr"/>
          <a:lstStyle/>
          <a:p>
            <a:pPr indent="0" marL="0">
              <a:buNone/>
            </a:pPr>
            <a:r>
              <a:rPr lang="en-US" sz="1350" dirty="0">
                <a:solidFill>
                  <a:schemeClr val="tx1"/>
                </a:solidFill>
              </a:rPr>
              <a:t>Set </a:t>
            </a:r>
            <a:r>
              <a:rPr lang="en-US" sz="1350" b="1" dirty="0">
                <a:solidFill>
                  <a:schemeClr val="tx1"/>
                </a:solidFill>
              </a:rPr>
              <a:t>free variable ranges</a:t>
            </a:r>
            <a:r>
              <a:rPr lang="en-US" sz="1350" dirty="0">
                <a:solidFill>
                  <a:schemeClr val="tx1"/>
                </a:solidFill>
              </a:rPr>
              <a:t> (prior) and fixed inputs</a:t>
            </a:r>
            <a:endParaRPr lang="en-US" sz="1350" dirty="0"/>
          </a:p>
        </p:txBody>
      </p:sp>
      <p:sp>
        <p:nvSpPr>
          <p:cNvPr id="10" name="step number"/>
          <p:cNvSpPr/>
          <p:nvPr/>
        </p:nvSpPr>
        <p:spPr>
          <a:xfrm>
            <a:off x="5669280" y="2203704"/>
            <a:ext cx="384048" cy="384048"/>
          </a:xfrm>
          <a:prstGeom prst="ellipse">
            <a:avLst/>
          </a:prstGeom>
          <a:solidFill>
            <a:schemeClr val="accent2"/>
          </a:solidFill>
          <a:ln/>
        </p:spPr>
      </p:sp>
      <p:sp>
        <p:nvSpPr>
          <p:cNvPr id="11" name="Text 7"/>
          <p:cNvSpPr txBox="1"/>
          <p:nvPr/>
        </p:nvSpPr>
        <p:spPr>
          <a:xfrm>
            <a:off x="5669280" y="22037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8"/>
          <p:cNvSpPr txBox="1"/>
          <p:nvPr/>
        </p:nvSpPr>
        <p:spPr>
          <a:xfrm>
            <a:off x="6172200" y="2039112"/>
            <a:ext cx="5468112" cy="667512"/>
          </a:xfrm>
          <a:prstGeom prst="rect">
            <a:avLst/>
          </a:prstGeom>
          <a:noFill/>
          <a:ln/>
        </p:spPr>
        <p:txBody>
          <a:bodyPr wrap="square" lIns="0" tIns="0" rIns="0" bIns="0" rtlCol="0" anchor="ctr"/>
          <a:lstStyle/>
          <a:p>
            <a:pPr indent="0" marL="0">
              <a:buNone/>
            </a:pPr>
            <a:r>
              <a:rPr lang="en-US" sz="1350" dirty="0">
                <a:solidFill>
                  <a:schemeClr val="tx1"/>
                </a:solidFill>
              </a:rPr>
              <a:t>Sample combinations → </a:t>
            </a:r>
            <a:r>
              <a:rPr lang="en-US" sz="1350" b="1" dirty="0">
                <a:solidFill>
                  <a:schemeClr val="tx1"/>
                </a:solidFill>
              </a:rPr>
              <a:t>forward PROSAIL</a:t>
            </a:r>
            <a:r>
              <a:rPr lang="en-US" sz="1350" dirty="0">
                <a:solidFill>
                  <a:schemeClr val="tx1"/>
                </a:solidFill>
              </a:rPr>
              <a:t> runs</a:t>
            </a:r>
            <a:endParaRPr lang="en-US" sz="1350" dirty="0"/>
          </a:p>
        </p:txBody>
      </p:sp>
      <p:sp>
        <p:nvSpPr>
          <p:cNvPr id="13" name="step number"/>
          <p:cNvSpPr/>
          <p:nvPr/>
        </p:nvSpPr>
        <p:spPr>
          <a:xfrm>
            <a:off x="5669280" y="2916936"/>
            <a:ext cx="384048" cy="384048"/>
          </a:xfrm>
          <a:prstGeom prst="ellipse">
            <a:avLst/>
          </a:prstGeom>
          <a:solidFill>
            <a:schemeClr val="accent2"/>
          </a:solidFill>
          <a:ln/>
        </p:spPr>
      </p:sp>
      <p:sp>
        <p:nvSpPr>
          <p:cNvPr id="14" name="Text 10"/>
          <p:cNvSpPr txBox="1"/>
          <p:nvPr/>
        </p:nvSpPr>
        <p:spPr>
          <a:xfrm>
            <a:off x="5669280"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1"/>
          <p:cNvSpPr txBox="1"/>
          <p:nvPr/>
        </p:nvSpPr>
        <p:spPr>
          <a:xfrm>
            <a:off x="6172200" y="2752344"/>
            <a:ext cx="5468112" cy="667512"/>
          </a:xfrm>
          <a:prstGeom prst="rect">
            <a:avLst/>
          </a:prstGeom>
          <a:noFill/>
          <a:ln/>
        </p:spPr>
        <p:txBody>
          <a:bodyPr wrap="square" lIns="0" tIns="0" rIns="0" bIns="0" rtlCol="0" anchor="ctr"/>
          <a:lstStyle/>
          <a:p>
            <a:pPr indent="0" marL="0">
              <a:buNone/>
            </a:pPr>
            <a:r>
              <a:rPr lang="en-US" sz="1350" dirty="0">
                <a:solidFill>
                  <a:schemeClr val="tx1"/>
                </a:solidFill>
              </a:rPr>
              <a:t>Convolve spectra to sensor bands with </a:t>
            </a:r>
            <a:r>
              <a:rPr lang="en-US" sz="1350" b="1" dirty="0">
                <a:solidFill>
                  <a:schemeClr val="tx1"/>
                </a:solidFill>
              </a:rPr>
              <a:t>RSR</a:t>
            </a:r>
            <a:r>
              <a:rPr lang="en-US" sz="1350" dirty="0">
                <a:solidFill>
                  <a:schemeClr val="tx1"/>
                </a:solidFill>
              </a:rPr>
              <a:t> (e.g. LISS-3 B2–B5)</a:t>
            </a:r>
            <a:endParaRPr lang="en-US" sz="1350" dirty="0"/>
          </a:p>
        </p:txBody>
      </p:sp>
      <p:sp>
        <p:nvSpPr>
          <p:cNvPr id="16" name="step number"/>
          <p:cNvSpPr/>
          <p:nvPr/>
        </p:nvSpPr>
        <p:spPr>
          <a:xfrm>
            <a:off x="5669280" y="3630168"/>
            <a:ext cx="384048" cy="384048"/>
          </a:xfrm>
          <a:prstGeom prst="ellipse">
            <a:avLst/>
          </a:prstGeom>
          <a:solidFill>
            <a:schemeClr val="accent2"/>
          </a:solidFill>
          <a:ln/>
        </p:spPr>
      </p:sp>
      <p:sp>
        <p:nvSpPr>
          <p:cNvPr id="17" name="Text 13"/>
          <p:cNvSpPr txBox="1"/>
          <p:nvPr/>
        </p:nvSpPr>
        <p:spPr>
          <a:xfrm>
            <a:off x="5669280" y="36301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4"/>
          <p:cNvSpPr txBox="1"/>
          <p:nvPr/>
        </p:nvSpPr>
        <p:spPr>
          <a:xfrm>
            <a:off x="6172200" y="3465576"/>
            <a:ext cx="5468112" cy="667512"/>
          </a:xfrm>
          <a:prstGeom prst="rect">
            <a:avLst/>
          </a:prstGeom>
          <a:noFill/>
          <a:ln/>
        </p:spPr>
        <p:txBody>
          <a:bodyPr wrap="square" lIns="0" tIns="0" rIns="0" bIns="0" rtlCol="0" anchor="ctr"/>
          <a:lstStyle/>
          <a:p>
            <a:pPr indent="0" marL="0">
              <a:buNone/>
            </a:pPr>
            <a:r>
              <a:rPr lang="en-US" sz="1350" dirty="0">
                <a:solidFill>
                  <a:schemeClr val="tx1"/>
                </a:solidFill>
              </a:rPr>
              <a:t>Cost function per entry, e.g. rMSE = Σ[(R</a:t>
            </a:r>
            <a:r>
              <a:rPr lang="en-US" sz="1350" baseline="-40000" dirty="0">
                <a:solidFill>
                  <a:schemeClr val="tx1"/>
                </a:solidFill>
              </a:rPr>
              <a:t>obs</a:t>
            </a:r>
            <a:r>
              <a:rPr lang="en-US" sz="1350" dirty="0">
                <a:solidFill>
                  <a:schemeClr val="tx1"/>
                </a:solidFill>
              </a:rPr>
              <a:t> − R</a:t>
            </a:r>
            <a:r>
              <a:rPr lang="en-US" sz="1350" baseline="-40000" dirty="0">
                <a:solidFill>
                  <a:schemeClr val="tx1"/>
                </a:solidFill>
              </a:rPr>
              <a:t>LUT</a:t>
            </a:r>
            <a:r>
              <a:rPr lang="en-US" sz="1350" dirty="0">
                <a:solidFill>
                  <a:schemeClr val="tx1"/>
                </a:solidFill>
              </a:rPr>
              <a:t>)/R</a:t>
            </a:r>
            <a:r>
              <a:rPr lang="en-US" sz="1350" baseline="-40000" dirty="0">
                <a:solidFill>
                  <a:schemeClr val="tx1"/>
                </a:solidFill>
              </a:rPr>
              <a:t>obs</a:t>
            </a:r>
            <a:r>
              <a:rPr lang="en-US" sz="1350" dirty="0">
                <a:solidFill>
                  <a:schemeClr val="tx1"/>
                </a:solidFill>
              </a:rPr>
              <a:t>]²</a:t>
            </a:r>
            <a:endParaRPr lang="en-US" sz="1350" dirty="0"/>
          </a:p>
        </p:txBody>
      </p:sp>
      <p:sp>
        <p:nvSpPr>
          <p:cNvPr id="19" name="step number"/>
          <p:cNvSpPr/>
          <p:nvPr/>
        </p:nvSpPr>
        <p:spPr>
          <a:xfrm>
            <a:off x="5669280" y="4343400"/>
            <a:ext cx="384048" cy="384048"/>
          </a:xfrm>
          <a:prstGeom prst="ellipse">
            <a:avLst/>
          </a:prstGeom>
          <a:solidFill>
            <a:schemeClr val="accent2"/>
          </a:solidFill>
          <a:ln/>
        </p:spPr>
      </p:sp>
      <p:sp>
        <p:nvSpPr>
          <p:cNvPr id="20" name="Text 16"/>
          <p:cNvSpPr txBox="1"/>
          <p:nvPr/>
        </p:nvSpPr>
        <p:spPr>
          <a:xfrm>
            <a:off x="5669280" y="4343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7"/>
          <p:cNvSpPr txBox="1"/>
          <p:nvPr/>
        </p:nvSpPr>
        <p:spPr>
          <a:xfrm>
            <a:off x="6172200" y="4178808"/>
            <a:ext cx="5468112" cy="667512"/>
          </a:xfrm>
          <a:prstGeom prst="rect">
            <a:avLst/>
          </a:prstGeom>
          <a:noFill/>
          <a:ln/>
        </p:spPr>
        <p:txBody>
          <a:bodyPr wrap="square" lIns="0" tIns="0" rIns="0" bIns="0" rtlCol="0" anchor="ctr"/>
          <a:lstStyle/>
          <a:p>
            <a:pPr indent="0" marL="0">
              <a:buNone/>
            </a:pPr>
            <a:r>
              <a:rPr lang="en-US" sz="1350" dirty="0">
                <a:solidFill>
                  <a:schemeClr val="tx1"/>
                </a:solidFill>
              </a:rPr>
              <a:t>Sort; solution = </a:t>
            </a:r>
            <a:r>
              <a:rPr lang="en-US" sz="1350" b="1" dirty="0">
                <a:solidFill>
                  <a:schemeClr val="tx1"/>
                </a:solidFill>
              </a:rPr>
              <a:t>best fit</a:t>
            </a:r>
            <a:r>
              <a:rPr lang="en-US" sz="1350" dirty="0">
                <a:solidFill>
                  <a:schemeClr val="tx1"/>
                </a:solidFill>
              </a:rPr>
              <a:t> (LUT-I) or </a:t>
            </a:r>
            <a:r>
              <a:rPr lang="en-US" sz="1350" b="1" dirty="0">
                <a:solidFill>
                  <a:schemeClr val="tx1"/>
                </a:solidFill>
              </a:rPr>
              <a:t>mean of best n%</a:t>
            </a:r>
            <a:r>
              <a:rPr lang="en-US" sz="1350" dirty="0">
                <a:solidFill>
                  <a:schemeClr val="tx1"/>
                </a:solidFill>
              </a:rPr>
              <a:t> (LUT-II)</a:t>
            </a:r>
            <a:endParaRPr lang="en-US" sz="1350" dirty="0"/>
          </a:p>
        </p:txBody>
      </p:sp>
      <p:sp>
        <p:nvSpPr>
          <p:cNvPr id="22" name="step number"/>
          <p:cNvSpPr/>
          <p:nvPr/>
        </p:nvSpPr>
        <p:spPr>
          <a:xfrm>
            <a:off x="5669280" y="5056632"/>
            <a:ext cx="384048" cy="384048"/>
          </a:xfrm>
          <a:prstGeom prst="ellipse">
            <a:avLst/>
          </a:prstGeom>
          <a:solidFill>
            <a:schemeClr val="accent2"/>
          </a:solidFill>
          <a:ln/>
        </p:spPr>
      </p:sp>
      <p:sp>
        <p:nvSpPr>
          <p:cNvPr id="23" name="Text 19"/>
          <p:cNvSpPr txBox="1"/>
          <p:nvPr/>
        </p:nvSpPr>
        <p:spPr>
          <a:xfrm>
            <a:off x="5669280" y="5056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Text 20"/>
          <p:cNvSpPr txBox="1"/>
          <p:nvPr/>
        </p:nvSpPr>
        <p:spPr>
          <a:xfrm>
            <a:off x="6172200" y="4892040"/>
            <a:ext cx="5468112" cy="667512"/>
          </a:xfrm>
          <a:prstGeom prst="rect">
            <a:avLst/>
          </a:prstGeom>
          <a:noFill/>
          <a:ln/>
        </p:spPr>
        <p:txBody>
          <a:bodyPr wrap="square" lIns="0" tIns="0" rIns="0" bIns="0" rtlCol="0" anchor="ctr"/>
          <a:lstStyle/>
          <a:p>
            <a:pPr indent="0" marL="0">
              <a:buNone/>
            </a:pPr>
            <a:r>
              <a:rPr lang="en-US" sz="1350" dirty="0">
                <a:solidFill>
                  <a:schemeClr val="tx1"/>
                </a:solidFill>
              </a:rPr>
              <a:t>Validate vs field data (r, RMSE, nRMSE, target diagram) → map</a:t>
            </a:r>
            <a:endParaRPr lang="en-US" sz="1350" dirty="0"/>
          </a:p>
        </p:txBody>
      </p:sp>
      <p:sp>
        <p:nvSpPr>
          <p:cNvPr id="25" name="card"/>
          <p:cNvSpPr/>
          <p:nvPr/>
        </p:nvSpPr>
        <p:spPr>
          <a:xfrm>
            <a:off x="548640" y="4572000"/>
            <a:ext cx="48463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6" name="Text 22"/>
          <p:cNvSpPr txBox="1"/>
          <p:nvPr/>
        </p:nvSpPr>
        <p:spPr>
          <a:xfrm>
            <a:off x="731520" y="4709160"/>
            <a:ext cx="4526280" cy="365760"/>
          </a:xfrm>
          <a:prstGeom prst="rect">
            <a:avLst/>
          </a:prstGeom>
          <a:noFill/>
          <a:ln/>
        </p:spPr>
        <p:txBody>
          <a:bodyPr wrap="square" lIns="0" tIns="0" rIns="0" bIns="0" rtlCol="0" anchor="ctr"/>
          <a:lstStyle/>
          <a:p>
            <a:pPr indent="0" marL="0">
              <a:buNone/>
            </a:pPr>
            <a:r>
              <a:rPr lang="en-US" sz="1600" b="1" dirty="0">
                <a:solidFill>
                  <a:schemeClr val="tx2"/>
                </a:solidFill>
              </a:rPr>
              <a:t>Design choices</a:t>
            </a:r>
            <a:endParaRPr lang="en-US" sz="1600" dirty="0"/>
          </a:p>
        </p:txBody>
      </p:sp>
      <p:sp>
        <p:nvSpPr>
          <p:cNvPr id="27" name="Text 23"/>
          <p:cNvSpPr txBox="1"/>
          <p:nvPr/>
        </p:nvSpPr>
        <p:spPr>
          <a:xfrm>
            <a:off x="731520" y="5120640"/>
            <a:ext cx="4480560" cy="96012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Table size vs accuracy; sampling (uniform / priors); cost function (RMSE, rMSE, spectral angle); number of solutions averaged</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Genetic-algorithm inversion of PROSAIL (Mridha et al. 2014)</a:t>
            </a:r>
            <a:endParaRPr lang="en-US" sz="3200" dirty="0"/>
          </a:p>
        </p:txBody>
      </p:sp>
      <p:sp>
        <p:nvSpPr>
          <p:cNvPr id="4" name="diagram box"/>
          <p:cNvSpPr/>
          <p:nvPr/>
        </p:nvSpPr>
        <p:spPr>
          <a:xfrm>
            <a:off x="548640" y="1325880"/>
            <a:ext cx="3291840" cy="621792"/>
          </a:xfrm>
          <a:prstGeom prst="roundRect">
            <a:avLst>
              <a:gd name="adj" fmla="val 11765"/>
            </a:avLst>
          </a:prstGeom>
          <a:solidFill>
            <a:schemeClr val="accent2"/>
          </a:solidFill>
          <a:ln/>
        </p:spPr>
      </p:sp>
      <p:sp>
        <p:nvSpPr>
          <p:cNvPr id="5" name="Text 2"/>
          <p:cNvSpPr txBox="1"/>
          <p:nvPr/>
        </p:nvSpPr>
        <p:spPr>
          <a:xfrm>
            <a:off x="548640" y="1325880"/>
            <a:ext cx="329184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Initial population</a:t>
            </a:r>
            <a:endParaRPr lang="en-US" sz="1200" dirty="0"/>
          </a:p>
          <a:p>
            <a:pPr algn="ctr" indent="0" marL="0">
              <a:buNone/>
            </a:pPr>
            <a:r>
              <a:rPr lang="en-US" sz="1200" dirty="0">
                <a:solidFill>
                  <a:schemeClr val="bg1"/>
                </a:solidFill>
              </a:rPr>
              <a:t>random Cab, LAI, Cw in ranges</a:t>
            </a:r>
            <a:endParaRPr lang="en-US" sz="1200" dirty="0"/>
          </a:p>
        </p:txBody>
      </p:sp>
      <p:sp>
        <p:nvSpPr>
          <p:cNvPr id="6" name="arrow"/>
          <p:cNvSpPr/>
          <p:nvPr/>
        </p:nvSpPr>
        <p:spPr>
          <a:xfrm>
            <a:off x="2194560" y="1947672"/>
            <a:ext cx="0" cy="128016"/>
          </a:xfrm>
          <a:prstGeom prst="line">
            <a:avLst/>
          </a:prstGeom>
          <a:noFill/>
          <a:ln w="25400">
            <a:solidFill>
              <a:srgbClr val="1F4E3D"/>
            </a:solidFill>
            <a:prstDash val="solid"/>
            <a:tailEnd type="triangle"/>
          </a:ln>
        </p:spPr>
      </p:sp>
      <p:sp>
        <p:nvSpPr>
          <p:cNvPr id="7" name="diagram box"/>
          <p:cNvSpPr/>
          <p:nvPr/>
        </p:nvSpPr>
        <p:spPr>
          <a:xfrm>
            <a:off x="548640" y="2075688"/>
            <a:ext cx="3291840" cy="621792"/>
          </a:xfrm>
          <a:prstGeom prst="roundRect">
            <a:avLst>
              <a:gd name="adj" fmla="val 11765"/>
            </a:avLst>
          </a:prstGeom>
          <a:solidFill>
            <a:schemeClr val="accent1"/>
          </a:solidFill>
          <a:ln/>
        </p:spPr>
      </p:sp>
      <p:sp>
        <p:nvSpPr>
          <p:cNvPr id="8" name="Text 5"/>
          <p:cNvSpPr txBox="1"/>
          <p:nvPr/>
        </p:nvSpPr>
        <p:spPr>
          <a:xfrm>
            <a:off x="548640" y="2075688"/>
            <a:ext cx="329184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Run PROSAIL</a:t>
            </a:r>
            <a:endParaRPr lang="en-US" sz="1200" dirty="0"/>
          </a:p>
          <a:p>
            <a:pPr algn="ctr" indent="0" marL="0">
              <a:buNone/>
            </a:pPr>
            <a:r>
              <a:rPr lang="en-US" sz="1200" dirty="0">
                <a:solidFill>
                  <a:schemeClr val="bg1"/>
                </a:solidFill>
              </a:rPr>
              <a:t>simulate spectrum / bands</a:t>
            </a:r>
            <a:endParaRPr lang="en-US" sz="1200" dirty="0"/>
          </a:p>
        </p:txBody>
      </p:sp>
      <p:sp>
        <p:nvSpPr>
          <p:cNvPr id="9" name="arrow"/>
          <p:cNvSpPr/>
          <p:nvPr/>
        </p:nvSpPr>
        <p:spPr>
          <a:xfrm>
            <a:off x="2194560" y="2697480"/>
            <a:ext cx="0" cy="128016"/>
          </a:xfrm>
          <a:prstGeom prst="line">
            <a:avLst/>
          </a:prstGeom>
          <a:noFill/>
          <a:ln w="25400">
            <a:solidFill>
              <a:srgbClr val="1F4E3D"/>
            </a:solidFill>
            <a:prstDash val="solid"/>
            <a:tailEnd type="triangle"/>
          </a:ln>
        </p:spPr>
      </p:sp>
      <p:sp>
        <p:nvSpPr>
          <p:cNvPr id="10" name="diagram box"/>
          <p:cNvSpPr/>
          <p:nvPr/>
        </p:nvSpPr>
        <p:spPr>
          <a:xfrm>
            <a:off x="548640" y="2825496"/>
            <a:ext cx="3291840" cy="621792"/>
          </a:xfrm>
          <a:prstGeom prst="roundRect">
            <a:avLst>
              <a:gd name="adj" fmla="val 11765"/>
            </a:avLst>
          </a:prstGeom>
          <a:solidFill>
            <a:schemeClr val="accent4"/>
          </a:solidFill>
          <a:ln/>
        </p:spPr>
      </p:sp>
      <p:sp>
        <p:nvSpPr>
          <p:cNvPr id="11" name="Text 8"/>
          <p:cNvSpPr txBox="1"/>
          <p:nvPr/>
        </p:nvSpPr>
        <p:spPr>
          <a:xfrm>
            <a:off x="548640" y="2825496"/>
            <a:ext cx="329184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Fitness = MSE</a:t>
            </a:r>
            <a:endParaRPr lang="en-US" sz="1200" dirty="0"/>
          </a:p>
          <a:p>
            <a:pPr algn="ctr" indent="0" marL="0">
              <a:buNone/>
            </a:pPr>
            <a:r>
              <a:rPr lang="en-US" sz="1200" dirty="0">
                <a:solidFill>
                  <a:schemeClr val="bg1"/>
                </a:solidFill>
              </a:rPr>
              <a:t>vs observed reflectance</a:t>
            </a:r>
            <a:endParaRPr lang="en-US" sz="1200" dirty="0"/>
          </a:p>
        </p:txBody>
      </p:sp>
      <p:sp>
        <p:nvSpPr>
          <p:cNvPr id="12" name="arrow"/>
          <p:cNvSpPr/>
          <p:nvPr/>
        </p:nvSpPr>
        <p:spPr>
          <a:xfrm>
            <a:off x="2194560" y="3447288"/>
            <a:ext cx="0" cy="128016"/>
          </a:xfrm>
          <a:prstGeom prst="line">
            <a:avLst/>
          </a:prstGeom>
          <a:noFill/>
          <a:ln w="25400">
            <a:solidFill>
              <a:srgbClr val="1F4E3D"/>
            </a:solidFill>
            <a:prstDash val="solid"/>
            <a:tailEnd type="triangle"/>
          </a:ln>
        </p:spPr>
      </p:sp>
      <p:sp>
        <p:nvSpPr>
          <p:cNvPr id="13" name="diagram box"/>
          <p:cNvSpPr/>
          <p:nvPr/>
        </p:nvSpPr>
        <p:spPr>
          <a:xfrm>
            <a:off x="548640" y="3575304"/>
            <a:ext cx="3291840" cy="621792"/>
          </a:xfrm>
          <a:prstGeom prst="roundRect">
            <a:avLst>
              <a:gd name="adj" fmla="val 11765"/>
            </a:avLst>
          </a:prstGeom>
          <a:solidFill>
            <a:schemeClr val="accent5"/>
          </a:solidFill>
          <a:ln/>
        </p:spPr>
      </p:sp>
      <p:sp>
        <p:nvSpPr>
          <p:cNvPr id="14" name="Text 11"/>
          <p:cNvSpPr txBox="1"/>
          <p:nvPr/>
        </p:nvSpPr>
        <p:spPr>
          <a:xfrm>
            <a:off x="548640" y="3575304"/>
            <a:ext cx="329184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Selection</a:t>
            </a:r>
            <a:endParaRPr lang="en-US" sz="1200" dirty="0"/>
          </a:p>
          <a:p>
            <a:pPr algn="ctr" indent="0" marL="0">
              <a:buNone/>
            </a:pPr>
            <a:r>
              <a:rPr lang="en-US" sz="1200" dirty="0">
                <a:solidFill>
                  <a:schemeClr val="bg1"/>
                </a:solidFill>
              </a:rPr>
              <a:t>stochastic uniform</a:t>
            </a:r>
            <a:endParaRPr lang="en-US" sz="1200" dirty="0"/>
          </a:p>
        </p:txBody>
      </p:sp>
      <p:sp>
        <p:nvSpPr>
          <p:cNvPr id="15" name="arrow"/>
          <p:cNvSpPr/>
          <p:nvPr/>
        </p:nvSpPr>
        <p:spPr>
          <a:xfrm>
            <a:off x="2194560" y="4197096"/>
            <a:ext cx="0" cy="128016"/>
          </a:xfrm>
          <a:prstGeom prst="line">
            <a:avLst/>
          </a:prstGeom>
          <a:noFill/>
          <a:ln w="25400">
            <a:solidFill>
              <a:srgbClr val="1F4E3D"/>
            </a:solidFill>
            <a:prstDash val="solid"/>
            <a:tailEnd type="triangle"/>
          </a:ln>
        </p:spPr>
      </p:sp>
      <p:sp>
        <p:nvSpPr>
          <p:cNvPr id="16" name="diagram box"/>
          <p:cNvSpPr/>
          <p:nvPr/>
        </p:nvSpPr>
        <p:spPr>
          <a:xfrm>
            <a:off x="548640" y="4325112"/>
            <a:ext cx="3291840" cy="621792"/>
          </a:xfrm>
          <a:prstGeom prst="roundRect">
            <a:avLst>
              <a:gd name="adj" fmla="val 11765"/>
            </a:avLst>
          </a:prstGeom>
          <a:solidFill>
            <a:schemeClr val="accent5"/>
          </a:solidFill>
          <a:ln/>
        </p:spPr>
      </p:sp>
      <p:sp>
        <p:nvSpPr>
          <p:cNvPr id="17" name="Text 14"/>
          <p:cNvSpPr txBox="1"/>
          <p:nvPr/>
        </p:nvSpPr>
        <p:spPr>
          <a:xfrm>
            <a:off x="548640" y="4325112"/>
            <a:ext cx="329184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Crossover + mutation</a:t>
            </a:r>
            <a:endParaRPr lang="en-US" sz="1200" dirty="0"/>
          </a:p>
          <a:p>
            <a:pPr algn="ctr" indent="0" marL="0">
              <a:buNone/>
            </a:pPr>
            <a:r>
              <a:rPr lang="en-US" sz="1200" dirty="0">
                <a:solidFill>
                  <a:schemeClr val="bg1"/>
                </a:solidFill>
              </a:rPr>
              <a:t>scattered (0.8), adaptive feasible</a:t>
            </a:r>
            <a:endParaRPr lang="en-US" sz="1200" dirty="0"/>
          </a:p>
        </p:txBody>
      </p:sp>
      <p:sp>
        <p:nvSpPr>
          <p:cNvPr id="18" name="arrow"/>
          <p:cNvSpPr/>
          <p:nvPr/>
        </p:nvSpPr>
        <p:spPr>
          <a:xfrm>
            <a:off x="2194560" y="4946904"/>
            <a:ext cx="0" cy="128016"/>
          </a:xfrm>
          <a:prstGeom prst="line">
            <a:avLst/>
          </a:prstGeom>
          <a:noFill/>
          <a:ln w="25400">
            <a:solidFill>
              <a:srgbClr val="1F4E3D"/>
            </a:solidFill>
            <a:prstDash val="solid"/>
            <a:tailEnd type="triangle"/>
          </a:ln>
        </p:spPr>
      </p:sp>
      <p:sp>
        <p:nvSpPr>
          <p:cNvPr id="19" name="diagram box"/>
          <p:cNvSpPr/>
          <p:nvPr/>
        </p:nvSpPr>
        <p:spPr>
          <a:xfrm>
            <a:off x="548640" y="5074920"/>
            <a:ext cx="3291840" cy="621792"/>
          </a:xfrm>
          <a:prstGeom prst="roundRect">
            <a:avLst>
              <a:gd name="adj" fmla="val 11765"/>
            </a:avLst>
          </a:prstGeom>
          <a:solidFill>
            <a:schemeClr val="accent3"/>
          </a:solidFill>
          <a:ln/>
        </p:spPr>
      </p:sp>
      <p:sp>
        <p:nvSpPr>
          <p:cNvPr id="20" name="Text 17"/>
          <p:cNvSpPr txBox="1"/>
          <p:nvPr/>
        </p:nvSpPr>
        <p:spPr>
          <a:xfrm>
            <a:off x="548640" y="5074920"/>
            <a:ext cx="3291840" cy="621792"/>
          </a:xfrm>
          <a:prstGeom prst="rect">
            <a:avLst/>
          </a:prstGeom>
          <a:noFill/>
          <a:ln/>
        </p:spPr>
        <p:txBody>
          <a:bodyPr wrap="square" lIns="508" tIns="508" rIns="508" bIns="508" rtlCol="0" anchor="ctr"/>
          <a:lstStyle/>
          <a:p>
            <a:pPr algn="ctr" indent="0" marL="0">
              <a:buNone/>
            </a:pPr>
            <a:r>
              <a:rPr lang="en-US" sz="1200" b="1" dirty="0">
                <a:solidFill>
                  <a:schemeClr val="tx1"/>
                </a:solidFill>
              </a:rPr>
              <a:t>Converged?</a:t>
            </a:r>
            <a:endParaRPr lang="en-US" sz="1200" dirty="0"/>
          </a:p>
          <a:p>
            <a:pPr algn="ctr" indent="0" marL="0">
              <a:buNone/>
            </a:pPr>
            <a:r>
              <a:rPr lang="en-US" sz="1200" dirty="0">
                <a:solidFill>
                  <a:schemeClr val="tx1"/>
                </a:solidFill>
              </a:rPr>
              <a:t>best individual = solution</a:t>
            </a:r>
            <a:endParaRPr lang="en-US" sz="1200" dirty="0"/>
          </a:p>
        </p:txBody>
      </p:sp>
      <p:sp>
        <p:nvSpPr>
          <p:cNvPr id="21" name="arrow"/>
          <p:cNvSpPr/>
          <p:nvPr/>
        </p:nvSpPr>
        <p:spPr>
          <a:xfrm>
            <a:off x="3840480" y="5385816"/>
            <a:ext cx="274320" cy="0"/>
          </a:xfrm>
          <a:prstGeom prst="line">
            <a:avLst/>
          </a:prstGeom>
          <a:noFill/>
          <a:ln w="22225">
            <a:solidFill>
              <a:schemeClr val="accent1"/>
            </a:solidFill>
            <a:prstDash val="dash"/>
          </a:ln>
        </p:spPr>
      </p:sp>
      <p:sp>
        <p:nvSpPr>
          <p:cNvPr id="22" name="arrow"/>
          <p:cNvSpPr/>
          <p:nvPr/>
        </p:nvSpPr>
        <p:spPr>
          <a:xfrm flipV="1">
            <a:off x="4114800" y="2386584"/>
            <a:ext cx="0" cy="2999232"/>
          </a:xfrm>
          <a:prstGeom prst="line">
            <a:avLst/>
          </a:prstGeom>
          <a:noFill/>
          <a:ln w="22225">
            <a:solidFill>
              <a:schemeClr val="accent1"/>
            </a:solidFill>
            <a:prstDash val="dash"/>
          </a:ln>
        </p:spPr>
      </p:sp>
      <p:sp>
        <p:nvSpPr>
          <p:cNvPr id="23" name="arrow"/>
          <p:cNvSpPr/>
          <p:nvPr/>
        </p:nvSpPr>
        <p:spPr>
          <a:xfrm flipH="1">
            <a:off x="3858768" y="2386584"/>
            <a:ext cx="256032" cy="0"/>
          </a:xfrm>
          <a:prstGeom prst="line">
            <a:avLst/>
          </a:prstGeom>
          <a:noFill/>
          <a:ln w="22225">
            <a:solidFill>
              <a:schemeClr val="accent1"/>
            </a:solidFill>
            <a:prstDash val="dash"/>
            <a:tailEnd type="triangle"/>
          </a:ln>
        </p:spPr>
      </p:sp>
      <p:sp>
        <p:nvSpPr>
          <p:cNvPr id="24" name="Text 21"/>
          <p:cNvSpPr txBox="1"/>
          <p:nvPr/>
        </p:nvSpPr>
        <p:spPr>
          <a:xfrm>
            <a:off x="4160520" y="3017520"/>
            <a:ext cx="640080" cy="548640"/>
          </a:xfrm>
          <a:prstGeom prst="rect">
            <a:avLst/>
          </a:prstGeom>
          <a:noFill/>
          <a:ln/>
        </p:spPr>
        <p:txBody>
          <a:bodyPr wrap="square" lIns="0" tIns="0" rIns="0" bIns="0" rtlCol="0" anchor="ctr"/>
          <a:lstStyle/>
          <a:p>
            <a:pPr algn="l" indent="0" marL="0">
              <a:buNone/>
            </a:pPr>
            <a:r>
              <a:rPr lang="en-US" sz="1000" i="1" dirty="0">
                <a:solidFill>
                  <a:schemeClr val="accent1"/>
                </a:solidFill>
              </a:rPr>
              <a:t>no: next gen.</a:t>
            </a:r>
            <a:endParaRPr lang="en-US" sz="1000" dirty="0"/>
          </a:p>
        </p:txBody>
      </p:sp>
      <p:sp>
        <p:nvSpPr>
          <p:cNvPr id="25" name="figure frame"/>
          <p:cNvSpPr/>
          <p:nvPr/>
        </p:nvSpPr>
        <p:spPr>
          <a:xfrm>
            <a:off x="4892040" y="1280160"/>
            <a:ext cx="3657600" cy="2103120"/>
          </a:xfrm>
          <a:prstGeom prst="roundRect">
            <a:avLst>
              <a:gd name="adj" fmla="val 260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6" name="Image 0" descr="Effect of population size and crossover fraction on fitness. Mridha, Sahoo, Nagesh Kumar, Sehgal et al. (2014) J. Agric. Physics 14:87–95, Fig. 1">    </p:cNvPr>
          <p:cNvPicPr>
            <a:picLocks noChangeAspect="1"/>
          </p:cNvPicPr>
          <p:nvPr/>
        </p:nvPicPr>
        <p:blipFill>
          <a:blip r:embed="rId1"/>
          <a:stretch>
            <a:fillRect/>
          </a:stretch>
        </p:blipFill>
        <p:spPr>
          <a:xfrm>
            <a:off x="4983480" y="1432381"/>
            <a:ext cx="3474720" cy="1798679"/>
          </a:xfrm>
          <a:prstGeom prst="rect">
            <a:avLst/>
          </a:prstGeom>
        </p:spPr>
      </p:pic>
      <p:sp>
        <p:nvSpPr>
          <p:cNvPr id="27" name="Text 23"/>
          <p:cNvSpPr txBox="1"/>
          <p:nvPr/>
        </p:nvSpPr>
        <p:spPr>
          <a:xfrm>
            <a:off x="4892040" y="3429000"/>
            <a:ext cx="3657600" cy="502920"/>
          </a:xfrm>
          <a:prstGeom prst="rect">
            <a:avLst/>
          </a:prstGeom>
          <a:noFill/>
          <a:ln/>
        </p:spPr>
        <p:txBody>
          <a:bodyPr wrap="square" lIns="0" tIns="0" rIns="0" bIns="0" rtlCol="0" anchor="t"/>
          <a:lstStyle/>
          <a:p>
            <a:pPr indent="0" marL="0">
              <a:buNone/>
            </a:pPr>
            <a:r>
              <a:rPr lang="en-US" sz="1100" i="1" dirty="0">
                <a:solidFill>
                  <a:schemeClr val="accent6"/>
                </a:solidFill>
              </a:rPr>
              <a:t>Effect of population size and crossover fraction on fitness. Mridha, Sahoo, Nagesh Kumar, Sehgal et al. (2014) J. Agric. Physics 14:87–95, Fig. 1</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778240" y="1280160"/>
          <a:ext cx="2862072" cy="914400"/>
        </p:xfrm>
        <a:graphic>
          <a:graphicData uri="http://schemas.openxmlformats.org/drawingml/2006/table">
            <a:tbl>
              <a:tblPr/>
              <a:tblGrid>
                <a:gridCol w="1280160"/>
                <a:gridCol w="1581912"/>
              </a:tblGrid>
              <a:tr h="41148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Free variable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Range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Cw</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0.01–0.045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Cab</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30–100 µg cm</a:t>
                      </a:r>
                      <a:r>
                        <a:rPr lang="en-US" sz="1150" baseline="300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1148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0.5–6.5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29" name="card"/>
          <p:cNvSpPr/>
          <p:nvPr/>
        </p:nvSpPr>
        <p:spPr>
          <a:xfrm>
            <a:off x="8778240" y="3063240"/>
            <a:ext cx="2862072" cy="3108960"/>
          </a:xfrm>
          <a:prstGeom prst="roundRect">
            <a:avLst>
              <a:gd name="adj" fmla="val 2556"/>
            </a:avLst>
          </a:prstGeom>
          <a:solidFill>
            <a:schemeClr val="bg2"/>
          </a:solidFill>
          <a:ln/>
          <a:effectLst>
            <a:outerShdw sx="100000" sy="100000" kx="0" ky="0" algn="bl" rotWithShape="0" blurRad="76200" dist="25400" dir="5400000">
              <a:srgbClr val="000000">
                <a:alpha val="14000"/>
              </a:srgbClr>
            </a:outerShdw>
          </a:effectLst>
        </p:spPr>
      </p:sp>
      <p:sp>
        <p:nvSpPr>
          <p:cNvPr id="30" name="Text 25"/>
          <p:cNvSpPr txBox="1"/>
          <p:nvPr/>
        </p:nvSpPr>
        <p:spPr>
          <a:xfrm>
            <a:off x="8961120" y="3200400"/>
            <a:ext cx="2542032" cy="365760"/>
          </a:xfrm>
          <a:prstGeom prst="rect">
            <a:avLst/>
          </a:prstGeom>
          <a:noFill/>
          <a:ln/>
        </p:spPr>
        <p:txBody>
          <a:bodyPr wrap="square" lIns="0" tIns="0" rIns="0" bIns="0" rtlCol="0" anchor="ctr"/>
          <a:lstStyle/>
          <a:p>
            <a:pPr indent="0" marL="0">
              <a:buNone/>
            </a:pPr>
            <a:r>
              <a:rPr lang="en-US" sz="1600" b="1" dirty="0">
                <a:solidFill>
                  <a:schemeClr val="tx2"/>
                </a:solidFill>
              </a:rPr>
              <a:t>Fixed</a:t>
            </a:r>
            <a:endParaRPr lang="en-US" sz="1600" dirty="0"/>
          </a:p>
        </p:txBody>
      </p:sp>
      <p:sp>
        <p:nvSpPr>
          <p:cNvPr id="31" name="Text 26"/>
          <p:cNvSpPr txBox="1"/>
          <p:nvPr/>
        </p:nvSpPr>
        <p:spPr>
          <a:xfrm>
            <a:off x="8961120" y="3611880"/>
            <a:ext cx="2496312" cy="246888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Cm 0.0046 g cm</a:t>
            </a:r>
            <a:r>
              <a:rPr lang="en-US" sz="1200" baseline="30000" dirty="0">
                <a:solidFill>
                  <a:schemeClr val="tx1"/>
                </a:solidFill>
              </a:rPr>
              <a:t>−2</a:t>
            </a:r>
            <a:endParaRPr lang="en-US" sz="1200" dirty="0"/>
          </a:p>
          <a:p>
            <a:pPr marL="177800" indent="-177800">
              <a:spcAft>
                <a:spcPts val="400"/>
              </a:spcAft>
              <a:buSzPct val="100000"/>
              <a:buChar char="•"/>
            </a:pPr>
            <a:r>
              <a:rPr lang="en-US" sz="1200" dirty="0">
                <a:solidFill>
                  <a:schemeClr val="tx1"/>
                </a:solidFill>
              </a:rPr>
              <a:t>N 1.0; psoil 0.1; Cbrown 0.05</a:t>
            </a:r>
            <a:endParaRPr lang="en-US" sz="1200" dirty="0"/>
          </a:p>
          <a:p>
            <a:pPr marL="177800" indent="-177800">
              <a:spcAft>
                <a:spcPts val="400"/>
              </a:spcAft>
              <a:buSzPct val="100000"/>
              <a:buChar char="•"/>
            </a:pPr>
            <a:r>
              <a:rPr lang="en-US" sz="1200" dirty="0">
                <a:solidFill>
                  <a:schemeClr val="tx1"/>
                </a:solidFill>
              </a:rPr>
              <a:t>ALA measured per date</a:t>
            </a:r>
            <a:endParaRPr lang="en-US" sz="1200" dirty="0"/>
          </a:p>
          <a:p>
            <a:pPr marL="177800" indent="-177800">
              <a:spcAft>
                <a:spcPts val="400"/>
              </a:spcAft>
              <a:buSzPct val="100000"/>
              <a:buChar char="•"/>
            </a:pPr>
            <a:r>
              <a:rPr lang="en-US" sz="1200" dirty="0">
                <a:solidFill>
                  <a:schemeClr val="tx1"/>
                </a:solidFill>
              </a:rPr>
              <a:t>View: hotspot, 40° backward</a:t>
            </a:r>
            <a:endParaRPr lang="en-US" sz="1200" dirty="0"/>
          </a:p>
          <a:p>
            <a:pPr marL="177800" indent="-177800">
              <a:spcAft>
                <a:spcPts val="400"/>
              </a:spcAft>
              <a:buSzPct val="100000"/>
              <a:buChar char="•"/>
            </a:pPr>
            <a:r>
              <a:rPr lang="en-US" sz="1200" dirty="0">
                <a:solidFill>
                  <a:schemeClr val="tx1"/>
                </a:solidFill>
              </a:rPr>
              <a:t>Sun zenith 51°, 45°, 33°</a:t>
            </a:r>
            <a:endParaRPr lang="en-US" sz="1200" dirty="0"/>
          </a:p>
        </p:txBody>
      </p:sp>
      <p:sp>
        <p:nvSpPr>
          <p:cNvPr id="32" name="card"/>
          <p:cNvSpPr/>
          <p:nvPr/>
        </p:nvSpPr>
        <p:spPr>
          <a:xfrm>
            <a:off x="4892040" y="4114800"/>
            <a:ext cx="365760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33" name="Text 28"/>
          <p:cNvSpPr txBox="1"/>
          <p:nvPr/>
        </p:nvSpPr>
        <p:spPr>
          <a:xfrm>
            <a:off x="5029200" y="4160520"/>
            <a:ext cx="3383280" cy="1965960"/>
          </a:xfrm>
          <a:prstGeom prst="rect">
            <a:avLst/>
          </a:prstGeom>
          <a:noFill/>
          <a:ln/>
        </p:spPr>
        <p:txBody>
          <a:bodyPr wrap="square" lIns="508" tIns="508" rIns="508" bIns="508" rtlCol="0" anchor="t"/>
          <a:lstStyle/>
          <a:p>
            <a:pPr indent="0" marL="0">
              <a:spcAft>
                <a:spcPts val="600"/>
              </a:spcAft>
              <a:buNone/>
            </a:pPr>
            <a:r>
              <a:rPr lang="en-US" sz="1350" b="1" dirty="0">
                <a:solidFill>
                  <a:schemeClr val="tx2"/>
                </a:solidFill>
              </a:rPr>
              <a:t>Why GA?</a:t>
            </a:r>
            <a:endParaRPr lang="en-US" sz="1350" dirty="0"/>
          </a:p>
          <a:p>
            <a:pPr indent="0" marL="0">
              <a:spcAft>
                <a:spcPts val="600"/>
              </a:spcAft>
              <a:buNone/>
            </a:pPr>
            <a:r>
              <a:rPr lang="en-US" sz="1200" dirty="0">
                <a:solidFill>
                  <a:schemeClr val="tx1"/>
                </a:solidFill>
              </a:rPr>
              <a:t>Works on many points in parallel; needs only a fitness function (no derivatives); probabilistic selection keeps global exploration → avoids initial-guess and local-minimum problems</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GA results: LAI retrieved best, leaf water worst</a:t>
            </a:r>
            <a:endParaRPr lang="en-US" sz="3200" dirty="0"/>
          </a:p>
        </p:txBody>
      </p:sp>
      <p:sp>
        <p:nvSpPr>
          <p:cNvPr id="4" name="figure frame"/>
          <p:cNvSpPr/>
          <p:nvPr/>
        </p:nvSpPr>
        <p:spPr>
          <a:xfrm>
            <a:off x="548640" y="1280160"/>
            <a:ext cx="5120640" cy="3200400"/>
          </a:xfrm>
          <a:prstGeom prst="roundRect">
            <a:avLst>
              <a:gd name="adj" fmla="val 171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GA retrievals vs observed, whole spectrum: LAI, Cw, Cab, CCC. Mridha, Sahoo, Nagesh Kumar, Sehgal et al. (2014) J. Agric. Physics 14:87–95, Fig. 5">    </p:cNvPr>
          <p:cNvPicPr>
            <a:picLocks noChangeAspect="1"/>
          </p:cNvPicPr>
          <p:nvPr/>
        </p:nvPicPr>
        <p:blipFill>
          <a:blip r:embed="rId1"/>
          <a:stretch>
            <a:fillRect/>
          </a:stretch>
        </p:blipFill>
        <p:spPr>
          <a:xfrm>
            <a:off x="708660" y="1371600"/>
            <a:ext cx="4800600" cy="3017520"/>
          </a:xfrm>
          <a:prstGeom prst="rect">
            <a:avLst/>
          </a:prstGeom>
        </p:spPr>
      </p:pic>
      <p:sp>
        <p:nvSpPr>
          <p:cNvPr id="6" name="Text 2"/>
          <p:cNvSpPr txBox="1"/>
          <p:nvPr/>
        </p:nvSpPr>
        <p:spPr>
          <a:xfrm>
            <a:off x="548640" y="4526280"/>
            <a:ext cx="5120640" cy="411480"/>
          </a:xfrm>
          <a:prstGeom prst="rect">
            <a:avLst/>
          </a:prstGeom>
          <a:noFill/>
          <a:ln/>
        </p:spPr>
        <p:txBody>
          <a:bodyPr wrap="square" lIns="0" tIns="0" rIns="0" bIns="0" rtlCol="0" anchor="t"/>
          <a:lstStyle/>
          <a:p>
            <a:pPr indent="0" marL="0">
              <a:buNone/>
            </a:pPr>
            <a:r>
              <a:rPr lang="en-US" sz="1100" i="1" dirty="0">
                <a:solidFill>
                  <a:schemeClr val="accent6"/>
                </a:solidFill>
              </a:rPr>
              <a:t>GA retrievals vs observed, whole spectrum: LAI, Cw, Cab, CCC. Mridha, Sahoo, Nagesh Kumar, Sehgal et al. (2014) J. Agric. Physics 14:87–95, Fig. 5</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897880" y="1280160"/>
          <a:ext cx="5742432" cy="914400"/>
        </p:xfrm>
        <a:graphic>
          <a:graphicData uri="http://schemas.openxmlformats.org/drawingml/2006/table">
            <a:tbl>
              <a:tblPr/>
              <a:tblGrid>
                <a:gridCol w="1783080"/>
                <a:gridCol w="914400"/>
                <a:gridCol w="914400"/>
                <a:gridCol w="914400"/>
                <a:gridCol w="1216152"/>
              </a:tblGrid>
              <a:tr h="43891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MODIS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LISS-3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Whole spectrum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LAI (R²)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LAI RMSE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0.36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CCC (R²)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Cab (R²)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Cab RMSE (µg cm</a:t>
                      </a:r>
                      <a:r>
                        <a:rPr lang="en-US" sz="1150" b="1" baseline="30000" dirty="0">
                          <a:solidFill>
                            <a:schemeClr val="tx2"/>
                          </a:solidFill>
                          <a:latin typeface="Calibri" pitchFamily="34" charset="0"/>
                          <a:ea typeface="Calibri" pitchFamily="34" charset="-122"/>
                          <a:cs typeface="Calibri" pitchFamily="34" charset="-120"/>
                        </a:rPr>
                        <a:t>−2</a:t>
                      </a:r>
                      <a:r>
                        <a:rPr lang="en-US" sz="115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Cw (R²)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8" name="insight"/>
          <p:cNvSpPr/>
          <p:nvPr/>
        </p:nvSpPr>
        <p:spPr>
          <a:xfrm>
            <a:off x="5897880" y="4526280"/>
            <a:ext cx="5742432" cy="1280160"/>
          </a:xfrm>
          <a:prstGeom prst="roundRect">
            <a:avLst>
              <a:gd name="adj" fmla="val 5714"/>
            </a:avLst>
          </a:prstGeom>
          <a:solidFill>
            <a:schemeClr val="bg2"/>
          </a:solidFill>
          <a:ln/>
        </p:spPr>
      </p:sp>
      <p:sp>
        <p:nvSpPr>
          <p:cNvPr id="9" name="icon circle"/>
          <p:cNvSpPr/>
          <p:nvPr/>
        </p:nvSpPr>
        <p:spPr>
          <a:xfrm>
            <a:off x="6035040" y="4928616"/>
            <a:ext cx="475488" cy="475488"/>
          </a:xfrm>
          <a:prstGeom prst="ellipse">
            <a:avLst/>
          </a:prstGeom>
          <a:solidFill>
            <a:schemeClr val="accent3"/>
          </a:solidFill>
          <a:ln/>
        </p:spPr>
      </p:sp>
      <p:pic>
        <p:nvPicPr>
          <p:cNvPr id="10" name="Image 1" descr="Lightbulb icon">    </p:cNvPr>
          <p:cNvPicPr>
            <a:picLocks noChangeAspect="1"/>
          </p:cNvPicPr>
          <p:nvPr/>
        </p:nvPicPr>
        <p:blipFill>
          <a:blip r:embed="rId2"/>
          <a:stretch>
            <a:fillRect/>
          </a:stretch>
        </p:blipFill>
        <p:spPr>
          <a:xfrm>
            <a:off x="6158667" y="5052243"/>
            <a:ext cx="228234" cy="228234"/>
          </a:xfrm>
          <a:prstGeom prst="rect">
            <a:avLst/>
          </a:prstGeom>
        </p:spPr>
      </p:pic>
      <p:sp>
        <p:nvSpPr>
          <p:cNvPr id="11" name="Text 5"/>
          <p:cNvSpPr txBox="1"/>
          <p:nvPr/>
        </p:nvSpPr>
        <p:spPr>
          <a:xfrm>
            <a:off x="6675120" y="4562856"/>
            <a:ext cx="4828032" cy="120700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Accuracy order </a:t>
            </a:r>
            <a:r>
              <a:rPr lang="en-US" sz="1350" b="1" dirty="0">
                <a:solidFill>
                  <a:schemeClr val="tx1"/>
                </a:solidFill>
              </a:rPr>
              <a:t>LAI &gt; CCC &gt; Cab &gt; Cw</a:t>
            </a:r>
            <a:r>
              <a:rPr lang="en-US" sz="1350" dirty="0">
                <a:solidFill>
                  <a:schemeClr val="tx1"/>
                </a:solidFill>
              </a:rPr>
              <a:t>. Structure dominates canopy reflectance; VIS has low dynamic range; leaf-to-canopy signal is weak for Cab and Cw.</a:t>
            </a:r>
            <a:endParaRPr lang="en-US" sz="1350" dirty="0"/>
          </a:p>
        </p:txBody>
      </p:sp>
      <p:sp>
        <p:nvSpPr>
          <p:cNvPr id="12" name="Text 6"/>
          <p:cNvSpPr txBox="1"/>
          <p:nvPr/>
        </p:nvSpPr>
        <p:spPr>
          <a:xfrm>
            <a:off x="548640" y="5074920"/>
            <a:ext cx="5120640" cy="457200"/>
          </a:xfrm>
          <a:prstGeom prst="rect">
            <a:avLst/>
          </a:prstGeom>
          <a:noFill/>
          <a:ln/>
        </p:spPr>
        <p:txBody>
          <a:bodyPr wrap="square" lIns="0" tIns="0" rIns="0" bIns="0" rtlCol="0" anchor="ctr"/>
          <a:lstStyle/>
          <a:p>
            <a:pPr algn="l" indent="0" marL="0">
              <a:buNone/>
            </a:pPr>
            <a:r>
              <a:rPr lang="en-US" sz="1150" i="1" dirty="0">
                <a:solidFill>
                  <a:schemeClr val="accent6"/>
                </a:solidFill>
              </a:rPr>
              <a:t>Table 3 values; RDP &gt; 1 for LAI, Cab, CCC (good), &lt; 1 for Cw with whole spectrum</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LUT vs neural network inversion (Sehgal et al. 2016): method</a:t>
            </a:r>
            <a:endParaRPr lang="en-US" sz="3200" dirty="0"/>
          </a:p>
        </p:txBody>
      </p:sp>
      <p:sp>
        <p:nvSpPr>
          <p:cNvPr id="4" name="diagram box"/>
          <p:cNvSpPr/>
          <p:nvPr/>
        </p:nvSpPr>
        <p:spPr>
          <a:xfrm>
            <a:off x="548640" y="1371600"/>
            <a:ext cx="3017520" cy="914400"/>
          </a:xfrm>
          <a:prstGeom prst="roundRect">
            <a:avLst>
              <a:gd name="adj" fmla="val 8000"/>
            </a:avLst>
          </a:prstGeom>
          <a:solidFill>
            <a:schemeClr val="bg2"/>
          </a:solidFill>
          <a:ln/>
        </p:spPr>
      </p:sp>
      <p:sp>
        <p:nvSpPr>
          <p:cNvPr id="5" name="Text 2"/>
          <p:cNvSpPr txBox="1"/>
          <p:nvPr/>
        </p:nvSpPr>
        <p:spPr>
          <a:xfrm>
            <a:off x="548640" y="1371600"/>
            <a:ext cx="3017520" cy="914400"/>
          </a:xfrm>
          <a:prstGeom prst="rect">
            <a:avLst/>
          </a:prstGeom>
          <a:noFill/>
          <a:ln/>
        </p:spPr>
        <p:txBody>
          <a:bodyPr wrap="square" lIns="508" tIns="508" rIns="508" bIns="508" rtlCol="0" anchor="ctr"/>
          <a:lstStyle/>
          <a:p>
            <a:pPr algn="ctr" indent="0" marL="0">
              <a:buNone/>
            </a:pPr>
            <a:r>
              <a:rPr lang="en-US" sz="1250" b="1" dirty="0">
                <a:solidFill>
                  <a:schemeClr val="tx1"/>
                </a:solidFill>
              </a:rPr>
              <a:t>Field spectra (N0/N60/N120)</a:t>
            </a:r>
            <a:endParaRPr lang="en-US" sz="1250" dirty="0"/>
          </a:p>
          <a:p>
            <a:pPr algn="ctr" indent="0" marL="0">
              <a:buNone/>
            </a:pPr>
            <a:r>
              <a:rPr lang="en-US" sz="1250" dirty="0">
                <a:solidFill>
                  <a:schemeClr val="tx1"/>
                </a:solidFill>
              </a:rPr>
              <a:t>→ LISS-3 bands via RSR</a:t>
            </a:r>
            <a:endParaRPr lang="en-US" sz="1250" dirty="0"/>
          </a:p>
        </p:txBody>
      </p:sp>
      <p:sp>
        <p:nvSpPr>
          <p:cNvPr id="6" name="diagram box"/>
          <p:cNvSpPr/>
          <p:nvPr/>
        </p:nvSpPr>
        <p:spPr>
          <a:xfrm>
            <a:off x="548640" y="2697480"/>
            <a:ext cx="3017520" cy="1188720"/>
          </a:xfrm>
          <a:prstGeom prst="roundRect">
            <a:avLst>
              <a:gd name="adj" fmla="val 6154"/>
            </a:avLst>
          </a:prstGeom>
          <a:solidFill>
            <a:schemeClr val="accent2"/>
          </a:solidFill>
          <a:ln/>
        </p:spPr>
      </p:sp>
      <p:sp>
        <p:nvSpPr>
          <p:cNvPr id="7" name="Text 4"/>
          <p:cNvSpPr txBox="1"/>
          <p:nvPr/>
        </p:nvSpPr>
        <p:spPr>
          <a:xfrm>
            <a:off x="548640" y="2697480"/>
            <a:ext cx="3017520" cy="1188720"/>
          </a:xfrm>
          <a:prstGeom prst="rect">
            <a:avLst/>
          </a:prstGeom>
          <a:noFill/>
          <a:ln/>
        </p:spPr>
        <p:txBody>
          <a:bodyPr wrap="square" lIns="508" tIns="508" rIns="508" bIns="508" rtlCol="0" anchor="ctr"/>
          <a:lstStyle/>
          <a:p>
            <a:pPr algn="ctr" indent="0" marL="0">
              <a:buNone/>
            </a:pPr>
            <a:r>
              <a:rPr lang="en-US" sz="1200" b="1" dirty="0">
                <a:solidFill>
                  <a:schemeClr val="bg1"/>
                </a:solidFill>
              </a:rPr>
              <a:t>PROSAIL5B LUT</a:t>
            </a:r>
            <a:endParaRPr lang="en-US" sz="1200" dirty="0"/>
          </a:p>
          <a:p>
            <a:pPr algn="ctr" indent="0" marL="0">
              <a:buNone/>
            </a:pPr>
            <a:r>
              <a:rPr lang="en-US" sz="1200" dirty="0">
                <a:solidFill>
                  <a:schemeClr val="bg1"/>
                </a:solidFill>
              </a:rPr>
              <a:t>Cab 20–80 (1), LAI 0.1–6 (0.2), Cw 0.01–0.04 (0.001)</a:t>
            </a:r>
            <a:endParaRPr lang="en-US" sz="1200" dirty="0"/>
          </a:p>
          <a:p>
            <a:pPr algn="ctr" indent="0" marL="0">
              <a:buNone/>
            </a:pPr>
            <a:r>
              <a:rPr lang="en-US" sz="1200" dirty="0">
                <a:solidFill>
                  <a:schemeClr val="bg1"/>
                </a:solidFill>
              </a:rPr>
              <a:t>= </a:t>
            </a:r>
            <a:r>
              <a:rPr lang="en-US" sz="1200" b="1" dirty="0">
                <a:solidFill>
                  <a:schemeClr val="bg1"/>
                </a:solidFill>
              </a:rPr>
              <a:t>54,000</a:t>
            </a:r>
            <a:r>
              <a:rPr lang="en-US" sz="1200" dirty="0">
                <a:solidFill>
                  <a:schemeClr val="bg1"/>
                </a:solidFill>
              </a:rPr>
              <a:t> cases</a:t>
            </a:r>
            <a:endParaRPr lang="en-US" sz="1200" dirty="0"/>
          </a:p>
        </p:txBody>
      </p:sp>
      <p:sp>
        <p:nvSpPr>
          <p:cNvPr id="8" name="diagram box"/>
          <p:cNvSpPr/>
          <p:nvPr/>
        </p:nvSpPr>
        <p:spPr>
          <a:xfrm>
            <a:off x="3977640" y="1371600"/>
            <a:ext cx="3291840" cy="960120"/>
          </a:xfrm>
          <a:prstGeom prst="roundRect">
            <a:avLst>
              <a:gd name="adj" fmla="val 7619"/>
            </a:avLst>
          </a:prstGeom>
          <a:solidFill>
            <a:schemeClr val="accent1"/>
          </a:solidFill>
          <a:ln/>
        </p:spPr>
      </p:sp>
      <p:sp>
        <p:nvSpPr>
          <p:cNvPr id="9" name="Text 6"/>
          <p:cNvSpPr txBox="1"/>
          <p:nvPr/>
        </p:nvSpPr>
        <p:spPr>
          <a:xfrm>
            <a:off x="3977640" y="1371600"/>
            <a:ext cx="3291840" cy="960120"/>
          </a:xfrm>
          <a:prstGeom prst="rect">
            <a:avLst/>
          </a:prstGeom>
          <a:noFill/>
          <a:ln/>
        </p:spPr>
        <p:txBody>
          <a:bodyPr wrap="square" lIns="508" tIns="508" rIns="508" bIns="508" rtlCol="0" anchor="ctr"/>
          <a:lstStyle/>
          <a:p>
            <a:pPr algn="ctr" indent="0" marL="0">
              <a:buNone/>
            </a:pPr>
            <a:r>
              <a:rPr lang="en-US" sz="1250" b="1" dirty="0">
                <a:solidFill>
                  <a:schemeClr val="bg1"/>
                </a:solidFill>
              </a:rPr>
              <a:t>LUT-I</a:t>
            </a:r>
            <a:endParaRPr lang="en-US" sz="1250" dirty="0"/>
          </a:p>
          <a:p>
            <a:pPr algn="ctr" indent="0" marL="0">
              <a:buNone/>
            </a:pPr>
            <a:r>
              <a:rPr lang="en-US" sz="1250" dirty="0">
                <a:solidFill>
                  <a:schemeClr val="bg1"/>
                </a:solidFill>
              </a:rPr>
              <a:t>single best rMSE match</a:t>
            </a:r>
            <a:endParaRPr lang="en-US" sz="1250" dirty="0"/>
          </a:p>
        </p:txBody>
      </p:sp>
      <p:sp>
        <p:nvSpPr>
          <p:cNvPr id="10" name="arrow"/>
          <p:cNvSpPr/>
          <p:nvPr/>
        </p:nvSpPr>
        <p:spPr>
          <a:xfrm flipV="1">
            <a:off x="3566160" y="1847088"/>
            <a:ext cx="411480" cy="1444752"/>
          </a:xfrm>
          <a:prstGeom prst="line">
            <a:avLst/>
          </a:prstGeom>
          <a:noFill/>
          <a:ln w="22225">
            <a:solidFill>
              <a:srgbClr val="1F4E3D"/>
            </a:solidFill>
            <a:prstDash val="solid"/>
            <a:tailEnd type="triangle"/>
          </a:ln>
        </p:spPr>
      </p:sp>
      <p:sp>
        <p:nvSpPr>
          <p:cNvPr id="11" name="arrow"/>
          <p:cNvSpPr/>
          <p:nvPr/>
        </p:nvSpPr>
        <p:spPr>
          <a:xfrm>
            <a:off x="7269480" y="1847088"/>
            <a:ext cx="502920" cy="896112"/>
          </a:xfrm>
          <a:prstGeom prst="line">
            <a:avLst/>
          </a:prstGeom>
          <a:noFill/>
          <a:ln w="22225">
            <a:solidFill>
              <a:srgbClr val="1F4E3D"/>
            </a:solidFill>
            <a:prstDash val="solid"/>
            <a:tailEnd type="triangle"/>
          </a:ln>
        </p:spPr>
      </p:sp>
      <p:sp>
        <p:nvSpPr>
          <p:cNvPr id="12" name="diagram box"/>
          <p:cNvSpPr/>
          <p:nvPr/>
        </p:nvSpPr>
        <p:spPr>
          <a:xfrm>
            <a:off x="3977640" y="2560320"/>
            <a:ext cx="3291840" cy="960120"/>
          </a:xfrm>
          <a:prstGeom prst="roundRect">
            <a:avLst>
              <a:gd name="adj" fmla="val 7619"/>
            </a:avLst>
          </a:prstGeom>
          <a:solidFill>
            <a:schemeClr val="accent5"/>
          </a:solidFill>
          <a:ln/>
        </p:spPr>
      </p:sp>
      <p:sp>
        <p:nvSpPr>
          <p:cNvPr id="13" name="Text 10"/>
          <p:cNvSpPr txBox="1"/>
          <p:nvPr/>
        </p:nvSpPr>
        <p:spPr>
          <a:xfrm>
            <a:off x="3977640" y="2560320"/>
            <a:ext cx="3291840" cy="960120"/>
          </a:xfrm>
          <a:prstGeom prst="rect">
            <a:avLst/>
          </a:prstGeom>
          <a:noFill/>
          <a:ln/>
        </p:spPr>
        <p:txBody>
          <a:bodyPr wrap="square" lIns="508" tIns="508" rIns="508" bIns="508" rtlCol="0" anchor="ctr"/>
          <a:lstStyle/>
          <a:p>
            <a:pPr algn="ctr" indent="0" marL="0">
              <a:buNone/>
            </a:pPr>
            <a:r>
              <a:rPr lang="en-US" sz="1250" b="1" dirty="0">
                <a:solidFill>
                  <a:schemeClr val="bg1"/>
                </a:solidFill>
              </a:rPr>
              <a:t>LUT-II</a:t>
            </a:r>
            <a:endParaRPr lang="en-US" sz="1250" dirty="0"/>
          </a:p>
          <a:p>
            <a:pPr algn="ctr" indent="0" marL="0">
              <a:buNone/>
            </a:pPr>
            <a:r>
              <a:rPr lang="en-US" sz="1250" dirty="0">
                <a:solidFill>
                  <a:schemeClr val="bg1"/>
                </a:solidFill>
              </a:rPr>
              <a:t>mean of best 100 / 500 / 1000 / </a:t>
            </a:r>
            <a:r>
              <a:rPr lang="en-US" sz="1250" b="1" dirty="0">
                <a:solidFill>
                  <a:schemeClr val="bg1"/>
                </a:solidFill>
              </a:rPr>
              <a:t>10%</a:t>
            </a:r>
            <a:endParaRPr lang="en-US" sz="1250" dirty="0"/>
          </a:p>
        </p:txBody>
      </p:sp>
      <p:sp>
        <p:nvSpPr>
          <p:cNvPr id="14" name="arrow"/>
          <p:cNvSpPr/>
          <p:nvPr/>
        </p:nvSpPr>
        <p:spPr>
          <a:xfrm flipV="1">
            <a:off x="3566160" y="3035808"/>
            <a:ext cx="411480" cy="256032"/>
          </a:xfrm>
          <a:prstGeom prst="line">
            <a:avLst/>
          </a:prstGeom>
          <a:noFill/>
          <a:ln w="22225">
            <a:solidFill>
              <a:srgbClr val="1F4E3D"/>
            </a:solidFill>
            <a:prstDash val="solid"/>
            <a:tailEnd type="triangle"/>
          </a:ln>
        </p:spPr>
      </p:sp>
      <p:sp>
        <p:nvSpPr>
          <p:cNvPr id="15" name="arrow"/>
          <p:cNvSpPr/>
          <p:nvPr/>
        </p:nvSpPr>
        <p:spPr>
          <a:xfrm flipV="1">
            <a:off x="7269480" y="2743200"/>
            <a:ext cx="502920" cy="292608"/>
          </a:xfrm>
          <a:prstGeom prst="line">
            <a:avLst/>
          </a:prstGeom>
          <a:noFill/>
          <a:ln w="22225">
            <a:solidFill>
              <a:srgbClr val="1F4E3D"/>
            </a:solidFill>
            <a:prstDash val="solid"/>
            <a:tailEnd type="triangle"/>
          </a:ln>
        </p:spPr>
      </p:sp>
      <p:sp>
        <p:nvSpPr>
          <p:cNvPr id="16" name="diagram box"/>
          <p:cNvSpPr/>
          <p:nvPr/>
        </p:nvSpPr>
        <p:spPr>
          <a:xfrm>
            <a:off x="3977640" y="3749040"/>
            <a:ext cx="3291840" cy="960120"/>
          </a:xfrm>
          <a:prstGeom prst="roundRect">
            <a:avLst>
              <a:gd name="adj" fmla="val 7619"/>
            </a:avLst>
          </a:prstGeom>
          <a:solidFill>
            <a:schemeClr val="accent4"/>
          </a:solidFill>
          <a:ln/>
        </p:spPr>
      </p:sp>
      <p:sp>
        <p:nvSpPr>
          <p:cNvPr id="17" name="Text 14"/>
          <p:cNvSpPr txBox="1"/>
          <p:nvPr/>
        </p:nvSpPr>
        <p:spPr>
          <a:xfrm>
            <a:off x="3977640" y="3749040"/>
            <a:ext cx="3291840" cy="960120"/>
          </a:xfrm>
          <a:prstGeom prst="rect">
            <a:avLst/>
          </a:prstGeom>
          <a:noFill/>
          <a:ln/>
        </p:spPr>
        <p:txBody>
          <a:bodyPr wrap="square" lIns="508" tIns="508" rIns="508" bIns="508" rtlCol="0" anchor="ctr"/>
          <a:lstStyle/>
          <a:p>
            <a:pPr algn="ctr" indent="0" marL="0">
              <a:buNone/>
            </a:pPr>
            <a:r>
              <a:rPr lang="en-US" sz="1250" b="1" dirty="0">
                <a:solidFill>
                  <a:schemeClr val="bg1"/>
                </a:solidFill>
              </a:rPr>
              <a:t>ANN</a:t>
            </a:r>
            <a:endParaRPr lang="en-US" sz="1250" dirty="0"/>
          </a:p>
          <a:p>
            <a:pPr algn="ctr" indent="0" marL="0">
              <a:buNone/>
            </a:pPr>
            <a:r>
              <a:rPr lang="en-US" sz="1250" dirty="0">
                <a:solidFill>
                  <a:schemeClr val="bg1"/>
                </a:solidFill>
              </a:rPr>
              <a:t>3-layer feed-forward BP; train 70%, validate 30% of LUT</a:t>
            </a:r>
            <a:endParaRPr lang="en-US" sz="1250" dirty="0"/>
          </a:p>
        </p:txBody>
      </p:sp>
      <p:sp>
        <p:nvSpPr>
          <p:cNvPr id="18" name="arrow"/>
          <p:cNvSpPr/>
          <p:nvPr/>
        </p:nvSpPr>
        <p:spPr>
          <a:xfrm>
            <a:off x="3566160" y="3291840"/>
            <a:ext cx="411480" cy="932688"/>
          </a:xfrm>
          <a:prstGeom prst="line">
            <a:avLst/>
          </a:prstGeom>
          <a:noFill/>
          <a:ln w="22225">
            <a:solidFill>
              <a:srgbClr val="1F4E3D"/>
            </a:solidFill>
            <a:prstDash val="solid"/>
            <a:tailEnd type="triangle"/>
          </a:ln>
        </p:spPr>
      </p:sp>
      <p:sp>
        <p:nvSpPr>
          <p:cNvPr id="19" name="arrow"/>
          <p:cNvSpPr/>
          <p:nvPr/>
        </p:nvSpPr>
        <p:spPr>
          <a:xfrm flipV="1">
            <a:off x="7269480" y="2743200"/>
            <a:ext cx="502920" cy="1481328"/>
          </a:xfrm>
          <a:prstGeom prst="line">
            <a:avLst/>
          </a:prstGeom>
          <a:noFill/>
          <a:ln w="22225">
            <a:solidFill>
              <a:srgbClr val="1F4E3D"/>
            </a:solidFill>
            <a:prstDash val="solid"/>
            <a:tailEnd type="triangle"/>
          </a:ln>
        </p:spPr>
      </p:sp>
      <p:sp>
        <p:nvSpPr>
          <p:cNvPr id="20" name="arrow"/>
          <p:cNvSpPr/>
          <p:nvPr/>
        </p:nvSpPr>
        <p:spPr>
          <a:xfrm>
            <a:off x="1783080" y="2286000"/>
            <a:ext cx="0" cy="411480"/>
          </a:xfrm>
          <a:prstGeom prst="line">
            <a:avLst/>
          </a:prstGeom>
          <a:noFill/>
          <a:ln w="25400">
            <a:solidFill>
              <a:srgbClr val="1F4E3D"/>
            </a:solidFill>
            <a:prstDash val="solid"/>
            <a:tailEnd type="triangle"/>
          </a:ln>
        </p:spPr>
      </p:sp>
      <p:sp>
        <p:nvSpPr>
          <p:cNvPr id="21" name="diagram box"/>
          <p:cNvSpPr/>
          <p:nvPr/>
        </p:nvSpPr>
        <p:spPr>
          <a:xfrm>
            <a:off x="7772400" y="2240280"/>
            <a:ext cx="3867912" cy="1005840"/>
          </a:xfrm>
          <a:prstGeom prst="roundRect">
            <a:avLst>
              <a:gd name="adj" fmla="val 7273"/>
            </a:avLst>
          </a:prstGeom>
          <a:solidFill>
            <a:schemeClr val="tx2"/>
          </a:solidFill>
          <a:ln/>
        </p:spPr>
      </p:sp>
      <p:sp>
        <p:nvSpPr>
          <p:cNvPr id="22" name="Text 19"/>
          <p:cNvSpPr txBox="1"/>
          <p:nvPr/>
        </p:nvSpPr>
        <p:spPr>
          <a:xfrm>
            <a:off x="7772400" y="2240280"/>
            <a:ext cx="3867912" cy="1005840"/>
          </a:xfrm>
          <a:prstGeom prst="rect">
            <a:avLst/>
          </a:prstGeom>
          <a:noFill/>
          <a:ln/>
        </p:spPr>
        <p:txBody>
          <a:bodyPr wrap="square" lIns="508" tIns="508" rIns="508" bIns="508" rtlCol="0" anchor="ctr"/>
          <a:lstStyle/>
          <a:p>
            <a:pPr algn="ctr" indent="0" marL="0">
              <a:buNone/>
            </a:pPr>
            <a:r>
              <a:rPr lang="en-US" sz="1300" b="1" dirty="0">
                <a:solidFill>
                  <a:schemeClr val="bg1"/>
                </a:solidFill>
              </a:rPr>
              <a:t>Retrieve Cab, LAI, Cw</a:t>
            </a:r>
            <a:endParaRPr lang="en-US" sz="1300" dirty="0"/>
          </a:p>
          <a:p>
            <a:pPr algn="ctr" indent="0" marL="0">
              <a:buNone/>
            </a:pPr>
            <a:r>
              <a:rPr lang="en-US" sz="1300" dirty="0">
                <a:solidFill>
                  <a:schemeClr val="bg1"/>
                </a:solidFill>
              </a:rPr>
              <a:t>CCC = Cab × LAI</a:t>
            </a:r>
            <a:endParaRPr lang="en-US" sz="1300" dirty="0"/>
          </a:p>
        </p:txBody>
      </p:sp>
      <p:sp>
        <p:nvSpPr>
          <p:cNvPr id="23" name="arrow"/>
          <p:cNvSpPr/>
          <p:nvPr/>
        </p:nvSpPr>
        <p:spPr>
          <a:xfrm>
            <a:off x="9692640" y="3246120"/>
            <a:ext cx="0" cy="411480"/>
          </a:xfrm>
          <a:prstGeom prst="line">
            <a:avLst/>
          </a:prstGeom>
          <a:noFill/>
          <a:ln w="25400">
            <a:solidFill>
              <a:srgbClr val="1F4E3D"/>
            </a:solidFill>
            <a:prstDash val="solid"/>
            <a:tailEnd type="triangle"/>
          </a:ln>
        </p:spPr>
      </p:sp>
      <p:sp>
        <p:nvSpPr>
          <p:cNvPr id="24" name="diagram box"/>
          <p:cNvSpPr/>
          <p:nvPr/>
        </p:nvSpPr>
        <p:spPr>
          <a:xfrm>
            <a:off x="7772400" y="3657600"/>
            <a:ext cx="3867912" cy="1005840"/>
          </a:xfrm>
          <a:prstGeom prst="roundRect">
            <a:avLst>
              <a:gd name="adj" fmla="val 7273"/>
            </a:avLst>
          </a:prstGeom>
          <a:solidFill>
            <a:schemeClr val="accent3"/>
          </a:solidFill>
          <a:ln/>
        </p:spPr>
      </p:sp>
      <p:sp>
        <p:nvSpPr>
          <p:cNvPr id="25" name="Text 22"/>
          <p:cNvSpPr txBox="1"/>
          <p:nvPr/>
        </p:nvSpPr>
        <p:spPr>
          <a:xfrm>
            <a:off x="7772400" y="3657600"/>
            <a:ext cx="3867912" cy="1005840"/>
          </a:xfrm>
          <a:prstGeom prst="rect">
            <a:avLst/>
          </a:prstGeom>
          <a:noFill/>
          <a:ln/>
        </p:spPr>
        <p:txBody>
          <a:bodyPr wrap="square" lIns="508" tIns="508" rIns="508" bIns="508" rtlCol="0" anchor="ctr"/>
          <a:lstStyle/>
          <a:p>
            <a:pPr algn="ctr" indent="0" marL="0">
              <a:buNone/>
            </a:pPr>
            <a:r>
              <a:rPr lang="en-US" sz="1300" b="1" dirty="0">
                <a:solidFill>
                  <a:schemeClr val="tx1"/>
                </a:solidFill>
              </a:rPr>
              <a:t>Evaluate</a:t>
            </a:r>
            <a:endParaRPr lang="en-US" sz="1300" dirty="0"/>
          </a:p>
          <a:p>
            <a:pPr algn="ctr" indent="0" marL="0">
              <a:buNone/>
            </a:pPr>
            <a:r>
              <a:rPr lang="en-US" sz="1300" dirty="0">
                <a:solidFill>
                  <a:schemeClr val="tx1"/>
                </a:solidFill>
              </a:rPr>
              <a:t>r, RMSE, nRMSE, target diagram</a:t>
            </a:r>
            <a:endParaRPr lang="en-US" sz="1300" dirty="0"/>
          </a:p>
        </p:txBody>
      </p:sp>
      <p:sp>
        <p:nvSpPr>
          <p:cNvPr id="26" name="card"/>
          <p:cNvSpPr/>
          <p:nvPr/>
        </p:nvSpPr>
        <p:spPr>
          <a:xfrm>
            <a:off x="548640" y="4937760"/>
            <a:ext cx="5852160" cy="685800"/>
          </a:xfrm>
          <a:prstGeom prst="roundRect">
            <a:avLst>
              <a:gd name="adj" fmla="val 10667"/>
            </a:avLst>
          </a:prstGeom>
          <a:solidFill>
            <a:schemeClr val="tx2"/>
          </a:solidFill>
          <a:ln/>
          <a:effectLst>
            <a:outerShdw sx="100000" sy="100000" kx="0" ky="0" algn="bl" rotWithShape="0" blurRad="76200" dist="25400" dir="5400000">
              <a:srgbClr val="000000">
                <a:alpha val="14000"/>
              </a:srgbClr>
            </a:outerShdw>
          </a:effectLst>
        </p:spPr>
      </p:sp>
      <p:sp>
        <p:nvSpPr>
          <p:cNvPr id="27" name="Text 24"/>
          <p:cNvSpPr txBox="1"/>
          <p:nvPr/>
        </p:nvSpPr>
        <p:spPr>
          <a:xfrm>
            <a:off x="685800" y="4937760"/>
            <a:ext cx="5577840" cy="685800"/>
          </a:xfrm>
          <a:prstGeom prst="rect">
            <a:avLst/>
          </a:prstGeom>
          <a:noFill/>
          <a:ln/>
        </p:spPr>
        <p:txBody>
          <a:bodyPr wrap="square" lIns="0" tIns="0" rIns="0" bIns="0" rtlCol="0" anchor="ctr"/>
          <a:lstStyle/>
          <a:p>
            <a:pPr algn="ctr" indent="0" marL="0">
              <a:buNone/>
            </a:pPr>
            <a:r>
              <a:rPr lang="en-US" sz="1600" b="1" dirty="0">
                <a:solidFill>
                  <a:schemeClr val="bg1"/>
                </a:solidFill>
              </a:rPr>
              <a:t>rMSE = Σ</a:t>
            </a:r>
            <a:r>
              <a:rPr lang="en-US" sz="1600" b="1" baseline="-40000" dirty="0">
                <a:solidFill>
                  <a:schemeClr val="bg1"/>
                </a:solidFill>
              </a:rPr>
              <a:t>i</a:t>
            </a:r>
            <a:r>
              <a:rPr lang="en-US" sz="1600" b="1" dirty="0">
                <a:solidFill>
                  <a:schemeClr val="bg1"/>
                </a:solidFill>
              </a:rPr>
              <a:t>[(R</a:t>
            </a:r>
            <a:r>
              <a:rPr lang="en-US" sz="1600" b="1" baseline="-40000" dirty="0">
                <a:solidFill>
                  <a:schemeClr val="bg1"/>
                </a:solidFill>
              </a:rPr>
              <a:t>obs,i</a:t>
            </a:r>
            <a:r>
              <a:rPr lang="en-US" sz="1600" b="1" dirty="0">
                <a:solidFill>
                  <a:schemeClr val="bg1"/>
                </a:solidFill>
              </a:rPr>
              <a:t> − R</a:t>
            </a:r>
            <a:r>
              <a:rPr lang="en-US" sz="1600" b="1" baseline="-40000" dirty="0">
                <a:solidFill>
                  <a:schemeClr val="bg1"/>
                </a:solidFill>
              </a:rPr>
              <a:t>LUT,i</a:t>
            </a:r>
            <a:r>
              <a:rPr lang="en-US" sz="1600" b="1" dirty="0">
                <a:solidFill>
                  <a:schemeClr val="bg1"/>
                </a:solidFill>
              </a:rPr>
              <a:t>) / R</a:t>
            </a:r>
            <a:r>
              <a:rPr lang="en-US" sz="1600" b="1" baseline="-40000" dirty="0">
                <a:solidFill>
                  <a:schemeClr val="bg1"/>
                </a:solidFill>
              </a:rPr>
              <a:t>obs,i</a:t>
            </a:r>
            <a:r>
              <a:rPr lang="en-US" sz="1600" b="1" dirty="0">
                <a:solidFill>
                  <a:schemeClr val="bg1"/>
                </a:solidFill>
              </a:rPr>
              <a:t>]²</a:t>
            </a:r>
            <a:endParaRPr lang="en-US" sz="1600" dirty="0"/>
          </a:p>
        </p:txBody>
      </p:sp>
      <p:sp>
        <p:nvSpPr>
          <p:cNvPr id="28" name="card"/>
          <p:cNvSpPr/>
          <p:nvPr/>
        </p:nvSpPr>
        <p:spPr>
          <a:xfrm>
            <a:off x="6583680" y="4846320"/>
            <a:ext cx="5056632"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6766560" y="4983480"/>
            <a:ext cx="4736592" cy="365760"/>
          </a:xfrm>
          <a:prstGeom prst="rect">
            <a:avLst/>
          </a:prstGeom>
          <a:noFill/>
          <a:ln/>
        </p:spPr>
        <p:txBody>
          <a:bodyPr wrap="square" lIns="0" tIns="0" rIns="0" bIns="0" rtlCol="0" anchor="ctr"/>
          <a:lstStyle/>
          <a:p>
            <a:pPr indent="0" marL="0">
              <a:buNone/>
            </a:pPr>
            <a:r>
              <a:rPr lang="en-US" sz="1600" b="1" dirty="0">
                <a:solidFill>
                  <a:schemeClr val="tx2"/>
                </a:solidFill>
              </a:rPr>
              <a:t>Target diagram</a:t>
            </a:r>
            <a:endParaRPr lang="en-US" sz="1600" dirty="0"/>
          </a:p>
        </p:txBody>
      </p:sp>
      <p:sp>
        <p:nvSpPr>
          <p:cNvPr id="30" name="Text 27"/>
          <p:cNvSpPr txBox="1"/>
          <p:nvPr/>
        </p:nvSpPr>
        <p:spPr>
          <a:xfrm>
            <a:off x="6766560" y="5394960"/>
            <a:ext cx="4690872" cy="68580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x = centred RMSD, y = bias; distance from origin = total RMSD; inside unit circle = good</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LUT-II (mean of best 10%) wins; ANN is worst</a:t>
            </a:r>
            <a:endParaRPr lang="en-US" sz="3200" dirty="0"/>
          </a:p>
        </p:txBody>
      </p:sp>
      <p:sp>
        <p:nvSpPr>
          <p:cNvPr id="4" name="figure frame"/>
          <p:cNvSpPr/>
          <p:nvPr/>
        </p:nvSpPr>
        <p:spPr>
          <a:xfrm>
            <a:off x="548640" y="1280160"/>
            <a:ext cx="4023360" cy="3154680"/>
          </a:xfrm>
          <a:prstGeom prst="roundRect">
            <a:avLst>
              <a:gd name="adj" fmla="val 173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Estimated vs observed Cab, LAI, Cw, CCC (LUT-I ◇, LUT-II □, ANN △). Sehgal, Chakraborty &amp; Sahoo (2016) Inf. Process. Agric. 3:107–118, Fig. 2">    </p:cNvPr>
          <p:cNvPicPr>
            <a:picLocks noChangeAspect="1"/>
          </p:cNvPicPr>
          <p:nvPr/>
        </p:nvPicPr>
        <p:blipFill>
          <a:blip r:embed="rId1"/>
          <a:stretch>
            <a:fillRect/>
          </a:stretch>
        </p:blipFill>
        <p:spPr>
          <a:xfrm>
            <a:off x="850199" y="1371600"/>
            <a:ext cx="3420242" cy="2971800"/>
          </a:xfrm>
          <a:prstGeom prst="rect">
            <a:avLst/>
          </a:prstGeom>
        </p:spPr>
      </p:pic>
      <p:sp>
        <p:nvSpPr>
          <p:cNvPr id="6" name="Text 2"/>
          <p:cNvSpPr txBox="1"/>
          <p:nvPr/>
        </p:nvSpPr>
        <p:spPr>
          <a:xfrm>
            <a:off x="548640" y="4480560"/>
            <a:ext cx="4023360" cy="457200"/>
          </a:xfrm>
          <a:prstGeom prst="rect">
            <a:avLst/>
          </a:prstGeom>
          <a:noFill/>
          <a:ln/>
        </p:spPr>
        <p:txBody>
          <a:bodyPr wrap="square" lIns="0" tIns="0" rIns="0" bIns="0" rtlCol="0" anchor="t"/>
          <a:lstStyle/>
          <a:p>
            <a:pPr indent="0" marL="0">
              <a:buNone/>
            </a:pPr>
            <a:r>
              <a:rPr lang="en-US" sz="1100" i="1" dirty="0">
                <a:solidFill>
                  <a:schemeClr val="accent6"/>
                </a:solidFill>
              </a:rPr>
              <a:t>Estimated vs observed Cab, LAI, Cw, CCC (LUT-I ◇, LUT-II □, ANN △). Sehgal, Chakraborty &amp; Sahoo (2016) Inf. Process. Agric. 3:107–118, Fig. 2</a:t>
            </a:r>
            <a:endParaRPr lang="en-US" sz="1100" dirty="0"/>
          </a:p>
        </p:txBody>
      </p:sp>
      <p:sp>
        <p:nvSpPr>
          <p:cNvPr id="7" name="figure frame"/>
          <p:cNvSpPr/>
          <p:nvPr/>
        </p:nvSpPr>
        <p:spPr>
          <a:xfrm>
            <a:off x="4709160" y="1280160"/>
            <a:ext cx="3017520" cy="3154680"/>
          </a:xfrm>
          <a:prstGeom prst="roundRect">
            <a:avLst>
              <a:gd name="adj" fmla="val 1818"/>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Target diagram (bias vs centred RMSD). Sehgal, Chakraborty &amp; Sahoo (2016) Inf. Process. Agric. 3:107–118, Fig. 3">    </p:cNvPr>
          <p:cNvPicPr>
            <a:picLocks noChangeAspect="1"/>
          </p:cNvPicPr>
          <p:nvPr/>
        </p:nvPicPr>
        <p:blipFill>
          <a:blip r:embed="rId2"/>
          <a:stretch>
            <a:fillRect/>
          </a:stretch>
        </p:blipFill>
        <p:spPr>
          <a:xfrm>
            <a:off x="4800600" y="1821695"/>
            <a:ext cx="2834640" cy="2071609"/>
          </a:xfrm>
          <a:prstGeom prst="rect">
            <a:avLst/>
          </a:prstGeom>
        </p:spPr>
      </p:pic>
      <p:sp>
        <p:nvSpPr>
          <p:cNvPr id="9" name="Text 4"/>
          <p:cNvSpPr txBox="1"/>
          <p:nvPr/>
        </p:nvSpPr>
        <p:spPr>
          <a:xfrm>
            <a:off x="4709160" y="4480560"/>
            <a:ext cx="3017520" cy="457200"/>
          </a:xfrm>
          <a:prstGeom prst="rect">
            <a:avLst/>
          </a:prstGeom>
          <a:noFill/>
          <a:ln/>
        </p:spPr>
        <p:txBody>
          <a:bodyPr wrap="square" lIns="0" tIns="0" rIns="0" bIns="0" rtlCol="0" anchor="t"/>
          <a:lstStyle/>
          <a:p>
            <a:pPr indent="0" marL="0">
              <a:buNone/>
            </a:pPr>
            <a:r>
              <a:rPr lang="en-US" sz="1100" i="1" dirty="0">
                <a:solidFill>
                  <a:schemeClr val="accent6"/>
                </a:solidFill>
              </a:rPr>
              <a:t>Target diagram (bias vs centred RMSD). Sehgal, Chakraborty &amp; Sahoo (2016) Inf. Process. Agric. 3:107–118, Fig. 3</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909560" y="1280160"/>
          <a:ext cx="3730752" cy="914400"/>
        </p:xfrm>
        <a:graphic>
          <a:graphicData uri="http://schemas.openxmlformats.org/drawingml/2006/table">
            <a:tbl>
              <a:tblPr/>
              <a:tblGrid>
                <a:gridCol w="1188720"/>
                <a:gridCol w="822960"/>
                <a:gridCol w="896112"/>
                <a:gridCol w="822960"/>
              </a:tblGrid>
              <a:tr h="457200">
                <a:tc>
                  <a:txBody>
                    <a:bodyPr/>
                    <a:lstStyle/>
                    <a:p>
                      <a:pPr indent="0" marL="0">
                        <a:buNone/>
                      </a:pP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LUT-I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LUT-II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ANN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57200">
                <a:tc>
                  <a:txBody>
                    <a:bodyPr/>
                    <a:lstStyle/>
                    <a:p>
                      <a:pPr indent="0" marL="0">
                        <a:buNone/>
                      </a:pPr>
                      <a:r>
                        <a:rPr lang="en-US" sz="1050" b="1" dirty="0">
                          <a:solidFill>
                            <a:schemeClr val="tx2"/>
                          </a:solidFill>
                          <a:latin typeface="Calibri" pitchFamily="34" charset="0"/>
                          <a:ea typeface="Calibri" pitchFamily="34" charset="-122"/>
                          <a:cs typeface="Calibri" pitchFamily="34" charset="-120"/>
                        </a:rPr>
                        <a:t>Cab r / RMSE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0.78 / 18.3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0.71 / </a:t>
                      </a:r>
                      <a:r>
                        <a:rPr lang="en-US" sz="1050" b="1" dirty="0">
                          <a:solidFill>
                            <a:schemeClr val="tx1"/>
                          </a:solidFill>
                          <a:latin typeface="Calibri" pitchFamily="34" charset="0"/>
                          <a:ea typeface="Calibri" pitchFamily="34" charset="-122"/>
                          <a:cs typeface="Calibri" pitchFamily="34" charset="-120"/>
                        </a:rPr>
                        <a:t>9.06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0.87 / 23.3</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2"/>
                          </a:solidFill>
                          <a:latin typeface="Calibri" pitchFamily="34" charset="0"/>
                          <a:ea typeface="Calibri" pitchFamily="34" charset="-122"/>
                          <a:cs typeface="Calibri" pitchFamily="34" charset="-120"/>
                        </a:rPr>
                        <a:t>LAI r / RMSE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0.90 / 0.56</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0.90 / </a:t>
                      </a:r>
                      <a:r>
                        <a:rPr lang="en-US" sz="1050" b="1" dirty="0">
                          <a:solidFill>
                            <a:schemeClr val="tx1"/>
                          </a:solidFill>
                          <a:latin typeface="Calibri" pitchFamily="34" charset="0"/>
                          <a:ea typeface="Calibri" pitchFamily="34" charset="-122"/>
                          <a:cs typeface="Calibri" pitchFamily="34" charset="-120"/>
                        </a:rPr>
                        <a:t>0.47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0.94 / 0.52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050" b="1" dirty="0">
                          <a:solidFill>
                            <a:schemeClr val="tx2"/>
                          </a:solidFill>
                          <a:latin typeface="Calibri" pitchFamily="34" charset="0"/>
                          <a:ea typeface="Calibri" pitchFamily="34" charset="-122"/>
                          <a:cs typeface="Calibri" pitchFamily="34" charset="-120"/>
                        </a:rPr>
                        <a:t>CCC r / RMSE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0.89 / 0.49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0.89 / </a:t>
                      </a:r>
                      <a:r>
                        <a:rPr lang="en-US" sz="1050" b="1" dirty="0">
                          <a:solidFill>
                            <a:schemeClr val="tx1"/>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0.92 / 0.54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2"/>
                          </a:solidFill>
                          <a:latin typeface="Calibri" pitchFamily="34" charset="0"/>
                          <a:ea typeface="Calibri" pitchFamily="34" charset="-122"/>
                          <a:cs typeface="Calibri" pitchFamily="34" charset="-120"/>
                        </a:rPr>
                        <a:t>Cw 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0.17 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0.30 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11" name="card"/>
          <p:cNvSpPr/>
          <p:nvPr/>
        </p:nvSpPr>
        <p:spPr>
          <a:xfrm>
            <a:off x="7909560" y="3749040"/>
            <a:ext cx="3730752" cy="2423160"/>
          </a:xfrm>
          <a:prstGeom prst="roundRect">
            <a:avLst>
              <a:gd name="adj" fmla="val 3019"/>
            </a:avLst>
          </a:prstGeom>
          <a:solidFill>
            <a:schemeClr val="bg2"/>
          </a:solidFill>
          <a:ln/>
          <a:effectLst>
            <a:outerShdw sx="100000" sy="100000" kx="0" ky="0" algn="bl" rotWithShape="0" blurRad="76200" dist="25400" dir="5400000">
              <a:srgbClr val="000000">
                <a:alpha val="14000"/>
              </a:srgbClr>
            </a:outerShdw>
          </a:effectLst>
        </p:spPr>
      </p:sp>
      <p:sp>
        <p:nvSpPr>
          <p:cNvPr id="12" name="Text 6"/>
          <p:cNvSpPr txBox="1"/>
          <p:nvPr/>
        </p:nvSpPr>
        <p:spPr>
          <a:xfrm>
            <a:off x="8092440" y="3886200"/>
            <a:ext cx="3410712" cy="365760"/>
          </a:xfrm>
          <a:prstGeom prst="rect">
            <a:avLst/>
          </a:prstGeom>
          <a:noFill/>
          <a:ln/>
        </p:spPr>
        <p:txBody>
          <a:bodyPr wrap="square" lIns="0" tIns="0" rIns="0" bIns="0" rtlCol="0" anchor="ctr"/>
          <a:lstStyle/>
          <a:p>
            <a:pPr indent="0" marL="0">
              <a:buNone/>
            </a:pPr>
            <a:r>
              <a:rPr lang="en-US" sz="1600" b="1" dirty="0">
                <a:solidFill>
                  <a:schemeClr val="tx2"/>
                </a:solidFill>
              </a:rPr>
              <a:t>Why</a:t>
            </a:r>
            <a:endParaRPr lang="en-US" sz="1600" dirty="0"/>
          </a:p>
        </p:txBody>
      </p:sp>
      <p:sp>
        <p:nvSpPr>
          <p:cNvPr id="13" name="Text 7"/>
          <p:cNvSpPr txBox="1"/>
          <p:nvPr/>
        </p:nvSpPr>
        <p:spPr>
          <a:xfrm>
            <a:off x="8092440" y="4297680"/>
            <a:ext cx="3364992" cy="1783080"/>
          </a:xfrm>
          <a:prstGeom prst="rect">
            <a:avLst/>
          </a:prstGeom>
          <a:noFill/>
          <a:ln/>
        </p:spPr>
        <p:txBody>
          <a:bodyPr wrap="square" lIns="508" tIns="508" rIns="508" bIns="508" rtlCol="0" anchor="t"/>
          <a:lstStyle/>
          <a:p>
            <a:pPr marL="177800" indent="-177800">
              <a:spcAft>
                <a:spcPts val="400"/>
              </a:spcAft>
              <a:buSzPct val="100000"/>
              <a:buChar char="•"/>
            </a:pPr>
            <a:r>
              <a:rPr lang="en-US" sz="1150" dirty="0">
                <a:solidFill>
                  <a:schemeClr val="tx1"/>
                </a:solidFill>
              </a:rPr>
              <a:t>LUT is radiometric: seeks best spectral match; ANN minimises error in variable space</a:t>
            </a:r>
            <a:endParaRPr lang="en-US" sz="1150" dirty="0"/>
          </a:p>
          <a:p>
            <a:pPr marL="177800" indent="-177800">
              <a:spcAft>
                <a:spcPts val="400"/>
              </a:spcAft>
              <a:buSzPct val="100000"/>
              <a:buChar char="•"/>
            </a:pPr>
            <a:r>
              <a:rPr lang="en-US" sz="1150" dirty="0">
                <a:solidFill>
                  <a:schemeClr val="tx1"/>
                </a:solidFill>
              </a:rPr>
              <a:t>ANN changes with each training set; LUT is consistent</a:t>
            </a:r>
            <a:endParaRPr lang="en-US" sz="1150" dirty="0"/>
          </a:p>
          <a:p>
            <a:pPr marL="177800" indent="-177800">
              <a:spcAft>
                <a:spcPts val="400"/>
              </a:spcAft>
              <a:buSzPct val="100000"/>
              <a:buChar char="•"/>
            </a:pPr>
            <a:r>
              <a:rPr lang="en-US" sz="1150" dirty="0">
                <a:solidFill>
                  <a:schemeClr val="tx1"/>
                </a:solidFill>
              </a:rPr>
              <a:t>Cw range too narrow (N trial)</a:t>
            </a:r>
            <a:endParaRPr lang="en-US" sz="1150" dirty="0"/>
          </a:p>
        </p:txBody>
      </p:sp>
      <p:sp>
        <p:nvSpPr>
          <p:cNvPr id="14" name="insight"/>
          <p:cNvSpPr/>
          <p:nvPr/>
        </p:nvSpPr>
        <p:spPr>
          <a:xfrm>
            <a:off x="548640" y="5120640"/>
            <a:ext cx="7178040" cy="1051560"/>
          </a:xfrm>
          <a:prstGeom prst="roundRect">
            <a:avLst>
              <a:gd name="adj" fmla="val 6957"/>
            </a:avLst>
          </a:prstGeom>
          <a:solidFill>
            <a:schemeClr val="bg2"/>
          </a:solidFill>
          <a:ln/>
        </p:spPr>
      </p:sp>
      <p:sp>
        <p:nvSpPr>
          <p:cNvPr id="15" name="icon circle"/>
          <p:cNvSpPr/>
          <p:nvPr/>
        </p:nvSpPr>
        <p:spPr>
          <a:xfrm>
            <a:off x="685800" y="5408676"/>
            <a:ext cx="475488" cy="475488"/>
          </a:xfrm>
          <a:prstGeom prst="ellipse">
            <a:avLst/>
          </a:prstGeom>
          <a:solidFill>
            <a:schemeClr val="accent3"/>
          </a:solidFill>
          <a:ln/>
        </p:spPr>
      </p:sp>
      <p:pic>
        <p:nvPicPr>
          <p:cNvPr id="16" name="Image 2" descr="Lightbulb icon">    </p:cNvPr>
          <p:cNvPicPr>
            <a:picLocks noChangeAspect="1"/>
          </p:cNvPicPr>
          <p:nvPr/>
        </p:nvPicPr>
        <p:blipFill>
          <a:blip r:embed="rId3"/>
          <a:stretch>
            <a:fillRect/>
          </a:stretch>
        </p:blipFill>
        <p:spPr>
          <a:xfrm>
            <a:off x="809427" y="5532303"/>
            <a:ext cx="228234" cy="228234"/>
          </a:xfrm>
          <a:prstGeom prst="rect">
            <a:avLst/>
          </a:prstGeom>
        </p:spPr>
      </p:pic>
      <p:sp>
        <p:nvSpPr>
          <p:cNvPr id="17" name="Text 10"/>
          <p:cNvSpPr txBox="1"/>
          <p:nvPr/>
        </p:nvSpPr>
        <p:spPr>
          <a:xfrm>
            <a:off x="1325880" y="5157216"/>
            <a:ext cx="6263640" cy="97840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Order </a:t>
            </a:r>
            <a:r>
              <a:rPr lang="en-US" sz="1350" b="1" dirty="0">
                <a:solidFill>
                  <a:schemeClr val="tx1"/>
                </a:solidFill>
              </a:rPr>
              <a:t>LAI &gt; Cab &gt; CCC &gt; Cw</a:t>
            </a:r>
            <a:r>
              <a:rPr lang="en-US" sz="1350" dirty="0">
                <a:solidFill>
                  <a:schemeClr val="tx1"/>
                </a:solidFill>
              </a:rPr>
              <a:t> in all methods → PROSAIL's VIS errors and Lambertian soil limit accuracy more than the algorithm.</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From field to region: wheat LAI map from IRS LISS-3</a:t>
            </a:r>
            <a:endParaRPr lang="en-US" sz="3200" dirty="0"/>
          </a:p>
        </p:txBody>
      </p:sp>
      <p:sp>
        <p:nvSpPr>
          <p:cNvPr id="4" name="diagram box"/>
          <p:cNvSpPr/>
          <p:nvPr/>
        </p:nvSpPr>
        <p:spPr>
          <a:xfrm>
            <a:off x="548640" y="1325880"/>
            <a:ext cx="3200400" cy="548640"/>
          </a:xfrm>
          <a:prstGeom prst="roundRect">
            <a:avLst>
              <a:gd name="adj" fmla="val 13333"/>
            </a:avLst>
          </a:prstGeom>
          <a:solidFill>
            <a:schemeClr val="bg2"/>
          </a:solidFill>
          <a:ln/>
        </p:spPr>
      </p:sp>
      <p:sp>
        <p:nvSpPr>
          <p:cNvPr id="5" name="Text 2"/>
          <p:cNvSpPr txBox="1"/>
          <p:nvPr/>
        </p:nvSpPr>
        <p:spPr>
          <a:xfrm>
            <a:off x="548640" y="1325880"/>
            <a:ext cx="3200400" cy="548640"/>
          </a:xfrm>
          <a:prstGeom prst="rect">
            <a:avLst/>
          </a:prstGeom>
          <a:noFill/>
          <a:ln/>
        </p:spPr>
        <p:txBody>
          <a:bodyPr wrap="square" lIns="508" tIns="508" rIns="508" bIns="508" rtlCol="0" anchor="ctr"/>
          <a:lstStyle/>
          <a:p>
            <a:pPr algn="ctr" indent="0" marL="0">
              <a:buNone/>
            </a:pPr>
            <a:r>
              <a:rPr lang="en-US" sz="1150" dirty="0">
                <a:solidFill>
                  <a:schemeClr val="tx1"/>
                </a:solidFill>
              </a:rPr>
              <a:t>LISS-3 image (5 Feb 2012, path 96 / row 53)</a:t>
            </a:r>
            <a:endParaRPr lang="en-US" sz="1150" dirty="0"/>
          </a:p>
        </p:txBody>
      </p:sp>
      <p:sp>
        <p:nvSpPr>
          <p:cNvPr id="6" name="arrow"/>
          <p:cNvSpPr/>
          <p:nvPr/>
        </p:nvSpPr>
        <p:spPr>
          <a:xfrm>
            <a:off x="2148840" y="1874520"/>
            <a:ext cx="0" cy="118872"/>
          </a:xfrm>
          <a:prstGeom prst="line">
            <a:avLst/>
          </a:prstGeom>
          <a:noFill/>
          <a:ln w="22225">
            <a:solidFill>
              <a:srgbClr val="1F4E3D"/>
            </a:solidFill>
            <a:prstDash val="solid"/>
            <a:tailEnd type="triangle"/>
          </a:ln>
        </p:spPr>
      </p:sp>
      <p:sp>
        <p:nvSpPr>
          <p:cNvPr id="7" name="diagram box"/>
          <p:cNvSpPr/>
          <p:nvPr/>
        </p:nvSpPr>
        <p:spPr>
          <a:xfrm>
            <a:off x="548640" y="1993392"/>
            <a:ext cx="3200400" cy="548640"/>
          </a:xfrm>
          <a:prstGeom prst="roundRect">
            <a:avLst>
              <a:gd name="adj" fmla="val 13333"/>
            </a:avLst>
          </a:prstGeom>
          <a:solidFill>
            <a:schemeClr val="bg2"/>
          </a:solidFill>
          <a:ln/>
        </p:spPr>
      </p:sp>
      <p:sp>
        <p:nvSpPr>
          <p:cNvPr id="8" name="Text 5"/>
          <p:cNvSpPr txBox="1"/>
          <p:nvPr/>
        </p:nvSpPr>
        <p:spPr>
          <a:xfrm>
            <a:off x="548640" y="1993392"/>
            <a:ext cx="3200400" cy="548640"/>
          </a:xfrm>
          <a:prstGeom prst="rect">
            <a:avLst/>
          </a:prstGeom>
          <a:noFill/>
          <a:ln/>
        </p:spPr>
        <p:txBody>
          <a:bodyPr wrap="square" lIns="508" tIns="508" rIns="508" bIns="508" rtlCol="0" anchor="ctr"/>
          <a:lstStyle/>
          <a:p>
            <a:pPr algn="ctr" indent="0" marL="0">
              <a:buNone/>
            </a:pPr>
            <a:r>
              <a:rPr lang="en-US" sz="1150" dirty="0">
                <a:solidFill>
                  <a:schemeClr val="tx1"/>
                </a:solidFill>
              </a:rPr>
              <a:t>Geometric correction (SOI GCPs)</a:t>
            </a:r>
            <a:endParaRPr lang="en-US" sz="1150" dirty="0"/>
          </a:p>
        </p:txBody>
      </p:sp>
      <p:sp>
        <p:nvSpPr>
          <p:cNvPr id="9" name="arrow"/>
          <p:cNvSpPr/>
          <p:nvPr/>
        </p:nvSpPr>
        <p:spPr>
          <a:xfrm>
            <a:off x="2148840" y="2542032"/>
            <a:ext cx="0" cy="118872"/>
          </a:xfrm>
          <a:prstGeom prst="line">
            <a:avLst/>
          </a:prstGeom>
          <a:noFill/>
          <a:ln w="22225">
            <a:solidFill>
              <a:srgbClr val="1F4E3D"/>
            </a:solidFill>
            <a:prstDash val="solid"/>
            <a:tailEnd type="triangle"/>
          </a:ln>
        </p:spPr>
      </p:sp>
      <p:sp>
        <p:nvSpPr>
          <p:cNvPr id="10" name="diagram box"/>
          <p:cNvSpPr/>
          <p:nvPr/>
        </p:nvSpPr>
        <p:spPr>
          <a:xfrm>
            <a:off x="548640" y="2660904"/>
            <a:ext cx="3200400" cy="548640"/>
          </a:xfrm>
          <a:prstGeom prst="roundRect">
            <a:avLst>
              <a:gd name="adj" fmla="val 13333"/>
            </a:avLst>
          </a:prstGeom>
          <a:solidFill>
            <a:schemeClr val="bg2"/>
          </a:solidFill>
          <a:ln/>
        </p:spPr>
      </p:sp>
      <p:sp>
        <p:nvSpPr>
          <p:cNvPr id="11" name="Text 8"/>
          <p:cNvSpPr txBox="1"/>
          <p:nvPr/>
        </p:nvSpPr>
        <p:spPr>
          <a:xfrm>
            <a:off x="548640" y="2660904"/>
            <a:ext cx="3200400" cy="548640"/>
          </a:xfrm>
          <a:prstGeom prst="rect">
            <a:avLst/>
          </a:prstGeom>
          <a:noFill/>
          <a:ln/>
        </p:spPr>
        <p:txBody>
          <a:bodyPr wrap="square" lIns="508" tIns="508" rIns="508" bIns="508" rtlCol="0" anchor="ctr"/>
          <a:lstStyle/>
          <a:p>
            <a:pPr algn="ctr" indent="0" marL="0">
              <a:buNone/>
            </a:pPr>
            <a:r>
              <a:rPr lang="en-US" sz="1150" dirty="0">
                <a:solidFill>
                  <a:schemeClr val="tx1"/>
                </a:solidFill>
              </a:rPr>
              <a:t>DN → radiance (gain, offset)</a:t>
            </a:r>
            <a:endParaRPr lang="en-US" sz="1150" dirty="0"/>
          </a:p>
        </p:txBody>
      </p:sp>
      <p:sp>
        <p:nvSpPr>
          <p:cNvPr id="12" name="arrow"/>
          <p:cNvSpPr/>
          <p:nvPr/>
        </p:nvSpPr>
        <p:spPr>
          <a:xfrm>
            <a:off x="2148840" y="3209544"/>
            <a:ext cx="0" cy="118872"/>
          </a:xfrm>
          <a:prstGeom prst="line">
            <a:avLst/>
          </a:prstGeom>
          <a:noFill/>
          <a:ln w="22225">
            <a:solidFill>
              <a:srgbClr val="1F4E3D"/>
            </a:solidFill>
            <a:prstDash val="solid"/>
            <a:tailEnd type="triangle"/>
          </a:ln>
        </p:spPr>
      </p:sp>
      <p:sp>
        <p:nvSpPr>
          <p:cNvPr id="13" name="diagram box"/>
          <p:cNvSpPr/>
          <p:nvPr/>
        </p:nvSpPr>
        <p:spPr>
          <a:xfrm>
            <a:off x="548640" y="3328416"/>
            <a:ext cx="3200400" cy="548640"/>
          </a:xfrm>
          <a:prstGeom prst="roundRect">
            <a:avLst>
              <a:gd name="adj" fmla="val 13333"/>
            </a:avLst>
          </a:prstGeom>
          <a:solidFill>
            <a:schemeClr val="bg2"/>
          </a:solidFill>
          <a:ln/>
        </p:spPr>
      </p:sp>
      <p:sp>
        <p:nvSpPr>
          <p:cNvPr id="14" name="Text 11"/>
          <p:cNvSpPr txBox="1"/>
          <p:nvPr/>
        </p:nvSpPr>
        <p:spPr>
          <a:xfrm>
            <a:off x="548640" y="3328416"/>
            <a:ext cx="3200400" cy="548640"/>
          </a:xfrm>
          <a:prstGeom prst="rect">
            <a:avLst/>
          </a:prstGeom>
          <a:noFill/>
          <a:ln/>
        </p:spPr>
        <p:txBody>
          <a:bodyPr wrap="square" lIns="508" tIns="508" rIns="508" bIns="508" rtlCol="0" anchor="ctr"/>
          <a:lstStyle/>
          <a:p>
            <a:pPr algn="ctr" indent="0" marL="0">
              <a:buNone/>
            </a:pPr>
            <a:r>
              <a:rPr lang="en-US" sz="1150" dirty="0">
                <a:solidFill>
                  <a:schemeClr val="tx1"/>
                </a:solidFill>
              </a:rPr>
              <a:t>FLAASH → surface reflectance</a:t>
            </a:r>
            <a:endParaRPr lang="en-US" sz="1150" dirty="0"/>
          </a:p>
        </p:txBody>
      </p:sp>
      <p:sp>
        <p:nvSpPr>
          <p:cNvPr id="15" name="arrow"/>
          <p:cNvSpPr/>
          <p:nvPr/>
        </p:nvSpPr>
        <p:spPr>
          <a:xfrm>
            <a:off x="2148840" y="3877056"/>
            <a:ext cx="0" cy="118872"/>
          </a:xfrm>
          <a:prstGeom prst="line">
            <a:avLst/>
          </a:prstGeom>
          <a:noFill/>
          <a:ln w="22225">
            <a:solidFill>
              <a:srgbClr val="1F4E3D"/>
            </a:solidFill>
            <a:prstDash val="solid"/>
            <a:tailEnd type="triangle"/>
          </a:ln>
        </p:spPr>
      </p:sp>
      <p:sp>
        <p:nvSpPr>
          <p:cNvPr id="16" name="diagram box"/>
          <p:cNvSpPr/>
          <p:nvPr/>
        </p:nvSpPr>
        <p:spPr>
          <a:xfrm>
            <a:off x="548640" y="3995928"/>
            <a:ext cx="3200400" cy="548640"/>
          </a:xfrm>
          <a:prstGeom prst="roundRect">
            <a:avLst>
              <a:gd name="adj" fmla="val 13333"/>
            </a:avLst>
          </a:prstGeom>
          <a:solidFill>
            <a:schemeClr val="bg2"/>
          </a:solidFill>
          <a:ln/>
        </p:spPr>
      </p:sp>
      <p:sp>
        <p:nvSpPr>
          <p:cNvPr id="17" name="Text 14"/>
          <p:cNvSpPr txBox="1"/>
          <p:nvPr/>
        </p:nvSpPr>
        <p:spPr>
          <a:xfrm>
            <a:off x="548640" y="3995928"/>
            <a:ext cx="3200400" cy="548640"/>
          </a:xfrm>
          <a:prstGeom prst="rect">
            <a:avLst/>
          </a:prstGeom>
          <a:noFill/>
          <a:ln/>
        </p:spPr>
        <p:txBody>
          <a:bodyPr wrap="square" lIns="508" tIns="508" rIns="508" bIns="508" rtlCol="0" anchor="ctr"/>
          <a:lstStyle/>
          <a:p>
            <a:pPr algn="ctr" indent="0" marL="0">
              <a:buNone/>
            </a:pPr>
            <a:r>
              <a:rPr lang="en-US" sz="1150" dirty="0">
                <a:solidFill>
                  <a:schemeClr val="tx1"/>
                </a:solidFill>
              </a:rPr>
              <a:t>MLC classification → wheat mask</a:t>
            </a:r>
            <a:endParaRPr lang="en-US" sz="1150" dirty="0"/>
          </a:p>
        </p:txBody>
      </p:sp>
      <p:sp>
        <p:nvSpPr>
          <p:cNvPr id="18" name="arrow"/>
          <p:cNvSpPr/>
          <p:nvPr/>
        </p:nvSpPr>
        <p:spPr>
          <a:xfrm>
            <a:off x="2148840" y="4544568"/>
            <a:ext cx="0" cy="118872"/>
          </a:xfrm>
          <a:prstGeom prst="line">
            <a:avLst/>
          </a:prstGeom>
          <a:noFill/>
          <a:ln w="22225">
            <a:solidFill>
              <a:srgbClr val="1F4E3D"/>
            </a:solidFill>
            <a:prstDash val="solid"/>
            <a:tailEnd type="triangle"/>
          </a:ln>
        </p:spPr>
      </p:sp>
      <p:sp>
        <p:nvSpPr>
          <p:cNvPr id="19" name="diagram box"/>
          <p:cNvSpPr/>
          <p:nvPr/>
        </p:nvSpPr>
        <p:spPr>
          <a:xfrm>
            <a:off x="548640" y="4663440"/>
            <a:ext cx="3200400" cy="548640"/>
          </a:xfrm>
          <a:prstGeom prst="roundRect">
            <a:avLst>
              <a:gd name="adj" fmla="val 13333"/>
            </a:avLst>
          </a:prstGeom>
          <a:solidFill>
            <a:schemeClr val="accent1"/>
          </a:solidFill>
          <a:ln/>
        </p:spPr>
      </p:sp>
      <p:sp>
        <p:nvSpPr>
          <p:cNvPr id="20" name="Text 17"/>
          <p:cNvSpPr txBox="1"/>
          <p:nvPr/>
        </p:nvSpPr>
        <p:spPr>
          <a:xfrm>
            <a:off x="548640" y="4663440"/>
            <a:ext cx="3200400" cy="548640"/>
          </a:xfrm>
          <a:prstGeom prst="rect">
            <a:avLst/>
          </a:prstGeom>
          <a:noFill/>
          <a:ln/>
        </p:spPr>
        <p:txBody>
          <a:bodyPr wrap="square" lIns="508" tIns="508" rIns="508" bIns="508" rtlCol="0" anchor="ctr"/>
          <a:lstStyle/>
          <a:p>
            <a:pPr algn="ctr" indent="0" marL="0">
              <a:buNone/>
            </a:pPr>
            <a:r>
              <a:rPr lang="en-US" sz="1150" b="1" dirty="0">
                <a:solidFill>
                  <a:schemeClr val="bg1"/>
                </a:solidFill>
              </a:rPr>
              <a:t>LUT-II per pixel → LAI map</a:t>
            </a:r>
            <a:endParaRPr lang="en-US" sz="1150" dirty="0"/>
          </a:p>
        </p:txBody>
      </p:sp>
      <p:sp>
        <p:nvSpPr>
          <p:cNvPr id="21" name="arrow"/>
          <p:cNvSpPr/>
          <p:nvPr/>
        </p:nvSpPr>
        <p:spPr>
          <a:xfrm>
            <a:off x="2148840" y="5212080"/>
            <a:ext cx="0" cy="118872"/>
          </a:xfrm>
          <a:prstGeom prst="line">
            <a:avLst/>
          </a:prstGeom>
          <a:noFill/>
          <a:ln w="22225">
            <a:solidFill>
              <a:srgbClr val="1F4E3D"/>
            </a:solidFill>
            <a:prstDash val="solid"/>
            <a:tailEnd type="triangle"/>
          </a:ln>
        </p:spPr>
      </p:sp>
      <p:sp>
        <p:nvSpPr>
          <p:cNvPr id="22" name="diagram box"/>
          <p:cNvSpPr/>
          <p:nvPr/>
        </p:nvSpPr>
        <p:spPr>
          <a:xfrm>
            <a:off x="548640" y="5330952"/>
            <a:ext cx="3200400" cy="548640"/>
          </a:xfrm>
          <a:prstGeom prst="roundRect">
            <a:avLst>
              <a:gd name="adj" fmla="val 13333"/>
            </a:avLst>
          </a:prstGeom>
          <a:solidFill>
            <a:schemeClr val="accent3"/>
          </a:solidFill>
          <a:ln/>
        </p:spPr>
      </p:sp>
      <p:sp>
        <p:nvSpPr>
          <p:cNvPr id="23" name="Text 20"/>
          <p:cNvSpPr txBox="1"/>
          <p:nvPr/>
        </p:nvSpPr>
        <p:spPr>
          <a:xfrm>
            <a:off x="548640" y="5330952"/>
            <a:ext cx="3200400" cy="548640"/>
          </a:xfrm>
          <a:prstGeom prst="rect">
            <a:avLst/>
          </a:prstGeom>
          <a:noFill/>
          <a:ln/>
        </p:spPr>
        <p:txBody>
          <a:bodyPr wrap="square" lIns="508" tIns="508" rIns="508" bIns="508" rtlCol="0" anchor="ctr"/>
          <a:lstStyle/>
          <a:p>
            <a:pPr algn="ctr" indent="0" marL="0">
              <a:buNone/>
            </a:pPr>
            <a:r>
              <a:rPr lang="en-US" sz="1150" b="1" dirty="0">
                <a:solidFill>
                  <a:schemeClr val="tx1"/>
                </a:solidFill>
              </a:rPr>
              <a:t>Validate: LAI-2000 + GPS</a:t>
            </a:r>
            <a:endParaRPr lang="en-US" sz="1150" dirty="0"/>
          </a:p>
        </p:txBody>
      </p:sp>
      <p:sp>
        <p:nvSpPr>
          <p:cNvPr id="24" name="figure frame"/>
          <p:cNvSpPr/>
          <p:nvPr/>
        </p:nvSpPr>
        <p:spPr>
          <a:xfrm>
            <a:off x="3931920" y="1280160"/>
            <a:ext cx="4206240" cy="4434840"/>
          </a:xfrm>
          <a:prstGeom prst="roundRect">
            <a:avLst>
              <a:gd name="adj" fmla="val 1304"/>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5" name="Image 0" descr="Wheat LAI by PROSAIL5B LUT-II, Sheopur (MP). Sehgal, Chakraborty &amp; Sahoo (2016) Inf. Process. Agric. 3:107–118, Fig. 4">    </p:cNvPr>
          <p:cNvPicPr>
            <a:picLocks noChangeAspect="1"/>
          </p:cNvPicPr>
          <p:nvPr/>
        </p:nvPicPr>
        <p:blipFill>
          <a:blip r:embed="rId1"/>
          <a:stretch>
            <a:fillRect/>
          </a:stretch>
        </p:blipFill>
        <p:spPr>
          <a:xfrm>
            <a:off x="4073448" y="1371600"/>
            <a:ext cx="3923184" cy="4251960"/>
          </a:xfrm>
          <a:prstGeom prst="rect">
            <a:avLst/>
          </a:prstGeom>
        </p:spPr>
      </p:pic>
      <p:sp>
        <p:nvSpPr>
          <p:cNvPr id="26" name="Text 22"/>
          <p:cNvSpPr txBox="1"/>
          <p:nvPr/>
        </p:nvSpPr>
        <p:spPr>
          <a:xfrm>
            <a:off x="3931920" y="5760720"/>
            <a:ext cx="4206240" cy="411480"/>
          </a:xfrm>
          <a:prstGeom prst="rect">
            <a:avLst/>
          </a:prstGeom>
          <a:noFill/>
          <a:ln/>
        </p:spPr>
        <p:txBody>
          <a:bodyPr wrap="square" lIns="0" tIns="0" rIns="0" bIns="0" rtlCol="0" anchor="t"/>
          <a:lstStyle/>
          <a:p>
            <a:pPr indent="0" marL="0">
              <a:buNone/>
            </a:pPr>
            <a:r>
              <a:rPr lang="en-US" sz="1100" i="1" dirty="0">
                <a:solidFill>
                  <a:schemeClr val="accent6"/>
                </a:solidFill>
              </a:rPr>
              <a:t>Wheat LAI by PROSAIL5B LUT-II, Sheopur (MP). Sehgal, Chakraborty &amp; Sahoo (2016) Inf. Process. Agric. 3:107–118, Fig. 4</a:t>
            </a:r>
            <a:endParaRPr lang="en-US" sz="1100" dirty="0"/>
          </a:p>
        </p:txBody>
      </p:sp>
      <p:sp>
        <p:nvSpPr>
          <p:cNvPr id="27" name="figure frame"/>
          <p:cNvSpPr/>
          <p:nvPr/>
        </p:nvSpPr>
        <p:spPr>
          <a:xfrm>
            <a:off x="8321040" y="1280160"/>
            <a:ext cx="3319272" cy="2651760"/>
          </a:xfrm>
          <a:prstGeom prst="roundRect">
            <a:avLst>
              <a:gd name="adj" fmla="val 206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8" name="Image 1" descr="Retrieved vs observed LAI. Sehgal, Chakraborty &amp; Sahoo (2016) Inf. Process. Agric. 3:107–118, Fig. 5">    </p:cNvPr>
          <p:cNvPicPr>
            <a:picLocks noChangeAspect="1"/>
          </p:cNvPicPr>
          <p:nvPr/>
        </p:nvPicPr>
        <p:blipFill>
          <a:blip r:embed="rId2"/>
          <a:stretch>
            <a:fillRect/>
          </a:stretch>
        </p:blipFill>
        <p:spPr>
          <a:xfrm>
            <a:off x="8419935" y="1371600"/>
            <a:ext cx="3121482" cy="2468880"/>
          </a:xfrm>
          <a:prstGeom prst="rect">
            <a:avLst/>
          </a:prstGeom>
        </p:spPr>
      </p:pic>
      <p:sp>
        <p:nvSpPr>
          <p:cNvPr id="29" name="Text 24"/>
          <p:cNvSpPr txBox="1"/>
          <p:nvPr/>
        </p:nvSpPr>
        <p:spPr>
          <a:xfrm>
            <a:off x="8321040" y="3977640"/>
            <a:ext cx="3319272" cy="411480"/>
          </a:xfrm>
          <a:prstGeom prst="rect">
            <a:avLst/>
          </a:prstGeom>
          <a:noFill/>
          <a:ln/>
        </p:spPr>
        <p:txBody>
          <a:bodyPr wrap="square" lIns="0" tIns="0" rIns="0" bIns="0" rtlCol="0" anchor="t"/>
          <a:lstStyle/>
          <a:p>
            <a:pPr indent="0" marL="0">
              <a:buNone/>
            </a:pPr>
            <a:r>
              <a:rPr lang="en-US" sz="1100" i="1" dirty="0">
                <a:solidFill>
                  <a:schemeClr val="accent6"/>
                </a:solidFill>
              </a:rPr>
              <a:t>Retrieved vs observed LAI. Sehgal, Chakraborty &amp; Sahoo (2016) Inf. Process. Agric. 3:107–118, Fig. 5</a:t>
            </a:r>
            <a:endParaRPr lang="en-US" sz="1100" dirty="0"/>
          </a:p>
        </p:txBody>
      </p:sp>
      <p:sp>
        <p:nvSpPr>
          <p:cNvPr id="30" name="card"/>
          <p:cNvSpPr/>
          <p:nvPr/>
        </p:nvSpPr>
        <p:spPr>
          <a:xfrm>
            <a:off x="8321040" y="4526280"/>
            <a:ext cx="16002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31" name="Text 26"/>
          <p:cNvSpPr txBox="1"/>
          <p:nvPr/>
        </p:nvSpPr>
        <p:spPr>
          <a:xfrm>
            <a:off x="8321040" y="4599432"/>
            <a:ext cx="160020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0.56</a:t>
            </a:r>
            <a:endParaRPr lang="en-US" sz="2400" dirty="0"/>
          </a:p>
        </p:txBody>
      </p:sp>
      <p:sp>
        <p:nvSpPr>
          <p:cNvPr id="32" name="Text 27"/>
          <p:cNvSpPr txBox="1"/>
          <p:nvPr/>
        </p:nvSpPr>
        <p:spPr>
          <a:xfrm>
            <a:off x="8412480" y="5129784"/>
            <a:ext cx="1417320" cy="384048"/>
          </a:xfrm>
          <a:prstGeom prst="rect">
            <a:avLst/>
          </a:prstGeom>
          <a:noFill/>
          <a:ln/>
        </p:spPr>
        <p:txBody>
          <a:bodyPr wrap="square" lIns="0" tIns="0" rIns="0" bIns="0" rtlCol="0" anchor="t"/>
          <a:lstStyle/>
          <a:p>
            <a:pPr algn="ctr" indent="0" marL="0">
              <a:buNone/>
            </a:pPr>
            <a:r>
              <a:rPr lang="en-US" sz="1100" dirty="0">
                <a:solidFill>
                  <a:schemeClr val="accent6"/>
                </a:solidFill>
              </a:rPr>
              <a:t>LAI RMSE (R² 0.87)</a:t>
            </a:r>
            <a:endParaRPr lang="en-US" sz="1100" dirty="0"/>
          </a:p>
        </p:txBody>
      </p:sp>
      <p:sp>
        <p:nvSpPr>
          <p:cNvPr id="33" name="card"/>
          <p:cNvSpPr/>
          <p:nvPr/>
        </p:nvSpPr>
        <p:spPr>
          <a:xfrm>
            <a:off x="10040112" y="4526280"/>
            <a:ext cx="16002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34" name="Text 29"/>
          <p:cNvSpPr txBox="1"/>
          <p:nvPr/>
        </p:nvSpPr>
        <p:spPr>
          <a:xfrm>
            <a:off x="10040112" y="4599432"/>
            <a:ext cx="160020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Cambria" pitchFamily="34" charset="0"/>
                <a:ea typeface="Cambria" pitchFamily="34" charset="-122"/>
                <a:cs typeface="Cambria" pitchFamily="34" charset="-120"/>
              </a:rPr>
              <a:t>0.55–4.5</a:t>
            </a:r>
            <a:endParaRPr lang="en-US" sz="2400" dirty="0"/>
          </a:p>
        </p:txBody>
      </p:sp>
      <p:sp>
        <p:nvSpPr>
          <p:cNvPr id="35" name="Text 30"/>
          <p:cNvSpPr txBox="1"/>
          <p:nvPr/>
        </p:nvSpPr>
        <p:spPr>
          <a:xfrm>
            <a:off x="10131552" y="5129784"/>
            <a:ext cx="1417320" cy="384048"/>
          </a:xfrm>
          <a:prstGeom prst="rect">
            <a:avLst/>
          </a:prstGeom>
          <a:noFill/>
          <a:ln/>
        </p:spPr>
        <p:txBody>
          <a:bodyPr wrap="square" lIns="0" tIns="0" rIns="0" bIns="0" rtlCol="0" anchor="t"/>
          <a:lstStyle/>
          <a:p>
            <a:pPr algn="ctr" indent="0" marL="0">
              <a:buNone/>
            </a:pPr>
            <a:r>
              <a:rPr lang="en-US" sz="1100" dirty="0">
                <a:solidFill>
                  <a:schemeClr val="accent6"/>
                </a:solidFill>
              </a:rPr>
              <a:t>LAI range; mostly ~2</a:t>
            </a:r>
            <a:endParaRPr lang="en-US" sz="1100" dirty="0"/>
          </a:p>
        </p:txBody>
      </p:sp>
      <p:sp>
        <p:nvSpPr>
          <p:cNvPr id="36" name="Text 31"/>
          <p:cNvSpPr txBox="1"/>
          <p:nvPr/>
        </p:nvSpPr>
        <p:spPr>
          <a:xfrm>
            <a:off x="8321040" y="5669280"/>
            <a:ext cx="3319272" cy="457200"/>
          </a:xfrm>
          <a:prstGeom prst="rect">
            <a:avLst/>
          </a:prstGeom>
          <a:noFill/>
          <a:ln/>
        </p:spPr>
        <p:txBody>
          <a:bodyPr wrap="square" lIns="0" tIns="0" rIns="0" bIns="0" rtlCol="0" anchor="ctr"/>
          <a:lstStyle/>
          <a:p>
            <a:pPr algn="l" indent="0" marL="0">
              <a:buNone/>
            </a:pPr>
            <a:r>
              <a:rPr lang="en-US" sz="1150" i="1" dirty="0">
                <a:solidFill>
                  <a:schemeClr val="accent6"/>
                </a:solidFill>
              </a:rPr>
              <a:t>Errors mainly from model simulation, not inversion</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Retrieval methods: the big picture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Parametric, non-parametric, physically-based and hybrid approaches (Verrelst et al. 2015)</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Statistical methods: parametric vs non-parametric</a:t>
            </a:r>
            <a:endParaRPr lang="en-US" sz="3200" dirty="0"/>
          </a:p>
        </p:txBody>
      </p:sp>
      <p:sp>
        <p:nvSpPr>
          <p:cNvPr id="4" name="figure frame"/>
          <p:cNvSpPr/>
          <p:nvPr/>
        </p:nvSpPr>
        <p:spPr>
          <a:xfrm>
            <a:off x="548640" y="1280160"/>
            <a:ext cx="5486400" cy="1371600"/>
          </a:xfrm>
          <a:prstGeom prst="roundRect">
            <a:avLst>
              <a:gd name="adj" fmla="val 40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Parametric regression. Verrelst et al. (2015) ISPRS J. Photogramm. Remote Sens. 108:273–290, Fig. 1">    </p:cNvPr>
          <p:cNvPicPr>
            <a:picLocks noChangeAspect="1"/>
          </p:cNvPicPr>
          <p:nvPr/>
        </p:nvPicPr>
        <p:blipFill>
          <a:blip r:embed="rId1"/>
          <a:stretch>
            <a:fillRect/>
          </a:stretch>
        </p:blipFill>
        <p:spPr>
          <a:xfrm>
            <a:off x="1449504" y="1371600"/>
            <a:ext cx="3684673" cy="1188720"/>
          </a:xfrm>
          <a:prstGeom prst="rect">
            <a:avLst/>
          </a:prstGeom>
        </p:spPr>
      </p:pic>
      <p:sp>
        <p:nvSpPr>
          <p:cNvPr id="6" name="Text 2"/>
          <p:cNvSpPr txBox="1"/>
          <p:nvPr/>
        </p:nvSpPr>
        <p:spPr>
          <a:xfrm>
            <a:off x="548640" y="2697480"/>
            <a:ext cx="5486400" cy="320040"/>
          </a:xfrm>
          <a:prstGeom prst="rect">
            <a:avLst/>
          </a:prstGeom>
          <a:noFill/>
          <a:ln/>
        </p:spPr>
        <p:txBody>
          <a:bodyPr wrap="square" lIns="0" tIns="0" rIns="0" bIns="0" rtlCol="0" anchor="t"/>
          <a:lstStyle/>
          <a:p>
            <a:pPr indent="0" marL="0">
              <a:buNone/>
            </a:pPr>
            <a:r>
              <a:rPr lang="en-US" sz="1100" i="1" dirty="0">
                <a:solidFill>
                  <a:schemeClr val="accent6"/>
                </a:solidFill>
              </a:rPr>
              <a:t>Parametric regression. Verrelst et al. (2015) ISPRS J. Photogramm. Remote Sens. 108:273–290, Fig. 1</a:t>
            </a:r>
            <a:endParaRPr lang="en-US" sz="1100" dirty="0"/>
          </a:p>
        </p:txBody>
      </p:sp>
      <p:sp>
        <p:nvSpPr>
          <p:cNvPr id="7" name="figure frame"/>
          <p:cNvSpPr/>
          <p:nvPr/>
        </p:nvSpPr>
        <p:spPr>
          <a:xfrm>
            <a:off x="6153912" y="1280160"/>
            <a:ext cx="5486400" cy="1371600"/>
          </a:xfrm>
          <a:prstGeom prst="roundRect">
            <a:avLst>
              <a:gd name="adj" fmla="val 40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Non-parametric regression. Verrelst et al. (2015) ISPRS J. Photogramm. Remote Sens. 108:273–290, Fig. 2">    </p:cNvPr>
          <p:cNvPicPr>
            <a:picLocks noChangeAspect="1"/>
          </p:cNvPicPr>
          <p:nvPr/>
        </p:nvPicPr>
        <p:blipFill>
          <a:blip r:embed="rId2"/>
          <a:stretch>
            <a:fillRect/>
          </a:stretch>
        </p:blipFill>
        <p:spPr>
          <a:xfrm>
            <a:off x="7107161" y="1371600"/>
            <a:ext cx="3579902" cy="1188720"/>
          </a:xfrm>
          <a:prstGeom prst="rect">
            <a:avLst/>
          </a:prstGeom>
        </p:spPr>
      </p:pic>
      <p:sp>
        <p:nvSpPr>
          <p:cNvPr id="9" name="Text 4"/>
          <p:cNvSpPr txBox="1"/>
          <p:nvPr/>
        </p:nvSpPr>
        <p:spPr>
          <a:xfrm>
            <a:off x="6153912" y="2697480"/>
            <a:ext cx="5486400" cy="320040"/>
          </a:xfrm>
          <a:prstGeom prst="rect">
            <a:avLst/>
          </a:prstGeom>
          <a:noFill/>
          <a:ln/>
        </p:spPr>
        <p:txBody>
          <a:bodyPr wrap="square" lIns="0" tIns="0" rIns="0" bIns="0" rtlCol="0" anchor="t"/>
          <a:lstStyle/>
          <a:p>
            <a:pPr indent="0" marL="0">
              <a:buNone/>
            </a:pPr>
            <a:r>
              <a:rPr lang="en-US" sz="1100" i="1" dirty="0">
                <a:solidFill>
                  <a:schemeClr val="accent6"/>
                </a:solidFill>
              </a:rPr>
              <a:t>Non-parametric regression. Verrelst et al. (2015) ISPRS J. Photogramm. Remote Sens. 108:273–290, Fig. 2</a:t>
            </a:r>
            <a:endParaRPr lang="en-US" sz="1100" dirty="0"/>
          </a:p>
        </p:txBody>
      </p:sp>
      <p:sp>
        <p:nvSpPr>
          <p:cNvPr id="10" name="card"/>
          <p:cNvSpPr/>
          <p:nvPr/>
        </p:nvSpPr>
        <p:spPr>
          <a:xfrm>
            <a:off x="548640" y="3200400"/>
            <a:ext cx="5486400" cy="2971800"/>
          </a:xfrm>
          <a:prstGeom prst="roundRect">
            <a:avLst>
              <a:gd name="adj" fmla="val 2462"/>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731520" y="3355848"/>
            <a:ext cx="420624" cy="420624"/>
          </a:xfrm>
          <a:prstGeom prst="ellipse">
            <a:avLst/>
          </a:prstGeom>
          <a:solidFill>
            <a:schemeClr val="accent3"/>
          </a:solidFill>
          <a:ln/>
        </p:spPr>
      </p:sp>
      <p:pic>
        <p:nvPicPr>
          <p:cNvPr id="12" name="Image 2" descr="ChartLine icon">    </p:cNvPr>
          <p:cNvPicPr>
            <a:picLocks noChangeAspect="1"/>
          </p:cNvPicPr>
          <p:nvPr/>
        </p:nvPicPr>
        <p:blipFill>
          <a:blip r:embed="rId3"/>
          <a:stretch>
            <a:fillRect/>
          </a:stretch>
        </p:blipFill>
        <p:spPr>
          <a:xfrm>
            <a:off x="840882" y="3465210"/>
            <a:ext cx="201900" cy="201900"/>
          </a:xfrm>
          <a:prstGeom prst="rect">
            <a:avLst/>
          </a:prstGeom>
        </p:spPr>
      </p:pic>
      <p:sp>
        <p:nvSpPr>
          <p:cNvPr id="13" name="Text 7"/>
          <p:cNvSpPr txBox="1"/>
          <p:nvPr/>
        </p:nvSpPr>
        <p:spPr>
          <a:xfrm>
            <a:off x="1261872" y="333756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Parametric (VIs)</a:t>
            </a:r>
            <a:endParaRPr lang="en-US" sz="1600" dirty="0"/>
          </a:p>
        </p:txBody>
      </p:sp>
      <p:sp>
        <p:nvSpPr>
          <p:cNvPr id="14" name="Text 8"/>
          <p:cNvSpPr txBox="1"/>
          <p:nvPr/>
        </p:nvSpPr>
        <p:spPr>
          <a:xfrm>
            <a:off x="731520" y="3886200"/>
            <a:ext cx="5120640" cy="21945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2-band: SR, NDVI, PRI, OSAVI, chlorophyll index</a:t>
            </a:r>
            <a:endParaRPr lang="en-US" sz="1250" dirty="0"/>
          </a:p>
          <a:p>
            <a:pPr marL="177800" indent="-177800">
              <a:spcAft>
                <a:spcPts val="400"/>
              </a:spcAft>
              <a:buSzPct val="100000"/>
              <a:buChar char="•"/>
            </a:pPr>
            <a:r>
              <a:rPr lang="en-US" sz="1250" dirty="0">
                <a:solidFill>
                  <a:schemeClr val="tx1"/>
                </a:solidFill>
              </a:rPr>
              <a:t>3-band: TVI, MCARI, TCARI; 4+: TCARI/OSAVI</a:t>
            </a:r>
            <a:endParaRPr lang="en-US" sz="1250" dirty="0"/>
          </a:p>
          <a:p>
            <a:pPr marL="177800" indent="-177800">
              <a:spcAft>
                <a:spcPts val="400"/>
              </a:spcAft>
              <a:buSzPct val="100000"/>
              <a:buChar char="•"/>
            </a:pPr>
            <a:r>
              <a:rPr lang="en-US" sz="1250" dirty="0">
                <a:solidFill>
                  <a:schemeClr val="tx1"/>
                </a:solidFill>
              </a:rPr>
              <a:t>Shape: red-edge position, continuum removal, derivatives</a:t>
            </a:r>
            <a:endParaRPr lang="en-US" sz="1250" dirty="0"/>
          </a:p>
          <a:p>
            <a:pPr marL="177800" indent="-177800">
              <a:spcAft>
                <a:spcPts val="400"/>
              </a:spcAft>
              <a:buSzPct val="100000"/>
              <a:buChar char="•"/>
            </a:pPr>
            <a:r>
              <a:rPr lang="en-US" sz="1250" b="1" dirty="0">
                <a:solidFill>
                  <a:schemeClr val="tx1"/>
                </a:solidFill>
              </a:rPr>
              <a:t>−</a:t>
            </a:r>
            <a:r>
              <a:rPr lang="en-US" sz="1250" dirty="0">
                <a:solidFill>
                  <a:schemeClr val="tx1"/>
                </a:solidFill>
              </a:rPr>
              <a:t> sensor/site-specific, one variable, no uncertainty</a:t>
            </a:r>
            <a:endParaRPr lang="en-US" sz="1250" dirty="0"/>
          </a:p>
        </p:txBody>
      </p:sp>
      <p:sp>
        <p:nvSpPr>
          <p:cNvPr id="15" name="card"/>
          <p:cNvSpPr/>
          <p:nvPr/>
        </p:nvSpPr>
        <p:spPr>
          <a:xfrm>
            <a:off x="6153912" y="3200400"/>
            <a:ext cx="5486400" cy="2971800"/>
          </a:xfrm>
          <a:prstGeom prst="roundRect">
            <a:avLst>
              <a:gd name="adj" fmla="val 2462"/>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6336792" y="3355848"/>
            <a:ext cx="420624" cy="420624"/>
          </a:xfrm>
          <a:prstGeom prst="ellipse">
            <a:avLst/>
          </a:prstGeom>
          <a:solidFill>
            <a:schemeClr val="accent5"/>
          </a:solidFill>
          <a:ln/>
        </p:spPr>
      </p:sp>
      <p:pic>
        <p:nvPicPr>
          <p:cNvPr id="17" name="Image 3" descr="Brain icon">    </p:cNvPr>
          <p:cNvPicPr>
            <a:picLocks noChangeAspect="1"/>
          </p:cNvPicPr>
          <p:nvPr/>
        </p:nvPicPr>
        <p:blipFill>
          <a:blip r:embed="rId4"/>
          <a:stretch>
            <a:fillRect/>
          </a:stretch>
        </p:blipFill>
        <p:spPr>
          <a:xfrm>
            <a:off x="6446154" y="3465210"/>
            <a:ext cx="201900" cy="201900"/>
          </a:xfrm>
          <a:prstGeom prst="rect">
            <a:avLst/>
          </a:prstGeom>
        </p:spPr>
      </p:pic>
      <p:sp>
        <p:nvSpPr>
          <p:cNvPr id="18" name="Text 11"/>
          <p:cNvSpPr txBox="1"/>
          <p:nvPr/>
        </p:nvSpPr>
        <p:spPr>
          <a:xfrm>
            <a:off x="6867144" y="333756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Non-parametric</a:t>
            </a:r>
            <a:endParaRPr lang="en-US" sz="1600" dirty="0"/>
          </a:p>
        </p:txBody>
      </p:sp>
      <p:sp>
        <p:nvSpPr>
          <p:cNvPr id="19" name="Text 12"/>
          <p:cNvSpPr txBox="1"/>
          <p:nvPr/>
        </p:nvSpPr>
        <p:spPr>
          <a:xfrm>
            <a:off x="6336792" y="3886200"/>
            <a:ext cx="5120640" cy="21945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Linear: SMLR, PCR, </a:t>
            </a:r>
            <a:r>
              <a:rPr lang="en-US" sz="1250" b="1" dirty="0">
                <a:solidFill>
                  <a:schemeClr val="tx1"/>
                </a:solidFill>
              </a:rPr>
              <a:t>PLSR</a:t>
            </a:r>
            <a:r>
              <a:rPr lang="en-US" sz="1250" dirty="0">
                <a:solidFill>
                  <a:schemeClr val="tx1"/>
                </a:solidFill>
              </a:rPr>
              <a:t> (handles collinearity)</a:t>
            </a:r>
            <a:endParaRPr lang="en-US" sz="1250" dirty="0"/>
          </a:p>
          <a:p>
            <a:pPr marL="177800" indent="-177800">
              <a:spcAft>
                <a:spcPts val="400"/>
              </a:spcAft>
              <a:buSzPct val="100000"/>
              <a:buChar char="•"/>
            </a:pPr>
            <a:r>
              <a:rPr lang="en-US" sz="1250" dirty="0">
                <a:solidFill>
                  <a:schemeClr val="tx1"/>
                </a:solidFill>
              </a:rPr>
              <a:t>Trees: bagging, </a:t>
            </a:r>
            <a:r>
              <a:rPr lang="en-US" sz="1250" b="1" dirty="0">
                <a:solidFill>
                  <a:schemeClr val="tx1"/>
                </a:solidFill>
              </a:rPr>
              <a:t>random forest</a:t>
            </a:r>
            <a:endParaRPr lang="en-US" sz="1250" dirty="0"/>
          </a:p>
          <a:p>
            <a:pPr marL="177800" indent="-177800">
              <a:spcAft>
                <a:spcPts val="400"/>
              </a:spcAft>
              <a:buSzPct val="100000"/>
              <a:buChar char="•"/>
            </a:pPr>
            <a:r>
              <a:rPr lang="en-US" sz="1250" b="1" dirty="0">
                <a:solidFill>
                  <a:schemeClr val="tx1"/>
                </a:solidFill>
              </a:rPr>
              <a:t>ANN</a:t>
            </a:r>
            <a:r>
              <a:rPr lang="en-US" sz="1250" dirty="0">
                <a:solidFill>
                  <a:schemeClr val="tx1"/>
                </a:solidFill>
              </a:rPr>
              <a:t>; kernel methods: </a:t>
            </a:r>
            <a:r>
              <a:rPr lang="en-US" sz="1250" b="1" dirty="0">
                <a:solidFill>
                  <a:schemeClr val="tx1"/>
                </a:solidFill>
              </a:rPr>
              <a:t>SVR, KRR, GPR</a:t>
            </a:r>
            <a:endParaRPr lang="en-US" sz="1250" dirty="0"/>
          </a:p>
          <a:p>
            <a:pPr marL="177800" indent="-177800">
              <a:spcAft>
                <a:spcPts val="400"/>
              </a:spcAft>
              <a:buSzPct val="100000"/>
              <a:buChar char="•"/>
            </a:pPr>
            <a:r>
              <a:rPr lang="en-US" sz="1250" b="1" dirty="0">
                <a:solidFill>
                  <a:schemeClr val="tx1"/>
                </a:solidFill>
              </a:rPr>
              <a:t>+</a:t>
            </a:r>
            <a:r>
              <a:rPr lang="en-US" sz="1250" dirty="0">
                <a:solidFill>
                  <a:schemeClr val="tx1"/>
                </a:solidFill>
              </a:rPr>
              <a:t> full spectrum, non-linear; GPR gives uncertainty and band relevance</a:t>
            </a:r>
            <a:endParaRPr lang="en-US" sz="1250" dirty="0"/>
          </a:p>
          <a:p>
            <a:pPr marL="177800" indent="-177800">
              <a:spcAft>
                <a:spcPts val="400"/>
              </a:spcAft>
              <a:buSzPct val="100000"/>
              <a:buChar char="•"/>
            </a:pPr>
            <a:r>
              <a:rPr lang="en-US" sz="1250" b="1" dirty="0">
                <a:solidFill>
                  <a:schemeClr val="tx1"/>
                </a:solidFill>
              </a:rPr>
              <a:t>−</a:t>
            </a:r>
            <a:r>
              <a:rPr lang="en-US" sz="1250" dirty="0">
                <a:solidFill>
                  <a:schemeClr val="tx1"/>
                </a:solidFill>
              </a:rPr>
              <a:t> needs field training data; black box; may not transfer</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Physically-based and hybrid methods</a:t>
            </a:r>
            <a:endParaRPr lang="en-US" sz="3200" dirty="0"/>
          </a:p>
        </p:txBody>
      </p:sp>
      <p:sp>
        <p:nvSpPr>
          <p:cNvPr id="4" name="figure frame"/>
          <p:cNvSpPr/>
          <p:nvPr/>
        </p:nvSpPr>
        <p:spPr>
          <a:xfrm>
            <a:off x="548640" y="1280160"/>
            <a:ext cx="3749040" cy="2606040"/>
          </a:xfrm>
          <a:prstGeom prst="roundRect">
            <a:avLst>
              <a:gd name="adj" fmla="val 210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Physically-based (LUT). Verrelst et al. (2015) ISPRS J. Photogramm. Remote Sens. 108:273–290, Fig. 3">    </p:cNvPr>
          <p:cNvPicPr>
            <a:picLocks noChangeAspect="1"/>
          </p:cNvPicPr>
          <p:nvPr/>
        </p:nvPicPr>
        <p:blipFill>
          <a:blip r:embed="rId1"/>
          <a:stretch>
            <a:fillRect/>
          </a:stretch>
        </p:blipFill>
        <p:spPr>
          <a:xfrm>
            <a:off x="640080" y="1602657"/>
            <a:ext cx="3566160" cy="1961046"/>
          </a:xfrm>
          <a:prstGeom prst="rect">
            <a:avLst/>
          </a:prstGeom>
        </p:spPr>
      </p:pic>
      <p:sp>
        <p:nvSpPr>
          <p:cNvPr id="6" name="Text 2"/>
          <p:cNvSpPr txBox="1"/>
          <p:nvPr/>
        </p:nvSpPr>
        <p:spPr>
          <a:xfrm>
            <a:off x="548640" y="3931920"/>
            <a:ext cx="3749040" cy="365760"/>
          </a:xfrm>
          <a:prstGeom prst="rect">
            <a:avLst/>
          </a:prstGeom>
          <a:noFill/>
          <a:ln/>
        </p:spPr>
        <p:txBody>
          <a:bodyPr wrap="square" lIns="0" tIns="0" rIns="0" bIns="0" rtlCol="0" anchor="t"/>
          <a:lstStyle/>
          <a:p>
            <a:pPr indent="0" marL="0">
              <a:buNone/>
            </a:pPr>
            <a:r>
              <a:rPr lang="en-US" sz="1100" i="1" dirty="0">
                <a:solidFill>
                  <a:schemeClr val="accent6"/>
                </a:solidFill>
              </a:rPr>
              <a:t>Physically-based (LUT). Verrelst et al. (2015) ISPRS J. Photogramm. Remote Sens. 108:273–290, Fig. 3</a:t>
            </a:r>
            <a:endParaRPr lang="en-US" sz="1100" dirty="0"/>
          </a:p>
        </p:txBody>
      </p:sp>
      <p:sp>
        <p:nvSpPr>
          <p:cNvPr id="7" name="figure frame"/>
          <p:cNvSpPr/>
          <p:nvPr/>
        </p:nvSpPr>
        <p:spPr>
          <a:xfrm>
            <a:off x="4434840" y="1280160"/>
            <a:ext cx="3749040" cy="2606040"/>
          </a:xfrm>
          <a:prstGeom prst="roundRect">
            <a:avLst>
              <a:gd name="adj" fmla="val 210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Hybrid: RTM-simulated data train an ML model. Verrelst et al. (2015) ISPRS J. Photogramm. Remote Sens. 108:273–290, Fig. 4">    </p:cNvPr>
          <p:cNvPicPr>
            <a:picLocks noChangeAspect="1"/>
          </p:cNvPicPr>
          <p:nvPr/>
        </p:nvPicPr>
        <p:blipFill>
          <a:blip r:embed="rId2"/>
          <a:stretch>
            <a:fillRect/>
          </a:stretch>
        </p:blipFill>
        <p:spPr>
          <a:xfrm>
            <a:off x="4526280" y="1499718"/>
            <a:ext cx="3566160" cy="2166924"/>
          </a:xfrm>
          <a:prstGeom prst="rect">
            <a:avLst/>
          </a:prstGeom>
        </p:spPr>
      </p:pic>
      <p:sp>
        <p:nvSpPr>
          <p:cNvPr id="9" name="Text 4"/>
          <p:cNvSpPr txBox="1"/>
          <p:nvPr/>
        </p:nvSpPr>
        <p:spPr>
          <a:xfrm>
            <a:off x="4434840" y="3931920"/>
            <a:ext cx="3749040" cy="365760"/>
          </a:xfrm>
          <a:prstGeom prst="rect">
            <a:avLst/>
          </a:prstGeom>
          <a:noFill/>
          <a:ln/>
        </p:spPr>
        <p:txBody>
          <a:bodyPr wrap="square" lIns="0" tIns="0" rIns="0" bIns="0" rtlCol="0" anchor="t"/>
          <a:lstStyle/>
          <a:p>
            <a:pPr indent="0" marL="0">
              <a:buNone/>
            </a:pPr>
            <a:r>
              <a:rPr lang="en-US" sz="1100" i="1" dirty="0">
                <a:solidFill>
                  <a:schemeClr val="accent6"/>
                </a:solidFill>
              </a:rPr>
              <a:t>Hybrid: RTM-simulated data train an ML model. Verrelst et al. (2015) ISPRS J. Photogramm. Remote Sens. 108:273–290, Fig. 4</a:t>
            </a:r>
            <a:endParaRPr lang="en-US" sz="1100" dirty="0"/>
          </a:p>
        </p:txBody>
      </p:sp>
      <p:sp>
        <p:nvSpPr>
          <p:cNvPr id="10" name="card"/>
          <p:cNvSpPr/>
          <p:nvPr/>
        </p:nvSpPr>
        <p:spPr>
          <a:xfrm>
            <a:off x="8412480" y="1280160"/>
            <a:ext cx="3227832"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11" name="Text 6"/>
          <p:cNvSpPr txBox="1"/>
          <p:nvPr/>
        </p:nvSpPr>
        <p:spPr>
          <a:xfrm>
            <a:off x="8595360" y="1417320"/>
            <a:ext cx="2907792" cy="365760"/>
          </a:xfrm>
          <a:prstGeom prst="rect">
            <a:avLst/>
          </a:prstGeom>
          <a:noFill/>
          <a:ln/>
        </p:spPr>
        <p:txBody>
          <a:bodyPr wrap="square" lIns="0" tIns="0" rIns="0" bIns="0" rtlCol="0" anchor="ctr"/>
          <a:lstStyle/>
          <a:p>
            <a:pPr indent="0" marL="0">
              <a:buNone/>
            </a:pPr>
            <a:r>
              <a:rPr lang="en-US" sz="1600" b="1" dirty="0">
                <a:solidFill>
                  <a:schemeClr val="tx2"/>
                </a:solidFill>
              </a:rPr>
              <a:t>Hybrid in practice</a:t>
            </a:r>
            <a:endParaRPr lang="en-US" sz="1600" dirty="0"/>
          </a:p>
        </p:txBody>
      </p:sp>
      <p:sp>
        <p:nvSpPr>
          <p:cNvPr id="12" name="Text 7"/>
          <p:cNvSpPr txBox="1"/>
          <p:nvPr/>
        </p:nvSpPr>
        <p:spPr>
          <a:xfrm>
            <a:off x="8595360" y="1828800"/>
            <a:ext cx="2862072" cy="23774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ANN + PROSAIL / SAIL: CYCLOPES, GEOV1 (LAI, fAPAR, fCover)</a:t>
            </a:r>
            <a:endParaRPr lang="en-US" sz="1200" dirty="0"/>
          </a:p>
          <a:p>
            <a:pPr marL="177800" indent="-177800">
              <a:spcAft>
                <a:spcPts val="400"/>
              </a:spcAft>
              <a:buSzPct val="100000"/>
              <a:buChar char="•"/>
            </a:pPr>
            <a:r>
              <a:rPr lang="en-US" sz="1200" dirty="0">
                <a:solidFill>
                  <a:schemeClr val="tx1"/>
                </a:solidFill>
              </a:rPr>
              <a:t>Recommended next: </a:t>
            </a:r>
            <a:r>
              <a:rPr lang="en-US" sz="1200" b="1" dirty="0">
                <a:solidFill>
                  <a:schemeClr val="tx1"/>
                </a:solidFill>
              </a:rPr>
              <a:t>GPR / kernel</a:t>
            </a:r>
            <a:r>
              <a:rPr lang="en-US" sz="1200" dirty="0">
                <a:solidFill>
                  <a:schemeClr val="tx1"/>
                </a:solidFill>
              </a:rPr>
              <a:t> (speed + uncertainty)</a:t>
            </a:r>
            <a:endParaRPr lang="en-US" sz="1200" dirty="0"/>
          </a:p>
        </p:txBody>
      </p:sp>
      <p:sp>
        <p:nvSpPr>
          <p:cNvPr id="13" name="card"/>
          <p:cNvSpPr/>
          <p:nvPr/>
        </p:nvSpPr>
        <p:spPr>
          <a:xfrm>
            <a:off x="548640" y="4480560"/>
            <a:ext cx="5486400"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14" name="Text 9"/>
          <p:cNvSpPr txBox="1"/>
          <p:nvPr/>
        </p:nvSpPr>
        <p:spPr>
          <a:xfrm>
            <a:off x="731520" y="4617720"/>
            <a:ext cx="5166360" cy="365760"/>
          </a:xfrm>
          <a:prstGeom prst="rect">
            <a:avLst/>
          </a:prstGeom>
          <a:noFill/>
          <a:ln/>
        </p:spPr>
        <p:txBody>
          <a:bodyPr wrap="square" lIns="0" tIns="0" rIns="0" bIns="0" rtlCol="0" anchor="ctr"/>
          <a:lstStyle/>
          <a:p>
            <a:pPr indent="0" marL="0">
              <a:buNone/>
            </a:pPr>
            <a:r>
              <a:rPr lang="en-US" sz="1600" b="1" dirty="0">
                <a:solidFill>
                  <a:schemeClr val="tx2"/>
                </a:solidFill>
              </a:rPr>
              <a:t>Physically-based: strengths / weaknesses</a:t>
            </a:r>
            <a:endParaRPr lang="en-US" sz="1600" dirty="0"/>
          </a:p>
        </p:txBody>
      </p:sp>
      <p:sp>
        <p:nvSpPr>
          <p:cNvPr id="15" name="Text 10"/>
          <p:cNvSpPr txBox="1"/>
          <p:nvPr/>
        </p:nvSpPr>
        <p:spPr>
          <a:xfrm>
            <a:off x="731520" y="5029200"/>
            <a:ext cx="5120640" cy="1051560"/>
          </a:xfrm>
          <a:prstGeom prst="rect">
            <a:avLst/>
          </a:prstGeom>
          <a:noFill/>
          <a:ln/>
        </p:spPr>
        <p:txBody>
          <a:bodyPr wrap="square" lIns="508" tIns="508" rIns="508" bIns="508" rtlCol="0" anchor="t"/>
          <a:lstStyle/>
          <a:p>
            <a:pPr indent="0" marL="0">
              <a:spcAft>
                <a:spcPts val="400"/>
              </a:spcAft>
              <a:buNone/>
            </a:pPr>
            <a:r>
              <a:rPr lang="en-US" sz="1200" b="1" dirty="0">
                <a:solidFill>
                  <a:schemeClr val="tx1"/>
                </a:solidFill>
              </a:rPr>
              <a:t>+</a:t>
            </a:r>
            <a:r>
              <a:rPr lang="en-US" sz="1200" dirty="0">
                <a:solidFill>
                  <a:schemeClr val="tx1"/>
                </a:solidFill>
              </a:rPr>
              <a:t> generic, multi-output, uncertainty via residuals.  </a:t>
            </a:r>
            <a:r>
              <a:rPr lang="en-US" sz="1200" b="1" dirty="0">
                <a:solidFill>
                  <a:schemeClr val="tx1"/>
                </a:solidFill>
              </a:rPr>
              <a:t>−</a:t>
            </a:r>
            <a:r>
              <a:rPr lang="en-US" sz="1200" dirty="0">
                <a:solidFill>
                  <a:schemeClr val="tx1"/>
                </a:solidFill>
              </a:rPr>
              <a:t> slow per pixel; needs priors; LUT bounded by ranges; noise-sensitive</a:t>
            </a:r>
            <a:endParaRPr lang="en-US" sz="1200" dirty="0"/>
          </a:p>
        </p:txBody>
      </p:sp>
      <p:sp>
        <p:nvSpPr>
          <p:cNvPr id="16" name="card"/>
          <p:cNvSpPr/>
          <p:nvPr/>
        </p:nvSpPr>
        <p:spPr>
          <a:xfrm>
            <a:off x="6153912" y="4480560"/>
            <a:ext cx="5486400"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17" name="Text 12"/>
          <p:cNvSpPr txBox="1"/>
          <p:nvPr/>
        </p:nvSpPr>
        <p:spPr>
          <a:xfrm>
            <a:off x="6336792" y="4617720"/>
            <a:ext cx="5166360" cy="365760"/>
          </a:xfrm>
          <a:prstGeom prst="rect">
            <a:avLst/>
          </a:prstGeom>
          <a:noFill/>
          <a:ln/>
        </p:spPr>
        <p:txBody>
          <a:bodyPr wrap="square" lIns="0" tIns="0" rIns="0" bIns="0" rtlCol="0" anchor="ctr"/>
          <a:lstStyle/>
          <a:p>
            <a:pPr indent="0" marL="0">
              <a:buNone/>
            </a:pPr>
            <a:r>
              <a:rPr lang="en-US" sz="1600" b="1" dirty="0">
                <a:solidFill>
                  <a:schemeClr val="tx2"/>
                </a:solidFill>
              </a:rPr>
              <a:t>Hybrid: strengths / weaknesses</a:t>
            </a:r>
            <a:endParaRPr lang="en-US" sz="1600" dirty="0"/>
          </a:p>
        </p:txBody>
      </p:sp>
      <p:sp>
        <p:nvSpPr>
          <p:cNvPr id="18" name="Text 13"/>
          <p:cNvSpPr txBox="1"/>
          <p:nvPr/>
        </p:nvSpPr>
        <p:spPr>
          <a:xfrm>
            <a:off x="6336792" y="5029200"/>
            <a:ext cx="5120640" cy="1051560"/>
          </a:xfrm>
          <a:prstGeom prst="rect">
            <a:avLst/>
          </a:prstGeom>
          <a:noFill/>
          <a:ln/>
        </p:spPr>
        <p:txBody>
          <a:bodyPr wrap="square" lIns="508" tIns="508" rIns="508" bIns="508" rtlCol="0" anchor="t"/>
          <a:lstStyle/>
          <a:p>
            <a:pPr indent="0" marL="0">
              <a:spcAft>
                <a:spcPts val="400"/>
              </a:spcAft>
              <a:buNone/>
            </a:pPr>
            <a:r>
              <a:rPr lang="en-US" sz="1200" b="1" dirty="0">
                <a:solidFill>
                  <a:schemeClr val="tx1"/>
                </a:solidFill>
              </a:rPr>
              <a:t>+</a:t>
            </a:r>
            <a:r>
              <a:rPr lang="en-US" sz="1200" dirty="0">
                <a:solidFill>
                  <a:schemeClr val="tx1"/>
                </a:solidFill>
              </a:rPr>
              <a:t> physics + ML speed; no field training needed.  </a:t>
            </a:r>
            <a:r>
              <a:rPr lang="en-US" sz="1200" b="1" dirty="0">
                <a:solidFill>
                  <a:schemeClr val="tx1"/>
                </a:solidFill>
              </a:rPr>
              <a:t>−</a:t>
            </a:r>
            <a:r>
              <a:rPr lang="en-US" sz="1200" dirty="0">
                <a:solidFill>
                  <a:schemeClr val="tx1"/>
                </a:solidFill>
              </a:rPr>
              <a:t> quality depends on RTM realism and how well simulations cover reality</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Comparing the four families on five criteria</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45920"/>
                <a:gridCol w="2103120"/>
                <a:gridCol w="2377440"/>
                <a:gridCol w="2651760"/>
                <a:gridCol w="2313432"/>
              </a:tblGrid>
              <a:tr h="530352">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Parametric (VI)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Non-parametric (ML)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Physically-based (RTM)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Hybrid (RTM + ML)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Variables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Any measured; one at a time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Any measured (incl. N, cellulose)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Only RTM state variables (LAI, Cab, Cw, Cm…)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RTM state variables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Multiple outputs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Some (PLSR, ANN, GPR, KRR)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Low (GPR, trees: some insight)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High (physics)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Mapping speed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Very fast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Fast once trained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Slow per pixel (LUT faster)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Fast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Uncertainty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GPR yes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Via residuals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With GPR yes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30352">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Field data needed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Yes (calibration)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Yes (training)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Validation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Validation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insight"/>
          <p:cNvSpPr/>
          <p:nvPr/>
        </p:nvSpPr>
        <p:spPr>
          <a:xfrm>
            <a:off x="548640" y="5349240"/>
            <a:ext cx="11094415" cy="822960"/>
          </a:xfrm>
          <a:prstGeom prst="roundRect">
            <a:avLst>
              <a:gd name="adj" fmla="val 8889"/>
            </a:avLst>
          </a:prstGeom>
          <a:solidFill>
            <a:schemeClr val="bg2"/>
          </a:solidFill>
          <a:ln/>
        </p:spPr>
      </p:sp>
      <p:sp>
        <p:nvSpPr>
          <p:cNvPr id="6" name="icon circle"/>
          <p:cNvSpPr/>
          <p:nvPr/>
        </p:nvSpPr>
        <p:spPr>
          <a:xfrm>
            <a:off x="685800" y="5522976"/>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646603"/>
            <a:ext cx="228234" cy="228234"/>
          </a:xfrm>
          <a:prstGeom prst="rect">
            <a:avLst/>
          </a:prstGeom>
        </p:spPr>
      </p:pic>
      <p:sp>
        <p:nvSpPr>
          <p:cNvPr id="8" name="Text 3"/>
          <p:cNvSpPr txBox="1"/>
          <p:nvPr/>
        </p:nvSpPr>
        <p:spPr>
          <a:xfrm>
            <a:off x="1325880" y="5385816"/>
            <a:ext cx="10180015" cy="74980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Verrelst et al. verdict: parametric methods are not state of the art for operational mapping; </a:t>
            </a:r>
            <a:r>
              <a:rPr lang="en-US" sz="1350" b="1" dirty="0">
                <a:solidFill>
                  <a:schemeClr val="tx1"/>
                </a:solidFill>
              </a:rPr>
              <a:t>hybrid with Bayesian kernel ML (GPR)</a:t>
            </a:r>
            <a:r>
              <a:rPr lang="en-US" sz="1350" dirty="0">
                <a:solidFill>
                  <a:schemeClr val="tx1"/>
                </a:solidFill>
              </a:rPr>
              <a:t> is the most promising for Sentinel-2/3, EnMAP, PRISMA, FLEX.</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End-to-end RTM retrieval methodology</a:t>
            </a:r>
            <a:endParaRPr lang="en-US" sz="3200" dirty="0"/>
          </a:p>
        </p:txBody>
      </p:sp>
      <p:sp>
        <p:nvSpPr>
          <p:cNvPr id="4" name="diagram box"/>
          <p:cNvSpPr/>
          <p:nvPr/>
        </p:nvSpPr>
        <p:spPr>
          <a:xfrm>
            <a:off x="548640" y="1325880"/>
            <a:ext cx="3429000" cy="1143000"/>
          </a:xfrm>
          <a:prstGeom prst="roundRect">
            <a:avLst>
              <a:gd name="adj" fmla="val 6400"/>
            </a:avLst>
          </a:prstGeom>
          <a:solidFill>
            <a:schemeClr val="accent1"/>
          </a:solidFill>
          <a:ln/>
        </p:spPr>
      </p:sp>
      <p:sp>
        <p:nvSpPr>
          <p:cNvPr id="5" name="Text 2"/>
          <p:cNvSpPr txBox="1"/>
          <p:nvPr/>
        </p:nvSpPr>
        <p:spPr>
          <a:xfrm>
            <a:off x="548640" y="1325880"/>
            <a:ext cx="3429000" cy="1143000"/>
          </a:xfrm>
          <a:prstGeom prst="rect">
            <a:avLst/>
          </a:prstGeom>
          <a:noFill/>
          <a:ln/>
        </p:spPr>
        <p:txBody>
          <a:bodyPr wrap="square" lIns="508" tIns="508" rIns="508" bIns="508" rtlCol="0" anchor="ctr"/>
          <a:lstStyle/>
          <a:p>
            <a:pPr algn="ctr" indent="0" marL="0">
              <a:buNone/>
            </a:pPr>
            <a:r>
              <a:rPr lang="en-US" sz="1250" b="1" dirty="0">
                <a:solidFill>
                  <a:schemeClr val="bg1"/>
                </a:solidFill>
              </a:rPr>
              <a:t>1. Field campaign</a:t>
            </a:r>
            <a:endParaRPr lang="en-US" sz="1250" dirty="0"/>
          </a:p>
          <a:p>
            <a:pPr algn="ctr" indent="0" marL="0">
              <a:buNone/>
            </a:pPr>
            <a:r>
              <a:rPr lang="en-US" sz="1250" dirty="0">
                <a:solidFill>
                  <a:schemeClr val="bg1"/>
                </a:solidFill>
              </a:rPr>
              <a:t>spectra + LAI, Cab, Cw, Cm, ALA; N or water treatments</a:t>
            </a:r>
            <a:endParaRPr lang="en-US" sz="1250" dirty="0"/>
          </a:p>
        </p:txBody>
      </p:sp>
      <p:sp>
        <p:nvSpPr>
          <p:cNvPr id="6" name="arrow"/>
          <p:cNvSpPr/>
          <p:nvPr/>
        </p:nvSpPr>
        <p:spPr>
          <a:xfrm>
            <a:off x="3986784" y="1892808"/>
            <a:ext cx="301752" cy="0"/>
          </a:xfrm>
          <a:prstGeom prst="line">
            <a:avLst/>
          </a:prstGeom>
          <a:noFill/>
          <a:ln w="31750">
            <a:solidFill>
              <a:srgbClr val="1F4E3D"/>
            </a:solidFill>
            <a:prstDash val="solid"/>
            <a:tailEnd type="triangle"/>
          </a:ln>
        </p:spPr>
      </p:sp>
      <p:sp>
        <p:nvSpPr>
          <p:cNvPr id="7" name="diagram box"/>
          <p:cNvSpPr/>
          <p:nvPr/>
        </p:nvSpPr>
        <p:spPr>
          <a:xfrm>
            <a:off x="4297680" y="1325880"/>
            <a:ext cx="3429000" cy="1143000"/>
          </a:xfrm>
          <a:prstGeom prst="roundRect">
            <a:avLst>
              <a:gd name="adj" fmla="val 6400"/>
            </a:avLst>
          </a:prstGeom>
          <a:solidFill>
            <a:schemeClr val="accent1"/>
          </a:solidFill>
          <a:ln/>
        </p:spPr>
      </p:sp>
      <p:sp>
        <p:nvSpPr>
          <p:cNvPr id="8" name="Text 5"/>
          <p:cNvSpPr txBox="1"/>
          <p:nvPr/>
        </p:nvSpPr>
        <p:spPr>
          <a:xfrm>
            <a:off x="4297680" y="1325880"/>
            <a:ext cx="3429000" cy="1143000"/>
          </a:xfrm>
          <a:prstGeom prst="rect">
            <a:avLst/>
          </a:prstGeom>
          <a:noFill/>
          <a:ln/>
        </p:spPr>
        <p:txBody>
          <a:bodyPr wrap="square" lIns="508" tIns="508" rIns="508" bIns="508" rtlCol="0" anchor="ctr"/>
          <a:lstStyle/>
          <a:p>
            <a:pPr algn="ctr" indent="0" marL="0">
              <a:buNone/>
            </a:pPr>
            <a:r>
              <a:rPr lang="en-US" sz="1250" b="1" dirty="0">
                <a:solidFill>
                  <a:schemeClr val="bg1"/>
                </a:solidFill>
              </a:rPr>
              <a:t>2. Validate forward PROSAIL</a:t>
            </a:r>
            <a:endParaRPr lang="en-US" sz="1250" dirty="0"/>
          </a:p>
          <a:p>
            <a:pPr algn="ctr" indent="0" marL="0">
              <a:buNone/>
            </a:pPr>
            <a:r>
              <a:rPr lang="en-US" sz="1250" dirty="0">
                <a:solidFill>
                  <a:schemeClr val="bg1"/>
                </a:solidFill>
              </a:rPr>
              <a:t>measured inputs; RMSE by band and angle</a:t>
            </a:r>
            <a:endParaRPr lang="en-US" sz="1250" dirty="0"/>
          </a:p>
        </p:txBody>
      </p:sp>
      <p:sp>
        <p:nvSpPr>
          <p:cNvPr id="9" name="arrow"/>
          <p:cNvSpPr/>
          <p:nvPr/>
        </p:nvSpPr>
        <p:spPr>
          <a:xfrm>
            <a:off x="7735824" y="1892808"/>
            <a:ext cx="301752" cy="0"/>
          </a:xfrm>
          <a:prstGeom prst="line">
            <a:avLst/>
          </a:prstGeom>
          <a:noFill/>
          <a:ln w="31750">
            <a:solidFill>
              <a:srgbClr val="1F4E3D"/>
            </a:solidFill>
            <a:prstDash val="solid"/>
            <a:tailEnd type="triangle"/>
          </a:ln>
        </p:spPr>
      </p:sp>
      <p:sp>
        <p:nvSpPr>
          <p:cNvPr id="10" name="diagram box"/>
          <p:cNvSpPr/>
          <p:nvPr/>
        </p:nvSpPr>
        <p:spPr>
          <a:xfrm>
            <a:off x="8046720" y="1325880"/>
            <a:ext cx="3429000" cy="1143000"/>
          </a:xfrm>
          <a:prstGeom prst="roundRect">
            <a:avLst>
              <a:gd name="adj" fmla="val 6400"/>
            </a:avLst>
          </a:prstGeom>
          <a:solidFill>
            <a:schemeClr val="accent2"/>
          </a:solidFill>
          <a:ln/>
        </p:spPr>
      </p:sp>
      <p:sp>
        <p:nvSpPr>
          <p:cNvPr id="11" name="Text 8"/>
          <p:cNvSpPr txBox="1"/>
          <p:nvPr/>
        </p:nvSpPr>
        <p:spPr>
          <a:xfrm>
            <a:off x="8046720" y="1325880"/>
            <a:ext cx="3429000" cy="1143000"/>
          </a:xfrm>
          <a:prstGeom prst="rect">
            <a:avLst/>
          </a:prstGeom>
          <a:noFill/>
          <a:ln/>
        </p:spPr>
        <p:txBody>
          <a:bodyPr wrap="square" lIns="508" tIns="508" rIns="508" bIns="508" rtlCol="0" anchor="ctr"/>
          <a:lstStyle/>
          <a:p>
            <a:pPr algn="ctr" indent="0" marL="0">
              <a:buNone/>
            </a:pPr>
            <a:r>
              <a:rPr lang="en-US" sz="1250" b="1" dirty="0">
                <a:solidFill>
                  <a:schemeClr val="bg1"/>
                </a:solidFill>
              </a:rPr>
              <a:t>3. Priors and fixed inputs</a:t>
            </a:r>
            <a:endParaRPr lang="en-US" sz="1250" dirty="0"/>
          </a:p>
          <a:p>
            <a:pPr algn="ctr" indent="0" marL="0">
              <a:buNone/>
            </a:pPr>
            <a:r>
              <a:rPr lang="en-US" sz="1250" dirty="0">
                <a:solidFill>
                  <a:schemeClr val="bg1"/>
                </a:solidFill>
              </a:rPr>
              <a:t>ranges from field + literature; fix N, Car, psoil</a:t>
            </a:r>
            <a:endParaRPr lang="en-US" sz="1250" dirty="0"/>
          </a:p>
        </p:txBody>
      </p:sp>
      <p:sp>
        <p:nvSpPr>
          <p:cNvPr id="12" name="diagram box"/>
          <p:cNvSpPr/>
          <p:nvPr/>
        </p:nvSpPr>
        <p:spPr>
          <a:xfrm>
            <a:off x="548640" y="2788920"/>
            <a:ext cx="3429000" cy="1143000"/>
          </a:xfrm>
          <a:prstGeom prst="roundRect">
            <a:avLst>
              <a:gd name="adj" fmla="val 6400"/>
            </a:avLst>
          </a:prstGeom>
          <a:solidFill>
            <a:schemeClr val="accent2"/>
          </a:solidFill>
          <a:ln/>
        </p:spPr>
      </p:sp>
      <p:sp>
        <p:nvSpPr>
          <p:cNvPr id="13" name="Text 10"/>
          <p:cNvSpPr txBox="1"/>
          <p:nvPr/>
        </p:nvSpPr>
        <p:spPr>
          <a:xfrm>
            <a:off x="548640" y="2788920"/>
            <a:ext cx="3429000" cy="1143000"/>
          </a:xfrm>
          <a:prstGeom prst="rect">
            <a:avLst/>
          </a:prstGeom>
          <a:noFill/>
          <a:ln/>
        </p:spPr>
        <p:txBody>
          <a:bodyPr wrap="square" lIns="508" tIns="508" rIns="508" bIns="508" rtlCol="0" anchor="ctr"/>
          <a:lstStyle/>
          <a:p>
            <a:pPr algn="ctr" indent="0" marL="0">
              <a:buNone/>
            </a:pPr>
            <a:r>
              <a:rPr lang="en-US" sz="1250" b="1" dirty="0">
                <a:solidFill>
                  <a:schemeClr val="bg1"/>
                </a:solidFill>
              </a:rPr>
              <a:t>4. Simulate LUT / training set</a:t>
            </a:r>
            <a:endParaRPr lang="en-US" sz="1250" dirty="0"/>
          </a:p>
          <a:p>
            <a:pPr algn="ctr" indent="0" marL="0">
              <a:buNone/>
            </a:pPr>
            <a:r>
              <a:rPr lang="en-US" sz="1250" dirty="0">
                <a:solidFill>
                  <a:schemeClr val="bg1"/>
                </a:solidFill>
              </a:rPr>
              <a:t>forward runs; convolve with sensor RSR</a:t>
            </a:r>
            <a:endParaRPr lang="en-US" sz="1250" dirty="0"/>
          </a:p>
        </p:txBody>
      </p:sp>
      <p:sp>
        <p:nvSpPr>
          <p:cNvPr id="14" name="arrow"/>
          <p:cNvSpPr/>
          <p:nvPr/>
        </p:nvSpPr>
        <p:spPr>
          <a:xfrm>
            <a:off x="3986784" y="3355848"/>
            <a:ext cx="301752" cy="0"/>
          </a:xfrm>
          <a:prstGeom prst="line">
            <a:avLst/>
          </a:prstGeom>
          <a:noFill/>
          <a:ln w="31750">
            <a:solidFill>
              <a:srgbClr val="1F4E3D"/>
            </a:solidFill>
            <a:prstDash val="solid"/>
            <a:tailEnd type="triangle"/>
          </a:ln>
        </p:spPr>
      </p:sp>
      <p:sp>
        <p:nvSpPr>
          <p:cNvPr id="15" name="diagram box"/>
          <p:cNvSpPr/>
          <p:nvPr/>
        </p:nvSpPr>
        <p:spPr>
          <a:xfrm>
            <a:off x="4297680" y="2788920"/>
            <a:ext cx="3429000" cy="1143000"/>
          </a:xfrm>
          <a:prstGeom prst="roundRect">
            <a:avLst>
              <a:gd name="adj" fmla="val 6400"/>
            </a:avLst>
          </a:prstGeom>
          <a:solidFill>
            <a:schemeClr val="accent5"/>
          </a:solidFill>
          <a:ln/>
        </p:spPr>
      </p:sp>
      <p:sp>
        <p:nvSpPr>
          <p:cNvPr id="16" name="Text 13"/>
          <p:cNvSpPr txBox="1"/>
          <p:nvPr/>
        </p:nvSpPr>
        <p:spPr>
          <a:xfrm>
            <a:off x="4297680" y="2788920"/>
            <a:ext cx="3429000" cy="1143000"/>
          </a:xfrm>
          <a:prstGeom prst="rect">
            <a:avLst/>
          </a:prstGeom>
          <a:noFill/>
          <a:ln/>
        </p:spPr>
        <p:txBody>
          <a:bodyPr wrap="square" lIns="508" tIns="508" rIns="508" bIns="508" rtlCol="0" anchor="ctr"/>
          <a:lstStyle/>
          <a:p>
            <a:pPr algn="ctr" indent="0" marL="0">
              <a:buNone/>
            </a:pPr>
            <a:r>
              <a:rPr lang="en-US" sz="1250" b="1" dirty="0">
                <a:solidFill>
                  <a:schemeClr val="bg1"/>
                </a:solidFill>
              </a:rPr>
              <a:t>5. Invert</a:t>
            </a:r>
            <a:endParaRPr lang="en-US" sz="1250" dirty="0"/>
          </a:p>
          <a:p>
            <a:pPr algn="ctr" indent="0" marL="0">
              <a:buNone/>
            </a:pPr>
            <a:r>
              <a:rPr lang="en-US" sz="1250" dirty="0">
                <a:solidFill>
                  <a:schemeClr val="bg1"/>
                </a:solidFill>
              </a:rPr>
              <a:t>LUT-II · GA · ANN / GPR (hybrid)</a:t>
            </a:r>
            <a:endParaRPr lang="en-US" sz="1250" dirty="0"/>
          </a:p>
        </p:txBody>
      </p:sp>
      <p:sp>
        <p:nvSpPr>
          <p:cNvPr id="17" name="arrow"/>
          <p:cNvSpPr/>
          <p:nvPr/>
        </p:nvSpPr>
        <p:spPr>
          <a:xfrm>
            <a:off x="7735824" y="3355848"/>
            <a:ext cx="301752" cy="0"/>
          </a:xfrm>
          <a:prstGeom prst="line">
            <a:avLst/>
          </a:prstGeom>
          <a:noFill/>
          <a:ln w="31750">
            <a:solidFill>
              <a:srgbClr val="1F4E3D"/>
            </a:solidFill>
            <a:prstDash val="solid"/>
            <a:tailEnd type="triangle"/>
          </a:ln>
        </p:spPr>
      </p:sp>
      <p:sp>
        <p:nvSpPr>
          <p:cNvPr id="18" name="diagram box"/>
          <p:cNvSpPr/>
          <p:nvPr/>
        </p:nvSpPr>
        <p:spPr>
          <a:xfrm>
            <a:off x="8046720" y="2788920"/>
            <a:ext cx="3429000" cy="1143000"/>
          </a:xfrm>
          <a:prstGeom prst="roundRect">
            <a:avLst>
              <a:gd name="adj" fmla="val 6400"/>
            </a:avLst>
          </a:prstGeom>
          <a:solidFill>
            <a:schemeClr val="accent3"/>
          </a:solidFill>
          <a:ln/>
        </p:spPr>
      </p:sp>
      <p:sp>
        <p:nvSpPr>
          <p:cNvPr id="19" name="Text 16"/>
          <p:cNvSpPr txBox="1"/>
          <p:nvPr/>
        </p:nvSpPr>
        <p:spPr>
          <a:xfrm>
            <a:off x="8046720" y="2788920"/>
            <a:ext cx="3429000" cy="1143000"/>
          </a:xfrm>
          <a:prstGeom prst="rect">
            <a:avLst/>
          </a:prstGeom>
          <a:noFill/>
          <a:ln/>
        </p:spPr>
        <p:txBody>
          <a:bodyPr wrap="square" lIns="508" tIns="508" rIns="508" bIns="508" rtlCol="0" anchor="ctr"/>
          <a:lstStyle/>
          <a:p>
            <a:pPr algn="ctr" indent="0" marL="0">
              <a:buNone/>
            </a:pPr>
            <a:r>
              <a:rPr lang="en-US" sz="1250" b="1" dirty="0">
                <a:solidFill>
                  <a:schemeClr val="tx1"/>
                </a:solidFill>
              </a:rPr>
              <a:t>6. Validate retrievals</a:t>
            </a:r>
            <a:endParaRPr lang="en-US" sz="1250" dirty="0"/>
          </a:p>
          <a:p>
            <a:pPr algn="ctr" indent="0" marL="0">
              <a:buNone/>
            </a:pPr>
            <a:r>
              <a:rPr lang="en-US" sz="1250" dirty="0">
                <a:solidFill>
                  <a:schemeClr val="tx1"/>
                </a:solidFill>
              </a:rPr>
              <a:t>r, RMSE, nRMSE, target diagram</a:t>
            </a:r>
            <a:endParaRPr lang="en-US" sz="1250" dirty="0"/>
          </a:p>
        </p:txBody>
      </p:sp>
      <p:sp>
        <p:nvSpPr>
          <p:cNvPr id="20" name="arrow"/>
          <p:cNvSpPr/>
          <p:nvPr/>
        </p:nvSpPr>
        <p:spPr>
          <a:xfrm>
            <a:off x="9765792" y="2468880"/>
            <a:ext cx="0" cy="320040"/>
          </a:xfrm>
          <a:prstGeom prst="line">
            <a:avLst/>
          </a:prstGeom>
          <a:noFill/>
          <a:ln w="12700">
            <a:solidFill>
              <a:srgbClr val="1F4E3D"/>
            </a:solidFill>
            <a:prstDash val="solid"/>
          </a:ln>
        </p:spPr>
      </p:sp>
      <p:sp>
        <p:nvSpPr>
          <p:cNvPr id="21" name="arrow"/>
          <p:cNvSpPr/>
          <p:nvPr/>
        </p:nvSpPr>
        <p:spPr>
          <a:xfrm flipH="1">
            <a:off x="2267712" y="2633472"/>
            <a:ext cx="7498080" cy="0"/>
          </a:xfrm>
          <a:prstGeom prst="line">
            <a:avLst/>
          </a:prstGeom>
          <a:noFill/>
          <a:ln w="19050">
            <a:solidFill>
              <a:srgbClr val="1F4E3D"/>
            </a:solidFill>
            <a:prstDash val="dash"/>
          </a:ln>
        </p:spPr>
      </p:sp>
      <p:sp>
        <p:nvSpPr>
          <p:cNvPr id="22" name="arrow"/>
          <p:cNvSpPr/>
          <p:nvPr/>
        </p:nvSpPr>
        <p:spPr>
          <a:xfrm>
            <a:off x="2267712" y="2633472"/>
            <a:ext cx="0" cy="146304"/>
          </a:xfrm>
          <a:prstGeom prst="line">
            <a:avLst/>
          </a:prstGeom>
          <a:noFill/>
          <a:ln w="19050">
            <a:solidFill>
              <a:srgbClr val="1F4E3D"/>
            </a:solidFill>
            <a:prstDash val="dash"/>
            <a:tailEnd type="triangle"/>
          </a:ln>
        </p:spPr>
      </p:sp>
      <p:sp>
        <p:nvSpPr>
          <p:cNvPr id="23" name="diagram box"/>
          <p:cNvSpPr/>
          <p:nvPr/>
        </p:nvSpPr>
        <p:spPr>
          <a:xfrm>
            <a:off x="548640" y="4526280"/>
            <a:ext cx="2057400" cy="1051560"/>
          </a:xfrm>
          <a:prstGeom prst="roundRect">
            <a:avLst>
              <a:gd name="adj" fmla="val 6957"/>
            </a:avLst>
          </a:prstGeom>
          <a:solidFill>
            <a:schemeClr val="tx2"/>
          </a:solidFill>
          <a:ln/>
        </p:spPr>
      </p:sp>
      <p:sp>
        <p:nvSpPr>
          <p:cNvPr id="24" name="Text 21"/>
          <p:cNvSpPr txBox="1"/>
          <p:nvPr/>
        </p:nvSpPr>
        <p:spPr>
          <a:xfrm>
            <a:off x="548640" y="4526280"/>
            <a:ext cx="2057400" cy="1051560"/>
          </a:xfrm>
          <a:prstGeom prst="rect">
            <a:avLst/>
          </a:prstGeom>
          <a:noFill/>
          <a:ln/>
        </p:spPr>
        <p:txBody>
          <a:bodyPr wrap="square" lIns="508" tIns="508" rIns="508" bIns="508" rtlCol="0" anchor="ctr"/>
          <a:lstStyle/>
          <a:p>
            <a:pPr algn="ctr" indent="0" marL="0">
              <a:buNone/>
            </a:pPr>
            <a:r>
              <a:rPr lang="en-US" sz="1200" dirty="0">
                <a:solidFill>
                  <a:schemeClr val="bg1"/>
                </a:solidFill>
              </a:rPr>
              <a:t>Satellite image (LISS-3, S-2, MODIS)</a:t>
            </a:r>
            <a:endParaRPr lang="en-US" sz="1200" dirty="0"/>
          </a:p>
        </p:txBody>
      </p:sp>
      <p:sp>
        <p:nvSpPr>
          <p:cNvPr id="25" name="arrow"/>
          <p:cNvSpPr/>
          <p:nvPr/>
        </p:nvSpPr>
        <p:spPr>
          <a:xfrm>
            <a:off x="2615184" y="5047488"/>
            <a:ext cx="164592" cy="0"/>
          </a:xfrm>
          <a:prstGeom prst="line">
            <a:avLst/>
          </a:prstGeom>
          <a:noFill/>
          <a:ln w="25400">
            <a:solidFill>
              <a:srgbClr val="1F4E3D"/>
            </a:solidFill>
            <a:prstDash val="solid"/>
            <a:tailEnd type="triangle"/>
          </a:ln>
        </p:spPr>
      </p:sp>
      <p:sp>
        <p:nvSpPr>
          <p:cNvPr id="26" name="diagram box"/>
          <p:cNvSpPr/>
          <p:nvPr/>
        </p:nvSpPr>
        <p:spPr>
          <a:xfrm>
            <a:off x="2788920" y="4526280"/>
            <a:ext cx="2057400" cy="1051560"/>
          </a:xfrm>
          <a:prstGeom prst="roundRect">
            <a:avLst>
              <a:gd name="adj" fmla="val 6957"/>
            </a:avLst>
          </a:prstGeom>
          <a:solidFill>
            <a:schemeClr val="tx2"/>
          </a:solidFill>
          <a:ln/>
        </p:spPr>
      </p:sp>
      <p:sp>
        <p:nvSpPr>
          <p:cNvPr id="27" name="Text 24"/>
          <p:cNvSpPr txBox="1"/>
          <p:nvPr/>
        </p:nvSpPr>
        <p:spPr>
          <a:xfrm>
            <a:off x="2788920" y="4526280"/>
            <a:ext cx="2057400" cy="1051560"/>
          </a:xfrm>
          <a:prstGeom prst="rect">
            <a:avLst/>
          </a:prstGeom>
          <a:noFill/>
          <a:ln/>
        </p:spPr>
        <p:txBody>
          <a:bodyPr wrap="square" lIns="508" tIns="508" rIns="508" bIns="508" rtlCol="0" anchor="ctr"/>
          <a:lstStyle/>
          <a:p>
            <a:pPr algn="ctr" indent="0" marL="0">
              <a:buNone/>
            </a:pPr>
            <a:r>
              <a:rPr lang="en-US" sz="1200" dirty="0">
                <a:solidFill>
                  <a:schemeClr val="bg1"/>
                </a:solidFill>
              </a:rPr>
              <a:t>Geometric + atmospheric correction</a:t>
            </a:r>
            <a:endParaRPr lang="en-US" sz="1200" dirty="0"/>
          </a:p>
        </p:txBody>
      </p:sp>
      <p:sp>
        <p:nvSpPr>
          <p:cNvPr id="28" name="arrow"/>
          <p:cNvSpPr/>
          <p:nvPr/>
        </p:nvSpPr>
        <p:spPr>
          <a:xfrm>
            <a:off x="4855464" y="5047488"/>
            <a:ext cx="164592" cy="0"/>
          </a:xfrm>
          <a:prstGeom prst="line">
            <a:avLst/>
          </a:prstGeom>
          <a:noFill/>
          <a:ln w="25400">
            <a:solidFill>
              <a:srgbClr val="1F4E3D"/>
            </a:solidFill>
            <a:prstDash val="solid"/>
            <a:tailEnd type="triangle"/>
          </a:ln>
        </p:spPr>
      </p:sp>
      <p:sp>
        <p:nvSpPr>
          <p:cNvPr id="29" name="diagram box"/>
          <p:cNvSpPr/>
          <p:nvPr/>
        </p:nvSpPr>
        <p:spPr>
          <a:xfrm>
            <a:off x="5029200" y="4526280"/>
            <a:ext cx="2057400" cy="1051560"/>
          </a:xfrm>
          <a:prstGeom prst="roundRect">
            <a:avLst>
              <a:gd name="adj" fmla="val 6957"/>
            </a:avLst>
          </a:prstGeom>
          <a:solidFill>
            <a:schemeClr val="tx2"/>
          </a:solidFill>
          <a:ln/>
        </p:spPr>
      </p:sp>
      <p:sp>
        <p:nvSpPr>
          <p:cNvPr id="30" name="Text 27"/>
          <p:cNvSpPr txBox="1"/>
          <p:nvPr/>
        </p:nvSpPr>
        <p:spPr>
          <a:xfrm>
            <a:off x="5029200" y="4526280"/>
            <a:ext cx="2057400" cy="1051560"/>
          </a:xfrm>
          <a:prstGeom prst="rect">
            <a:avLst/>
          </a:prstGeom>
          <a:noFill/>
          <a:ln/>
        </p:spPr>
        <p:txBody>
          <a:bodyPr wrap="square" lIns="508" tIns="508" rIns="508" bIns="508" rtlCol="0" anchor="ctr"/>
          <a:lstStyle/>
          <a:p>
            <a:pPr algn="ctr" indent="0" marL="0">
              <a:buNone/>
            </a:pPr>
            <a:r>
              <a:rPr lang="en-US" sz="1200" dirty="0">
                <a:solidFill>
                  <a:schemeClr val="bg1"/>
                </a:solidFill>
              </a:rPr>
              <a:t>Crop mask (classification)</a:t>
            </a:r>
            <a:endParaRPr lang="en-US" sz="1200" dirty="0"/>
          </a:p>
        </p:txBody>
      </p:sp>
      <p:sp>
        <p:nvSpPr>
          <p:cNvPr id="31" name="arrow"/>
          <p:cNvSpPr/>
          <p:nvPr/>
        </p:nvSpPr>
        <p:spPr>
          <a:xfrm>
            <a:off x="7095744" y="5047488"/>
            <a:ext cx="164592" cy="0"/>
          </a:xfrm>
          <a:prstGeom prst="line">
            <a:avLst/>
          </a:prstGeom>
          <a:noFill/>
          <a:ln w="25400">
            <a:solidFill>
              <a:srgbClr val="1F4E3D"/>
            </a:solidFill>
            <a:prstDash val="solid"/>
            <a:tailEnd type="triangle"/>
          </a:ln>
        </p:spPr>
      </p:sp>
      <p:sp>
        <p:nvSpPr>
          <p:cNvPr id="32" name="diagram box"/>
          <p:cNvSpPr/>
          <p:nvPr/>
        </p:nvSpPr>
        <p:spPr>
          <a:xfrm>
            <a:off x="7269480" y="4526280"/>
            <a:ext cx="2057400" cy="1051560"/>
          </a:xfrm>
          <a:prstGeom prst="roundRect">
            <a:avLst>
              <a:gd name="adj" fmla="val 6957"/>
            </a:avLst>
          </a:prstGeom>
          <a:solidFill>
            <a:schemeClr val="tx2"/>
          </a:solidFill>
          <a:ln/>
        </p:spPr>
      </p:sp>
      <p:sp>
        <p:nvSpPr>
          <p:cNvPr id="33" name="Text 30"/>
          <p:cNvSpPr txBox="1"/>
          <p:nvPr/>
        </p:nvSpPr>
        <p:spPr>
          <a:xfrm>
            <a:off x="7269480" y="4526280"/>
            <a:ext cx="2057400" cy="1051560"/>
          </a:xfrm>
          <a:prstGeom prst="rect">
            <a:avLst/>
          </a:prstGeom>
          <a:noFill/>
          <a:ln/>
        </p:spPr>
        <p:txBody>
          <a:bodyPr wrap="square" lIns="508" tIns="508" rIns="508" bIns="508" rtlCol="0" anchor="ctr"/>
          <a:lstStyle/>
          <a:p>
            <a:pPr algn="ctr" indent="0" marL="0">
              <a:buNone/>
            </a:pPr>
            <a:r>
              <a:rPr lang="en-US" sz="1200" dirty="0">
                <a:solidFill>
                  <a:schemeClr val="bg1"/>
                </a:solidFill>
              </a:rPr>
              <a:t>Per-pixel inversion → LAI, Cab, CCC map</a:t>
            </a:r>
            <a:endParaRPr lang="en-US" sz="1200" dirty="0"/>
          </a:p>
        </p:txBody>
      </p:sp>
      <p:sp>
        <p:nvSpPr>
          <p:cNvPr id="34" name="arrow"/>
          <p:cNvSpPr/>
          <p:nvPr/>
        </p:nvSpPr>
        <p:spPr>
          <a:xfrm>
            <a:off x="9336024" y="5047488"/>
            <a:ext cx="164592" cy="0"/>
          </a:xfrm>
          <a:prstGeom prst="line">
            <a:avLst/>
          </a:prstGeom>
          <a:noFill/>
          <a:ln w="25400">
            <a:solidFill>
              <a:srgbClr val="1F4E3D"/>
            </a:solidFill>
            <a:prstDash val="solid"/>
            <a:tailEnd type="triangle"/>
          </a:ln>
        </p:spPr>
      </p:sp>
      <p:sp>
        <p:nvSpPr>
          <p:cNvPr id="35" name="diagram box"/>
          <p:cNvSpPr/>
          <p:nvPr/>
        </p:nvSpPr>
        <p:spPr>
          <a:xfrm>
            <a:off x="9509760" y="4526280"/>
            <a:ext cx="2057400" cy="1051560"/>
          </a:xfrm>
          <a:prstGeom prst="roundRect">
            <a:avLst>
              <a:gd name="adj" fmla="val 6957"/>
            </a:avLst>
          </a:prstGeom>
          <a:solidFill>
            <a:schemeClr val="accent4"/>
          </a:solidFill>
          <a:ln/>
        </p:spPr>
      </p:sp>
      <p:sp>
        <p:nvSpPr>
          <p:cNvPr id="36" name="Text 33"/>
          <p:cNvSpPr txBox="1"/>
          <p:nvPr/>
        </p:nvSpPr>
        <p:spPr>
          <a:xfrm>
            <a:off x="9509760" y="4526280"/>
            <a:ext cx="2057400" cy="1051560"/>
          </a:xfrm>
          <a:prstGeom prst="rect">
            <a:avLst/>
          </a:prstGeom>
          <a:noFill/>
          <a:ln/>
        </p:spPr>
        <p:txBody>
          <a:bodyPr wrap="square" lIns="508" tIns="508" rIns="508" bIns="508" rtlCol="0" anchor="ctr"/>
          <a:lstStyle/>
          <a:p>
            <a:pPr algn="ctr" indent="0" marL="0">
              <a:buNone/>
            </a:pPr>
            <a:r>
              <a:rPr lang="en-US" sz="1200" dirty="0">
                <a:solidFill>
                  <a:schemeClr val="bg1"/>
                </a:solidFill>
              </a:rPr>
              <a:t>Applications: N management, stress, crop models, yield</a:t>
            </a:r>
            <a:endParaRPr lang="en-US" sz="1200" dirty="0"/>
          </a:p>
        </p:txBody>
      </p:sp>
      <p:sp>
        <p:nvSpPr>
          <p:cNvPr id="37" name="Text 34"/>
          <p:cNvSpPr txBox="1"/>
          <p:nvPr/>
        </p:nvSpPr>
        <p:spPr>
          <a:xfrm>
            <a:off x="548640" y="4206240"/>
            <a:ext cx="3657600" cy="274320"/>
          </a:xfrm>
          <a:prstGeom prst="rect">
            <a:avLst/>
          </a:prstGeom>
          <a:noFill/>
          <a:ln/>
        </p:spPr>
        <p:txBody>
          <a:bodyPr wrap="square" lIns="0" tIns="0" rIns="0" bIns="0" rtlCol="0" anchor="ctr"/>
          <a:lstStyle/>
          <a:p>
            <a:pPr algn="l" indent="0" marL="0">
              <a:buNone/>
            </a:pPr>
            <a:r>
              <a:rPr lang="en-US" sz="1300" b="1" dirty="0">
                <a:solidFill>
                  <a:schemeClr val="tx2"/>
                </a:solidFill>
              </a:rPr>
              <a:t>Regional application</a:t>
            </a:r>
            <a:endParaRPr lang="en-US" sz="1300" dirty="0"/>
          </a:p>
        </p:txBody>
      </p:sp>
      <p:sp>
        <p:nvSpPr>
          <p:cNvPr id="38" name="Text 35"/>
          <p:cNvSpPr txBox="1"/>
          <p:nvPr/>
        </p:nvSpPr>
        <p:spPr>
          <a:xfrm>
            <a:off x="2926080" y="5623560"/>
            <a:ext cx="5486400" cy="411480"/>
          </a:xfrm>
          <a:prstGeom prst="rect">
            <a:avLst/>
          </a:prstGeom>
          <a:noFill/>
          <a:ln/>
        </p:spPr>
        <p:txBody>
          <a:bodyPr wrap="square" lIns="0" tIns="0" rIns="0" bIns="0" rtlCol="0" anchor="ctr"/>
          <a:lstStyle/>
          <a:p>
            <a:pPr algn="l" indent="0" marL="0">
              <a:buNone/>
            </a:pPr>
            <a:r>
              <a:rPr lang="en-US" sz="1100" i="1" dirty="0">
                <a:solidFill>
                  <a:schemeClr val="accent6"/>
                </a:solidFill>
              </a:rPr>
              <a:t>best method from field step</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Limitations of PROSAIL and the way forward</a:t>
            </a:r>
            <a:endParaRPr lang="en-US" sz="3200" dirty="0"/>
          </a:p>
        </p:txBody>
      </p:sp>
      <p:sp>
        <p:nvSpPr>
          <p:cNvPr id="4" name="card"/>
          <p:cNvSpPr/>
          <p:nvPr/>
        </p:nvSpPr>
        <p:spPr>
          <a:xfrm>
            <a:off x="548640" y="1325880"/>
            <a:ext cx="5440680" cy="365760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chemeClr val="accent3"/>
          </a:solidFill>
          <a:ln/>
        </p:spPr>
      </p:sp>
      <p:pic>
        <p:nvPicPr>
          <p:cNvPr id="6" name="Image 0" descr="ExclamationTriangle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Limitations found</a:t>
            </a:r>
            <a:endParaRPr lang="en-US" sz="1600" dirty="0"/>
          </a:p>
        </p:txBody>
      </p:sp>
      <p:sp>
        <p:nvSpPr>
          <p:cNvPr id="8" name="Text 4"/>
          <p:cNvSpPr txBox="1"/>
          <p:nvPr/>
        </p:nvSpPr>
        <p:spPr>
          <a:xfrm>
            <a:off x="731520" y="2011680"/>
            <a:ext cx="5074920" cy="288036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Lambertian soil</a:t>
            </a:r>
            <a:r>
              <a:rPr lang="en-US" sz="1300" dirty="0">
                <a:solidFill>
                  <a:schemeClr val="tx1"/>
                </a:solidFill>
              </a:rPr>
              <a:t> → errors in sparse canopies (N0, early growth)</a:t>
            </a:r>
            <a:endParaRPr lang="en-US" sz="1300" dirty="0"/>
          </a:p>
          <a:p>
            <a:pPr marL="177800" indent="-177800">
              <a:spcAft>
                <a:spcPts val="400"/>
              </a:spcAft>
              <a:buSzPct val="100000"/>
              <a:buChar char="•"/>
            </a:pPr>
            <a:r>
              <a:rPr lang="en-US" sz="1300" dirty="0">
                <a:solidFill>
                  <a:schemeClr val="tx1"/>
                </a:solidFill>
              </a:rPr>
              <a:t>Homogeneous turbid medium: no rows, clumping</a:t>
            </a:r>
            <a:endParaRPr lang="en-US" sz="1300" dirty="0"/>
          </a:p>
          <a:p>
            <a:pPr marL="177800" indent="-177800">
              <a:spcAft>
                <a:spcPts val="400"/>
              </a:spcAft>
              <a:buSzPct val="100000"/>
              <a:buChar char="•"/>
            </a:pPr>
            <a:r>
              <a:rPr lang="en-US" sz="1300" b="1" dirty="0">
                <a:solidFill>
                  <a:schemeClr val="tx1"/>
                </a:solidFill>
              </a:rPr>
              <a:t>VIS</a:t>
            </a:r>
            <a:r>
              <a:rPr lang="en-US" sz="1300" dirty="0">
                <a:solidFill>
                  <a:schemeClr val="tx1"/>
                </a:solidFill>
              </a:rPr>
              <a:t> simulated worst → Cab less accurate than LAI</a:t>
            </a:r>
            <a:endParaRPr lang="en-US" sz="1300" dirty="0"/>
          </a:p>
          <a:p>
            <a:pPr marL="177800" indent="-177800">
              <a:spcAft>
                <a:spcPts val="400"/>
              </a:spcAft>
              <a:buSzPct val="100000"/>
              <a:buChar char="•"/>
            </a:pPr>
            <a:r>
              <a:rPr lang="en-US" sz="1300" dirty="0">
                <a:solidFill>
                  <a:schemeClr val="tx1"/>
                </a:solidFill>
              </a:rPr>
              <a:t>Cw: weak in broadbands; needs SWIR and wide range</a:t>
            </a:r>
            <a:endParaRPr lang="en-US" sz="1300" dirty="0"/>
          </a:p>
          <a:p>
            <a:pPr marL="177800" indent="-177800">
              <a:spcAft>
                <a:spcPts val="400"/>
              </a:spcAft>
              <a:buSzPct val="100000"/>
              <a:buChar char="•"/>
            </a:pPr>
            <a:r>
              <a:rPr lang="en-US" sz="1300" dirty="0">
                <a:solidFill>
                  <a:schemeClr val="tx1"/>
                </a:solidFill>
              </a:rPr>
              <a:t>Ill-posed inversion; compensation LAI ↔ ALA</a:t>
            </a:r>
            <a:endParaRPr lang="en-US" sz="1300" dirty="0"/>
          </a:p>
          <a:p>
            <a:pPr marL="177800" indent="-177800">
              <a:spcAft>
                <a:spcPts val="400"/>
              </a:spcAft>
              <a:buSzPct val="100000"/>
              <a:buChar char="•"/>
            </a:pPr>
            <a:r>
              <a:rPr lang="en-US" sz="1300" dirty="0">
                <a:solidFill>
                  <a:schemeClr val="tx1"/>
                </a:solidFill>
              </a:rPr>
              <a:t>Inversion is 'still a job for a specialist' (Jacquemoud et al.)</a:t>
            </a:r>
            <a:endParaRPr lang="en-US" sz="1300" dirty="0"/>
          </a:p>
        </p:txBody>
      </p:sp>
      <p:sp>
        <p:nvSpPr>
          <p:cNvPr id="9" name="card"/>
          <p:cNvSpPr/>
          <p:nvPr/>
        </p:nvSpPr>
        <p:spPr>
          <a:xfrm>
            <a:off x="6199632" y="1325880"/>
            <a:ext cx="5440680" cy="365760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481328"/>
            <a:ext cx="420624" cy="420624"/>
          </a:xfrm>
          <a:prstGeom prst="ellipse">
            <a:avLst/>
          </a:prstGeom>
          <a:solidFill>
            <a:schemeClr val="accent1"/>
          </a:solidFill>
          <a:ln/>
        </p:spPr>
      </p:sp>
      <p:pic>
        <p:nvPicPr>
          <p:cNvPr id="11" name="Image 1" descr="Check icon">    </p:cNvPr>
          <p:cNvPicPr>
            <a:picLocks noChangeAspect="1"/>
          </p:cNvPicPr>
          <p:nvPr/>
        </p:nvPicPr>
        <p:blipFill>
          <a:blip r:embed="rId2"/>
          <a:stretch>
            <a:fillRect/>
          </a:stretch>
        </p:blipFill>
        <p:spPr>
          <a:xfrm>
            <a:off x="6491874" y="1590690"/>
            <a:ext cx="201900" cy="201900"/>
          </a:xfrm>
          <a:prstGeom prst="rect">
            <a:avLst/>
          </a:prstGeom>
        </p:spPr>
      </p:pic>
      <p:sp>
        <p:nvSpPr>
          <p:cNvPr id="12" name="Text 7"/>
          <p:cNvSpPr txBox="1"/>
          <p:nvPr/>
        </p:nvSpPr>
        <p:spPr>
          <a:xfrm>
            <a:off x="6912864" y="1463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Way forward</a:t>
            </a:r>
            <a:endParaRPr lang="en-US" sz="1600" dirty="0"/>
          </a:p>
        </p:txBody>
      </p:sp>
      <p:sp>
        <p:nvSpPr>
          <p:cNvPr id="13" name="Text 8"/>
          <p:cNvSpPr txBox="1"/>
          <p:nvPr/>
        </p:nvSpPr>
        <p:spPr>
          <a:xfrm>
            <a:off x="6382512" y="2011680"/>
            <a:ext cx="5074920" cy="288036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Soil BRDF</a:t>
            </a:r>
            <a:r>
              <a:rPr lang="en-US" sz="1300" dirty="0">
                <a:solidFill>
                  <a:schemeClr val="tx1"/>
                </a:solidFill>
              </a:rPr>
              <a:t> (Hapke) in SAIL; 4SAIL2 clumping; 3-D (DART)</a:t>
            </a:r>
            <a:endParaRPr lang="en-US" sz="1300" dirty="0"/>
          </a:p>
          <a:p>
            <a:pPr marL="177800" indent="-177800">
              <a:spcAft>
                <a:spcPts val="400"/>
              </a:spcAft>
              <a:buSzPct val="100000"/>
              <a:buChar char="•"/>
            </a:pPr>
            <a:r>
              <a:rPr lang="en-US" sz="1300" dirty="0">
                <a:solidFill>
                  <a:schemeClr val="tx1"/>
                </a:solidFill>
              </a:rPr>
              <a:t>PROSPECT-5/D: separate pigments (carotenoids, anthocyanins)</a:t>
            </a:r>
            <a:endParaRPr lang="en-US" sz="1300" dirty="0"/>
          </a:p>
          <a:p>
            <a:pPr marL="177800" indent="-177800">
              <a:spcAft>
                <a:spcPts val="400"/>
              </a:spcAft>
              <a:buSzPct val="100000"/>
              <a:buChar char="•"/>
            </a:pPr>
            <a:r>
              <a:rPr lang="en-US" sz="1300" dirty="0">
                <a:solidFill>
                  <a:schemeClr val="tx1"/>
                </a:solidFill>
              </a:rPr>
              <a:t>Fluorescence + thermal (FluorSAIL, SCOPE) → </a:t>
            </a:r>
            <a:r>
              <a:rPr lang="en-US" sz="1300" b="1" dirty="0">
                <a:solidFill>
                  <a:schemeClr val="tx1"/>
                </a:solidFill>
              </a:rPr>
              <a:t>FLEX</a:t>
            </a:r>
            <a:endParaRPr lang="en-US" sz="1300" dirty="0"/>
          </a:p>
          <a:p>
            <a:pPr marL="177800" indent="-177800">
              <a:spcAft>
                <a:spcPts val="400"/>
              </a:spcAft>
              <a:buSzPct val="100000"/>
              <a:buChar char="•"/>
            </a:pPr>
            <a:r>
              <a:rPr lang="en-US" sz="1300" dirty="0">
                <a:solidFill>
                  <a:schemeClr val="tx1"/>
                </a:solidFill>
              </a:rPr>
              <a:t>Hyperspectral: PRISMA, EnMAP, ISRO </a:t>
            </a:r>
            <a:r>
              <a:rPr lang="en-US" sz="1300" b="1" dirty="0">
                <a:solidFill>
                  <a:schemeClr val="tx1"/>
                </a:solidFill>
              </a:rPr>
              <a:t>HySIS</a:t>
            </a:r>
            <a:endParaRPr lang="en-US" sz="1300" dirty="0"/>
          </a:p>
          <a:p>
            <a:pPr marL="177800" indent="-177800">
              <a:spcAft>
                <a:spcPts val="400"/>
              </a:spcAft>
              <a:buSzPct val="100000"/>
              <a:buChar char="•"/>
            </a:pPr>
            <a:r>
              <a:rPr lang="en-US" sz="1300" b="1" dirty="0">
                <a:solidFill>
                  <a:schemeClr val="tx1"/>
                </a:solidFill>
              </a:rPr>
              <a:t>Hybrid GPR</a:t>
            </a:r>
            <a:r>
              <a:rPr lang="en-US" sz="1300" dirty="0">
                <a:solidFill>
                  <a:schemeClr val="tx1"/>
                </a:solidFill>
              </a:rPr>
              <a:t> with uncertainty for operational products</a:t>
            </a:r>
            <a:endParaRPr lang="en-US" sz="1300" dirty="0"/>
          </a:p>
          <a:p>
            <a:pPr marL="177800" indent="-177800">
              <a:spcAft>
                <a:spcPts val="400"/>
              </a:spcAft>
              <a:buSzPct val="100000"/>
              <a:buChar char="•"/>
            </a:pPr>
            <a:r>
              <a:rPr lang="en-US" sz="1300" dirty="0">
                <a:solidFill>
                  <a:schemeClr val="tx1"/>
                </a:solidFill>
              </a:rPr>
              <a:t>Data assimilation of LAI into crop models</a:t>
            </a:r>
            <a:endParaRPr lang="en-US" sz="1300" dirty="0"/>
          </a:p>
        </p:txBody>
      </p:sp>
      <p:sp>
        <p:nvSpPr>
          <p:cNvPr id="14" name="insight"/>
          <p:cNvSpPr/>
          <p:nvPr/>
        </p:nvSpPr>
        <p:spPr>
          <a:xfrm>
            <a:off x="548640" y="5212080"/>
            <a:ext cx="11094415" cy="960120"/>
          </a:xfrm>
          <a:prstGeom prst="roundRect">
            <a:avLst>
              <a:gd name="adj" fmla="val 7619"/>
            </a:avLst>
          </a:prstGeom>
          <a:solidFill>
            <a:schemeClr val="bg2"/>
          </a:solidFill>
          <a:ln/>
        </p:spPr>
      </p:sp>
      <p:sp>
        <p:nvSpPr>
          <p:cNvPr id="15" name="icon circle"/>
          <p:cNvSpPr/>
          <p:nvPr/>
        </p:nvSpPr>
        <p:spPr>
          <a:xfrm>
            <a:off x="685800" y="5454396"/>
            <a:ext cx="475488" cy="475488"/>
          </a:xfrm>
          <a:prstGeom prst="ellipse">
            <a:avLst/>
          </a:prstGeom>
          <a:solidFill>
            <a:schemeClr val="accent3"/>
          </a:solidFill>
          <a:ln/>
        </p:spPr>
      </p:sp>
      <p:pic>
        <p:nvPicPr>
          <p:cNvPr id="16" name="Image 2" descr="Lightbulb icon">    </p:cNvPr>
          <p:cNvPicPr>
            <a:picLocks noChangeAspect="1"/>
          </p:cNvPicPr>
          <p:nvPr/>
        </p:nvPicPr>
        <p:blipFill>
          <a:blip r:embed="rId3"/>
          <a:stretch>
            <a:fillRect/>
          </a:stretch>
        </p:blipFill>
        <p:spPr>
          <a:xfrm>
            <a:off x="809427" y="5578023"/>
            <a:ext cx="228234" cy="228234"/>
          </a:xfrm>
          <a:prstGeom prst="rect">
            <a:avLst/>
          </a:prstGeom>
        </p:spPr>
      </p:pic>
      <p:sp>
        <p:nvSpPr>
          <p:cNvPr id="17" name="Text 11"/>
          <p:cNvSpPr txBox="1"/>
          <p:nvPr/>
        </p:nvSpPr>
        <p:spPr>
          <a:xfrm>
            <a:off x="1325880" y="5248656"/>
            <a:ext cx="10180015" cy="88696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For India: LISS-3 four-band LUT-II inversion already gave LAI RMSE 0.56 at district scale — a path to operational crop biophysical products (Sehgal et al. 2016).</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Likely interview questions with one-line answers</a:t>
            </a:r>
            <a:endParaRPr lang="en-US" sz="3200" dirty="0"/>
          </a:p>
        </p:txBody>
      </p:sp>
      <p:sp>
        <p:nvSpPr>
          <p:cNvPr id="4" name="card"/>
          <p:cNvSpPr/>
          <p:nvPr/>
        </p:nvSpPr>
        <p:spPr>
          <a:xfrm>
            <a:off x="54864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What is PROSAIL?</a:t>
            </a:r>
            <a:endParaRPr lang="en-US" sz="1300" dirty="0"/>
          </a:p>
        </p:txBody>
      </p:sp>
      <p:sp>
        <p:nvSpPr>
          <p:cNvPr id="6" name="Text 3"/>
          <p:cNvSpPr txBox="1"/>
          <p:nvPr/>
        </p:nvSpPr>
        <p:spPr>
          <a:xfrm>
            <a:off x="68580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PROSPECT leaf model (N, Cab, Car, Cw, Cm → leaf ρ, τ) coupled with SAIL canopy model (LAI, ALA, hotspot, soil, geometry)</a:t>
            </a:r>
            <a:endParaRPr lang="en-US" sz="1150" dirty="0"/>
          </a:p>
        </p:txBody>
      </p:sp>
      <p:sp>
        <p:nvSpPr>
          <p:cNvPr id="7" name="card"/>
          <p:cNvSpPr/>
          <p:nvPr/>
        </p:nvSpPr>
        <p:spPr>
          <a:xfrm>
            <a:off x="429768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43484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Why RTM, not NDVI?</a:t>
            </a:r>
            <a:endParaRPr lang="en-US" sz="1300" dirty="0"/>
          </a:p>
        </p:txBody>
      </p:sp>
      <p:sp>
        <p:nvSpPr>
          <p:cNvPr id="9" name="Text 6"/>
          <p:cNvSpPr txBox="1"/>
          <p:nvPr/>
        </p:nvSpPr>
        <p:spPr>
          <a:xfrm>
            <a:off x="443484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Physics-based, no local calibration, many variables at once; VI relations are site, crop and sensor specific</a:t>
            </a:r>
            <a:endParaRPr lang="en-US" sz="1150" dirty="0"/>
          </a:p>
        </p:txBody>
      </p:sp>
      <p:sp>
        <p:nvSpPr>
          <p:cNvPr id="10" name="card"/>
          <p:cNvSpPr/>
          <p:nvPr/>
        </p:nvSpPr>
        <p:spPr>
          <a:xfrm>
            <a:off x="804672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18388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What is the hotspot?</a:t>
            </a:r>
            <a:endParaRPr lang="en-US" sz="1300" dirty="0"/>
          </a:p>
        </p:txBody>
      </p:sp>
      <p:sp>
        <p:nvSpPr>
          <p:cNvPr id="12" name="Text 9"/>
          <p:cNvSpPr txBox="1"/>
          <p:nvPr/>
        </p:nvSpPr>
        <p:spPr>
          <a:xfrm>
            <a:off x="818388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Reflectance peak in backward direction when view ≈ sun; shadows hidden; SAIL hotspot = leaf length / height</a:t>
            </a:r>
            <a:endParaRPr lang="en-US" sz="1150" dirty="0"/>
          </a:p>
        </p:txBody>
      </p:sp>
      <p:sp>
        <p:nvSpPr>
          <p:cNvPr id="13" name="card"/>
          <p:cNvSpPr/>
          <p:nvPr/>
        </p:nvSpPr>
        <p:spPr>
          <a:xfrm>
            <a:off x="54864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8580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Why is inversion ill-posed?</a:t>
            </a:r>
            <a:endParaRPr lang="en-US" sz="1300" dirty="0"/>
          </a:p>
        </p:txBody>
      </p:sp>
      <p:sp>
        <p:nvSpPr>
          <p:cNvPr id="15" name="Text 12"/>
          <p:cNvSpPr txBox="1"/>
          <p:nvPr/>
        </p:nvSpPr>
        <p:spPr>
          <a:xfrm>
            <a:off x="68580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Different inputs give the same spectrum (LAI ↔ ALA); fix with priors, canopy-level CCC, more views</a:t>
            </a:r>
            <a:endParaRPr lang="en-US" sz="1150" dirty="0"/>
          </a:p>
        </p:txBody>
      </p:sp>
      <p:sp>
        <p:nvSpPr>
          <p:cNvPr id="16" name="card"/>
          <p:cNvSpPr/>
          <p:nvPr/>
        </p:nvSpPr>
        <p:spPr>
          <a:xfrm>
            <a:off x="429768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443484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LUT vs ANN?</a:t>
            </a:r>
            <a:endParaRPr lang="en-US" sz="1300" dirty="0"/>
          </a:p>
        </p:txBody>
      </p:sp>
      <p:sp>
        <p:nvSpPr>
          <p:cNvPr id="18" name="Text 15"/>
          <p:cNvSpPr txBox="1"/>
          <p:nvPr/>
        </p:nvSpPr>
        <p:spPr>
          <a:xfrm>
            <a:off x="443484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LUT seeks best spectral match, consistent; ANN fast but varies with training; LUT-II (best 10%) won at IARI</a:t>
            </a:r>
            <a:endParaRPr lang="en-US" sz="1150" dirty="0"/>
          </a:p>
        </p:txBody>
      </p:sp>
      <p:sp>
        <p:nvSpPr>
          <p:cNvPr id="19" name="card"/>
          <p:cNvSpPr/>
          <p:nvPr/>
        </p:nvSpPr>
        <p:spPr>
          <a:xfrm>
            <a:off x="804672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818388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Why GA?</a:t>
            </a:r>
            <a:endParaRPr lang="en-US" sz="1300" dirty="0"/>
          </a:p>
        </p:txBody>
      </p:sp>
      <p:sp>
        <p:nvSpPr>
          <p:cNvPr id="21" name="Text 18"/>
          <p:cNvSpPr txBox="1"/>
          <p:nvPr/>
        </p:nvSpPr>
        <p:spPr>
          <a:xfrm>
            <a:off x="818388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Global search, no derivatives or initial guess; fitness = MSE; LAI R² ≈ 0.9</a:t>
            </a:r>
            <a:endParaRPr lang="en-US" sz="1150" dirty="0"/>
          </a:p>
        </p:txBody>
      </p:sp>
      <p:sp>
        <p:nvSpPr>
          <p:cNvPr id="22" name="card"/>
          <p:cNvSpPr/>
          <p:nvPr/>
        </p:nvSpPr>
        <p:spPr>
          <a:xfrm>
            <a:off x="54864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Which variable is easiest?</a:t>
            </a:r>
            <a:endParaRPr lang="en-US" sz="1300" dirty="0"/>
          </a:p>
        </p:txBody>
      </p:sp>
      <p:sp>
        <p:nvSpPr>
          <p:cNvPr id="24" name="Text 21"/>
          <p:cNvSpPr txBox="1"/>
          <p:nvPr/>
        </p:nvSpPr>
        <p:spPr>
          <a:xfrm>
            <a:off x="68580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LAI &gt; Cab/CCC &gt; Cw: structure dominates reflectance; VIS low dynamic range</a:t>
            </a:r>
            <a:endParaRPr lang="en-US" sz="1150" dirty="0"/>
          </a:p>
        </p:txBody>
      </p:sp>
      <p:sp>
        <p:nvSpPr>
          <p:cNvPr id="25" name="card"/>
          <p:cNvSpPr/>
          <p:nvPr/>
        </p:nvSpPr>
        <p:spPr>
          <a:xfrm>
            <a:off x="429768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443484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Main PROSAIL weakness?</a:t>
            </a:r>
            <a:endParaRPr lang="en-US" sz="1300" dirty="0"/>
          </a:p>
        </p:txBody>
      </p:sp>
      <p:sp>
        <p:nvSpPr>
          <p:cNvPr id="27" name="Text 24"/>
          <p:cNvSpPr txBox="1"/>
          <p:nvPr/>
        </p:nvSpPr>
        <p:spPr>
          <a:xfrm>
            <a:off x="443484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Lambertian soil and homogeneous canopy → poor for sparse crops; VIS errors</a:t>
            </a:r>
            <a:endParaRPr lang="en-US" sz="1150" dirty="0"/>
          </a:p>
        </p:txBody>
      </p:sp>
      <p:sp>
        <p:nvSpPr>
          <p:cNvPr id="28" name="card"/>
          <p:cNvSpPr/>
          <p:nvPr/>
        </p:nvSpPr>
        <p:spPr>
          <a:xfrm>
            <a:off x="804672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818388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What is a hybrid method?</a:t>
            </a:r>
            <a:endParaRPr lang="en-US" sz="1300" dirty="0"/>
          </a:p>
        </p:txBody>
      </p:sp>
      <p:sp>
        <p:nvSpPr>
          <p:cNvPr id="30" name="Text 27"/>
          <p:cNvSpPr txBox="1"/>
          <p:nvPr/>
        </p:nvSpPr>
        <p:spPr>
          <a:xfrm>
            <a:off x="818388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Train ML (ANN, GPR) on RTM simulations; used for global LAI products</a:t>
            </a:r>
            <a:endParaRPr lang="en-US" sz="1150" dirty="0"/>
          </a:p>
        </p:txBody>
      </p:sp>
      <p:sp>
        <p:nvSpPr>
          <p:cNvPr id="31" name="card"/>
          <p:cNvSpPr/>
          <p:nvPr/>
        </p:nvSpPr>
        <p:spPr>
          <a:xfrm>
            <a:off x="548640" y="5257800"/>
            <a:ext cx="11094415" cy="914400"/>
          </a:xfrm>
          <a:prstGeom prst="roundRect">
            <a:avLst>
              <a:gd name="adj" fmla="val 8000"/>
            </a:avLst>
          </a:prstGeom>
          <a:solidFill>
            <a:schemeClr val="tx2"/>
          </a:solidFill>
          <a:ln/>
          <a:effectLst>
            <a:outerShdw sx="100000" sy="100000" kx="0" ky="0" algn="bl" rotWithShape="0" blurRad="76200" dist="25400" dir="5400000">
              <a:srgbClr val="000000">
                <a:alpha val="14000"/>
              </a:srgbClr>
            </a:outerShdw>
          </a:effectLst>
        </p:spPr>
      </p:sp>
      <p:sp>
        <p:nvSpPr>
          <p:cNvPr id="32" name="icon circle"/>
          <p:cNvSpPr/>
          <p:nvPr/>
        </p:nvSpPr>
        <p:spPr>
          <a:xfrm>
            <a:off x="685800" y="5477256"/>
            <a:ext cx="475488" cy="475488"/>
          </a:xfrm>
          <a:prstGeom prst="ellipse">
            <a:avLst/>
          </a:prstGeom>
          <a:solidFill>
            <a:schemeClr val="accent3"/>
          </a:solidFill>
          <a:ln/>
        </p:spPr>
      </p:sp>
      <p:pic>
        <p:nvPicPr>
          <p:cNvPr id="33" name="Image 0" descr="BookOpen icon">    </p:cNvPr>
          <p:cNvPicPr>
            <a:picLocks noChangeAspect="1"/>
          </p:cNvPicPr>
          <p:nvPr/>
        </p:nvPicPr>
        <p:blipFill>
          <a:blip r:embed="rId1"/>
          <a:stretch>
            <a:fillRect/>
          </a:stretch>
        </p:blipFill>
        <p:spPr>
          <a:xfrm>
            <a:off x="809427" y="5600883"/>
            <a:ext cx="228234" cy="228234"/>
          </a:xfrm>
          <a:prstGeom prst="rect">
            <a:avLst/>
          </a:prstGeom>
        </p:spPr>
      </p:pic>
      <p:sp>
        <p:nvSpPr>
          <p:cNvPr id="34" name="Text 30"/>
          <p:cNvSpPr txBox="1"/>
          <p:nvPr/>
        </p:nvSpPr>
        <p:spPr>
          <a:xfrm>
            <a:off x="1325880" y="5303520"/>
            <a:ext cx="10180015" cy="822960"/>
          </a:xfrm>
          <a:prstGeom prst="rect">
            <a:avLst/>
          </a:prstGeom>
          <a:noFill/>
          <a:ln/>
        </p:spPr>
        <p:txBody>
          <a:bodyPr wrap="square" lIns="508" tIns="508" rIns="508" bIns="508" rtlCol="0" anchor="ctr"/>
          <a:lstStyle/>
          <a:p>
            <a:pPr indent="0" marL="0">
              <a:spcAft>
                <a:spcPts val="600"/>
              </a:spcAft>
              <a:buNone/>
            </a:pPr>
            <a:r>
              <a:rPr lang="en-US" sz="1250" b="1" dirty="0">
                <a:solidFill>
                  <a:schemeClr val="bg1"/>
                </a:solidFill>
              </a:rPr>
              <a:t>Read:</a:t>
            </a:r>
            <a:r>
              <a:rPr lang="en-US" sz="1250" dirty="0">
                <a:solidFill>
                  <a:schemeClr val="bg1"/>
                </a:solidFill>
              </a:rPr>
              <a:t> Jacquemoud et al. 2009 (PROSAIL review) · Verrelst et al. 2015 (retrieval methods) · Chakraborty et al. 2015 (wheat BRF, PROSAIL5B validation) · Mridha et al. 2014 (GA inversion) · Sehgal et al. 2016 (LUT vs ANN; LISS-3 LAI map)</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Radiative Transfer Models">
  <a:themeElements>
    <a:clrScheme name="Radiative Transfer Models">
      <a:dk1>
        <a:srgbClr val="1E2430"/>
      </a:dk1>
      <a:lt1>
        <a:srgbClr val="FFFFFF"/>
      </a:lt1>
      <a:dk2>
        <a:srgbClr val="1F4E3D"/>
      </a:dk2>
      <a:lt2>
        <a:srgbClr val="EEF3EE"/>
      </a:lt2>
      <a:accent1>
        <a:srgbClr val="3F8F5A"/>
      </a:accent1>
      <a:accent2>
        <a:srgbClr val="2E86AB"/>
      </a:accent2>
      <a:accent3>
        <a:srgbClr val="EDAE49"/>
      </a:accent3>
      <a:accent4>
        <a:srgbClr val="8C5E34"/>
      </a:accent4>
      <a:accent5>
        <a:srgbClr val="6C4F9E"/>
      </a:accent5>
      <a:accent6>
        <a:srgbClr val="5C6B73"/>
      </a:accent6>
      <a:hlink>
        <a:srgbClr val="2E86AB"/>
      </a:hlink>
      <a:folHlink>
        <a:srgbClr val="6C4F9E"/>
      </a:folHlink>
    </a:clrScheme>
    <a:fontScheme name="Radiative Transfer Model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Radiative Transfer Models in Agriculture</dc:title>
  <dc:subject>PROSPECT, SAIL, PROSAIL, inversion methods and IARI wheat studies; ISRO interview</dc:subject>
  <dc:creator>Animesh</dc:creator>
  <cp:lastModifiedBy>Animesh</cp:lastModifiedBy>
  <cp:revision>1</cp:revision>
  <dcterms:created xsi:type="dcterms:W3CDTF">2026-10-30T15:40:04Z</dcterms:created>
  <dcterms:modified xsi:type="dcterms:W3CDTF">2026-10-30T15:40:04Z</dcterms:modified>
</cp:coreProperties>
</file>