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df9d9cb-014d-56ee-c0d8-d29e3d7e7406}">
          <p14:sldIdLst>
            <p14:sldId id="256"/>
            <p14:sldId id="257"/>
          </p14:sldIdLst>
        </p14:section>
        <p14:section name="Heat &amp; temperature" id="{da5319cc-a205-9bbf-e85d-768d38d59122}">
          <p14:sldIdLst>
            <p14:sldId id="258"/>
            <p14:sldId id="259"/>
            <p14:sldId id="260"/>
            <p14:sldId id="261"/>
          </p14:sldIdLst>
        </p14:section>
        <p14:section name="Gas law &amp; virtual temperature" id="{71054f44-edaa-5f24-c738-0f8689cd11c0}">
          <p14:sldIdLst>
            <p14:sldId id="262"/>
            <p14:sldId id="263"/>
            <p14:sldId id="264"/>
          </p14:sldIdLst>
        </p14:section>
        <p14:section name="First law &amp; adiabatic processes" id="{d5faa990-c898-f48b-353b-d34fd9ed309c}">
          <p14:sldIdLst>
            <p14:sldId id="265"/>
            <p14:sldId id="266"/>
            <p14:sldId id="267"/>
          </p14:sldIdLst>
        </p14:section>
        <p14:section name="Adiabatic lapse rates" id="{cc928778-f784-bb2c-b6cc-a3c3a0e5b856}">
          <p14:sldIdLst>
            <p14:sldId id="268"/>
            <p14:sldId id="269"/>
            <p14:sldId id="270"/>
            <p14:sldId id="271"/>
            <p14:sldId id="272"/>
          </p14:sldIdLst>
        </p14:section>
        <p14:section name="Thermodynamic diagrams, LCL &amp; mountains" id="{039eff31-898f-191b-3b05-34c8c828e417}">
          <p14:sldIdLst>
            <p14:sldId id="273"/>
            <p14:sldId id="274"/>
            <p14:sldId id="275"/>
            <p14:sldId id="276"/>
          </p14:sldIdLst>
        </p14:section>
        <p14:section name="Potential temperature (θ)" id="{08c11e41-aef5-83fa-f72f-c740dc91d032}">
          <p14:sldIdLst>
            <p14:sldId id="277"/>
            <p14:sldId id="278"/>
            <p14:sldId id="279"/>
            <p14:sldId id="280"/>
          </p14:sldIdLst>
        </p14:section>
        <p14:section name="Atmospheric stability" id="{460a7da1-2335-a860-1f7c-2227733ec0d4}">
          <p14:sldIdLst>
            <p14:sldId id="281"/>
            <p14:sldId id="282"/>
            <p14:sldId id="283"/>
            <p14:sldId id="284"/>
            <p14:sldId id="285"/>
            <p14:sldId id="286"/>
          </p14:sldIdLst>
        </p14:section>
        <p14:section name="Convection, CAPE &amp; inversions" id="{8b78ba1b-4940-abcc-d8b6-3fea2794af60}">
          <p14:sldIdLst>
            <p14:sldId id="287"/>
            <p14:sldId id="288"/>
            <p14:sldId id="289"/>
            <p14:sldId id="290"/>
            <p14:sldId id="291"/>
          </p14:sldIdLst>
        </p14:section>
        <p14:section name="Air masses &amp; fronts" id="{edc3c889-6b8f-aa83-e034-1b134b461987}">
          <p14:sldIdLst>
            <p14:sldId id="292"/>
            <p14:sldId id="293"/>
            <p14:sldId id="294"/>
            <p14:sldId id="295"/>
            <p14:sldId id="296"/>
            <p14:sldId id="297"/>
            <p14:sldId id="298"/>
            <p14:sldId id="299"/>
            <p14:sldId id="300"/>
            <p14:sldId id="301"/>
          </p14:sldIdLst>
        </p14:section>
        <p14:section name="Practice &amp; revision" id="{5cb76931-51a9-835f-5def-ec8a81af3846}">
          <p14:sldIdLst>
            <p14:sldId id="302"/>
            <p14:sldId id="303"/>
            <p14:sldId id="304"/>
            <p14:sldId id="305"/>
            <p14:sldId id="306"/>
            <p14:sldId id="30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D2B4F"/>
                </a:solidFill>
                <a:latin typeface="+mn-lt"/>
              </a:defRPr>
            </a:pPr>
            <a:r>
              <a:rPr sz="1300" b="0" i="0" u="none" strike="noStrike">
                <a:solidFill>
                  <a:srgbClr val="1D2B4F"/>
                </a:solidFill>
                <a:latin typeface="+mn-lt"/>
              </a:rPr>
              <a:t>Lapse rate vs air temperature at 1000 hPa</a:t>
            </a:r>
          </a:p>
        </c:rich>
      </c:tx>
      <c:layout/>
      <c:overlay val="0"/>
    </c:title>
    <c:autoTitleDeleted val="0"/>
    <c:plotArea>
      <c:layout/>
      <c:lineChart>
        <c:varyColors val="0"/>
        <c:ser>
          <c:idx val="0"/>
          <c:order val="0"/>
          <c:tx>
            <c:strRef>
              <c:f>Sheet1!$B$1</c:f>
              <c:strCache>
                <c:ptCount val="1"/>
                <c:pt idx="0">
                  <c:v>Saturated adiabatic Γs (K/km)</c:v>
                </c:pt>
              </c:strCache>
            </c:strRef>
          </c:tx>
          <c:spPr>
            <a:solidFill>
              <a:srgbClr val="6C4F9E"/>
            </a:solidFill>
            <a:ln w="38100" cap="flat">
              <a:solidFill>
                <a:srgbClr val="6C4F9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6C4F9E"/>
              </a:solidFill>
              <a:ln w="9525" cap="flat">
                <a:solidFill>
                  <a:srgbClr val="6C4F9E"/>
                </a:solidFill>
                <a:prstDash val="solid"/>
                <a:round/>
              </a:ln>
              <a:effectLst/>
            </c:spPr>
          </c:marker>
          <c:cat>
            <c:multiLvlStrRef>
              <c:f>Sheet1!$A$2:$A$7</c:f>
              <c:multiLvlStrCache>
                <c:ptCount val="6"/>
                <c:lvl>
                  <c:pt idx="0">
                    <c:v>−40</c:v>
                  </c:pt>
                  <c:pt idx="1">
                    <c:v>−20</c:v>
                  </c:pt>
                  <c:pt idx="2">
                    <c:v>0</c:v>
                  </c:pt>
                  <c:pt idx="3">
                    <c:v>10</c:v>
                  </c:pt>
                  <c:pt idx="4">
                    <c:v>20</c:v>
                  </c:pt>
                  <c:pt idx="5">
                    <c:v>30</c:v>
                  </c:pt>
                </c:lvl>
              </c:multiLvlStrCache>
            </c:multiLvlStrRef>
          </c:cat>
          <c:val>
            <c:numRef>
              <c:f>Sheet1!$B$2:$B$7</c:f>
              <c:numCache>
                <c:formatCode>General</c:formatCode>
                <c:ptCount val="6"/>
                <c:pt idx="0">
                  <c:v>9.5</c:v>
                </c:pt>
                <c:pt idx="1">
                  <c:v>8.6</c:v>
                </c:pt>
                <c:pt idx="2">
                  <c:v>6.5</c:v>
                </c:pt>
                <c:pt idx="3">
                  <c:v>5.3</c:v>
                </c:pt>
                <c:pt idx="4">
                  <c:v>4.3</c:v>
                </c:pt>
                <c:pt idx="5">
                  <c:v>3.5</c:v>
                </c:pt>
              </c:numCache>
            </c:numRef>
          </c:val>
          <c:smooth val="0"/>
        </c:ser>
        <c:ser>
          <c:idx val="1"/>
          <c:order val="1"/>
          <c:tx>
            <c:strRef>
              <c:f>Sheet1!$C$1</c:f>
              <c:strCache>
                <c:ptCount val="1"/>
                <c:pt idx="0">
                  <c:v>Dry adiabatic Γd (K/km)</c:v>
                </c:pt>
              </c:strCache>
            </c:strRef>
          </c:tx>
          <c:spPr>
            <a:solidFill>
              <a:srgbClr val="3F8F5A"/>
            </a:solidFill>
            <a:ln w="38100" cap="flat">
              <a:solidFill>
                <a:srgbClr val="3F8F5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3F8F5A"/>
              </a:solidFill>
              <a:ln w="9525" cap="flat">
                <a:solidFill>
                  <a:srgbClr val="3F8F5A"/>
                </a:solidFill>
                <a:prstDash val="solid"/>
                <a:round/>
              </a:ln>
              <a:effectLst/>
            </c:spPr>
          </c:marker>
          <c:cat>
            <c:multiLvlStrRef>
              <c:f>Sheet1!$A$2:$A$7</c:f>
              <c:multiLvlStrCache>
                <c:ptCount val="6"/>
                <c:lvl>
                  <c:pt idx="0">
                    <c:v>−40</c:v>
                  </c:pt>
                  <c:pt idx="1">
                    <c:v>−20</c:v>
                  </c:pt>
                  <c:pt idx="2">
                    <c:v>0</c:v>
                  </c:pt>
                  <c:pt idx="3">
                    <c:v>10</c:v>
                  </c:pt>
                  <c:pt idx="4">
                    <c:v>20</c:v>
                  </c:pt>
                  <c:pt idx="5">
                    <c:v>30</c:v>
                  </c:pt>
                </c:lvl>
              </c:multiLvlStrCache>
            </c:multiLvlStrRef>
          </c:cat>
          <c:val>
            <c:numRef>
              <c:f>Sheet1!$C$2:$C$7</c:f>
              <c:numCache>
                <c:formatCode>General</c:formatCode>
                <c:ptCount val="6"/>
                <c:pt idx="0">
                  <c:v>9.8</c:v>
                </c:pt>
                <c:pt idx="1">
                  <c:v>9.8</c:v>
                </c:pt>
                <c:pt idx="2">
                  <c:v>9.8</c:v>
                </c:pt>
                <c:pt idx="3">
                  <c:v>9.8</c:v>
                </c:pt>
                <c:pt idx="4">
                  <c:v>9.8</c:v>
                </c:pt>
                <c:pt idx="5">
                  <c:v>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C6B73"/>
                    </a:solidFill>
                    <a:latin typeface="Arial"/>
                  </a:defRPr>
                </a:pPr>
                <a:r>
                  <a:rPr sz="1100" b="0" i="0" u="none" strike="noStrike">
                    <a:solidFill>
                      <a:srgbClr val="5C6B73"/>
                    </a:solidFill>
                    <a:latin typeface="Arial"/>
                  </a:rPr>
                  <a:t>Air temperature (°C)</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73"/>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9525" cap="flat">
              <a:solidFill>
                <a:srgbClr val="E3E8EE"/>
              </a:solidFill>
              <a:prstDash val="solid"/>
              <a:round/>
            </a:ln>
          </c:spPr>
        </c:majorGridlines>
        <c:title>
          <c:tx>
            <c:rich>
              <a:bodyPr/>
              <a:lstStyle/>
              <a:p>
                <a:pPr>
                  <a:defRPr sz="1100" b="0" i="0" u="none" strike="noStrike">
                    <a:solidFill>
                      <a:srgbClr val="5C6B73"/>
                    </a:solidFill>
                    <a:latin typeface="Arial"/>
                  </a:defRPr>
                </a:pPr>
                <a:r>
                  <a:rPr sz="1100" b="0" i="0" u="none" strike="noStrike">
                    <a:solidFill>
                      <a:srgbClr val="5C6B73"/>
                    </a:solidFill>
                    <a:latin typeface="Arial"/>
                  </a:rPr>
                  <a:t>Lapse rate (K/km)</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E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follows the order of the class notes: heat and temperature, specific heat, gas law, virtual temperature, first law, adiabatic processes, the dry and wet adiabatic lapse rates, thermodynamic diagrams, LCL and orographic lifting, and potential temperature. It then adds a full module on atmospheric stability with worked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module builds on the previous one. Stability (module 7) uses everything before it, and air masses and fronts (module 9) apply stability to real weather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point of the notes (Petterssen, chapters 4 and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Heat is a form of energy that we measure through the temperature change it produces. Temperature is the degree of hotness or coldness; the SI unit is the kelvin. Heat moves in three ways. Conduction passes energy from molecule to molecule without the molecules moving away; it dominates in solids and only acts in the thin air layer touching the ground. Convection moves heated fluid itself, so it is the main way heat goes upward in air and water. Radiation needs no medium: every body above absolute zero emits electromagnetic radiation (Planck's law). In meteorology we add advection: horizontal transport of heat by the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Sensible heat is the heat you can feel and measure with a thermometer; in air it is carried by conduction and convection. Latent heat is hidden: it changes the state of water without changing its temperature. Evaporation takes about 2.5 million joules per kilogram from the surface; when the vapour condenses higher up, the same energy is released as sensible heat. That recovery of latent heat is why rising saturated air cools more slowly than dry air, and why it powers thunderstorms, cyclones and the monsoon.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Specific heat C is the heat needed to raise the temperature of one gram (or kilogram) of a substance by one degree: ΔH = C ΔT for unit mass, or ΔH = m C ΔT in general. One calorie is the heat that warms 1 g of water by 1 °C at 15 °C. Heat capacity per unit volume is density times specific heat, ρC, because m = ρV. Water's volumetric heat capacity is about 3,500 times that of air, so oceans warm and cool slowly while land and air respond fast. That contrast drives land and sea breezes and the monsoon.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equation of state is used in every derivation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gas law links pressure, density and absolute temperature. In chemistry it is PV = nRT. Meteorologists use it per unit mass: P = ρRT, where R for dry air is 287 J/kg/K. Specific volume α is the volume of a unit mass, the inverse of density, so the law becomes Pα = RT. In words: at fixed pressure, warmer air has a larger volume per kilogram, so it is less dense and buoyant.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 vapour (molecular weight 18) is lighter than dry air (28.97). So adding vapour at the same pressure and temperature lowers the density. Rather than change the gas constant, we invent a slightly higher temperature, the virtual temperature T* or Tv: the temperature that dry air would need to have the same pressure and density as the moist air. With specific humidity q in kg/kg, Tv ≈ T(1 + 0.61q), which the notes write as T* = T/(1 − 0.6q). In hot humid air T* exceeds T by about 2–3 °C. Using Tv, the gas law keeps its dry-air form: P = ρ R_d Tv.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law plus the hydrostatic equation give every lapse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law is conservation of energy. Heat Δh added to a unit mass of air that is free to expand does two things: part raises its internal energy (temperature), part does work pushing back the surroundings. In a rigid sealed container (constant volume) all the heat goes to temperature: Δh = cv ΔT. If the air can expand, the work done is P Δα, so Δh = cv ΔT + P Δα. Using the gas law, this can be rewritten in the form meteorologists prefer, with pressure change instead of volume change: Δh = cp ΔT − α ΔP, where cp = cv +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 adiabatic process no heat enters or leaves the air: all temperature change comes from compression (work done on the air) or expansion (work done by the air). In a diabatic (non-adiabatic) process heat is exchanged with the surroundings by radiation, conduction, mixing or phase change. Near the ground, in roughly the lowest kilometre, diabatic processes are common because the surface heats and cools the air. In the free atmosphere above, air is far from the heat sources, so vertical motions are very nearly adiabatic. Two cases: dry adiabatic for unsaturated air and moist (wet) adiabatic for saturated air, where latent heat is also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numbers are the reference lines for every stability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from the first law with no heat exchange, Δh = 0, so cp ΔT = α ΔP. Pressure change is tied to height change by the hydrostatic equation, −ΔP = ρ g ΔZ. Substitute it: cp ΔT = −α ρ g ΔZ. Since α is 1/ρ, αρ = 1, leaving ΔT/ΔZ = −g/cp. The minus sign says temperature falls with height. The lapse rate is defined as the rate of decrease, so Γd = g/cp = 9.81/1004 ≈ 0.0098 K per metre: about 1 °C per 100 m or 10 °C per km. It depends only on g and cp, so it is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saturated parcel of 1 g of dry air plus r grams of water vapour (r = mixing ratio). As it rises and cools, a small amount Δr of vapour condenses, releasing heat −LΔr (the minus sign because r decreases). This heat now appears on the left of the first law: −LΔr = cp ΔT − α ΔP. Proceed exactly as for the dry case using the hydrostatic equation. The result is Γs = Γd + (L/cp)(Δr/ΔZ). Because Δr/ΔZ is negative, the second term reduces the lapse rate: latent heat slows the cooling. More vapour condenses in warm air, so Γs is small in the warm tropics (the notes quote about 35% lower than Γd) and approaches Γd in cold air (polar winter, upper troposphere) where little vapour is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 of the saturated adiabatic lapse rate at 1000 hPa for different temperatures (approximate, from standard tables). At 30 °C it is about a third of the dry rate; at −40 °C almost equal to it. This is why tropical cumulus can rise so high: a saturated parcel cools slowly and stays warmer than its surroundings. Note that 6.5 K/km is also the average environmental lapse rate of the standard atmosphere; do not confuse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environment (surrounding air) is assumed not to move vertically or change its temperature while a small parcel moves through it. Its observed rate of temperature decrease with height is the environmental lapse rate γ, measured by radiosondes; it changes from day to day and place to place. The parcel follows Γd while unsaturated and Γs once saturated. Stability depends on how γ compares with Γd and Γs. On the plot, lines leaning further left mean faster cooling with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puts the lapse rates to work on real situations.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from the class plots temperature on the horizontal axis and pressure, decreasing upward, on the vertical axis. Three families of reference lines are printed on it: dry adiabats (green), along which an unsaturated parcel moves; saturated (moist) adiabats (blue dotted), along which a saturated parcel moves; and lines of constant saturation mixing ratio (orange dotted, in g/kg), which help locate the dew point and the LCL. Plot the radiosonde temperature and dew point, then lift a parcel along these lines to judge stability. Common versions are the tephigram, the skew-T log-P and the Stüve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unsaturated air rises, its temperature falls at the dry rate of about 9.8 K/km, but its dew point falls much more slowly, about 1.8 K/km. The two approach at about 8 K per km, and where they meet the parcel becomes saturated: this is the lifting condensation level, the cloud base. Above it the parcel follows the moist adiabat. Hence the handy rule: LCL height in metres ≈ 125 × (T − Td). Example: T = 30 °C and Td = 22 °C give an LCL near 1,000 m, where both temperatures have reached about 20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numbers in the class figure. Air at 20 °C with dew point 12 °C is forced up the windward slope. It cools at about 10 °C/km and reaches saturation at 1,000 m (125 × 8). Above the LCL it cools at the moist rate of about 6 °C/km: 4 °C at 2,000 m and −2 °C at the 3,000 m summit, dropping its moisture as rain. On the leeward side the now drier air sinks and warms at the dry rate of 10 °C/km: 8, 18 and finally 28 °C at the foot. It arrives 8 °C warmer and much drier than it started, because latent heat released on the windward side stays in the air. This hot dry downslope wind is the Foehn in the Alps and the Chinook in the Rockies.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θ turns the stability question into a simple comparison of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Potential temperature θ is the temperature a parcel of air would have if it were brought dry-adiabatically to the reference pressure of 1000 mb (roughly the earth's surface). Because it removes the effect of pressure, two parcels at different heights can be compared directly. Integrating the first law for an adiabatic process gives Poisson's equation: θ = T (1000/p)^κ with κ = R/cp ≈ 0.286. In dry adiabatic motion θ stays constant, which is why dry adiabats on the thermodynamic chart are also lines of constant 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 looked at how θ changes up an air column, comparing the dry adiabatic lapse rate (DLR) with the actual lapse rate (ALR) of the environment. Case 1: DLR &gt; ALR, the air cools more slowly with height than a dry parcel would, so θ increases upward (θP &lt; θQ &lt; θR for points P, Q, R going up): stable. Case 2: DLR = ALR, θ is the same at all levels: neutral. Case 3: DLR &lt; ALR, the air cools faster than the dry rate, so θ decreases upward: unstable. So simply reading θ from a sounding tells you the dry stability.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θ is conserved only while air stays unsaturated. When vapour condenses, latent heat warms the air and θ rises. The equivalent potential temperature θe adds that latent heat back in: it is the θ the air would have if all its vapour were condensed and the heat kept in the air. θe is conserved in both dry and moist adiabatic motion, so it labels an air mass even through cloud. High θe near the surface means warm, very moist air, the fuel for monsoon convection and thunderstorms. The wet-bulb potential temperature θw is a similar conserved label used on tephigrams.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additional concept requested: built entirely on the lapse rates and θ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Stability describes what happens to a small parcel of air after it is nudged up or down. Stable: it is pushed back to where it started, like a ball in a valley. Unstable: it keeps accelerating away, like a ball on a hilltop. Neutral: it stays wherever it is left, like a ball on flat ground. In the atmosphere the restoring or pushing force is buoyancy, set by whether the displaced parcel is warmer (lighter) or colder (denser) than the air around it at its new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Stability is tested with an imaginary parcel. Assumptions: the parcel does not mix with its surroundings, it moves adiabatically, and its pressure instantly matches the environment's, so only temperature differences matter. Lift it a small distance: it cools at Γd (or Γs if saturated). Compare its temperature with the environment at the new level. If the parcel is warmer it is lighter and accelerates upward (unstable); if colder it sinks back (stable). The buoyant acceleration is a = g (Tp − Te)/Te, ideally using virtual temperatures. Example: a parcel 2 K warmer than 300 K surroundings accelerates at 9.81 × 2/300 ≈ 0.065 m/s².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environmental lapse rate γ with the two parcel lapse rates. If the environment cools more slowly than even a saturated parcel (γ &lt; Γs), any lifted parcel ends up colder than its surroundings: absolutely stable. If it cools faster than a dry parcel (γ &gt; Γd), any lifted parcel ends up warmer: absolutely unstable; this superadiabatic state is found only near hot ground. In between (Γs &lt; γ &lt; Γd) the answer depends on moisture: stable for unsaturated air but unstable for saturated air. This conditional instability is the normal state of the tropical troposphere and explains why convection needs a trigger to reach saturation.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Conditional instability is the most important case and the most confusing. Take an environment with γ = 8 K/km, between Γs (≈ 6) and Γd (9.8). Lift unsaturated air: after 1 km it has cooled 9.8 K while the environment cooled only 8 K, so the parcel is 1.8 K colder and sinks back: stable. Now lift saturated air: it cools only 6 K, ending 2 K warmer than the environment, so it keeps rising: unstable. The 'condition' is saturation. In practice air is lifted dry, reaches the LCL, and if lifted further it can become warmer than the environment at the level of free convection; from there it rises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θ is conserved for dry parcels, dry stability can be read directly from its vertical gradient: θ increasing with height is stable, constant is neutral, decreasing is unstable. These match the class's three cases. For moist layers use θe: if θe decreases with height the layer is potentially (convectively) unstable. The strength of stability is measured by the Brunt–Väisälä frequency N, the frequency at which a displaced parcel oscillates: N² = (g/θ) dθ/dz. Positive N² gives oscillation (stable), negative gives exponential growth (unstable). Typical tropospheric N is about 0.01 s⁻¹, an oscillation period of roughly 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forecasters use stability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Lift a surface parcel. It follows the dry adiabat up to the LCL, then the moist adiabat. At first it is colder than the environment (blue area): energy must be supplied to push it up, the convective inhibition, CIN. If it is forced past the level of free convection (LFC) it becomes warmer than its surroundings and rises on its own, gaining energy (red area): the convective available potential energy, CAPE. It stops accelerating at the equilibrium level (EL), near the cloud top. CAPE = g ∫ (Tvp − Tve)/Tve dz from LFC to EL, in J/kg; the maximum updraft speed is roughly √(2 CAPE).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Indices squeeze a sounding into one number for quick thunderstorm guidance. The Lifted Index subtracts the temperature of a parcel lifted to 500 hPa from the environment's 500 hPa temperature; negative means the parcel is warmer, so unstable. The K index combines the 850–500 hPa lapse rate with low-level moisture and mid-level dryness. Total Totals combines 850 and 500 hPa temperature and dew point. CAPE measures the total buoyant energy. Thresholds vary by region and season; those shown are commonly quoted guides.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inversion is a layer where temperature increases with height (γ &lt; 0). It is extremely stable and acts as a lid on vertical mixing. Radiation inversions form near the ground on clear, calm nights as the surface cools by radiation; they cause fog and trap smoke, as in Delhi's winter smog. Subsidence inversions form aloft when air in a high-pressure system sinks and warms adiabatically; they cap the trade-wind and boundary layer clouds. Frontal inversions occur where warm air overrides cold air, and advection inversions where warm air moves over a cold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Stability controls the weather you see. Stable air gives layered stratus clouds, fog, drizzle and steady rain, and smoke spreads out flat. Unstable air gives towering cumulus, showers, thunderstorms and gusty winds, and smoke loops up and down. The diurnal cycle shows both: at night the ground cools and a surface inversion forms; by afternoon solar heating makes the lowest layer superadiabatic and convection starts. Chimney plume shapes are a classic way to read stability: looping (unstable), coning (neutral), fanning (stable), lofting (inversion below, unstable above) and fumigation (unstable below an inversion, typical of mornings, bringing pollution down to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class handout 'Air Masses and Fronts' (CIMSS), with Indian examples added. Stability from the previous modules explains the weather of each air mass and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air mass is an extremely large body of air, often covering hundreds of thousands of square kilometres, whose temperature and humidity at any given altitude are fairly similar in every horizontal direction. Weather exists for two basic reasons: the earth's surface is heated unequally, and the lower atmosphere is heated from that surface. An air mass forms when air stays over a uniform, flat source region with light winds long enough to take on the surface's properties. The longer it stays, the more it resembles the surface below. Air masses can control the weather for days to months; most active weather happens along their edges, at fronts.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 masses are named with two letters. The first, lower-case letter gives the surface type: c for continental (over land, dry) and m for maritime (over ocean, moist). The second, capital letter gives the latitude: P for polar (poleward of about 60°) and T for tropical (within about 25° of the equator). Arctic (A) and equatorial (E) are sometimes added. Combining them gives four main types. Their stability follows from what the earlier modules taught: air cooled from below is stable, air heated or moistened from below is unstable.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handout's examples are from the United States: winter cP air brings bitter cold as far south as Florida after long clear nights of radiational cooling; cP air crossing the warmer North Pacific becomes mP and gives orographic rain on the Pacific north-west mountains; mT air from the Gulf of Mexico and subtropical Pacific brings moisture; and stagnant cT and mT air over the Midwest caused the deadly 1995 heat wave. The same ideas explain Indian seasons: dry cP outflow in winter, hot cT air from the Thar in May, and moist mT monsoon air from June to September.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air mass changes as it leaves its source region, and the change depends on whether the new surface is warmer or colder than the air. Cold air over a warm surface is heated from below: its lower layers warm, the lapse rate steepens, and the air becomes unstable, giving cumulus and showers (a 'k' air mass, colder than the surface). Warm air over a cold surface is cooled from below: an inversion forms, the air becomes stable, and fog or low stratus result (a 'w' air mass, warmer than the surface). Moisture added from a water surface also lowers stability by raising θe near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front is the transition zone between two air masses with distinctly different properties, mainly density, which is usually set by temperature, but humidity differs too. Fronts are named by which air is advancing. On a surface map or from your own observations, look for five signs: a sharp temperature change over a short distance, a change in moisture (dew point), a rapid shift in wind direction, pressure changes (a trough, with falling then rising pressure), and bands of cloud and precipitation.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cold front, dense cold air pushes under the warm air like a wedge. Friction slows the air at the ground, so the leading edge is steep, and the front moves fast, about 25 to 40 knots; faster fronts are steeper. The warm air is forced up sharply, often in a conditionally unstable state, so towering cumulonimbus, heavy showers, thunder and gusty winds form in a narrow band. After the front passes, temperature and dew point fall, pressure rises, the wind veers and the sky clears with fair-weather cumulus.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warm front the lighter warm air cannot push the cold air away; it slides up over it ('overrunning') while the cold air slowly retreats, at about 10 to 15 knots. The frontal surface is shallow, so the rising is gentle and spread over hundreds of kilometres. Clouds arrive in a characteristic sequence, far ahead of the surface front: cirrus, cirrostratus (with a halo), altostratus, then nimbostratus and stratus with fog. Precipitation is light to moderate and long-lasting, because the lifted air is usually stable. After the front passes it becomes warmer and more humid, and the sky partly clears.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stationary front is a boundary that is not moving: neither air mass replaces the other, so cloud and light rain can persist over the same area for days. An occluded front forms when a fast cold front catches up with a slower warm front and lifts the warm air off the ground. In a cold occlusion the air behind the cold front is colder than the air ahead of the warm front, so it undercuts both; weather resembles a cold front with Ns, towering cumulus and Cb. In a warm occlusion, common on the north-west coast of North America where cool mP air from the ocean meets colder cP air, the air behind is less cold and rides over the colder air ahead. Precipitation is similar in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polar-front weather belongs to the mid-latitudes, but the same air-mass and front ideas appear over India. Western disturbances are mid-latitude systems with weak fronts that cross north India in winter, bringing rain, Himalayan snow and, behind them, cold cP-type air and fog. In spring, the boundary between hot dry cT air from the north-west and moist mT air from the Bay of Bengal is a dry line; strong instability there fuels nor'westers (Kalbaisakhi) over east India. The monsoon trough and the monsoon onset are better described by convergence and moist instability than by fronts.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each problem before reading the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exam-style problems with full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the formulas from the notes and the additional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answering each before reading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questions with one-line answers, typical of oral exams and interviews.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chain of ideas from heat to thunderstorms.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6949440" cy="20116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794760"/>
            <a:ext cx="6766560" cy="118872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Atmospheric thermodynamics &amp; stability  ·  step by step</a:t>
            </a:r>
            <a:endParaRPr lang="en-US" sz="10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4.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4.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4.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4.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4.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slideLayout" Target="../slideLayouts/slideLayout4.xml"/><Relationship Id="rId6"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slideLayout" Target="../slideLayouts/slideLayout4.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slideLayout" Target="../slideLayouts/slideLayout4.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4.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4.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4.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slideLayout" Target="../slideLayouts/slideLayout4.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slideLayout" Target="../slideLayouts/slideLayout4.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slideLayout" Target="../slideLayouts/slideLayout4.xml"/><Relationship Id="rId5"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6949440" cy="2011680"/>
          </a:xfrm>
          <a:prstGeom prst="rect">
            <a:avLst/>
          </a:prstGeom>
          <a:noFill/>
          <a:ln/>
        </p:spPr>
        <p:txBody>
          <a:bodyPr wrap="square" lIns="0" tIns="0" rIns="0" bIns="0" rtlCol="0" anchor="b"/>
          <a:lstStyle/>
          <a:p>
            <a:pPr algn="l" indent="0" marL="0">
              <a:buNone/>
            </a:pPr>
            <a:r>
              <a:rPr lang="en-US" sz="4400" b="1" dirty="0">
                <a:solidFill>
                  <a:schemeClr val="bg1"/>
                </a:solidFill>
              </a:rPr>
              <a:t>Atmospheric Thermodynamics &amp; Stability</a:t>
            </a:r>
            <a:endParaRPr lang="en-US" sz="4400" dirty="0"/>
          </a:p>
        </p:txBody>
      </p:sp>
      <p:sp>
        <p:nvSpPr>
          <p:cNvPr id="3" name="Text 0"/>
          <p:cNvSpPr/>
          <p:nvPr>
            <p:ph idx="101" type="body" hasCustomPrompt="1"/>
          </p:nvPr>
        </p:nvSpPr>
        <p:spPr>
          <a:xfrm>
            <a:off x="731520" y="3794760"/>
            <a:ext cx="6766560" cy="1188720"/>
          </a:xfrm>
          <a:prstGeom prst="rect">
            <a:avLst/>
          </a:prstGeom>
          <a:noFill/>
          <a:ln/>
        </p:spPr>
        <p:txBody>
          <a:bodyPr wrap="square" lIns="0" tIns="0" rIns="0" bIns="0" rtlCol="0" anchor="t"/>
          <a:lstStyle/>
          <a:p>
            <a:pPr indent="0" marL="0">
              <a:buNone/>
            </a:pPr>
            <a:r>
              <a:rPr lang="en-US" sz="1800" dirty="0">
                <a:solidFill>
                  <a:schemeClr val="bg2"/>
                </a:solidFill>
              </a:rPr>
              <a:t>Heat, gas laws, adiabatic lapse rates, potential temperature and stability — explained step by step</a:t>
            </a:r>
            <a:endParaRPr lang="en-US" sz="1800" dirty="0"/>
          </a:p>
        </p:txBody>
      </p:sp>
      <p:sp>
        <p:nvSpPr>
          <p:cNvPr id="4" name="glow"/>
          <p:cNvSpPr/>
          <p:nvPr/>
        </p:nvSpPr>
        <p:spPr>
          <a:xfrm>
            <a:off x="8229600" y="1097280"/>
            <a:ext cx="3291840" cy="3291840"/>
          </a:xfrm>
          <a:prstGeom prst="ellipse">
            <a:avLst/>
          </a:prstGeom>
          <a:solidFill>
            <a:schemeClr val="accent2">
              <a:alpha val="45000"/>
            </a:schemeClr>
          </a:solidFill>
          <a:ln/>
        </p:spPr>
      </p:sp>
      <p:sp>
        <p:nvSpPr>
          <p:cNvPr id="5" name="icon circle"/>
          <p:cNvSpPr/>
          <p:nvPr/>
        </p:nvSpPr>
        <p:spPr>
          <a:xfrm>
            <a:off x="8915400" y="1783080"/>
            <a:ext cx="1920240" cy="1920240"/>
          </a:xfrm>
          <a:prstGeom prst="ellipse">
            <a:avLst/>
          </a:prstGeom>
          <a:solidFill>
            <a:schemeClr val="accent2"/>
          </a:solidFill>
          <a:ln/>
        </p:spPr>
      </p:sp>
      <p:pic>
        <p:nvPicPr>
          <p:cNvPr id="6" name="Image 0" descr="CloudSun icon">    </p:cNvPr>
          <p:cNvPicPr>
            <a:picLocks noChangeAspect="1"/>
          </p:cNvPicPr>
          <p:nvPr/>
        </p:nvPicPr>
        <p:blipFill>
          <a:blip r:embed="rId1"/>
          <a:stretch>
            <a:fillRect/>
          </a:stretch>
        </p:blipFill>
        <p:spPr>
          <a:xfrm>
            <a:off x="9414662" y="2282342"/>
            <a:ext cx="921715" cy="921715"/>
          </a:xfrm>
          <a:prstGeom prst="rect">
            <a:avLst/>
          </a:prstGeom>
        </p:spPr>
      </p:pic>
      <p:sp>
        <p:nvSpPr>
          <p:cNvPr id="7" name="Text 4"/>
          <p:cNvSpPr txBox="1"/>
          <p:nvPr/>
        </p:nvSpPr>
        <p:spPr>
          <a:xfrm>
            <a:off x="7863840" y="4572000"/>
            <a:ext cx="1920240" cy="548640"/>
          </a:xfrm>
          <a:prstGeom prst="rect">
            <a:avLst/>
          </a:prstGeom>
          <a:noFill/>
          <a:ln/>
        </p:spPr>
        <p:txBody>
          <a:bodyPr wrap="square" lIns="0" tIns="0" rIns="0" bIns="0" rtlCol="0" anchor="ctr"/>
          <a:lstStyle/>
          <a:p>
            <a:pPr algn="ctr" indent="0" marL="0">
              <a:buNone/>
            </a:pPr>
            <a:r>
              <a:rPr lang="en-US" sz="2400" b="1" dirty="0">
                <a:solidFill>
                  <a:schemeClr val="accent3"/>
                </a:solidFill>
                <a:latin typeface="Cambria" pitchFamily="34" charset="0"/>
                <a:ea typeface="Cambria" pitchFamily="34" charset="-122"/>
                <a:cs typeface="Cambria" pitchFamily="34" charset="-120"/>
              </a:rPr>
              <a:t>9.8 K/km</a:t>
            </a:r>
            <a:endParaRPr lang="en-US" sz="2400" dirty="0"/>
          </a:p>
        </p:txBody>
      </p:sp>
      <p:sp>
        <p:nvSpPr>
          <p:cNvPr id="8" name="Text 5"/>
          <p:cNvSpPr txBox="1"/>
          <p:nvPr/>
        </p:nvSpPr>
        <p:spPr>
          <a:xfrm>
            <a:off x="7863840" y="5120640"/>
            <a:ext cx="1920240" cy="548640"/>
          </a:xfrm>
          <a:prstGeom prst="rect">
            <a:avLst/>
          </a:prstGeom>
          <a:noFill/>
          <a:ln/>
        </p:spPr>
        <p:txBody>
          <a:bodyPr wrap="square" lIns="0" tIns="0" rIns="0" bIns="0" rtlCol="0" anchor="ctr"/>
          <a:lstStyle/>
          <a:p>
            <a:pPr algn="ctr" indent="0" marL="0">
              <a:buNone/>
            </a:pPr>
            <a:r>
              <a:rPr lang="en-US" sz="1100" dirty="0">
                <a:solidFill>
                  <a:schemeClr val="bg2"/>
                </a:solidFill>
              </a:rPr>
              <a:t>dry adiabatic lapse rate</a:t>
            </a:r>
            <a:endParaRPr lang="en-US" sz="1100" dirty="0"/>
          </a:p>
        </p:txBody>
      </p:sp>
      <p:sp>
        <p:nvSpPr>
          <p:cNvPr id="9" name="Text 6"/>
          <p:cNvSpPr txBox="1"/>
          <p:nvPr/>
        </p:nvSpPr>
        <p:spPr>
          <a:xfrm>
            <a:off x="9875520" y="4572000"/>
            <a:ext cx="1920240" cy="548640"/>
          </a:xfrm>
          <a:prstGeom prst="rect">
            <a:avLst/>
          </a:prstGeom>
          <a:noFill/>
          <a:ln/>
        </p:spPr>
        <p:txBody>
          <a:bodyPr wrap="square" lIns="0" tIns="0" rIns="0" bIns="0" rtlCol="0" anchor="ctr"/>
          <a:lstStyle/>
          <a:p>
            <a:pPr algn="ctr" indent="0" marL="0">
              <a:buNone/>
            </a:pPr>
            <a:r>
              <a:rPr lang="en-US" sz="2400" b="1" dirty="0">
                <a:solidFill>
                  <a:schemeClr val="accent3"/>
                </a:solidFill>
                <a:latin typeface="Cambria" pitchFamily="34" charset="0"/>
                <a:ea typeface="Cambria" pitchFamily="34" charset="-122"/>
                <a:cs typeface="Cambria" pitchFamily="34" charset="-120"/>
              </a:rPr>
              <a:t>4–7 K/km</a:t>
            </a:r>
            <a:endParaRPr lang="en-US" sz="2400" dirty="0"/>
          </a:p>
        </p:txBody>
      </p:sp>
      <p:sp>
        <p:nvSpPr>
          <p:cNvPr id="10" name="Text 7"/>
          <p:cNvSpPr txBox="1"/>
          <p:nvPr/>
        </p:nvSpPr>
        <p:spPr>
          <a:xfrm>
            <a:off x="9875520" y="5120640"/>
            <a:ext cx="1920240" cy="548640"/>
          </a:xfrm>
          <a:prstGeom prst="rect">
            <a:avLst/>
          </a:prstGeom>
          <a:noFill/>
          <a:ln/>
        </p:spPr>
        <p:txBody>
          <a:bodyPr wrap="square" lIns="0" tIns="0" rIns="0" bIns="0" rtlCol="0" anchor="ctr"/>
          <a:lstStyle/>
          <a:p>
            <a:pPr algn="ctr" indent="0" marL="0">
              <a:buNone/>
            </a:pPr>
            <a:r>
              <a:rPr lang="en-US" sz="1100" dirty="0">
                <a:solidFill>
                  <a:schemeClr val="bg2"/>
                </a:solidFill>
              </a:rPr>
              <a:t>saturated adiabatic lapse rate</a:t>
            </a:r>
            <a:endParaRPr lang="en-US" sz="1100" dirty="0"/>
          </a:p>
        </p:txBody>
      </p:sp>
      <p:sp>
        <p:nvSpPr>
          <p:cNvPr id="11" name="Text 8"/>
          <p:cNvSpPr txBox="1"/>
          <p:nvPr/>
        </p:nvSpPr>
        <p:spPr>
          <a:xfrm>
            <a:off x="731520" y="5943600"/>
            <a:ext cx="10515600" cy="457200"/>
          </a:xfrm>
          <a:prstGeom prst="rect">
            <a:avLst/>
          </a:prstGeom>
          <a:noFill/>
          <a:ln/>
        </p:spPr>
        <p:txBody>
          <a:bodyPr wrap="square" lIns="0" tIns="0" rIns="0" bIns="0" rtlCol="0" anchor="ctr"/>
          <a:lstStyle/>
          <a:p>
            <a:pPr indent="0" marL="0">
              <a:buNone/>
            </a:pPr>
            <a:r>
              <a:rPr lang="en-US" sz="1100" dirty="0">
                <a:solidFill>
                  <a:schemeClr val="bg2"/>
                </a:solidFill>
              </a:rPr>
              <a:t>Based on the class notes 'Heat &amp; Temperature Changes in the Atmosphere' (Petterssen, Ch. 4 &amp; 5) and the handout 'Air Masses and Fronts', with additional concepts on atmospheric stability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Roadmap of this deck</a:t>
            </a:r>
            <a:endParaRPr lang="en-US" sz="3200" dirty="0"/>
          </a:p>
        </p:txBody>
      </p:sp>
      <p:sp>
        <p:nvSpPr>
          <p:cNvPr id="4" name="card"/>
          <p:cNvSpPr/>
          <p:nvPr/>
        </p:nvSpPr>
        <p:spPr>
          <a:xfrm>
            <a:off x="548640" y="1371600"/>
            <a:ext cx="2103120" cy="224028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731520" y="1508760"/>
            <a:ext cx="91440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01</a:t>
            </a:r>
            <a:endParaRPr lang="en-US" sz="3000" dirty="0"/>
          </a:p>
        </p:txBody>
      </p:sp>
      <p:sp>
        <p:nvSpPr>
          <p:cNvPr id="6" name="Text 3"/>
          <p:cNvSpPr txBox="1"/>
          <p:nvPr/>
        </p:nvSpPr>
        <p:spPr>
          <a:xfrm>
            <a:off x="731520" y="2148840"/>
            <a:ext cx="1737360" cy="548640"/>
          </a:xfrm>
          <a:prstGeom prst="rect">
            <a:avLst/>
          </a:prstGeom>
          <a:noFill/>
          <a:ln/>
        </p:spPr>
        <p:txBody>
          <a:bodyPr wrap="square" lIns="0" tIns="0" rIns="0" bIns="0" rtlCol="0" anchor="t"/>
          <a:lstStyle/>
          <a:p>
            <a:pPr indent="0" marL="0">
              <a:buNone/>
            </a:pPr>
            <a:r>
              <a:rPr lang="en-US" sz="1600" b="1" dirty="0">
                <a:solidFill>
                  <a:schemeClr val="tx2"/>
                </a:solidFill>
              </a:rPr>
              <a:t>Heat &amp; temperature</a:t>
            </a:r>
            <a:endParaRPr lang="en-US" sz="1600" dirty="0"/>
          </a:p>
        </p:txBody>
      </p:sp>
      <p:sp>
        <p:nvSpPr>
          <p:cNvPr id="7" name="Text 4"/>
          <p:cNvSpPr txBox="1"/>
          <p:nvPr/>
        </p:nvSpPr>
        <p:spPr>
          <a:xfrm>
            <a:off x="731520" y="2697480"/>
            <a:ext cx="1737360" cy="822960"/>
          </a:xfrm>
          <a:prstGeom prst="rect">
            <a:avLst/>
          </a:prstGeom>
          <a:noFill/>
          <a:ln/>
        </p:spPr>
        <p:txBody>
          <a:bodyPr wrap="square" lIns="0" tIns="0" rIns="0" bIns="0" rtlCol="0" anchor="t"/>
          <a:lstStyle/>
          <a:p>
            <a:pPr indent="0" marL="0">
              <a:buNone/>
            </a:pPr>
            <a:r>
              <a:rPr lang="en-US" sz="1200" dirty="0">
                <a:solidFill>
                  <a:schemeClr val="tx1"/>
                </a:solidFill>
              </a:rPr>
              <a:t>Heat transfer, sensible &amp; latent heat, specific heat</a:t>
            </a:r>
            <a:endParaRPr lang="en-US" sz="1200" dirty="0"/>
          </a:p>
        </p:txBody>
      </p:sp>
      <p:sp>
        <p:nvSpPr>
          <p:cNvPr id="8" name="card"/>
          <p:cNvSpPr/>
          <p:nvPr/>
        </p:nvSpPr>
        <p:spPr>
          <a:xfrm>
            <a:off x="2788920" y="1371600"/>
            <a:ext cx="2103120" cy="224028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9" name="Text 6"/>
          <p:cNvSpPr txBox="1"/>
          <p:nvPr/>
        </p:nvSpPr>
        <p:spPr>
          <a:xfrm>
            <a:off x="2971800" y="1508760"/>
            <a:ext cx="91440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02</a:t>
            </a:r>
            <a:endParaRPr lang="en-US" sz="3000" dirty="0"/>
          </a:p>
        </p:txBody>
      </p:sp>
      <p:sp>
        <p:nvSpPr>
          <p:cNvPr id="10" name="Text 7"/>
          <p:cNvSpPr txBox="1"/>
          <p:nvPr/>
        </p:nvSpPr>
        <p:spPr>
          <a:xfrm>
            <a:off x="2971800" y="2148840"/>
            <a:ext cx="1737360" cy="548640"/>
          </a:xfrm>
          <a:prstGeom prst="rect">
            <a:avLst/>
          </a:prstGeom>
          <a:noFill/>
          <a:ln/>
        </p:spPr>
        <p:txBody>
          <a:bodyPr wrap="square" lIns="0" tIns="0" rIns="0" bIns="0" rtlCol="0" anchor="t"/>
          <a:lstStyle/>
          <a:p>
            <a:pPr indent="0" marL="0">
              <a:buNone/>
            </a:pPr>
            <a:r>
              <a:rPr lang="en-US" sz="1600" b="1" dirty="0">
                <a:solidFill>
                  <a:schemeClr val="tx2"/>
                </a:solidFill>
              </a:rPr>
              <a:t>Gas law</a:t>
            </a:r>
            <a:endParaRPr lang="en-US" sz="1600" dirty="0"/>
          </a:p>
        </p:txBody>
      </p:sp>
      <p:sp>
        <p:nvSpPr>
          <p:cNvPr id="11" name="Text 8"/>
          <p:cNvSpPr txBox="1"/>
          <p:nvPr/>
        </p:nvSpPr>
        <p:spPr>
          <a:xfrm>
            <a:off x="2971800" y="2697480"/>
            <a:ext cx="1737360" cy="822960"/>
          </a:xfrm>
          <a:prstGeom prst="rect">
            <a:avLst/>
          </a:prstGeom>
          <a:noFill/>
          <a:ln/>
        </p:spPr>
        <p:txBody>
          <a:bodyPr wrap="square" lIns="0" tIns="0" rIns="0" bIns="0" rtlCol="0" anchor="t"/>
          <a:lstStyle/>
          <a:p>
            <a:pPr indent="0" marL="0">
              <a:buNone/>
            </a:pPr>
            <a:r>
              <a:rPr lang="en-US" sz="1200" dirty="0">
                <a:solidFill>
                  <a:schemeClr val="tx1"/>
                </a:solidFill>
              </a:rPr>
              <a:t>P = ρRT, specific volume, virtual temperature</a:t>
            </a:r>
            <a:endParaRPr lang="en-US" sz="1200" dirty="0"/>
          </a:p>
        </p:txBody>
      </p:sp>
      <p:sp>
        <p:nvSpPr>
          <p:cNvPr id="12" name="card"/>
          <p:cNvSpPr/>
          <p:nvPr/>
        </p:nvSpPr>
        <p:spPr>
          <a:xfrm>
            <a:off x="5029200" y="1371600"/>
            <a:ext cx="2103120" cy="224028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13" name="Text 10"/>
          <p:cNvSpPr txBox="1"/>
          <p:nvPr/>
        </p:nvSpPr>
        <p:spPr>
          <a:xfrm>
            <a:off x="5212080" y="1508760"/>
            <a:ext cx="914400" cy="594360"/>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03</a:t>
            </a:r>
            <a:endParaRPr lang="en-US" sz="3000" dirty="0"/>
          </a:p>
        </p:txBody>
      </p:sp>
      <p:sp>
        <p:nvSpPr>
          <p:cNvPr id="14" name="Text 11"/>
          <p:cNvSpPr txBox="1"/>
          <p:nvPr/>
        </p:nvSpPr>
        <p:spPr>
          <a:xfrm>
            <a:off x="5212080" y="2148840"/>
            <a:ext cx="1737360" cy="548640"/>
          </a:xfrm>
          <a:prstGeom prst="rect">
            <a:avLst/>
          </a:prstGeom>
          <a:noFill/>
          <a:ln/>
        </p:spPr>
        <p:txBody>
          <a:bodyPr wrap="square" lIns="0" tIns="0" rIns="0" bIns="0" rtlCol="0" anchor="t"/>
          <a:lstStyle/>
          <a:p>
            <a:pPr indent="0" marL="0">
              <a:buNone/>
            </a:pPr>
            <a:r>
              <a:rPr lang="en-US" sz="1600" b="1" dirty="0">
                <a:solidFill>
                  <a:schemeClr val="tx2"/>
                </a:solidFill>
              </a:rPr>
              <a:t>First law</a:t>
            </a:r>
            <a:endParaRPr lang="en-US" sz="1600" dirty="0"/>
          </a:p>
        </p:txBody>
      </p:sp>
      <p:sp>
        <p:nvSpPr>
          <p:cNvPr id="15" name="Text 12"/>
          <p:cNvSpPr txBox="1"/>
          <p:nvPr/>
        </p:nvSpPr>
        <p:spPr>
          <a:xfrm>
            <a:off x="5212080" y="2697480"/>
            <a:ext cx="1737360" cy="822960"/>
          </a:xfrm>
          <a:prstGeom prst="rect">
            <a:avLst/>
          </a:prstGeom>
          <a:noFill/>
          <a:ln/>
        </p:spPr>
        <p:txBody>
          <a:bodyPr wrap="square" lIns="0" tIns="0" rIns="0" bIns="0" rtlCol="0" anchor="t"/>
          <a:lstStyle/>
          <a:p>
            <a:pPr indent="0" marL="0">
              <a:buNone/>
            </a:pPr>
            <a:r>
              <a:rPr lang="en-US" sz="1200" dirty="0">
                <a:solidFill>
                  <a:schemeClr val="tx1"/>
                </a:solidFill>
              </a:rPr>
              <a:t>Energy of a parcel, adiabatic vs diabatic</a:t>
            </a:r>
            <a:endParaRPr lang="en-US" sz="1200" dirty="0"/>
          </a:p>
        </p:txBody>
      </p:sp>
      <p:sp>
        <p:nvSpPr>
          <p:cNvPr id="16" name="card"/>
          <p:cNvSpPr/>
          <p:nvPr/>
        </p:nvSpPr>
        <p:spPr>
          <a:xfrm>
            <a:off x="7269480" y="1371600"/>
            <a:ext cx="2103120" cy="224028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17" name="Text 14"/>
          <p:cNvSpPr txBox="1"/>
          <p:nvPr/>
        </p:nvSpPr>
        <p:spPr>
          <a:xfrm>
            <a:off x="7452360" y="1508760"/>
            <a:ext cx="914400" cy="59436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04</a:t>
            </a:r>
            <a:endParaRPr lang="en-US" sz="3000" dirty="0"/>
          </a:p>
        </p:txBody>
      </p:sp>
      <p:sp>
        <p:nvSpPr>
          <p:cNvPr id="18" name="Text 15"/>
          <p:cNvSpPr txBox="1"/>
          <p:nvPr/>
        </p:nvSpPr>
        <p:spPr>
          <a:xfrm>
            <a:off x="7452360" y="2148840"/>
            <a:ext cx="1737360" cy="548640"/>
          </a:xfrm>
          <a:prstGeom prst="rect">
            <a:avLst/>
          </a:prstGeom>
          <a:noFill/>
          <a:ln/>
        </p:spPr>
        <p:txBody>
          <a:bodyPr wrap="square" lIns="0" tIns="0" rIns="0" bIns="0" rtlCol="0" anchor="t"/>
          <a:lstStyle/>
          <a:p>
            <a:pPr indent="0" marL="0">
              <a:buNone/>
            </a:pPr>
            <a:r>
              <a:rPr lang="en-US" sz="1600" b="1" dirty="0">
                <a:solidFill>
                  <a:schemeClr val="tx2"/>
                </a:solidFill>
              </a:rPr>
              <a:t>Lapse rates</a:t>
            </a:r>
            <a:endParaRPr lang="en-US" sz="1600" dirty="0"/>
          </a:p>
        </p:txBody>
      </p:sp>
      <p:sp>
        <p:nvSpPr>
          <p:cNvPr id="19" name="Text 16"/>
          <p:cNvSpPr txBox="1"/>
          <p:nvPr/>
        </p:nvSpPr>
        <p:spPr>
          <a:xfrm>
            <a:off x="7452360" y="2697480"/>
            <a:ext cx="1737360" cy="822960"/>
          </a:xfrm>
          <a:prstGeom prst="rect">
            <a:avLst/>
          </a:prstGeom>
          <a:noFill/>
          <a:ln/>
        </p:spPr>
        <p:txBody>
          <a:bodyPr wrap="square" lIns="0" tIns="0" rIns="0" bIns="0" rtlCol="0" anchor="t"/>
          <a:lstStyle/>
          <a:p>
            <a:pPr indent="0" marL="0">
              <a:buNone/>
            </a:pPr>
            <a:r>
              <a:rPr lang="en-US" sz="1200" dirty="0">
                <a:solidFill>
                  <a:schemeClr val="tx1"/>
                </a:solidFill>
              </a:rPr>
              <a:t>Derive Γd and Γs step by step; γ</a:t>
            </a:r>
            <a:endParaRPr lang="en-US" sz="1200" dirty="0"/>
          </a:p>
        </p:txBody>
      </p:sp>
      <p:sp>
        <p:nvSpPr>
          <p:cNvPr id="20" name="card"/>
          <p:cNvSpPr/>
          <p:nvPr/>
        </p:nvSpPr>
        <p:spPr>
          <a:xfrm>
            <a:off x="9509760" y="1371600"/>
            <a:ext cx="2103120" cy="224028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21" name="Text 18"/>
          <p:cNvSpPr txBox="1"/>
          <p:nvPr/>
        </p:nvSpPr>
        <p:spPr>
          <a:xfrm>
            <a:off x="9692640" y="1508760"/>
            <a:ext cx="914400" cy="59436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05</a:t>
            </a:r>
            <a:endParaRPr lang="en-US" sz="3000" dirty="0"/>
          </a:p>
        </p:txBody>
      </p:sp>
      <p:sp>
        <p:nvSpPr>
          <p:cNvPr id="22" name="Text 19"/>
          <p:cNvSpPr txBox="1"/>
          <p:nvPr/>
        </p:nvSpPr>
        <p:spPr>
          <a:xfrm>
            <a:off x="9692640" y="2148840"/>
            <a:ext cx="1737360" cy="548640"/>
          </a:xfrm>
          <a:prstGeom prst="rect">
            <a:avLst/>
          </a:prstGeom>
          <a:noFill/>
          <a:ln/>
        </p:spPr>
        <p:txBody>
          <a:bodyPr wrap="square" lIns="0" tIns="0" rIns="0" bIns="0" rtlCol="0" anchor="t"/>
          <a:lstStyle/>
          <a:p>
            <a:pPr indent="0" marL="0">
              <a:buNone/>
            </a:pPr>
            <a:r>
              <a:rPr lang="en-US" sz="1600" b="1" dirty="0">
                <a:solidFill>
                  <a:schemeClr val="tx2"/>
                </a:solidFill>
              </a:rPr>
              <a:t>Diagrams &amp; LCL</a:t>
            </a:r>
            <a:endParaRPr lang="en-US" sz="1600" dirty="0"/>
          </a:p>
        </p:txBody>
      </p:sp>
      <p:sp>
        <p:nvSpPr>
          <p:cNvPr id="23" name="Text 20"/>
          <p:cNvSpPr txBox="1"/>
          <p:nvPr/>
        </p:nvSpPr>
        <p:spPr>
          <a:xfrm>
            <a:off x="9692640" y="2697480"/>
            <a:ext cx="1737360" cy="822960"/>
          </a:xfrm>
          <a:prstGeom prst="rect">
            <a:avLst/>
          </a:prstGeom>
          <a:noFill/>
          <a:ln/>
        </p:spPr>
        <p:txBody>
          <a:bodyPr wrap="square" lIns="0" tIns="0" rIns="0" bIns="0" rtlCol="0" anchor="t"/>
          <a:lstStyle/>
          <a:p>
            <a:pPr indent="0" marL="0">
              <a:buNone/>
            </a:pPr>
            <a:r>
              <a:rPr lang="en-US" sz="1200" dirty="0">
                <a:solidFill>
                  <a:schemeClr val="tx1"/>
                </a:solidFill>
              </a:rPr>
              <a:t>Thermodynamic chart, LCL, Foehn</a:t>
            </a:r>
            <a:endParaRPr lang="en-US" sz="1200" dirty="0"/>
          </a:p>
        </p:txBody>
      </p:sp>
      <p:sp>
        <p:nvSpPr>
          <p:cNvPr id="24" name="card"/>
          <p:cNvSpPr/>
          <p:nvPr/>
        </p:nvSpPr>
        <p:spPr>
          <a:xfrm>
            <a:off x="548640" y="3794760"/>
            <a:ext cx="2103120" cy="224028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25" name="Text 22"/>
          <p:cNvSpPr txBox="1"/>
          <p:nvPr/>
        </p:nvSpPr>
        <p:spPr>
          <a:xfrm>
            <a:off x="731520" y="3931920"/>
            <a:ext cx="914400" cy="594360"/>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06</a:t>
            </a:r>
            <a:endParaRPr lang="en-US" sz="3000" dirty="0"/>
          </a:p>
        </p:txBody>
      </p:sp>
      <p:sp>
        <p:nvSpPr>
          <p:cNvPr id="26" name="Text 23"/>
          <p:cNvSpPr txBox="1"/>
          <p:nvPr/>
        </p:nvSpPr>
        <p:spPr>
          <a:xfrm>
            <a:off x="731520" y="4572000"/>
            <a:ext cx="1737360" cy="548640"/>
          </a:xfrm>
          <a:prstGeom prst="rect">
            <a:avLst/>
          </a:prstGeom>
          <a:noFill/>
          <a:ln/>
        </p:spPr>
        <p:txBody>
          <a:bodyPr wrap="square" lIns="0" tIns="0" rIns="0" bIns="0" rtlCol="0" anchor="t"/>
          <a:lstStyle/>
          <a:p>
            <a:pPr indent="0" marL="0">
              <a:buNone/>
            </a:pPr>
            <a:r>
              <a:rPr lang="en-US" sz="1600" b="1" dirty="0">
                <a:solidFill>
                  <a:schemeClr val="tx2"/>
                </a:solidFill>
              </a:rPr>
              <a:t>Potential temperature</a:t>
            </a:r>
            <a:endParaRPr lang="en-US" sz="1600" dirty="0"/>
          </a:p>
        </p:txBody>
      </p:sp>
      <p:sp>
        <p:nvSpPr>
          <p:cNvPr id="27" name="Text 24"/>
          <p:cNvSpPr txBox="1"/>
          <p:nvPr/>
        </p:nvSpPr>
        <p:spPr>
          <a:xfrm>
            <a:off x="731520" y="5120640"/>
            <a:ext cx="1737360" cy="822960"/>
          </a:xfrm>
          <a:prstGeom prst="rect">
            <a:avLst/>
          </a:prstGeom>
          <a:noFill/>
          <a:ln/>
        </p:spPr>
        <p:txBody>
          <a:bodyPr wrap="square" lIns="0" tIns="0" rIns="0" bIns="0" rtlCol="0" anchor="t"/>
          <a:lstStyle/>
          <a:p>
            <a:pPr indent="0" marL="0">
              <a:buNone/>
            </a:pPr>
            <a:r>
              <a:rPr lang="en-US" sz="1200" dirty="0">
                <a:solidFill>
                  <a:schemeClr val="tx1"/>
                </a:solidFill>
              </a:rPr>
              <a:t>θ, Poisson's equation, θ profiles, θe</a:t>
            </a:r>
            <a:endParaRPr lang="en-US" sz="1200" dirty="0"/>
          </a:p>
        </p:txBody>
      </p:sp>
      <p:sp>
        <p:nvSpPr>
          <p:cNvPr id="28" name="card"/>
          <p:cNvSpPr/>
          <p:nvPr/>
        </p:nvSpPr>
        <p:spPr>
          <a:xfrm>
            <a:off x="2788920" y="3794760"/>
            <a:ext cx="2103120" cy="224028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29" name="Text 26"/>
          <p:cNvSpPr txBox="1"/>
          <p:nvPr/>
        </p:nvSpPr>
        <p:spPr>
          <a:xfrm>
            <a:off x="2971800" y="3931920"/>
            <a:ext cx="914400" cy="594360"/>
          </a:xfrm>
          <a:prstGeom prst="rect">
            <a:avLst/>
          </a:prstGeom>
          <a:noFill/>
          <a:ln/>
        </p:spPr>
        <p:txBody>
          <a:bodyPr wrap="square" lIns="0" tIns="0" rIns="0" bIns="0" rtlCol="0" anchor="ctr"/>
          <a:lstStyle/>
          <a:p>
            <a:pPr indent="0" marL="0">
              <a:buNone/>
            </a:pPr>
            <a:r>
              <a:rPr lang="en-US" sz="3000" b="1" dirty="0">
                <a:solidFill>
                  <a:schemeClr val="accent5"/>
                </a:solidFill>
                <a:latin typeface="Cambria" pitchFamily="34" charset="0"/>
                <a:ea typeface="Cambria" pitchFamily="34" charset="-122"/>
                <a:cs typeface="Cambria" pitchFamily="34" charset="-120"/>
              </a:rPr>
              <a:t>07</a:t>
            </a:r>
            <a:endParaRPr lang="en-US" sz="3000" dirty="0"/>
          </a:p>
        </p:txBody>
      </p:sp>
      <p:sp>
        <p:nvSpPr>
          <p:cNvPr id="30" name="Text 27"/>
          <p:cNvSpPr txBox="1"/>
          <p:nvPr/>
        </p:nvSpPr>
        <p:spPr>
          <a:xfrm>
            <a:off x="2971800" y="4572000"/>
            <a:ext cx="1737360" cy="548640"/>
          </a:xfrm>
          <a:prstGeom prst="rect">
            <a:avLst/>
          </a:prstGeom>
          <a:noFill/>
          <a:ln/>
        </p:spPr>
        <p:txBody>
          <a:bodyPr wrap="square" lIns="0" tIns="0" rIns="0" bIns="0" rtlCol="0" anchor="t"/>
          <a:lstStyle/>
          <a:p>
            <a:pPr indent="0" marL="0">
              <a:buNone/>
            </a:pPr>
            <a:r>
              <a:rPr lang="en-US" sz="1600" b="1" dirty="0">
                <a:solidFill>
                  <a:schemeClr val="tx2"/>
                </a:solidFill>
              </a:rPr>
              <a:t>Stability</a:t>
            </a:r>
            <a:endParaRPr lang="en-US" sz="1600" dirty="0"/>
          </a:p>
        </p:txBody>
      </p:sp>
      <p:sp>
        <p:nvSpPr>
          <p:cNvPr id="31" name="Text 28"/>
          <p:cNvSpPr txBox="1"/>
          <p:nvPr/>
        </p:nvSpPr>
        <p:spPr>
          <a:xfrm>
            <a:off x="2971800" y="5120640"/>
            <a:ext cx="1737360" cy="822960"/>
          </a:xfrm>
          <a:prstGeom prst="rect">
            <a:avLst/>
          </a:prstGeom>
          <a:noFill/>
          <a:ln/>
        </p:spPr>
        <p:txBody>
          <a:bodyPr wrap="square" lIns="0" tIns="0" rIns="0" bIns="0" rtlCol="0" anchor="t"/>
          <a:lstStyle/>
          <a:p>
            <a:pPr indent="0" marL="0">
              <a:buNone/>
            </a:pPr>
            <a:r>
              <a:rPr lang="en-US" sz="1200" dirty="0">
                <a:solidFill>
                  <a:schemeClr val="tx1"/>
                </a:solidFill>
              </a:rPr>
              <a:t>Parcel method, 5 cases, θ criteria, N²</a:t>
            </a:r>
            <a:endParaRPr lang="en-US" sz="1200" dirty="0"/>
          </a:p>
        </p:txBody>
      </p:sp>
      <p:sp>
        <p:nvSpPr>
          <p:cNvPr id="32" name="card"/>
          <p:cNvSpPr/>
          <p:nvPr/>
        </p:nvSpPr>
        <p:spPr>
          <a:xfrm>
            <a:off x="5029200" y="3794760"/>
            <a:ext cx="2103120" cy="224028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33" name="Text 30"/>
          <p:cNvSpPr txBox="1"/>
          <p:nvPr/>
        </p:nvSpPr>
        <p:spPr>
          <a:xfrm>
            <a:off x="5212080" y="3931920"/>
            <a:ext cx="914400" cy="594360"/>
          </a:xfrm>
          <a:prstGeom prst="rect">
            <a:avLst/>
          </a:prstGeom>
          <a:noFill/>
          <a:ln/>
        </p:spPr>
        <p:txBody>
          <a:bodyPr wrap="square" lIns="0" tIns="0" rIns="0" bIns="0" rtlCol="0" anchor="ctr"/>
          <a:lstStyle/>
          <a:p>
            <a:pPr indent="0" marL="0">
              <a:buNone/>
            </a:pPr>
            <a:r>
              <a:rPr lang="en-US" sz="3000" b="1" dirty="0">
                <a:solidFill>
                  <a:schemeClr val="accent5"/>
                </a:solidFill>
                <a:latin typeface="Cambria" pitchFamily="34" charset="0"/>
                <a:ea typeface="Cambria" pitchFamily="34" charset="-122"/>
                <a:cs typeface="Cambria" pitchFamily="34" charset="-120"/>
              </a:rPr>
              <a:t>08</a:t>
            </a:r>
            <a:endParaRPr lang="en-US" sz="3000" dirty="0"/>
          </a:p>
        </p:txBody>
      </p:sp>
      <p:sp>
        <p:nvSpPr>
          <p:cNvPr id="34" name="Text 31"/>
          <p:cNvSpPr txBox="1"/>
          <p:nvPr/>
        </p:nvSpPr>
        <p:spPr>
          <a:xfrm>
            <a:off x="5212080" y="4572000"/>
            <a:ext cx="1737360" cy="548640"/>
          </a:xfrm>
          <a:prstGeom prst="rect">
            <a:avLst/>
          </a:prstGeom>
          <a:noFill/>
          <a:ln/>
        </p:spPr>
        <p:txBody>
          <a:bodyPr wrap="square" lIns="0" tIns="0" rIns="0" bIns="0" rtlCol="0" anchor="t"/>
          <a:lstStyle/>
          <a:p>
            <a:pPr indent="0" marL="0">
              <a:buNone/>
            </a:pPr>
            <a:r>
              <a:rPr lang="en-US" sz="1600" b="1" dirty="0">
                <a:solidFill>
                  <a:schemeClr val="tx2"/>
                </a:solidFill>
              </a:rPr>
              <a:t>Convection</a:t>
            </a:r>
            <a:endParaRPr lang="en-US" sz="1600" dirty="0"/>
          </a:p>
        </p:txBody>
      </p:sp>
      <p:sp>
        <p:nvSpPr>
          <p:cNvPr id="35" name="Text 32"/>
          <p:cNvSpPr txBox="1"/>
          <p:nvPr/>
        </p:nvSpPr>
        <p:spPr>
          <a:xfrm>
            <a:off x="5212080" y="5120640"/>
            <a:ext cx="1737360" cy="822960"/>
          </a:xfrm>
          <a:prstGeom prst="rect">
            <a:avLst/>
          </a:prstGeom>
          <a:noFill/>
          <a:ln/>
        </p:spPr>
        <p:txBody>
          <a:bodyPr wrap="square" lIns="0" tIns="0" rIns="0" bIns="0" rtlCol="0" anchor="t"/>
          <a:lstStyle/>
          <a:p>
            <a:pPr indent="0" marL="0">
              <a:buNone/>
            </a:pPr>
            <a:r>
              <a:rPr lang="en-US" sz="1200" dirty="0">
                <a:solidFill>
                  <a:schemeClr val="tx1"/>
                </a:solidFill>
              </a:rPr>
              <a:t>CAPE, CIN, indices, inversions, plumes</a:t>
            </a:r>
            <a:endParaRPr lang="en-US" sz="1200" dirty="0"/>
          </a:p>
        </p:txBody>
      </p:sp>
      <p:sp>
        <p:nvSpPr>
          <p:cNvPr id="36" name="card"/>
          <p:cNvSpPr/>
          <p:nvPr/>
        </p:nvSpPr>
        <p:spPr>
          <a:xfrm>
            <a:off x="7269480" y="3794760"/>
            <a:ext cx="2103120" cy="224028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37" name="Text 34"/>
          <p:cNvSpPr txBox="1"/>
          <p:nvPr/>
        </p:nvSpPr>
        <p:spPr>
          <a:xfrm>
            <a:off x="7452360" y="3931920"/>
            <a:ext cx="914400" cy="594360"/>
          </a:xfrm>
          <a:prstGeom prst="rect">
            <a:avLst/>
          </a:prstGeom>
          <a:noFill/>
          <a:ln/>
        </p:spPr>
        <p:txBody>
          <a:bodyPr wrap="square" lIns="0" tIns="0" rIns="0" bIns="0" rtlCol="0" anchor="ctr"/>
          <a:lstStyle/>
          <a:p>
            <a:pPr indent="0" marL="0">
              <a:buNone/>
            </a:pPr>
            <a:r>
              <a:rPr lang="en-US" sz="3000" b="1" dirty="0">
                <a:solidFill>
                  <a:schemeClr val="accent4"/>
                </a:solidFill>
                <a:latin typeface="Cambria" pitchFamily="34" charset="0"/>
                <a:ea typeface="Cambria" pitchFamily="34" charset="-122"/>
                <a:cs typeface="Cambria" pitchFamily="34" charset="-120"/>
              </a:rPr>
              <a:t>09</a:t>
            </a:r>
            <a:endParaRPr lang="en-US" sz="3000" dirty="0"/>
          </a:p>
        </p:txBody>
      </p:sp>
      <p:sp>
        <p:nvSpPr>
          <p:cNvPr id="38" name="Text 35"/>
          <p:cNvSpPr txBox="1"/>
          <p:nvPr/>
        </p:nvSpPr>
        <p:spPr>
          <a:xfrm>
            <a:off x="7452360" y="4572000"/>
            <a:ext cx="1737360" cy="548640"/>
          </a:xfrm>
          <a:prstGeom prst="rect">
            <a:avLst/>
          </a:prstGeom>
          <a:noFill/>
          <a:ln/>
        </p:spPr>
        <p:txBody>
          <a:bodyPr wrap="square" lIns="0" tIns="0" rIns="0" bIns="0" rtlCol="0" anchor="t"/>
          <a:lstStyle/>
          <a:p>
            <a:pPr indent="0" marL="0">
              <a:buNone/>
            </a:pPr>
            <a:r>
              <a:rPr lang="en-US" sz="1600" b="1" dirty="0">
                <a:solidFill>
                  <a:schemeClr val="tx2"/>
                </a:solidFill>
              </a:rPr>
              <a:t>Air masses &amp; fronts</a:t>
            </a:r>
            <a:endParaRPr lang="en-US" sz="1600" dirty="0"/>
          </a:p>
        </p:txBody>
      </p:sp>
      <p:sp>
        <p:nvSpPr>
          <p:cNvPr id="39" name="Text 36"/>
          <p:cNvSpPr txBox="1"/>
          <p:nvPr/>
        </p:nvSpPr>
        <p:spPr>
          <a:xfrm>
            <a:off x="7452360" y="5120640"/>
            <a:ext cx="1737360" cy="822960"/>
          </a:xfrm>
          <a:prstGeom prst="rect">
            <a:avLst/>
          </a:prstGeom>
          <a:noFill/>
          <a:ln/>
        </p:spPr>
        <p:txBody>
          <a:bodyPr wrap="square" lIns="0" tIns="0" rIns="0" bIns="0" rtlCol="0" anchor="t"/>
          <a:lstStyle/>
          <a:p>
            <a:pPr indent="0" marL="0">
              <a:buNone/>
            </a:pPr>
            <a:r>
              <a:rPr lang="en-US" sz="1200" dirty="0">
                <a:solidFill>
                  <a:schemeClr val="tx1"/>
                </a:solidFill>
              </a:rPr>
              <a:t>cP, cT, mP, mT; cold, warm, occluded</a:t>
            </a:r>
            <a:endParaRPr lang="en-US" sz="1200" dirty="0"/>
          </a:p>
        </p:txBody>
      </p:sp>
      <p:sp>
        <p:nvSpPr>
          <p:cNvPr id="40" name="card"/>
          <p:cNvSpPr/>
          <p:nvPr/>
        </p:nvSpPr>
        <p:spPr>
          <a:xfrm>
            <a:off x="9509760" y="3794760"/>
            <a:ext cx="2103120" cy="224028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41" name="Text 38"/>
          <p:cNvSpPr txBox="1"/>
          <p:nvPr/>
        </p:nvSpPr>
        <p:spPr>
          <a:xfrm>
            <a:off x="9692640" y="3931920"/>
            <a:ext cx="914400" cy="594360"/>
          </a:xfrm>
          <a:prstGeom prst="rect">
            <a:avLst/>
          </a:prstGeom>
          <a:noFill/>
          <a:ln/>
        </p:spPr>
        <p:txBody>
          <a:bodyPr wrap="square" lIns="0" tIns="0" rIns="0" bIns="0" rtlCol="0" anchor="ctr"/>
          <a:lstStyle/>
          <a:p>
            <a:pPr indent="0" marL="0">
              <a:buNone/>
            </a:pPr>
            <a:r>
              <a:rPr lang="en-US" sz="3000" b="1" dirty="0">
                <a:solidFill>
                  <a:schemeClr val="accent4"/>
                </a:solidFill>
                <a:latin typeface="Cambria" pitchFamily="34" charset="0"/>
                <a:ea typeface="Cambria" pitchFamily="34" charset="-122"/>
                <a:cs typeface="Cambria" pitchFamily="34" charset="-120"/>
              </a:rPr>
              <a:t>10</a:t>
            </a:r>
            <a:endParaRPr lang="en-US" sz="3000" dirty="0"/>
          </a:p>
        </p:txBody>
      </p:sp>
      <p:sp>
        <p:nvSpPr>
          <p:cNvPr id="42" name="Text 39"/>
          <p:cNvSpPr txBox="1"/>
          <p:nvPr/>
        </p:nvSpPr>
        <p:spPr>
          <a:xfrm>
            <a:off x="9692640" y="4572000"/>
            <a:ext cx="1737360" cy="548640"/>
          </a:xfrm>
          <a:prstGeom prst="rect">
            <a:avLst/>
          </a:prstGeom>
          <a:noFill/>
          <a:ln/>
        </p:spPr>
        <p:txBody>
          <a:bodyPr wrap="square" lIns="0" tIns="0" rIns="0" bIns="0" rtlCol="0" anchor="t"/>
          <a:lstStyle/>
          <a:p>
            <a:pPr indent="0" marL="0">
              <a:buNone/>
            </a:pPr>
            <a:r>
              <a:rPr lang="en-US" sz="1600" b="1" dirty="0">
                <a:solidFill>
                  <a:schemeClr val="tx2"/>
                </a:solidFill>
              </a:rPr>
              <a:t>Practice</a:t>
            </a:r>
            <a:endParaRPr lang="en-US" sz="1600" dirty="0"/>
          </a:p>
        </p:txBody>
      </p:sp>
      <p:sp>
        <p:nvSpPr>
          <p:cNvPr id="43" name="Text 40"/>
          <p:cNvSpPr txBox="1"/>
          <p:nvPr/>
        </p:nvSpPr>
        <p:spPr>
          <a:xfrm>
            <a:off x="9692640" y="5120640"/>
            <a:ext cx="1737360" cy="822960"/>
          </a:xfrm>
          <a:prstGeom prst="rect">
            <a:avLst/>
          </a:prstGeom>
          <a:noFill/>
          <a:ln/>
        </p:spPr>
        <p:txBody>
          <a:bodyPr wrap="square" lIns="0" tIns="0" rIns="0" bIns="0" rtlCol="0" anchor="t"/>
          <a:lstStyle/>
          <a:p>
            <a:pPr indent="0" marL="0">
              <a:buNone/>
            </a:pPr>
            <a:r>
              <a:rPr lang="en-US" sz="1200" dirty="0">
                <a:solidFill>
                  <a:schemeClr val="tx1"/>
                </a:solidFill>
              </a:rPr>
              <a:t>Problems, formulas, FAQs, viva</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Heat &amp; temperature</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What heat is, how it moves, and why water vapour and specific heat matter so much in the atmosphere</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01</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Heat, temperature and how heat moves</a:t>
            </a:r>
            <a:endParaRPr lang="en-US" sz="3200" dirty="0"/>
          </a:p>
        </p:txBody>
      </p:sp>
      <p:sp>
        <p:nvSpPr>
          <p:cNvPr id="4" name="card"/>
          <p:cNvSpPr/>
          <p:nvPr/>
        </p:nvSpPr>
        <p:spPr>
          <a:xfrm>
            <a:off x="548640" y="1371600"/>
            <a:ext cx="2651760"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527048"/>
            <a:ext cx="420624" cy="420624"/>
          </a:xfrm>
          <a:prstGeom prst="ellipse">
            <a:avLst/>
          </a:prstGeom>
          <a:solidFill>
            <a:schemeClr val="accent1"/>
          </a:solidFill>
          <a:ln/>
        </p:spPr>
      </p:sp>
      <p:pic>
        <p:nvPicPr>
          <p:cNvPr id="6" name="Image 0" descr="TemperatureHigh icon">    </p:cNvPr>
          <p:cNvPicPr>
            <a:picLocks noChangeAspect="1"/>
          </p:cNvPicPr>
          <p:nvPr/>
        </p:nvPicPr>
        <p:blipFill>
          <a:blip r:embed="rId1"/>
          <a:stretch>
            <a:fillRect/>
          </a:stretch>
        </p:blipFill>
        <p:spPr>
          <a:xfrm>
            <a:off x="840882" y="1636410"/>
            <a:ext cx="201900" cy="201900"/>
          </a:xfrm>
          <a:prstGeom prst="rect">
            <a:avLst/>
          </a:prstGeom>
        </p:spPr>
      </p:pic>
      <p:sp>
        <p:nvSpPr>
          <p:cNvPr id="7" name="Text 3"/>
          <p:cNvSpPr txBox="1"/>
          <p:nvPr/>
        </p:nvSpPr>
        <p:spPr>
          <a:xfrm>
            <a:off x="1261872" y="1508760"/>
            <a:ext cx="1801368" cy="457200"/>
          </a:xfrm>
          <a:prstGeom prst="rect">
            <a:avLst/>
          </a:prstGeom>
          <a:noFill/>
          <a:ln/>
        </p:spPr>
        <p:txBody>
          <a:bodyPr wrap="square" lIns="0" tIns="0" rIns="0" bIns="0" rtlCol="0" anchor="ctr"/>
          <a:lstStyle/>
          <a:p>
            <a:pPr indent="0" marL="0">
              <a:buNone/>
            </a:pPr>
            <a:r>
              <a:rPr lang="en-US" sz="1600" b="1" dirty="0">
                <a:solidFill>
                  <a:schemeClr val="tx2"/>
                </a:solidFill>
              </a:rPr>
              <a:t>Conduction</a:t>
            </a:r>
            <a:endParaRPr lang="en-US" sz="1600" dirty="0"/>
          </a:p>
        </p:txBody>
      </p:sp>
      <p:sp>
        <p:nvSpPr>
          <p:cNvPr id="8" name="Text 4"/>
          <p:cNvSpPr txBox="1"/>
          <p:nvPr/>
        </p:nvSpPr>
        <p:spPr>
          <a:xfrm>
            <a:off x="731520" y="2057400"/>
            <a:ext cx="2286000" cy="160020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Molecule-to-molecule, no bulk motion. Solids; the air layer touching the ground.</a:t>
            </a:r>
            <a:endParaRPr lang="en-US" sz="1300" dirty="0"/>
          </a:p>
        </p:txBody>
      </p:sp>
      <p:sp>
        <p:nvSpPr>
          <p:cNvPr id="9" name="card"/>
          <p:cNvSpPr/>
          <p:nvPr/>
        </p:nvSpPr>
        <p:spPr>
          <a:xfrm>
            <a:off x="3364992" y="1371600"/>
            <a:ext cx="2651760"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3547872" y="1527048"/>
            <a:ext cx="420624" cy="420624"/>
          </a:xfrm>
          <a:prstGeom prst="ellipse">
            <a:avLst/>
          </a:prstGeom>
          <a:solidFill>
            <a:schemeClr val="accent3"/>
          </a:solidFill>
          <a:ln/>
        </p:spPr>
      </p:sp>
      <p:pic>
        <p:nvPicPr>
          <p:cNvPr id="11" name="Image 1" descr="ArrowUp icon">    </p:cNvPr>
          <p:cNvPicPr>
            <a:picLocks noChangeAspect="1"/>
          </p:cNvPicPr>
          <p:nvPr/>
        </p:nvPicPr>
        <p:blipFill>
          <a:blip r:embed="rId2"/>
          <a:stretch>
            <a:fillRect/>
          </a:stretch>
        </p:blipFill>
        <p:spPr>
          <a:xfrm>
            <a:off x="3657234" y="1636410"/>
            <a:ext cx="201900" cy="201900"/>
          </a:xfrm>
          <a:prstGeom prst="rect">
            <a:avLst/>
          </a:prstGeom>
        </p:spPr>
      </p:pic>
      <p:sp>
        <p:nvSpPr>
          <p:cNvPr id="12" name="Text 7"/>
          <p:cNvSpPr txBox="1"/>
          <p:nvPr/>
        </p:nvSpPr>
        <p:spPr>
          <a:xfrm>
            <a:off x="4078224" y="1508760"/>
            <a:ext cx="1801368" cy="457200"/>
          </a:xfrm>
          <a:prstGeom prst="rect">
            <a:avLst/>
          </a:prstGeom>
          <a:noFill/>
          <a:ln/>
        </p:spPr>
        <p:txBody>
          <a:bodyPr wrap="square" lIns="0" tIns="0" rIns="0" bIns="0" rtlCol="0" anchor="ctr"/>
          <a:lstStyle/>
          <a:p>
            <a:pPr indent="0" marL="0">
              <a:buNone/>
            </a:pPr>
            <a:r>
              <a:rPr lang="en-US" sz="1600" b="1" dirty="0">
                <a:solidFill>
                  <a:schemeClr val="tx2"/>
                </a:solidFill>
              </a:rPr>
              <a:t>Convection</a:t>
            </a:r>
            <a:endParaRPr lang="en-US" sz="1600" dirty="0"/>
          </a:p>
        </p:txBody>
      </p:sp>
      <p:sp>
        <p:nvSpPr>
          <p:cNvPr id="13" name="Text 8"/>
          <p:cNvSpPr txBox="1"/>
          <p:nvPr/>
        </p:nvSpPr>
        <p:spPr>
          <a:xfrm>
            <a:off x="3547872" y="2057400"/>
            <a:ext cx="2286000" cy="160020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Heated fluid moves and carries heat. Vertical transport in air and water.</a:t>
            </a:r>
            <a:endParaRPr lang="en-US" sz="1300" dirty="0"/>
          </a:p>
        </p:txBody>
      </p:sp>
      <p:sp>
        <p:nvSpPr>
          <p:cNvPr id="14" name="card"/>
          <p:cNvSpPr/>
          <p:nvPr/>
        </p:nvSpPr>
        <p:spPr>
          <a:xfrm>
            <a:off x="6181344" y="1371600"/>
            <a:ext cx="2651760"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6364224" y="1527048"/>
            <a:ext cx="420624" cy="420624"/>
          </a:xfrm>
          <a:prstGeom prst="ellipse">
            <a:avLst/>
          </a:prstGeom>
          <a:solidFill>
            <a:schemeClr val="accent3"/>
          </a:solidFill>
          <a:ln/>
        </p:spPr>
      </p:sp>
      <p:pic>
        <p:nvPicPr>
          <p:cNvPr id="16" name="Image 2" descr="Sun icon">    </p:cNvPr>
          <p:cNvPicPr>
            <a:picLocks noChangeAspect="1"/>
          </p:cNvPicPr>
          <p:nvPr/>
        </p:nvPicPr>
        <p:blipFill>
          <a:blip r:embed="rId3"/>
          <a:stretch>
            <a:fillRect/>
          </a:stretch>
        </p:blipFill>
        <p:spPr>
          <a:xfrm>
            <a:off x="6473586" y="1636410"/>
            <a:ext cx="201900" cy="201900"/>
          </a:xfrm>
          <a:prstGeom prst="rect">
            <a:avLst/>
          </a:prstGeom>
        </p:spPr>
      </p:pic>
      <p:sp>
        <p:nvSpPr>
          <p:cNvPr id="17" name="Text 11"/>
          <p:cNvSpPr txBox="1"/>
          <p:nvPr/>
        </p:nvSpPr>
        <p:spPr>
          <a:xfrm>
            <a:off x="6894576" y="1508760"/>
            <a:ext cx="1801368" cy="457200"/>
          </a:xfrm>
          <a:prstGeom prst="rect">
            <a:avLst/>
          </a:prstGeom>
          <a:noFill/>
          <a:ln/>
        </p:spPr>
        <p:txBody>
          <a:bodyPr wrap="square" lIns="0" tIns="0" rIns="0" bIns="0" rtlCol="0" anchor="ctr"/>
          <a:lstStyle/>
          <a:p>
            <a:pPr indent="0" marL="0">
              <a:buNone/>
            </a:pPr>
            <a:r>
              <a:rPr lang="en-US" sz="1600" b="1" dirty="0">
                <a:solidFill>
                  <a:schemeClr val="tx2"/>
                </a:solidFill>
              </a:rPr>
              <a:t>Radiation</a:t>
            </a:r>
            <a:endParaRPr lang="en-US" sz="1600" dirty="0"/>
          </a:p>
        </p:txBody>
      </p:sp>
      <p:sp>
        <p:nvSpPr>
          <p:cNvPr id="18" name="Text 12"/>
          <p:cNvSpPr txBox="1"/>
          <p:nvPr/>
        </p:nvSpPr>
        <p:spPr>
          <a:xfrm>
            <a:off x="6364224" y="2057400"/>
            <a:ext cx="2286000" cy="160020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EM waves, no medium needed. Every body above 0 K emits (Planck's law).</a:t>
            </a:r>
            <a:endParaRPr lang="en-US" sz="1300" dirty="0"/>
          </a:p>
        </p:txBody>
      </p:sp>
      <p:sp>
        <p:nvSpPr>
          <p:cNvPr id="19" name="card"/>
          <p:cNvSpPr/>
          <p:nvPr/>
        </p:nvSpPr>
        <p:spPr>
          <a:xfrm>
            <a:off x="8997696" y="1371600"/>
            <a:ext cx="2651760"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9180576" y="1527048"/>
            <a:ext cx="420624" cy="420624"/>
          </a:xfrm>
          <a:prstGeom prst="ellipse">
            <a:avLst/>
          </a:prstGeom>
          <a:solidFill>
            <a:schemeClr val="accent2"/>
          </a:solidFill>
          <a:ln/>
        </p:spPr>
      </p:sp>
      <p:pic>
        <p:nvPicPr>
          <p:cNvPr id="21" name="Image 3" descr="Wind icon">    </p:cNvPr>
          <p:cNvPicPr>
            <a:picLocks noChangeAspect="1"/>
          </p:cNvPicPr>
          <p:nvPr/>
        </p:nvPicPr>
        <p:blipFill>
          <a:blip r:embed="rId4"/>
          <a:stretch>
            <a:fillRect/>
          </a:stretch>
        </p:blipFill>
        <p:spPr>
          <a:xfrm>
            <a:off x="9289938" y="1636410"/>
            <a:ext cx="201900" cy="201900"/>
          </a:xfrm>
          <a:prstGeom prst="rect">
            <a:avLst/>
          </a:prstGeom>
        </p:spPr>
      </p:pic>
      <p:sp>
        <p:nvSpPr>
          <p:cNvPr id="22" name="Text 15"/>
          <p:cNvSpPr txBox="1"/>
          <p:nvPr/>
        </p:nvSpPr>
        <p:spPr>
          <a:xfrm>
            <a:off x="9710928" y="1508760"/>
            <a:ext cx="1801368" cy="457200"/>
          </a:xfrm>
          <a:prstGeom prst="rect">
            <a:avLst/>
          </a:prstGeom>
          <a:noFill/>
          <a:ln/>
        </p:spPr>
        <p:txBody>
          <a:bodyPr wrap="square" lIns="0" tIns="0" rIns="0" bIns="0" rtlCol="0" anchor="ctr"/>
          <a:lstStyle/>
          <a:p>
            <a:pPr indent="0" marL="0">
              <a:buNone/>
            </a:pPr>
            <a:r>
              <a:rPr lang="en-US" sz="1600" b="1" dirty="0">
                <a:solidFill>
                  <a:schemeClr val="tx2"/>
                </a:solidFill>
              </a:rPr>
              <a:t>Advection</a:t>
            </a:r>
            <a:endParaRPr lang="en-US" sz="1600" dirty="0"/>
          </a:p>
        </p:txBody>
      </p:sp>
      <p:sp>
        <p:nvSpPr>
          <p:cNvPr id="23" name="Text 16"/>
          <p:cNvSpPr txBox="1"/>
          <p:nvPr/>
        </p:nvSpPr>
        <p:spPr>
          <a:xfrm>
            <a:off x="9180576" y="2057400"/>
            <a:ext cx="2286000" cy="160020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Horizontal transport of heat by the wind (e.g. warm/cold air advection).</a:t>
            </a:r>
            <a:endParaRPr lang="en-US" sz="1300" dirty="0"/>
          </a:p>
        </p:txBody>
      </p:sp>
      <p:sp>
        <p:nvSpPr>
          <p:cNvPr id="24" name="card"/>
          <p:cNvSpPr/>
          <p:nvPr/>
        </p:nvSpPr>
        <p:spPr>
          <a:xfrm>
            <a:off x="548640" y="3977640"/>
            <a:ext cx="5440680" cy="2194560"/>
          </a:xfrm>
          <a:prstGeom prst="roundRect">
            <a:avLst>
              <a:gd name="adj" fmla="val 3333"/>
            </a:avLst>
          </a:prstGeom>
          <a:solidFill>
            <a:schemeClr val="tx2"/>
          </a:solidFill>
          <a:ln/>
          <a:effectLst>
            <a:outerShdw sx="100000" sy="100000" kx="0" ky="0" algn="bl" rotWithShape="0" blurRad="76200" dist="25400" dir="5400000">
              <a:srgbClr val="000000">
                <a:alpha val="14000"/>
              </a:srgbClr>
            </a:outerShdw>
          </a:effectLst>
        </p:spPr>
      </p:sp>
      <p:sp>
        <p:nvSpPr>
          <p:cNvPr id="25" name="Text 18"/>
          <p:cNvSpPr txBox="1"/>
          <p:nvPr/>
        </p:nvSpPr>
        <p:spPr>
          <a:xfrm>
            <a:off x="777240" y="4069080"/>
            <a:ext cx="4937760" cy="411480"/>
          </a:xfrm>
          <a:prstGeom prst="rect">
            <a:avLst/>
          </a:prstGeom>
          <a:noFill/>
          <a:ln/>
        </p:spPr>
        <p:txBody>
          <a:bodyPr wrap="square" lIns="0" tIns="0" rIns="0" bIns="0" rtlCol="0" anchor="ctr"/>
          <a:lstStyle/>
          <a:p>
            <a:pPr algn="l" indent="0" marL="0">
              <a:buNone/>
            </a:pPr>
            <a:r>
              <a:rPr lang="en-US" sz="1800" b="1" dirty="0">
                <a:solidFill>
                  <a:schemeClr val="accent3"/>
                </a:solidFill>
              </a:rPr>
              <a:t>Heat</a:t>
            </a:r>
            <a:endParaRPr lang="en-US" sz="1800" dirty="0"/>
          </a:p>
        </p:txBody>
      </p:sp>
      <p:sp>
        <p:nvSpPr>
          <p:cNvPr id="26" name="Text 19"/>
          <p:cNvSpPr txBox="1"/>
          <p:nvPr/>
        </p:nvSpPr>
        <p:spPr>
          <a:xfrm>
            <a:off x="777240" y="4526280"/>
            <a:ext cx="5029200" cy="1554480"/>
          </a:xfrm>
          <a:prstGeom prst="rect">
            <a:avLst/>
          </a:prstGeom>
          <a:noFill/>
          <a:ln/>
        </p:spPr>
        <p:txBody>
          <a:bodyPr wrap="square" lIns="508" tIns="508" rIns="508" bIns="508" rtlCol="0" anchor="t"/>
          <a:lstStyle/>
          <a:p>
            <a:pPr marL="177800" indent="-177800">
              <a:spcAft>
                <a:spcPts val="600"/>
              </a:spcAft>
              <a:buSzPct val="100000"/>
              <a:buChar char="•"/>
            </a:pPr>
            <a:r>
              <a:rPr lang="en-US" sz="1500" dirty="0">
                <a:solidFill>
                  <a:schemeClr val="bg1"/>
                </a:solidFill>
              </a:rPr>
              <a:t>A form of </a:t>
            </a:r>
            <a:r>
              <a:rPr lang="en-US" sz="1500" b="1" dirty="0">
                <a:solidFill>
                  <a:schemeClr val="bg1"/>
                </a:solidFill>
              </a:rPr>
              <a:t>energy</a:t>
            </a:r>
            <a:r>
              <a:rPr lang="en-US" sz="1500" dirty="0">
                <a:solidFill>
                  <a:schemeClr val="bg1"/>
                </a:solidFill>
              </a:rPr>
              <a:t> (J or cal)</a:t>
            </a:r>
            <a:endParaRPr lang="en-US" sz="1500" dirty="0"/>
          </a:p>
          <a:p>
            <a:pPr marL="177800" indent="-177800">
              <a:spcAft>
                <a:spcPts val="600"/>
              </a:spcAft>
              <a:buSzPct val="100000"/>
              <a:buChar char="•"/>
            </a:pPr>
            <a:r>
              <a:rPr lang="en-US" sz="1500" dirty="0">
                <a:solidFill>
                  <a:schemeClr val="bg1"/>
                </a:solidFill>
              </a:rPr>
              <a:t>Measured by the </a:t>
            </a:r>
            <a:r>
              <a:rPr lang="en-US" sz="1500" b="1" dirty="0">
                <a:solidFill>
                  <a:schemeClr val="bg1"/>
                </a:solidFill>
              </a:rPr>
              <a:t>temperature change</a:t>
            </a:r>
            <a:r>
              <a:rPr lang="en-US" sz="1500" dirty="0">
                <a:solidFill>
                  <a:schemeClr val="bg1"/>
                </a:solidFill>
              </a:rPr>
              <a:t> it causes</a:t>
            </a:r>
            <a:endParaRPr lang="en-US" sz="1500" dirty="0"/>
          </a:p>
          <a:p>
            <a:pPr marL="177800" indent="-177800">
              <a:spcAft>
                <a:spcPts val="600"/>
              </a:spcAft>
              <a:buSzPct val="100000"/>
              <a:buChar char="•"/>
            </a:pPr>
            <a:r>
              <a:rPr lang="en-US" sz="1500" dirty="0">
                <a:solidFill>
                  <a:schemeClr val="bg1"/>
                </a:solidFill>
              </a:rPr>
              <a:t>Flows from hot to cold</a:t>
            </a:r>
            <a:endParaRPr lang="en-US" sz="1500" dirty="0"/>
          </a:p>
        </p:txBody>
      </p:sp>
      <p:sp>
        <p:nvSpPr>
          <p:cNvPr id="27" name="card"/>
          <p:cNvSpPr/>
          <p:nvPr/>
        </p:nvSpPr>
        <p:spPr>
          <a:xfrm>
            <a:off x="6199632" y="3977640"/>
            <a:ext cx="5440680" cy="2194560"/>
          </a:xfrm>
          <a:prstGeom prst="roundRect">
            <a:avLst>
              <a:gd name="adj" fmla="val 3333"/>
            </a:avLst>
          </a:prstGeom>
          <a:solidFill>
            <a:schemeClr val="accent2"/>
          </a:solidFill>
          <a:ln/>
          <a:effectLst>
            <a:outerShdw sx="100000" sy="100000" kx="0" ky="0" algn="bl" rotWithShape="0" blurRad="76200" dist="25400" dir="5400000">
              <a:srgbClr val="000000">
                <a:alpha val="14000"/>
              </a:srgbClr>
            </a:outerShdw>
          </a:effectLst>
        </p:spPr>
      </p:sp>
      <p:sp>
        <p:nvSpPr>
          <p:cNvPr id="28" name="Text 21"/>
          <p:cNvSpPr txBox="1"/>
          <p:nvPr/>
        </p:nvSpPr>
        <p:spPr>
          <a:xfrm>
            <a:off x="6428232" y="4069080"/>
            <a:ext cx="4937760" cy="411480"/>
          </a:xfrm>
          <a:prstGeom prst="rect">
            <a:avLst/>
          </a:prstGeom>
          <a:noFill/>
          <a:ln/>
        </p:spPr>
        <p:txBody>
          <a:bodyPr wrap="square" lIns="0" tIns="0" rIns="0" bIns="0" rtlCol="0" anchor="ctr"/>
          <a:lstStyle/>
          <a:p>
            <a:pPr algn="l" indent="0" marL="0">
              <a:buNone/>
            </a:pPr>
            <a:r>
              <a:rPr lang="en-US" sz="1800" b="1" dirty="0">
                <a:solidFill>
                  <a:schemeClr val="bg1"/>
                </a:solidFill>
              </a:rPr>
              <a:t>Temperature</a:t>
            </a:r>
            <a:endParaRPr lang="en-US" sz="1800" dirty="0"/>
          </a:p>
        </p:txBody>
      </p:sp>
      <p:sp>
        <p:nvSpPr>
          <p:cNvPr id="29" name="Text 22"/>
          <p:cNvSpPr txBox="1"/>
          <p:nvPr/>
        </p:nvSpPr>
        <p:spPr>
          <a:xfrm>
            <a:off x="6428232" y="4526280"/>
            <a:ext cx="5029200" cy="1554480"/>
          </a:xfrm>
          <a:prstGeom prst="rect">
            <a:avLst/>
          </a:prstGeom>
          <a:noFill/>
          <a:ln/>
        </p:spPr>
        <p:txBody>
          <a:bodyPr wrap="square" lIns="508" tIns="508" rIns="508" bIns="508" rtlCol="0" anchor="t"/>
          <a:lstStyle/>
          <a:p>
            <a:pPr marL="177800" indent="-177800">
              <a:spcAft>
                <a:spcPts val="600"/>
              </a:spcAft>
              <a:buSzPct val="100000"/>
              <a:buChar char="•"/>
            </a:pPr>
            <a:r>
              <a:rPr lang="en-US" sz="1500" dirty="0">
                <a:solidFill>
                  <a:schemeClr val="bg1"/>
                </a:solidFill>
              </a:rPr>
              <a:t>Degree of </a:t>
            </a:r>
            <a:r>
              <a:rPr lang="en-US" sz="1500" b="1" dirty="0">
                <a:solidFill>
                  <a:schemeClr val="bg1"/>
                </a:solidFill>
              </a:rPr>
              <a:t>hotness or coldness</a:t>
            </a:r>
            <a:endParaRPr lang="en-US" sz="1500" dirty="0"/>
          </a:p>
          <a:p>
            <a:pPr marL="177800" indent="-177800">
              <a:spcAft>
                <a:spcPts val="600"/>
              </a:spcAft>
              <a:buSzPct val="100000"/>
              <a:buChar char="•"/>
            </a:pPr>
            <a:r>
              <a:rPr lang="en-US" sz="1500" dirty="0">
                <a:solidFill>
                  <a:schemeClr val="bg1"/>
                </a:solidFill>
              </a:rPr>
              <a:t>Measures mean kinetic energy of molecules</a:t>
            </a:r>
            <a:endParaRPr lang="en-US" sz="1500" dirty="0"/>
          </a:p>
          <a:p>
            <a:pPr marL="177800" indent="-177800">
              <a:spcAft>
                <a:spcPts val="600"/>
              </a:spcAft>
              <a:buSzPct val="100000"/>
              <a:buChar char="•"/>
            </a:pPr>
            <a:r>
              <a:rPr lang="en-US" sz="1500" dirty="0">
                <a:solidFill>
                  <a:schemeClr val="bg1"/>
                </a:solidFill>
              </a:rPr>
              <a:t>SI unit </a:t>
            </a:r>
            <a:r>
              <a:rPr lang="en-US" sz="1500" b="1" dirty="0">
                <a:solidFill>
                  <a:schemeClr val="bg1"/>
                </a:solidFill>
              </a:rPr>
              <a:t>kelvin</a:t>
            </a:r>
            <a:r>
              <a:rPr lang="en-US" sz="1500" dirty="0">
                <a:solidFill>
                  <a:schemeClr val="bg1"/>
                </a:solidFill>
              </a:rPr>
              <a:t>: T(K) = T(°C) + 273.15</a:t>
            </a:r>
            <a:endParaRPr lang="en-US" sz="15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Sensible heat and latent heat</a:t>
            </a:r>
            <a:endParaRPr lang="en-US" sz="3200" dirty="0"/>
          </a:p>
        </p:txBody>
      </p:sp>
      <p:sp>
        <p:nvSpPr>
          <p:cNvPr id="4" name="diagram box"/>
          <p:cNvSpPr/>
          <p:nvPr/>
        </p:nvSpPr>
        <p:spPr>
          <a:xfrm>
            <a:off x="914400" y="1600200"/>
            <a:ext cx="2377440" cy="914400"/>
          </a:xfrm>
          <a:prstGeom prst="roundRect">
            <a:avLst>
              <a:gd name="adj" fmla="val 8000"/>
            </a:avLst>
          </a:prstGeom>
          <a:solidFill>
            <a:schemeClr val="accent2"/>
          </a:solidFill>
          <a:ln/>
        </p:spPr>
      </p:sp>
      <p:sp>
        <p:nvSpPr>
          <p:cNvPr id="5" name="Text 2"/>
          <p:cNvSpPr txBox="1"/>
          <p:nvPr/>
        </p:nvSpPr>
        <p:spPr>
          <a:xfrm>
            <a:off x="914400" y="1600200"/>
            <a:ext cx="2377440" cy="914400"/>
          </a:xfrm>
          <a:prstGeom prst="rect">
            <a:avLst/>
          </a:prstGeom>
          <a:noFill/>
          <a:ln/>
        </p:spPr>
        <p:txBody>
          <a:bodyPr wrap="square" lIns="508" tIns="508" rIns="508" bIns="508" rtlCol="0" anchor="ctr"/>
          <a:lstStyle/>
          <a:p>
            <a:pPr algn="ctr" indent="0" marL="0">
              <a:buNone/>
            </a:pPr>
            <a:r>
              <a:rPr lang="en-US" sz="1600" b="1" dirty="0">
                <a:solidFill>
                  <a:schemeClr val="bg1"/>
                </a:solidFill>
              </a:rPr>
              <a:t>Ice</a:t>
            </a:r>
            <a:endParaRPr lang="en-US" sz="1600" dirty="0"/>
          </a:p>
        </p:txBody>
      </p:sp>
      <p:sp>
        <p:nvSpPr>
          <p:cNvPr id="6" name="diagram box"/>
          <p:cNvSpPr/>
          <p:nvPr/>
        </p:nvSpPr>
        <p:spPr>
          <a:xfrm>
            <a:off x="4206240" y="1600200"/>
            <a:ext cx="2377440" cy="914400"/>
          </a:xfrm>
          <a:prstGeom prst="roundRect">
            <a:avLst>
              <a:gd name="adj" fmla="val 8000"/>
            </a:avLst>
          </a:prstGeom>
          <a:solidFill>
            <a:schemeClr val="accent4"/>
          </a:solidFill>
          <a:ln/>
        </p:spPr>
      </p:sp>
      <p:sp>
        <p:nvSpPr>
          <p:cNvPr id="7" name="Text 4"/>
          <p:cNvSpPr txBox="1"/>
          <p:nvPr/>
        </p:nvSpPr>
        <p:spPr>
          <a:xfrm>
            <a:off x="4206240" y="1600200"/>
            <a:ext cx="2377440" cy="914400"/>
          </a:xfrm>
          <a:prstGeom prst="rect">
            <a:avLst/>
          </a:prstGeom>
          <a:noFill/>
          <a:ln/>
        </p:spPr>
        <p:txBody>
          <a:bodyPr wrap="square" lIns="508" tIns="508" rIns="508" bIns="508" rtlCol="0" anchor="ctr"/>
          <a:lstStyle/>
          <a:p>
            <a:pPr algn="ctr" indent="0" marL="0">
              <a:buNone/>
            </a:pPr>
            <a:r>
              <a:rPr lang="en-US" sz="1600" b="1" dirty="0">
                <a:solidFill>
                  <a:schemeClr val="bg1"/>
                </a:solidFill>
              </a:rPr>
              <a:t>Liquid water</a:t>
            </a:r>
            <a:endParaRPr lang="en-US" sz="1600" dirty="0"/>
          </a:p>
        </p:txBody>
      </p:sp>
      <p:sp>
        <p:nvSpPr>
          <p:cNvPr id="8" name="diagram box"/>
          <p:cNvSpPr/>
          <p:nvPr/>
        </p:nvSpPr>
        <p:spPr>
          <a:xfrm>
            <a:off x="7498080" y="1600200"/>
            <a:ext cx="2377440" cy="914400"/>
          </a:xfrm>
          <a:prstGeom prst="roundRect">
            <a:avLst>
              <a:gd name="adj" fmla="val 8000"/>
            </a:avLst>
          </a:prstGeom>
          <a:solidFill>
            <a:schemeClr val="accent6"/>
          </a:solidFill>
          <a:ln/>
        </p:spPr>
      </p:sp>
      <p:sp>
        <p:nvSpPr>
          <p:cNvPr id="9" name="Text 6"/>
          <p:cNvSpPr txBox="1"/>
          <p:nvPr/>
        </p:nvSpPr>
        <p:spPr>
          <a:xfrm>
            <a:off x="7498080" y="1600200"/>
            <a:ext cx="2377440" cy="914400"/>
          </a:xfrm>
          <a:prstGeom prst="rect">
            <a:avLst/>
          </a:prstGeom>
          <a:noFill/>
          <a:ln/>
        </p:spPr>
        <p:txBody>
          <a:bodyPr wrap="square" lIns="508" tIns="508" rIns="508" bIns="508" rtlCol="0" anchor="ctr"/>
          <a:lstStyle/>
          <a:p>
            <a:pPr algn="ctr" indent="0" marL="0">
              <a:buNone/>
            </a:pPr>
            <a:r>
              <a:rPr lang="en-US" sz="1600" b="1" dirty="0">
                <a:solidFill>
                  <a:schemeClr val="bg1"/>
                </a:solidFill>
              </a:rPr>
              <a:t>Water vapour</a:t>
            </a:r>
            <a:endParaRPr lang="en-US" sz="1600" dirty="0"/>
          </a:p>
        </p:txBody>
      </p:sp>
      <p:sp>
        <p:nvSpPr>
          <p:cNvPr id="10" name="arrow"/>
          <p:cNvSpPr/>
          <p:nvPr/>
        </p:nvSpPr>
        <p:spPr>
          <a:xfrm>
            <a:off x="3337560" y="1874520"/>
            <a:ext cx="822960" cy="0"/>
          </a:xfrm>
          <a:prstGeom prst="line">
            <a:avLst/>
          </a:prstGeom>
          <a:noFill/>
          <a:ln w="38100">
            <a:solidFill>
              <a:srgbClr val="D1495B"/>
            </a:solidFill>
            <a:prstDash val="solid"/>
            <a:tailEnd type="triangle"/>
          </a:ln>
        </p:spPr>
      </p:sp>
      <p:sp>
        <p:nvSpPr>
          <p:cNvPr id="11" name="Text 8"/>
          <p:cNvSpPr txBox="1"/>
          <p:nvPr/>
        </p:nvSpPr>
        <p:spPr>
          <a:xfrm>
            <a:off x="3063240" y="1417320"/>
            <a:ext cx="1371600" cy="274320"/>
          </a:xfrm>
          <a:prstGeom prst="rect">
            <a:avLst/>
          </a:prstGeom>
          <a:noFill/>
          <a:ln/>
        </p:spPr>
        <p:txBody>
          <a:bodyPr wrap="square" lIns="0" tIns="0" rIns="0" bIns="0" rtlCol="0" anchor="ctr"/>
          <a:lstStyle/>
          <a:p>
            <a:pPr algn="ctr" indent="0" marL="0">
              <a:buNone/>
            </a:pPr>
            <a:r>
              <a:rPr lang="en-US" sz="1000" b="1" dirty="0">
                <a:solidFill>
                  <a:schemeClr val="accent1"/>
                </a:solidFill>
              </a:rPr>
              <a:t>melting · absorbs</a:t>
            </a:r>
            <a:endParaRPr lang="en-US" sz="1000" dirty="0"/>
          </a:p>
        </p:txBody>
      </p:sp>
      <p:sp>
        <p:nvSpPr>
          <p:cNvPr id="12" name="arrow"/>
          <p:cNvSpPr/>
          <p:nvPr/>
        </p:nvSpPr>
        <p:spPr>
          <a:xfrm flipH="1">
            <a:off x="3337560" y="2286000"/>
            <a:ext cx="822960" cy="0"/>
          </a:xfrm>
          <a:prstGeom prst="line">
            <a:avLst/>
          </a:prstGeom>
          <a:noFill/>
          <a:ln w="38100">
            <a:solidFill>
              <a:srgbClr val="2E86AB"/>
            </a:solidFill>
            <a:prstDash val="solid"/>
            <a:tailEnd type="triangle"/>
          </a:ln>
        </p:spPr>
      </p:sp>
      <p:sp>
        <p:nvSpPr>
          <p:cNvPr id="13" name="Text 10"/>
          <p:cNvSpPr txBox="1"/>
          <p:nvPr/>
        </p:nvSpPr>
        <p:spPr>
          <a:xfrm>
            <a:off x="3063240" y="2377440"/>
            <a:ext cx="1371600" cy="274320"/>
          </a:xfrm>
          <a:prstGeom prst="rect">
            <a:avLst/>
          </a:prstGeom>
          <a:noFill/>
          <a:ln/>
        </p:spPr>
        <p:txBody>
          <a:bodyPr wrap="square" lIns="0" tIns="0" rIns="0" bIns="0" rtlCol="0" anchor="ctr"/>
          <a:lstStyle/>
          <a:p>
            <a:pPr algn="ctr" indent="0" marL="0">
              <a:buNone/>
            </a:pPr>
            <a:r>
              <a:rPr lang="en-US" sz="1000" b="1" dirty="0">
                <a:solidFill>
                  <a:schemeClr val="accent2"/>
                </a:solidFill>
              </a:rPr>
              <a:t>freezing · releases</a:t>
            </a:r>
            <a:endParaRPr lang="en-US" sz="1000" dirty="0"/>
          </a:p>
        </p:txBody>
      </p:sp>
      <p:sp>
        <p:nvSpPr>
          <p:cNvPr id="14" name="arrow"/>
          <p:cNvSpPr/>
          <p:nvPr/>
        </p:nvSpPr>
        <p:spPr>
          <a:xfrm>
            <a:off x="6629400" y="1874520"/>
            <a:ext cx="822960" cy="0"/>
          </a:xfrm>
          <a:prstGeom prst="line">
            <a:avLst/>
          </a:prstGeom>
          <a:noFill/>
          <a:ln w="38100">
            <a:solidFill>
              <a:srgbClr val="D1495B"/>
            </a:solidFill>
            <a:prstDash val="solid"/>
            <a:tailEnd type="triangle"/>
          </a:ln>
        </p:spPr>
      </p:sp>
      <p:sp>
        <p:nvSpPr>
          <p:cNvPr id="15" name="Text 12"/>
          <p:cNvSpPr txBox="1"/>
          <p:nvPr/>
        </p:nvSpPr>
        <p:spPr>
          <a:xfrm>
            <a:off x="6263640" y="1417320"/>
            <a:ext cx="1554480" cy="274320"/>
          </a:xfrm>
          <a:prstGeom prst="rect">
            <a:avLst/>
          </a:prstGeom>
          <a:noFill/>
          <a:ln/>
        </p:spPr>
        <p:txBody>
          <a:bodyPr wrap="square" lIns="0" tIns="0" rIns="0" bIns="0" rtlCol="0" anchor="ctr"/>
          <a:lstStyle/>
          <a:p>
            <a:pPr algn="ctr" indent="0" marL="0">
              <a:buNone/>
            </a:pPr>
            <a:r>
              <a:rPr lang="en-US" sz="1000" b="1" dirty="0">
                <a:solidFill>
                  <a:schemeClr val="accent1"/>
                </a:solidFill>
              </a:rPr>
              <a:t>evaporation · absorbs</a:t>
            </a:r>
            <a:endParaRPr lang="en-US" sz="1000" dirty="0"/>
          </a:p>
        </p:txBody>
      </p:sp>
      <p:sp>
        <p:nvSpPr>
          <p:cNvPr id="16" name="arrow"/>
          <p:cNvSpPr/>
          <p:nvPr/>
        </p:nvSpPr>
        <p:spPr>
          <a:xfrm flipH="1">
            <a:off x="6629400" y="2286000"/>
            <a:ext cx="822960" cy="0"/>
          </a:xfrm>
          <a:prstGeom prst="line">
            <a:avLst/>
          </a:prstGeom>
          <a:noFill/>
          <a:ln w="38100">
            <a:solidFill>
              <a:srgbClr val="2E86AB"/>
            </a:solidFill>
            <a:prstDash val="solid"/>
            <a:tailEnd type="triangle"/>
          </a:ln>
        </p:spPr>
      </p:sp>
      <p:sp>
        <p:nvSpPr>
          <p:cNvPr id="17" name="Text 14"/>
          <p:cNvSpPr txBox="1"/>
          <p:nvPr/>
        </p:nvSpPr>
        <p:spPr>
          <a:xfrm>
            <a:off x="6263640" y="2377440"/>
            <a:ext cx="1554480" cy="274320"/>
          </a:xfrm>
          <a:prstGeom prst="rect">
            <a:avLst/>
          </a:prstGeom>
          <a:noFill/>
          <a:ln/>
        </p:spPr>
        <p:txBody>
          <a:bodyPr wrap="square" lIns="0" tIns="0" rIns="0" bIns="0" rtlCol="0" anchor="ctr"/>
          <a:lstStyle/>
          <a:p>
            <a:pPr algn="ctr" indent="0" marL="0">
              <a:buNone/>
            </a:pPr>
            <a:r>
              <a:rPr lang="en-US" sz="1000" b="1" dirty="0">
                <a:solidFill>
                  <a:schemeClr val="accent2"/>
                </a:solidFill>
              </a:rPr>
              <a:t>condensation · releases</a:t>
            </a:r>
            <a:endParaRPr lang="en-US" sz="1000" dirty="0"/>
          </a:p>
        </p:txBody>
      </p:sp>
      <p:sp>
        <p:nvSpPr>
          <p:cNvPr id="18" name="Text 15"/>
          <p:cNvSpPr txBox="1"/>
          <p:nvPr/>
        </p:nvSpPr>
        <p:spPr>
          <a:xfrm>
            <a:off x="548640" y="2743200"/>
            <a:ext cx="11091672" cy="320040"/>
          </a:xfrm>
          <a:prstGeom prst="rect">
            <a:avLst/>
          </a:prstGeom>
          <a:noFill/>
          <a:ln/>
        </p:spPr>
        <p:txBody>
          <a:bodyPr wrap="square" lIns="0" tIns="0" rIns="0" bIns="0" rtlCol="0" anchor="ctr"/>
          <a:lstStyle/>
          <a:p>
            <a:pPr algn="ctr" indent="0" marL="0">
              <a:buNone/>
            </a:pPr>
            <a:r>
              <a:rPr lang="en-US" sz="1300" b="1" dirty="0">
                <a:solidFill>
                  <a:schemeClr val="tx2"/>
                </a:solidFill>
              </a:rPr>
              <a:t>Latent heat values: L</a:t>
            </a:r>
            <a:r>
              <a:rPr lang="en-US" sz="1300" b="1" baseline="-40000" dirty="0">
                <a:solidFill>
                  <a:schemeClr val="tx2"/>
                </a:solidFill>
              </a:rPr>
              <a:t>f</a:t>
            </a:r>
            <a:r>
              <a:rPr lang="en-US" sz="1300" b="1" dirty="0">
                <a:solidFill>
                  <a:schemeClr val="tx2"/>
                </a:solidFill>
              </a:rPr>
              <a:t> ≈ 0.334 × 10</a:t>
            </a:r>
            <a:r>
              <a:rPr lang="en-US" sz="1300" b="1" baseline="30000" dirty="0">
                <a:solidFill>
                  <a:schemeClr val="tx2"/>
                </a:solidFill>
              </a:rPr>
              <a:t>6</a:t>
            </a:r>
            <a:r>
              <a:rPr lang="en-US" sz="1300" b="1" dirty="0">
                <a:solidFill>
                  <a:schemeClr val="tx2"/>
                </a:solidFill>
              </a:rPr>
              <a:t> J/kg (fusion) · L</a:t>
            </a:r>
            <a:r>
              <a:rPr lang="en-US" sz="1300" b="1" baseline="-40000" dirty="0">
                <a:solidFill>
                  <a:schemeClr val="tx2"/>
                </a:solidFill>
              </a:rPr>
              <a:t>v</a:t>
            </a:r>
            <a:r>
              <a:rPr lang="en-US" sz="1300" b="1" dirty="0">
                <a:solidFill>
                  <a:schemeClr val="tx2"/>
                </a:solidFill>
              </a:rPr>
              <a:t> ≈ 2.5 × 10</a:t>
            </a:r>
            <a:r>
              <a:rPr lang="en-US" sz="1300" b="1" baseline="30000" dirty="0">
                <a:solidFill>
                  <a:schemeClr val="tx2"/>
                </a:solidFill>
              </a:rPr>
              <a:t>6</a:t>
            </a:r>
            <a:r>
              <a:rPr lang="en-US" sz="1300" b="1" dirty="0">
                <a:solidFill>
                  <a:schemeClr val="tx2"/>
                </a:solidFill>
              </a:rPr>
              <a:t> J/kg (vaporisation) · L</a:t>
            </a:r>
            <a:r>
              <a:rPr lang="en-US" sz="1300" b="1" baseline="-40000" dirty="0">
                <a:solidFill>
                  <a:schemeClr val="tx2"/>
                </a:solidFill>
              </a:rPr>
              <a:t>s</a:t>
            </a:r>
            <a:r>
              <a:rPr lang="en-US" sz="1300" b="1" dirty="0">
                <a:solidFill>
                  <a:schemeClr val="tx2"/>
                </a:solidFill>
              </a:rPr>
              <a:t> ≈ 2.83 × 10</a:t>
            </a:r>
            <a:r>
              <a:rPr lang="en-US" sz="1300" b="1" baseline="30000" dirty="0">
                <a:solidFill>
                  <a:schemeClr val="tx2"/>
                </a:solidFill>
              </a:rPr>
              <a:t>6</a:t>
            </a:r>
            <a:r>
              <a:rPr lang="en-US" sz="1300" b="1" dirty="0">
                <a:solidFill>
                  <a:schemeClr val="tx2"/>
                </a:solidFill>
              </a:rPr>
              <a:t> J/kg (sublimation)</a:t>
            </a:r>
            <a:endParaRPr lang="en-US" sz="1300" dirty="0"/>
          </a:p>
        </p:txBody>
      </p:sp>
      <p:sp>
        <p:nvSpPr>
          <p:cNvPr id="19" name="card"/>
          <p:cNvSpPr/>
          <p:nvPr/>
        </p:nvSpPr>
        <p:spPr>
          <a:xfrm>
            <a:off x="548640" y="3246120"/>
            <a:ext cx="5440680" cy="2926080"/>
          </a:xfrm>
          <a:prstGeom prst="roundRect">
            <a:avLst>
              <a:gd name="adj" fmla="val 2500"/>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731520" y="3401568"/>
            <a:ext cx="420624" cy="420624"/>
          </a:xfrm>
          <a:prstGeom prst="ellipse">
            <a:avLst/>
          </a:prstGeom>
          <a:solidFill>
            <a:schemeClr val="accent1"/>
          </a:solidFill>
          <a:ln/>
        </p:spPr>
      </p:sp>
      <p:pic>
        <p:nvPicPr>
          <p:cNvPr id="21" name="Image 0" descr="ThermometerHalf icon">    </p:cNvPr>
          <p:cNvPicPr>
            <a:picLocks noChangeAspect="1"/>
          </p:cNvPicPr>
          <p:nvPr/>
        </p:nvPicPr>
        <p:blipFill>
          <a:blip r:embed="rId1"/>
          <a:stretch>
            <a:fillRect/>
          </a:stretch>
        </p:blipFill>
        <p:spPr>
          <a:xfrm>
            <a:off x="840882" y="3510930"/>
            <a:ext cx="201900" cy="201900"/>
          </a:xfrm>
          <a:prstGeom prst="rect">
            <a:avLst/>
          </a:prstGeom>
        </p:spPr>
      </p:pic>
      <p:sp>
        <p:nvSpPr>
          <p:cNvPr id="22" name="Text 18"/>
          <p:cNvSpPr txBox="1"/>
          <p:nvPr/>
        </p:nvSpPr>
        <p:spPr>
          <a:xfrm>
            <a:off x="1261872" y="338328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1. Sensible heat (H)</a:t>
            </a:r>
            <a:endParaRPr lang="en-US" sz="1600" dirty="0"/>
          </a:p>
        </p:txBody>
      </p:sp>
      <p:sp>
        <p:nvSpPr>
          <p:cNvPr id="23" name="Text 19"/>
          <p:cNvSpPr txBox="1"/>
          <p:nvPr/>
        </p:nvSpPr>
        <p:spPr>
          <a:xfrm>
            <a:off x="731520" y="3931920"/>
            <a:ext cx="5074920" cy="2148840"/>
          </a:xfrm>
          <a:prstGeom prst="rect">
            <a:avLst/>
          </a:prstGeom>
          <a:noFill/>
          <a:ln/>
        </p:spPr>
        <p:txBody>
          <a:bodyPr wrap="square" lIns="508" tIns="508" rIns="508" bIns="508" rtlCol="0" anchor="t"/>
          <a:lstStyle/>
          <a:p>
            <a:pPr marL="177800" indent="-177800">
              <a:spcAft>
                <a:spcPts val="400"/>
              </a:spcAft>
              <a:buSzPct val="100000"/>
              <a:buChar char="•"/>
            </a:pPr>
            <a:r>
              <a:rPr lang="en-US" sz="1400" dirty="0">
                <a:solidFill>
                  <a:schemeClr val="tx1"/>
                </a:solidFill>
              </a:rPr>
              <a:t>Heat that can be </a:t>
            </a:r>
            <a:r>
              <a:rPr lang="en-US" sz="1400" b="1" dirty="0">
                <a:solidFill>
                  <a:schemeClr val="tx1"/>
                </a:solidFill>
              </a:rPr>
              <a:t>felt</a:t>
            </a:r>
            <a:r>
              <a:rPr lang="en-US" sz="1400" dirty="0">
                <a:solidFill>
                  <a:schemeClr val="tx1"/>
                </a:solidFill>
              </a:rPr>
              <a:t> and measured by a thermometer</a:t>
            </a:r>
            <a:endParaRPr lang="en-US" sz="1400" dirty="0"/>
          </a:p>
          <a:p>
            <a:pPr marL="177800" indent="-177800">
              <a:spcAft>
                <a:spcPts val="400"/>
              </a:spcAft>
              <a:buSzPct val="100000"/>
              <a:buChar char="•"/>
            </a:pPr>
            <a:r>
              <a:rPr lang="en-US" sz="1400" dirty="0">
                <a:solidFill>
                  <a:schemeClr val="tx1"/>
                </a:solidFill>
              </a:rPr>
              <a:t>Moves by conduction and convection in the air</a:t>
            </a:r>
            <a:endParaRPr lang="en-US" sz="1400" dirty="0"/>
          </a:p>
          <a:p>
            <a:pPr marL="177800" indent="-177800">
              <a:spcAft>
                <a:spcPts val="400"/>
              </a:spcAft>
              <a:buSzPct val="100000"/>
              <a:buChar char="•"/>
            </a:pPr>
            <a:r>
              <a:rPr lang="en-US" sz="1400" dirty="0">
                <a:solidFill>
                  <a:schemeClr val="tx1"/>
                </a:solidFill>
              </a:rPr>
              <a:t>Raises or lowers temperature</a:t>
            </a:r>
            <a:endParaRPr lang="en-US" sz="1400" dirty="0"/>
          </a:p>
        </p:txBody>
      </p:sp>
      <p:sp>
        <p:nvSpPr>
          <p:cNvPr id="24" name="card"/>
          <p:cNvSpPr/>
          <p:nvPr/>
        </p:nvSpPr>
        <p:spPr>
          <a:xfrm>
            <a:off x="6199632" y="3246120"/>
            <a:ext cx="5440680" cy="2926080"/>
          </a:xfrm>
          <a:prstGeom prst="roundRect">
            <a:avLst>
              <a:gd name="adj" fmla="val 2500"/>
            </a:avLst>
          </a:prstGeom>
          <a:solidFill>
            <a:schemeClr val="bg2"/>
          </a:solidFill>
          <a:ln/>
          <a:effectLst>
            <a:outerShdw sx="100000" sy="100000" kx="0" ky="0" algn="bl" rotWithShape="0" blurRad="76200" dist="25400" dir="5400000">
              <a:srgbClr val="000000">
                <a:alpha val="14000"/>
              </a:srgbClr>
            </a:outerShdw>
          </a:effectLst>
        </p:spPr>
      </p:sp>
      <p:sp>
        <p:nvSpPr>
          <p:cNvPr id="25" name="icon circle"/>
          <p:cNvSpPr/>
          <p:nvPr/>
        </p:nvSpPr>
        <p:spPr>
          <a:xfrm>
            <a:off x="6382512" y="3401568"/>
            <a:ext cx="420624" cy="420624"/>
          </a:xfrm>
          <a:prstGeom prst="ellipse">
            <a:avLst/>
          </a:prstGeom>
          <a:solidFill>
            <a:schemeClr val="accent2"/>
          </a:solidFill>
          <a:ln/>
        </p:spPr>
      </p:sp>
      <p:pic>
        <p:nvPicPr>
          <p:cNvPr id="26" name="Image 1" descr="Tint icon">    </p:cNvPr>
          <p:cNvPicPr>
            <a:picLocks noChangeAspect="1"/>
          </p:cNvPicPr>
          <p:nvPr/>
        </p:nvPicPr>
        <p:blipFill>
          <a:blip r:embed="rId2"/>
          <a:stretch>
            <a:fillRect/>
          </a:stretch>
        </p:blipFill>
        <p:spPr>
          <a:xfrm>
            <a:off x="6491874" y="3510930"/>
            <a:ext cx="201900" cy="201900"/>
          </a:xfrm>
          <a:prstGeom prst="rect">
            <a:avLst/>
          </a:prstGeom>
        </p:spPr>
      </p:pic>
      <p:sp>
        <p:nvSpPr>
          <p:cNvPr id="27" name="Text 22"/>
          <p:cNvSpPr txBox="1"/>
          <p:nvPr/>
        </p:nvSpPr>
        <p:spPr>
          <a:xfrm>
            <a:off x="6912864" y="338328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2. Latent heat (LH, λE, LE)</a:t>
            </a:r>
            <a:endParaRPr lang="en-US" sz="1600" dirty="0"/>
          </a:p>
        </p:txBody>
      </p:sp>
      <p:sp>
        <p:nvSpPr>
          <p:cNvPr id="28" name="Text 23"/>
          <p:cNvSpPr txBox="1"/>
          <p:nvPr/>
        </p:nvSpPr>
        <p:spPr>
          <a:xfrm>
            <a:off x="6382512" y="3931920"/>
            <a:ext cx="5074920" cy="2148840"/>
          </a:xfrm>
          <a:prstGeom prst="rect">
            <a:avLst/>
          </a:prstGeom>
          <a:noFill/>
          <a:ln/>
        </p:spPr>
        <p:txBody>
          <a:bodyPr wrap="square" lIns="508" tIns="508" rIns="508" bIns="508" rtlCol="0" anchor="t"/>
          <a:lstStyle/>
          <a:p>
            <a:pPr marL="177800" indent="-177800">
              <a:spcAft>
                <a:spcPts val="400"/>
              </a:spcAft>
              <a:buSzPct val="100000"/>
              <a:buChar char="•"/>
            </a:pPr>
            <a:r>
              <a:rPr lang="en-US" sz="1400" dirty="0">
                <a:solidFill>
                  <a:schemeClr val="tx1"/>
                </a:solidFill>
              </a:rPr>
              <a:t>Heat used to </a:t>
            </a:r>
            <a:r>
              <a:rPr lang="en-US" sz="1400" b="1" dirty="0">
                <a:solidFill>
                  <a:schemeClr val="tx1"/>
                </a:solidFill>
              </a:rPr>
              <a:t>change the state</a:t>
            </a:r>
            <a:r>
              <a:rPr lang="en-US" sz="1400" dirty="0">
                <a:solidFill>
                  <a:schemeClr val="tx1"/>
                </a:solidFill>
              </a:rPr>
              <a:t> of matter, no temperature change</a:t>
            </a:r>
            <a:endParaRPr lang="en-US" sz="1400" dirty="0"/>
          </a:p>
          <a:p>
            <a:pPr marL="177800" indent="-177800">
              <a:spcAft>
                <a:spcPts val="400"/>
              </a:spcAft>
              <a:buSzPct val="100000"/>
              <a:buChar char="•"/>
            </a:pPr>
            <a:r>
              <a:rPr lang="en-US" sz="1400" dirty="0">
                <a:solidFill>
                  <a:schemeClr val="tx1"/>
                </a:solidFill>
              </a:rPr>
              <a:t>Latent heat of vaporisation / condensation</a:t>
            </a:r>
            <a:endParaRPr lang="en-US" sz="1400" dirty="0"/>
          </a:p>
          <a:p>
            <a:pPr marL="177800" indent="-177800">
              <a:spcAft>
                <a:spcPts val="400"/>
              </a:spcAft>
              <a:buSzPct val="100000"/>
              <a:buChar char="•"/>
            </a:pPr>
            <a:r>
              <a:rPr lang="en-US" sz="1400" b="1" dirty="0">
                <a:solidFill>
                  <a:schemeClr val="tx1"/>
                </a:solidFill>
              </a:rPr>
              <a:t>Recovered as sensible heat</a:t>
            </a:r>
            <a:r>
              <a:rPr lang="en-US" sz="1400" dirty="0">
                <a:solidFill>
                  <a:schemeClr val="tx1"/>
                </a:solidFill>
              </a:rPr>
              <a:t> when vapour condenses aloft</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Specific heat and heat capacity</a:t>
            </a:r>
            <a:endParaRPr lang="en-US" sz="3200" dirty="0"/>
          </a:p>
        </p:txBody>
      </p:sp>
      <p:sp>
        <p:nvSpPr>
          <p:cNvPr id="4" name="step number"/>
          <p:cNvSpPr/>
          <p:nvPr/>
        </p:nvSpPr>
        <p:spPr>
          <a:xfrm>
            <a:off x="548640" y="1453896"/>
            <a:ext cx="384048" cy="384048"/>
          </a:xfrm>
          <a:prstGeom prst="ellipse">
            <a:avLst/>
          </a:prstGeom>
          <a:solidFill>
            <a:schemeClr val="accent1"/>
          </a:solidFill>
          <a:ln/>
        </p:spPr>
      </p:sp>
      <p:sp>
        <p:nvSpPr>
          <p:cNvPr id="5"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3"/>
          <p:cNvSpPr txBox="1"/>
          <p:nvPr/>
        </p:nvSpPr>
        <p:spPr>
          <a:xfrm>
            <a:off x="1051560" y="1417320"/>
            <a:ext cx="5257800" cy="612648"/>
          </a:xfrm>
          <a:prstGeom prst="rect">
            <a:avLst/>
          </a:prstGeom>
          <a:noFill/>
          <a:ln/>
        </p:spPr>
        <p:txBody>
          <a:bodyPr wrap="square" lIns="0" tIns="0" rIns="0" bIns="0" rtlCol="0" anchor="ctr"/>
          <a:lstStyle/>
          <a:p>
            <a:pPr indent="0" marL="0">
              <a:buNone/>
            </a:pPr>
            <a:r>
              <a:rPr lang="en-US" sz="1400" b="1" dirty="0">
                <a:solidFill>
                  <a:schemeClr val="tx1"/>
                </a:solidFill>
              </a:rPr>
              <a:t>Specific heat:</a:t>
            </a:r>
            <a:r>
              <a:rPr lang="en-US" sz="1400" dirty="0">
                <a:solidFill>
                  <a:schemeClr val="tx1"/>
                </a:solidFill>
              </a:rPr>
              <a:t> ΔH = C ΔT for 1 g → C = ΔH/ΔT</a:t>
            </a:r>
            <a:endParaRPr lang="en-US" sz="1400" dirty="0"/>
          </a:p>
        </p:txBody>
      </p:sp>
      <p:sp>
        <p:nvSpPr>
          <p:cNvPr id="7" name="step number"/>
          <p:cNvSpPr/>
          <p:nvPr/>
        </p:nvSpPr>
        <p:spPr>
          <a:xfrm>
            <a:off x="548640" y="2112264"/>
            <a:ext cx="384048" cy="384048"/>
          </a:xfrm>
          <a:prstGeom prst="ellipse">
            <a:avLst/>
          </a:prstGeom>
          <a:solidFill>
            <a:schemeClr val="accent1"/>
          </a:solidFill>
          <a:ln/>
        </p:spPr>
      </p:sp>
      <p:sp>
        <p:nvSpPr>
          <p:cNvPr id="8" name="Text 5"/>
          <p:cNvSpPr txBox="1"/>
          <p:nvPr/>
        </p:nvSpPr>
        <p:spPr>
          <a:xfrm>
            <a:off x="548640" y="211226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6"/>
          <p:cNvSpPr txBox="1"/>
          <p:nvPr/>
        </p:nvSpPr>
        <p:spPr>
          <a:xfrm>
            <a:off x="1051560" y="2075688"/>
            <a:ext cx="5257800" cy="612648"/>
          </a:xfrm>
          <a:prstGeom prst="rect">
            <a:avLst/>
          </a:prstGeom>
          <a:noFill/>
          <a:ln/>
        </p:spPr>
        <p:txBody>
          <a:bodyPr wrap="square" lIns="0" tIns="0" rIns="0" bIns="0" rtlCol="0" anchor="ctr"/>
          <a:lstStyle/>
          <a:p>
            <a:pPr indent="0" marL="0">
              <a:buNone/>
            </a:pPr>
            <a:r>
              <a:rPr lang="en-US" sz="1400" dirty="0">
                <a:solidFill>
                  <a:schemeClr val="tx1"/>
                </a:solidFill>
              </a:rPr>
              <a:t>For mass m: </a:t>
            </a:r>
            <a:r>
              <a:rPr lang="en-US" sz="1400" b="1" dirty="0">
                <a:solidFill>
                  <a:schemeClr val="tx1"/>
                </a:solidFill>
              </a:rPr>
              <a:t>ΔH = m C ΔT</a:t>
            </a:r>
            <a:endParaRPr lang="en-US" sz="1400" dirty="0"/>
          </a:p>
        </p:txBody>
      </p:sp>
      <p:sp>
        <p:nvSpPr>
          <p:cNvPr id="10" name="step number"/>
          <p:cNvSpPr/>
          <p:nvPr/>
        </p:nvSpPr>
        <p:spPr>
          <a:xfrm>
            <a:off x="548640" y="2770632"/>
            <a:ext cx="384048" cy="384048"/>
          </a:xfrm>
          <a:prstGeom prst="ellipse">
            <a:avLst/>
          </a:prstGeom>
          <a:solidFill>
            <a:schemeClr val="accent1"/>
          </a:solidFill>
          <a:ln/>
        </p:spPr>
      </p:sp>
      <p:sp>
        <p:nvSpPr>
          <p:cNvPr id="11" name="Text 8"/>
          <p:cNvSpPr txBox="1"/>
          <p:nvPr/>
        </p:nvSpPr>
        <p:spPr>
          <a:xfrm>
            <a:off x="548640" y="27706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9"/>
          <p:cNvSpPr txBox="1"/>
          <p:nvPr/>
        </p:nvSpPr>
        <p:spPr>
          <a:xfrm>
            <a:off x="1051560" y="2734056"/>
            <a:ext cx="5257800" cy="612648"/>
          </a:xfrm>
          <a:prstGeom prst="rect">
            <a:avLst/>
          </a:prstGeom>
          <a:noFill/>
          <a:ln/>
        </p:spPr>
        <p:txBody>
          <a:bodyPr wrap="square" lIns="0" tIns="0" rIns="0" bIns="0" rtlCol="0" anchor="ctr"/>
          <a:lstStyle/>
          <a:p>
            <a:pPr indent="0" marL="0">
              <a:buNone/>
            </a:pPr>
            <a:r>
              <a:rPr lang="en-US" sz="1400" dirty="0">
                <a:solidFill>
                  <a:schemeClr val="tx1"/>
                </a:solidFill>
              </a:rPr>
              <a:t>Mass from volume: m = ρV → ΔH = ρ V C ΔT</a:t>
            </a:r>
            <a:endParaRPr lang="en-US" sz="1400" dirty="0"/>
          </a:p>
        </p:txBody>
      </p:sp>
      <p:sp>
        <p:nvSpPr>
          <p:cNvPr id="13" name="step number"/>
          <p:cNvSpPr/>
          <p:nvPr/>
        </p:nvSpPr>
        <p:spPr>
          <a:xfrm>
            <a:off x="548640" y="3429000"/>
            <a:ext cx="384048" cy="384048"/>
          </a:xfrm>
          <a:prstGeom prst="ellipse">
            <a:avLst/>
          </a:prstGeom>
          <a:solidFill>
            <a:schemeClr val="accent1"/>
          </a:solidFill>
          <a:ln/>
        </p:spPr>
      </p:sp>
      <p:sp>
        <p:nvSpPr>
          <p:cNvPr id="14" name="Text 11"/>
          <p:cNvSpPr txBox="1"/>
          <p:nvPr/>
        </p:nvSpPr>
        <p:spPr>
          <a:xfrm>
            <a:off x="548640" y="34290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Text 12"/>
          <p:cNvSpPr txBox="1"/>
          <p:nvPr/>
        </p:nvSpPr>
        <p:spPr>
          <a:xfrm>
            <a:off x="1051560" y="3392424"/>
            <a:ext cx="5257800" cy="612648"/>
          </a:xfrm>
          <a:prstGeom prst="rect">
            <a:avLst/>
          </a:prstGeom>
          <a:noFill/>
          <a:ln/>
        </p:spPr>
        <p:txBody>
          <a:bodyPr wrap="square" lIns="0" tIns="0" rIns="0" bIns="0" rtlCol="0" anchor="ctr"/>
          <a:lstStyle/>
          <a:p>
            <a:pPr indent="0" marL="0">
              <a:buNone/>
            </a:pPr>
            <a:r>
              <a:rPr lang="en-US" sz="1400" dirty="0">
                <a:solidFill>
                  <a:schemeClr val="tx1"/>
                </a:solidFill>
              </a:rPr>
              <a:t>For unit volume (V = 1): </a:t>
            </a:r>
            <a:r>
              <a:rPr lang="en-US" sz="1400" b="1" dirty="0">
                <a:solidFill>
                  <a:schemeClr val="tx1"/>
                </a:solidFill>
              </a:rPr>
              <a:t>heat capacity = ρC = ΔH/ΔT</a:t>
            </a:r>
            <a:endParaRPr lang="en-US" sz="1400" dirty="0"/>
          </a:p>
        </p:txBody>
      </p:sp>
      <p:sp>
        <p:nvSpPr>
          <p:cNvPr id="16" name="step number"/>
          <p:cNvSpPr/>
          <p:nvPr/>
        </p:nvSpPr>
        <p:spPr>
          <a:xfrm>
            <a:off x="548640" y="4087368"/>
            <a:ext cx="384048" cy="384048"/>
          </a:xfrm>
          <a:prstGeom prst="ellipse">
            <a:avLst/>
          </a:prstGeom>
          <a:solidFill>
            <a:schemeClr val="accent1"/>
          </a:solidFill>
          <a:ln/>
        </p:spPr>
      </p:sp>
      <p:sp>
        <p:nvSpPr>
          <p:cNvPr id="17" name="Text 14"/>
          <p:cNvSpPr txBox="1"/>
          <p:nvPr/>
        </p:nvSpPr>
        <p:spPr>
          <a:xfrm>
            <a:off x="548640" y="408736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8" name="Text 15"/>
          <p:cNvSpPr txBox="1"/>
          <p:nvPr/>
        </p:nvSpPr>
        <p:spPr>
          <a:xfrm>
            <a:off x="1051560" y="4050792"/>
            <a:ext cx="5257800" cy="612648"/>
          </a:xfrm>
          <a:prstGeom prst="rect">
            <a:avLst/>
          </a:prstGeom>
          <a:noFill/>
          <a:ln/>
        </p:spPr>
        <p:txBody>
          <a:bodyPr wrap="square" lIns="0" tIns="0" rIns="0" bIns="0" rtlCol="0" anchor="ctr"/>
          <a:lstStyle/>
          <a:p>
            <a:pPr indent="0" marL="0">
              <a:buNone/>
            </a:pPr>
            <a:r>
              <a:rPr lang="en-US" sz="1400" dirty="0">
                <a:solidFill>
                  <a:schemeClr val="tx1"/>
                </a:solidFill>
              </a:rPr>
              <a:t>Heat capacity = </a:t>
            </a:r>
            <a:r>
              <a:rPr lang="en-US" sz="1400" b="1" dirty="0">
                <a:solidFill>
                  <a:schemeClr val="tx1"/>
                </a:solidFill>
              </a:rPr>
              <a:t>density × specific heat</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583680" y="1417320"/>
          <a:ext cx="5056632" cy="914400"/>
        </p:xfrm>
        <a:graphic>
          <a:graphicData uri="http://schemas.openxmlformats.org/drawingml/2006/table">
            <a:tbl>
              <a:tblPr/>
              <a:tblGrid>
                <a:gridCol w="1325880"/>
                <a:gridCol w="1280160"/>
                <a:gridCol w="1005840"/>
                <a:gridCol w="1444752"/>
              </a:tblGrid>
              <a:tr h="502920">
                <a:tc>
                  <a:txBody>
                    <a:bodyPr/>
                    <a:lstStyle/>
                    <a:p>
                      <a:pPr indent="0" marL="0">
                        <a:buNone/>
                      </a:pPr>
                      <a:r>
                        <a:rPr lang="en-US" sz="1300" b="1" dirty="0">
                          <a:solidFill>
                            <a:schemeClr val="bg1"/>
                          </a:solidFill>
                        </a:rPr>
                        <a:t>Substance</a:t>
                      </a:r>
                      <a:endParaRPr lang="en-US" sz="13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 (J kg⁻¹ K⁻¹)</a:t>
                      </a:r>
                      <a:endParaRPr lang="en-US" sz="13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ρ (kg m⁻³)</a:t>
                      </a:r>
                      <a:endParaRPr lang="en-US" sz="13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ρC (J m⁻³ K⁻¹)</a:t>
                      </a:r>
                      <a:endParaRPr lang="en-US" sz="13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502920">
                <a:tc>
                  <a:txBody>
                    <a:bodyPr/>
                    <a:lstStyle/>
                    <a:p>
                      <a:pPr indent="0" marL="0">
                        <a:buNone/>
                      </a:pPr>
                      <a:r>
                        <a:rPr lang="en-US" sz="1300" b="1" dirty="0">
                          <a:solidFill>
                            <a:schemeClr val="tx2"/>
                          </a:solidFill>
                        </a:rPr>
                        <a:t>Water</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4186</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1000</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4.19 × 10</a:t>
                      </a:r>
                      <a:r>
                        <a:rPr lang="en-US" sz="1300" baseline="30000" dirty="0">
                          <a:solidFill>
                            <a:schemeClr val="tx1"/>
                          </a:solidFill>
                        </a:rPr>
                        <a:t>6</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tx2"/>
                          </a:solidFill>
                        </a:rPr>
                        <a:t>Dry soil</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~800</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~1600</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~1.3 × 10</a:t>
                      </a:r>
                      <a:r>
                        <a:rPr lang="en-US" sz="1300" baseline="30000" dirty="0">
                          <a:solidFill>
                            <a:schemeClr val="tx1"/>
                          </a:solidFill>
                        </a:rPr>
                        <a:t>6</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tx2"/>
                          </a:solidFill>
                        </a:rPr>
                        <a:t>Air (sea level)</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1004 (c</a:t>
                      </a:r>
                      <a:r>
                        <a:rPr lang="en-US" sz="1300" baseline="-40000" dirty="0">
                          <a:solidFill>
                            <a:schemeClr val="tx1"/>
                          </a:solidFill>
                        </a:rPr>
                        <a:t>p</a:t>
                      </a:r>
                      <a:r>
                        <a:rPr lang="en-US" sz="1300" dirty="0">
                          <a:solidFill>
                            <a:schemeClr val="tx1"/>
                          </a:solidFill>
                        </a:rPr>
                        <a:t>)</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1.2</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1.2 × 10</a:t>
                      </a:r>
                      <a:r>
                        <a:rPr lang="en-US" sz="1300" baseline="30000" dirty="0">
                          <a:solidFill>
                            <a:schemeClr val="tx1"/>
                          </a:solidFill>
                        </a:rPr>
                        <a:t>3</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bl>
          </a:graphicData>
        </a:graphic>
      </p:graphicFrame>
      <p:sp>
        <p:nvSpPr>
          <p:cNvPr id="20" name="Text 16"/>
          <p:cNvSpPr txBox="1"/>
          <p:nvPr/>
        </p:nvSpPr>
        <p:spPr>
          <a:xfrm>
            <a:off x="6583680" y="3474720"/>
            <a:ext cx="4572000" cy="274320"/>
          </a:xfrm>
          <a:prstGeom prst="rect">
            <a:avLst/>
          </a:prstGeom>
          <a:noFill/>
          <a:ln/>
        </p:spPr>
        <p:txBody>
          <a:bodyPr wrap="square" lIns="508" tIns="508" rIns="508" bIns="508" rtlCol="0" anchor="t"/>
          <a:lstStyle/>
          <a:p>
            <a:pPr indent="0" marL="0">
              <a:spcAft>
                <a:spcPts val="600"/>
              </a:spcAft>
              <a:buNone/>
            </a:pPr>
            <a:r>
              <a:rPr lang="en-US" sz="1100" i="1" dirty="0">
                <a:solidFill>
                  <a:schemeClr val="accent6"/>
                </a:solidFill>
              </a:rPr>
              <a:t>Values approximate.</a:t>
            </a:r>
            <a:endParaRPr lang="en-US" sz="1100" dirty="0"/>
          </a:p>
        </p:txBody>
      </p:sp>
      <p:sp>
        <p:nvSpPr>
          <p:cNvPr id="21" name="card"/>
          <p:cNvSpPr/>
          <p:nvPr/>
        </p:nvSpPr>
        <p:spPr>
          <a:xfrm>
            <a:off x="6583680" y="3794760"/>
            <a:ext cx="5056632"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22" name="icon circle"/>
          <p:cNvSpPr/>
          <p:nvPr/>
        </p:nvSpPr>
        <p:spPr>
          <a:xfrm>
            <a:off x="6766560" y="3950208"/>
            <a:ext cx="420624" cy="420624"/>
          </a:xfrm>
          <a:prstGeom prst="ellipse">
            <a:avLst/>
          </a:prstGeom>
          <a:solidFill>
            <a:schemeClr val="accent2"/>
          </a:solidFill>
          <a:ln/>
        </p:spPr>
      </p:sp>
      <p:pic>
        <p:nvPicPr>
          <p:cNvPr id="23" name="Image 0" descr="Water icon">    </p:cNvPr>
          <p:cNvPicPr>
            <a:picLocks noChangeAspect="1"/>
          </p:cNvPicPr>
          <p:nvPr/>
        </p:nvPicPr>
        <p:blipFill>
          <a:blip r:embed="rId1"/>
          <a:stretch>
            <a:fillRect/>
          </a:stretch>
        </p:blipFill>
        <p:spPr>
          <a:xfrm>
            <a:off x="6875922" y="4059570"/>
            <a:ext cx="201900" cy="201900"/>
          </a:xfrm>
          <a:prstGeom prst="rect">
            <a:avLst/>
          </a:prstGeom>
        </p:spPr>
      </p:pic>
      <p:sp>
        <p:nvSpPr>
          <p:cNvPr id="24" name="Text 19"/>
          <p:cNvSpPr txBox="1"/>
          <p:nvPr/>
        </p:nvSpPr>
        <p:spPr>
          <a:xfrm>
            <a:off x="7296912" y="3931920"/>
            <a:ext cx="4206240" cy="457200"/>
          </a:xfrm>
          <a:prstGeom prst="rect">
            <a:avLst/>
          </a:prstGeom>
          <a:noFill/>
          <a:ln/>
        </p:spPr>
        <p:txBody>
          <a:bodyPr wrap="square" lIns="0" tIns="0" rIns="0" bIns="0" rtlCol="0" anchor="ctr"/>
          <a:lstStyle/>
          <a:p>
            <a:pPr indent="0" marL="0">
              <a:buNone/>
            </a:pPr>
            <a:r>
              <a:rPr lang="en-US" sz="1600" b="1" dirty="0">
                <a:solidFill>
                  <a:schemeClr val="tx2"/>
                </a:solidFill>
              </a:rPr>
              <a:t>Why it matters</a:t>
            </a:r>
            <a:endParaRPr lang="en-US" sz="1600" dirty="0"/>
          </a:p>
        </p:txBody>
      </p:sp>
      <p:sp>
        <p:nvSpPr>
          <p:cNvPr id="25" name="Text 20"/>
          <p:cNvSpPr txBox="1"/>
          <p:nvPr/>
        </p:nvSpPr>
        <p:spPr>
          <a:xfrm>
            <a:off x="6766560" y="4480560"/>
            <a:ext cx="4690872"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Temperature changes in the atmosphere depend on heat capacity</a:t>
            </a:r>
            <a:endParaRPr lang="en-US" sz="1300" dirty="0"/>
          </a:p>
          <a:p>
            <a:pPr marL="177800" indent="-177800">
              <a:spcAft>
                <a:spcPts val="400"/>
              </a:spcAft>
              <a:buSzPct val="100000"/>
              <a:buChar char="•"/>
            </a:pPr>
            <a:r>
              <a:rPr lang="en-US" sz="1300" dirty="0">
                <a:solidFill>
                  <a:schemeClr val="tx1"/>
                </a:solidFill>
              </a:rPr>
              <a:t>Ocean ≫ land ≫ air → land heats faster in summer</a:t>
            </a:r>
            <a:endParaRPr lang="en-US" sz="1300" dirty="0"/>
          </a:p>
          <a:p>
            <a:pPr marL="177800" indent="-177800">
              <a:spcAft>
                <a:spcPts val="400"/>
              </a:spcAft>
              <a:buSzPct val="100000"/>
              <a:buChar char="•"/>
            </a:pPr>
            <a:r>
              <a:rPr lang="en-US" sz="1300" dirty="0">
                <a:solidFill>
                  <a:schemeClr val="tx1"/>
                </a:solidFill>
              </a:rPr>
              <a:t>→ land–sea thermal contrast → </a:t>
            </a:r>
            <a:r>
              <a:rPr lang="en-US" sz="1300" b="1" dirty="0">
                <a:solidFill>
                  <a:schemeClr val="tx1"/>
                </a:solidFill>
              </a:rPr>
              <a:t>monsoon</a:t>
            </a:r>
            <a:r>
              <a:rPr lang="en-US" sz="1300" dirty="0">
                <a:solidFill>
                  <a:schemeClr val="tx1"/>
                </a:solidFill>
              </a:rPr>
              <a:t>, sea breeze</a:t>
            </a:r>
            <a:endParaRPr lang="en-US" sz="1300" dirty="0"/>
          </a:p>
        </p:txBody>
      </p:sp>
      <p:sp>
        <p:nvSpPr>
          <p:cNvPr id="26" name="Text 21"/>
          <p:cNvSpPr txBox="1"/>
          <p:nvPr/>
        </p:nvSpPr>
        <p:spPr>
          <a:xfrm>
            <a:off x="548640" y="4846320"/>
            <a:ext cx="5760720" cy="457200"/>
          </a:xfrm>
          <a:prstGeom prst="rect">
            <a:avLst/>
          </a:prstGeom>
          <a:noFill/>
          <a:ln/>
        </p:spPr>
        <p:txBody>
          <a:bodyPr wrap="square" lIns="508" tIns="508" rIns="508" bIns="508" rtlCol="0" anchor="t"/>
          <a:lstStyle/>
          <a:p>
            <a:pPr indent="0" marL="0">
              <a:spcAft>
                <a:spcPts val="600"/>
              </a:spcAft>
              <a:buNone/>
            </a:pPr>
            <a:r>
              <a:rPr lang="en-US" sz="1300" i="1" dirty="0">
                <a:solidFill>
                  <a:schemeClr val="accent6"/>
                </a:solidFill>
              </a:rPr>
              <a:t>1 calorie = heat that warms 1 g of water by 1 °C (at 15 °C) = 4.186 J</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Gas law &amp; virtual temperature</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How pressure, density and temperature are tied together — and why moist air is lighter than dry air</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02</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equation of state (gas law)</a:t>
            </a:r>
            <a:endParaRPr lang="en-US" sz="3200" dirty="0"/>
          </a:p>
        </p:txBody>
      </p:sp>
      <p:sp>
        <p:nvSpPr>
          <p:cNvPr id="4" name="card"/>
          <p:cNvSpPr/>
          <p:nvPr/>
        </p:nvSpPr>
        <p:spPr>
          <a:xfrm>
            <a:off x="548640" y="1371600"/>
            <a:ext cx="3566160" cy="1097280"/>
          </a:xfrm>
          <a:prstGeom prst="roundRect">
            <a:avLst>
              <a:gd name="adj" fmla="val 6667"/>
            </a:avLst>
          </a:prstGeom>
          <a:solidFill>
            <a:schemeClr val="tx2"/>
          </a:solidFill>
          <a:ln/>
          <a:effectLst>
            <a:outerShdw sx="100000" sy="100000" kx="0" ky="0" algn="bl" rotWithShape="0" blurRad="76200" dist="25400" dir="5400000">
              <a:srgbClr val="000000">
                <a:alpha val="14000"/>
              </a:srgbClr>
            </a:outerShdw>
          </a:effectLst>
        </p:spPr>
      </p:sp>
      <p:sp>
        <p:nvSpPr>
          <p:cNvPr id="5" name="Text 2"/>
          <p:cNvSpPr txBox="1"/>
          <p:nvPr/>
        </p:nvSpPr>
        <p:spPr>
          <a:xfrm>
            <a:off x="685800" y="1371600"/>
            <a:ext cx="3291840" cy="1097280"/>
          </a:xfrm>
          <a:prstGeom prst="rect">
            <a:avLst/>
          </a:prstGeom>
          <a:noFill/>
          <a:ln/>
        </p:spPr>
        <p:txBody>
          <a:bodyPr wrap="square" lIns="0" tIns="0" rIns="0" bIns="0" rtlCol="0" anchor="ctr"/>
          <a:lstStyle/>
          <a:p>
            <a:pPr algn="ctr" indent="0" marL="0">
              <a:buNone/>
            </a:pPr>
            <a:r>
              <a:rPr lang="en-US" sz="2600" b="1" dirty="0">
                <a:solidFill>
                  <a:schemeClr val="bg1"/>
                </a:solidFill>
              </a:rPr>
              <a:t>PV = nRT</a:t>
            </a:r>
            <a:endParaRPr lang="en-US" sz="2600" dirty="0"/>
          </a:p>
        </p:txBody>
      </p:sp>
      <p:sp>
        <p:nvSpPr>
          <p:cNvPr id="6" name="card"/>
          <p:cNvSpPr/>
          <p:nvPr/>
        </p:nvSpPr>
        <p:spPr>
          <a:xfrm>
            <a:off x="4315968" y="1371600"/>
            <a:ext cx="3566160" cy="1097280"/>
          </a:xfrm>
          <a:prstGeom prst="roundRect">
            <a:avLst>
              <a:gd name="adj" fmla="val 6667"/>
            </a:avLst>
          </a:prstGeom>
          <a:solidFill>
            <a:schemeClr val="accent2"/>
          </a:solidFill>
          <a:ln/>
          <a:effectLst>
            <a:outerShdw sx="100000" sy="100000" kx="0" ky="0" algn="bl" rotWithShape="0" blurRad="76200" dist="25400" dir="5400000">
              <a:srgbClr val="000000">
                <a:alpha val="14000"/>
              </a:srgbClr>
            </a:outerShdw>
          </a:effectLst>
        </p:spPr>
      </p:sp>
      <p:sp>
        <p:nvSpPr>
          <p:cNvPr id="7" name="Text 4"/>
          <p:cNvSpPr txBox="1"/>
          <p:nvPr/>
        </p:nvSpPr>
        <p:spPr>
          <a:xfrm>
            <a:off x="4453128" y="1371600"/>
            <a:ext cx="3291840" cy="1097280"/>
          </a:xfrm>
          <a:prstGeom prst="rect">
            <a:avLst/>
          </a:prstGeom>
          <a:noFill/>
          <a:ln/>
        </p:spPr>
        <p:txBody>
          <a:bodyPr wrap="square" lIns="0" tIns="0" rIns="0" bIns="0" rtlCol="0" anchor="ctr"/>
          <a:lstStyle/>
          <a:p>
            <a:pPr algn="ctr" indent="0" marL="0">
              <a:buNone/>
            </a:pPr>
            <a:r>
              <a:rPr lang="en-US" sz="2600" b="1" dirty="0">
                <a:solidFill>
                  <a:schemeClr val="bg1"/>
                </a:solidFill>
              </a:rPr>
              <a:t>P = ρ R T</a:t>
            </a:r>
            <a:endParaRPr lang="en-US" sz="2600" dirty="0"/>
          </a:p>
        </p:txBody>
      </p:sp>
      <p:sp>
        <p:nvSpPr>
          <p:cNvPr id="8" name="card"/>
          <p:cNvSpPr/>
          <p:nvPr/>
        </p:nvSpPr>
        <p:spPr>
          <a:xfrm>
            <a:off x="8083296" y="1371600"/>
            <a:ext cx="3557016" cy="1097280"/>
          </a:xfrm>
          <a:prstGeom prst="roundRect">
            <a:avLst>
              <a:gd name="adj" fmla="val 6667"/>
            </a:avLst>
          </a:prstGeom>
          <a:solidFill>
            <a:schemeClr val="accent1"/>
          </a:solidFill>
          <a:ln/>
          <a:effectLst>
            <a:outerShdw sx="100000" sy="100000" kx="0" ky="0" algn="bl" rotWithShape="0" blurRad="76200" dist="25400" dir="5400000">
              <a:srgbClr val="000000">
                <a:alpha val="14000"/>
              </a:srgbClr>
            </a:outerShdw>
          </a:effectLst>
        </p:spPr>
      </p:sp>
      <p:sp>
        <p:nvSpPr>
          <p:cNvPr id="9" name="Text 6"/>
          <p:cNvSpPr txBox="1"/>
          <p:nvPr/>
        </p:nvSpPr>
        <p:spPr>
          <a:xfrm>
            <a:off x="8220456" y="1371600"/>
            <a:ext cx="3282696" cy="1097280"/>
          </a:xfrm>
          <a:prstGeom prst="rect">
            <a:avLst/>
          </a:prstGeom>
          <a:noFill/>
          <a:ln/>
        </p:spPr>
        <p:txBody>
          <a:bodyPr wrap="square" lIns="0" tIns="0" rIns="0" bIns="0" rtlCol="0" anchor="ctr"/>
          <a:lstStyle/>
          <a:p>
            <a:pPr algn="ctr" indent="0" marL="0">
              <a:buNone/>
            </a:pPr>
            <a:r>
              <a:rPr lang="en-US" sz="2600" b="1" dirty="0">
                <a:solidFill>
                  <a:schemeClr val="bg1"/>
                </a:solidFill>
              </a:rPr>
              <a:t>P α = R T</a:t>
            </a:r>
            <a:endParaRPr lang="en-US" sz="2600" dirty="0"/>
          </a:p>
        </p:txBody>
      </p:sp>
      <p:sp>
        <p:nvSpPr>
          <p:cNvPr id="10" name="Text 7"/>
          <p:cNvSpPr txBox="1"/>
          <p:nvPr/>
        </p:nvSpPr>
        <p:spPr>
          <a:xfrm>
            <a:off x="548640" y="2514600"/>
            <a:ext cx="3566160" cy="274320"/>
          </a:xfrm>
          <a:prstGeom prst="rect">
            <a:avLst/>
          </a:prstGeom>
          <a:noFill/>
          <a:ln/>
        </p:spPr>
        <p:txBody>
          <a:bodyPr wrap="square" lIns="0" tIns="0" rIns="0" bIns="0" rtlCol="0" anchor="ctr"/>
          <a:lstStyle/>
          <a:p>
            <a:pPr algn="ctr" indent="0" marL="0">
              <a:buNone/>
            </a:pPr>
            <a:r>
              <a:rPr lang="en-US" sz="1200" i="1" dirty="0">
                <a:solidFill>
                  <a:schemeClr val="accent6"/>
                </a:solidFill>
              </a:rPr>
              <a:t>chemistry form (n moles)</a:t>
            </a:r>
            <a:endParaRPr lang="en-US" sz="1200" dirty="0"/>
          </a:p>
        </p:txBody>
      </p:sp>
      <p:sp>
        <p:nvSpPr>
          <p:cNvPr id="11" name="Text 8"/>
          <p:cNvSpPr txBox="1"/>
          <p:nvPr/>
        </p:nvSpPr>
        <p:spPr>
          <a:xfrm>
            <a:off x="4315968" y="2514600"/>
            <a:ext cx="3566160" cy="274320"/>
          </a:xfrm>
          <a:prstGeom prst="rect">
            <a:avLst/>
          </a:prstGeom>
          <a:noFill/>
          <a:ln/>
        </p:spPr>
        <p:txBody>
          <a:bodyPr wrap="square" lIns="0" tIns="0" rIns="0" bIns="0" rtlCol="0" anchor="ctr"/>
          <a:lstStyle/>
          <a:p>
            <a:pPr algn="ctr" indent="0" marL="0">
              <a:buNone/>
            </a:pPr>
            <a:r>
              <a:rPr lang="en-US" sz="1200" i="1" dirty="0">
                <a:solidFill>
                  <a:schemeClr val="accent6"/>
                </a:solidFill>
              </a:rPr>
              <a:t>per unit mass, density ρ</a:t>
            </a:r>
            <a:endParaRPr lang="en-US" sz="1200" dirty="0"/>
          </a:p>
        </p:txBody>
      </p:sp>
      <p:sp>
        <p:nvSpPr>
          <p:cNvPr id="12" name="Text 9"/>
          <p:cNvSpPr txBox="1"/>
          <p:nvPr/>
        </p:nvSpPr>
        <p:spPr>
          <a:xfrm>
            <a:off x="8083296" y="2514600"/>
            <a:ext cx="3557016" cy="274320"/>
          </a:xfrm>
          <a:prstGeom prst="rect">
            <a:avLst/>
          </a:prstGeom>
          <a:noFill/>
          <a:ln/>
        </p:spPr>
        <p:txBody>
          <a:bodyPr wrap="square" lIns="0" tIns="0" rIns="0" bIns="0" rtlCol="0" anchor="ctr"/>
          <a:lstStyle/>
          <a:p>
            <a:pPr algn="ctr" indent="0" marL="0">
              <a:buNone/>
            </a:pPr>
            <a:r>
              <a:rPr lang="en-US" sz="1200" i="1" dirty="0">
                <a:solidFill>
                  <a:schemeClr val="accent6"/>
                </a:solidFill>
              </a:rPr>
              <a:t>specific volume α = 1/ρ = V</a:t>
            </a:r>
            <a:r>
              <a:rPr lang="en-US" sz="1200" i="1" baseline="-40000" dirty="0">
                <a:solidFill>
                  <a:schemeClr val="accent6"/>
                </a:solidFill>
              </a:rPr>
              <a:t>sp</a:t>
            </a:r>
            <a:endParaRPr lang="en-US" sz="1200" dirty="0"/>
          </a:p>
        </p:txBody>
      </p:sp>
      <p:sp>
        <p:nvSpPr>
          <p:cNvPr id="13" name="card"/>
          <p:cNvSpPr/>
          <p:nvPr/>
        </p:nvSpPr>
        <p:spPr>
          <a:xfrm>
            <a:off x="548640" y="3017520"/>
            <a:ext cx="3566160" cy="3154680"/>
          </a:xfrm>
          <a:prstGeom prst="roundRect">
            <a:avLst>
              <a:gd name="adj" fmla="val 2319"/>
            </a:avLst>
          </a:prstGeom>
          <a:solidFill>
            <a:schemeClr val="bg2"/>
          </a:solidFill>
          <a:ln/>
          <a:effectLst>
            <a:outerShdw sx="100000" sy="100000" kx="0" ky="0" algn="bl" rotWithShape="0" blurRad="76200" dist="25400" dir="5400000">
              <a:srgbClr val="000000">
                <a:alpha val="14000"/>
              </a:srgbClr>
            </a:outerShdw>
          </a:effectLst>
        </p:spPr>
      </p:sp>
      <p:sp>
        <p:nvSpPr>
          <p:cNvPr id="14" name="Text 11"/>
          <p:cNvSpPr txBox="1"/>
          <p:nvPr/>
        </p:nvSpPr>
        <p:spPr>
          <a:xfrm>
            <a:off x="731520" y="3154680"/>
            <a:ext cx="3246120" cy="365760"/>
          </a:xfrm>
          <a:prstGeom prst="rect">
            <a:avLst/>
          </a:prstGeom>
          <a:noFill/>
          <a:ln/>
        </p:spPr>
        <p:txBody>
          <a:bodyPr wrap="square" lIns="0" tIns="0" rIns="0" bIns="0" rtlCol="0" anchor="ctr"/>
          <a:lstStyle/>
          <a:p>
            <a:pPr indent="0" marL="0">
              <a:buNone/>
            </a:pPr>
            <a:r>
              <a:rPr lang="en-US" sz="1600" b="1" dirty="0">
                <a:solidFill>
                  <a:schemeClr val="tx2"/>
                </a:solidFill>
              </a:rPr>
              <a:t>Symbols</a:t>
            </a:r>
            <a:endParaRPr lang="en-US" sz="1600" dirty="0"/>
          </a:p>
        </p:txBody>
      </p:sp>
      <p:sp>
        <p:nvSpPr>
          <p:cNvPr id="15" name="Text 12"/>
          <p:cNvSpPr txBox="1"/>
          <p:nvPr/>
        </p:nvSpPr>
        <p:spPr>
          <a:xfrm>
            <a:off x="731520" y="3566160"/>
            <a:ext cx="3200400" cy="25146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P pressure (Pa or hPa = mb)</a:t>
            </a:r>
            <a:endParaRPr lang="en-US" sz="1300" dirty="0"/>
          </a:p>
          <a:p>
            <a:pPr marL="177800" indent="-177800">
              <a:spcAft>
                <a:spcPts val="400"/>
              </a:spcAft>
              <a:buSzPct val="100000"/>
              <a:buChar char="•"/>
            </a:pPr>
            <a:r>
              <a:rPr lang="en-US" sz="1300" dirty="0">
                <a:solidFill>
                  <a:schemeClr val="tx1"/>
                </a:solidFill>
              </a:rPr>
              <a:t>ρ density (kg/m³), α = 1/ρ</a:t>
            </a:r>
            <a:endParaRPr lang="en-US" sz="1300" dirty="0"/>
          </a:p>
          <a:p>
            <a:pPr marL="177800" indent="-177800">
              <a:spcAft>
                <a:spcPts val="400"/>
              </a:spcAft>
              <a:buSzPct val="100000"/>
              <a:buChar char="•"/>
            </a:pPr>
            <a:r>
              <a:rPr lang="en-US" sz="1300" dirty="0">
                <a:solidFill>
                  <a:schemeClr val="tx1"/>
                </a:solidFill>
              </a:rPr>
              <a:t>T absolute temperature (K)</a:t>
            </a:r>
            <a:endParaRPr lang="en-US" sz="1300" dirty="0"/>
          </a:p>
          <a:p>
            <a:pPr marL="177800" indent="-177800">
              <a:spcAft>
                <a:spcPts val="400"/>
              </a:spcAft>
              <a:buSzPct val="100000"/>
              <a:buChar char="•"/>
            </a:pPr>
            <a:r>
              <a:rPr lang="en-US" sz="1300" dirty="0">
                <a:solidFill>
                  <a:schemeClr val="tx1"/>
                </a:solidFill>
              </a:rPr>
              <a:t>R</a:t>
            </a:r>
            <a:r>
              <a:rPr lang="en-US" sz="1300" baseline="-40000" dirty="0">
                <a:solidFill>
                  <a:schemeClr val="tx1"/>
                </a:solidFill>
              </a:rPr>
              <a:t>d</a:t>
            </a:r>
            <a:r>
              <a:rPr lang="en-US" sz="1300" dirty="0">
                <a:solidFill>
                  <a:schemeClr val="tx1"/>
                </a:solidFill>
              </a:rPr>
              <a:t> = 287 J kg⁻¹ K⁻¹ (dry air)</a:t>
            </a:r>
            <a:endParaRPr lang="en-US" sz="1300" dirty="0"/>
          </a:p>
        </p:txBody>
      </p:sp>
      <p:sp>
        <p:nvSpPr>
          <p:cNvPr id="16" name="card"/>
          <p:cNvSpPr/>
          <p:nvPr/>
        </p:nvSpPr>
        <p:spPr>
          <a:xfrm>
            <a:off x="4315968" y="3017520"/>
            <a:ext cx="3566160" cy="3154680"/>
          </a:xfrm>
          <a:prstGeom prst="roundRect">
            <a:avLst>
              <a:gd name="adj" fmla="val 2319"/>
            </a:avLst>
          </a:prstGeom>
          <a:solidFill>
            <a:schemeClr val="bg2"/>
          </a:solidFill>
          <a:ln/>
          <a:effectLst>
            <a:outerShdw sx="100000" sy="100000" kx="0" ky="0" algn="bl" rotWithShape="0" blurRad="76200" dist="25400" dir="5400000">
              <a:srgbClr val="000000">
                <a:alpha val="14000"/>
              </a:srgbClr>
            </a:outerShdw>
          </a:effectLst>
        </p:spPr>
      </p:sp>
      <p:sp>
        <p:nvSpPr>
          <p:cNvPr id="17" name="icon circle"/>
          <p:cNvSpPr/>
          <p:nvPr/>
        </p:nvSpPr>
        <p:spPr>
          <a:xfrm>
            <a:off x="4498848" y="3172968"/>
            <a:ext cx="420624" cy="420624"/>
          </a:xfrm>
          <a:prstGeom prst="ellipse">
            <a:avLst/>
          </a:prstGeom>
          <a:solidFill>
            <a:schemeClr val="accent2"/>
          </a:solidFill>
          <a:ln/>
        </p:spPr>
      </p:sp>
      <p:pic>
        <p:nvPicPr>
          <p:cNvPr id="18" name="Image 0" descr="Expand icon">    </p:cNvPr>
          <p:cNvPicPr>
            <a:picLocks noChangeAspect="1"/>
          </p:cNvPicPr>
          <p:nvPr/>
        </p:nvPicPr>
        <p:blipFill>
          <a:blip r:embed="rId1"/>
          <a:stretch>
            <a:fillRect/>
          </a:stretch>
        </p:blipFill>
        <p:spPr>
          <a:xfrm>
            <a:off x="4608210" y="3282330"/>
            <a:ext cx="201900" cy="201900"/>
          </a:xfrm>
          <a:prstGeom prst="rect">
            <a:avLst/>
          </a:prstGeom>
        </p:spPr>
      </p:pic>
      <p:sp>
        <p:nvSpPr>
          <p:cNvPr id="19" name="Text 15"/>
          <p:cNvSpPr txBox="1"/>
          <p:nvPr/>
        </p:nvSpPr>
        <p:spPr>
          <a:xfrm>
            <a:off x="5029200" y="315468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Consequences</a:t>
            </a:r>
            <a:endParaRPr lang="en-US" sz="1600" dirty="0"/>
          </a:p>
        </p:txBody>
      </p:sp>
      <p:sp>
        <p:nvSpPr>
          <p:cNvPr id="20" name="Text 16"/>
          <p:cNvSpPr txBox="1"/>
          <p:nvPr/>
        </p:nvSpPr>
        <p:spPr>
          <a:xfrm>
            <a:off x="4498848" y="3703320"/>
            <a:ext cx="3200400" cy="237744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P α ∝ T (lecture: P · V</a:t>
            </a:r>
            <a:r>
              <a:rPr lang="en-US" sz="1300" baseline="-40000" dirty="0">
                <a:solidFill>
                  <a:schemeClr val="tx1"/>
                </a:solidFill>
              </a:rPr>
              <a:t>sp</a:t>
            </a:r>
            <a:r>
              <a:rPr lang="en-US" sz="1300" dirty="0">
                <a:solidFill>
                  <a:schemeClr val="tx1"/>
                </a:solidFill>
              </a:rPr>
              <a:t> ∝ T)</a:t>
            </a:r>
            <a:endParaRPr lang="en-US" sz="1300" dirty="0"/>
          </a:p>
          <a:p>
            <a:pPr marL="177800" indent="-177800">
              <a:spcAft>
                <a:spcPts val="400"/>
              </a:spcAft>
              <a:buSzPct val="100000"/>
              <a:buChar char="•"/>
            </a:pPr>
            <a:r>
              <a:rPr lang="en-US" sz="1300" dirty="0">
                <a:solidFill>
                  <a:schemeClr val="tx1"/>
                </a:solidFill>
              </a:rPr>
              <a:t>At equal P: warmer air → larger α → lighter</a:t>
            </a:r>
            <a:endParaRPr lang="en-US" sz="1300" dirty="0"/>
          </a:p>
          <a:p>
            <a:pPr marL="177800" indent="-177800">
              <a:spcAft>
                <a:spcPts val="400"/>
              </a:spcAft>
              <a:buSzPct val="100000"/>
              <a:buChar char="•"/>
            </a:pPr>
            <a:r>
              <a:rPr lang="en-US" sz="1300" dirty="0">
                <a:solidFill>
                  <a:schemeClr val="tx1"/>
                </a:solidFill>
              </a:rPr>
              <a:t>Pressure falls with height → rising parcel expands</a:t>
            </a:r>
            <a:endParaRPr lang="en-US" sz="1300" dirty="0"/>
          </a:p>
        </p:txBody>
      </p:sp>
      <p:sp>
        <p:nvSpPr>
          <p:cNvPr id="21" name="card"/>
          <p:cNvSpPr/>
          <p:nvPr/>
        </p:nvSpPr>
        <p:spPr>
          <a:xfrm>
            <a:off x="8083296" y="3017520"/>
            <a:ext cx="3557016" cy="3154680"/>
          </a:xfrm>
          <a:prstGeom prst="roundRect">
            <a:avLst>
              <a:gd name="adj" fmla="val 2319"/>
            </a:avLst>
          </a:prstGeom>
          <a:solidFill>
            <a:schemeClr val="bg2"/>
          </a:solidFill>
          <a:ln/>
          <a:effectLst>
            <a:outerShdw sx="100000" sy="100000" kx="0" ky="0" algn="bl" rotWithShape="0" blurRad="76200" dist="25400" dir="5400000">
              <a:srgbClr val="000000">
                <a:alpha val="14000"/>
              </a:srgbClr>
            </a:outerShdw>
          </a:effectLst>
        </p:spPr>
      </p:sp>
      <p:sp>
        <p:nvSpPr>
          <p:cNvPr id="22" name="icon circle"/>
          <p:cNvSpPr/>
          <p:nvPr/>
        </p:nvSpPr>
        <p:spPr>
          <a:xfrm>
            <a:off x="8266176" y="3172968"/>
            <a:ext cx="420624" cy="420624"/>
          </a:xfrm>
          <a:prstGeom prst="ellipse">
            <a:avLst/>
          </a:prstGeom>
          <a:solidFill>
            <a:schemeClr val="accent3"/>
          </a:solidFill>
          <a:ln/>
        </p:spPr>
      </p:sp>
      <p:pic>
        <p:nvPicPr>
          <p:cNvPr id="23" name="Image 1" descr="Calculator icon">    </p:cNvPr>
          <p:cNvPicPr>
            <a:picLocks noChangeAspect="1"/>
          </p:cNvPicPr>
          <p:nvPr/>
        </p:nvPicPr>
        <p:blipFill>
          <a:blip r:embed="rId2"/>
          <a:stretch>
            <a:fillRect/>
          </a:stretch>
        </p:blipFill>
        <p:spPr>
          <a:xfrm>
            <a:off x="8375538" y="3282330"/>
            <a:ext cx="201900" cy="201900"/>
          </a:xfrm>
          <a:prstGeom prst="rect">
            <a:avLst/>
          </a:prstGeom>
        </p:spPr>
      </p:pic>
      <p:sp>
        <p:nvSpPr>
          <p:cNvPr id="24" name="Text 19"/>
          <p:cNvSpPr txBox="1"/>
          <p:nvPr/>
        </p:nvSpPr>
        <p:spPr>
          <a:xfrm>
            <a:off x="8796528" y="3154680"/>
            <a:ext cx="2706624" cy="457200"/>
          </a:xfrm>
          <a:prstGeom prst="rect">
            <a:avLst/>
          </a:prstGeom>
          <a:noFill/>
          <a:ln/>
        </p:spPr>
        <p:txBody>
          <a:bodyPr wrap="square" lIns="0" tIns="0" rIns="0" bIns="0" rtlCol="0" anchor="ctr"/>
          <a:lstStyle/>
          <a:p>
            <a:pPr indent="0" marL="0">
              <a:buNone/>
            </a:pPr>
            <a:r>
              <a:rPr lang="en-US" sz="1600" b="1" dirty="0">
                <a:solidFill>
                  <a:schemeClr val="tx2"/>
                </a:solidFill>
              </a:rPr>
              <a:t>Quick check</a:t>
            </a:r>
            <a:endParaRPr lang="en-US" sz="1600" dirty="0"/>
          </a:p>
        </p:txBody>
      </p:sp>
      <p:sp>
        <p:nvSpPr>
          <p:cNvPr id="25" name="Text 20"/>
          <p:cNvSpPr txBox="1"/>
          <p:nvPr/>
        </p:nvSpPr>
        <p:spPr>
          <a:xfrm>
            <a:off x="8266176" y="3703320"/>
            <a:ext cx="3191256" cy="23774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Sea level: P = 101 325 Pa, T = 288 K</a:t>
            </a:r>
            <a:endParaRPr lang="en-US" sz="1300" dirty="0"/>
          </a:p>
          <a:p>
            <a:pPr indent="0" marL="0">
              <a:spcAft>
                <a:spcPts val="400"/>
              </a:spcAft>
              <a:buNone/>
            </a:pPr>
            <a:r>
              <a:rPr lang="en-US" sz="1300" dirty="0">
                <a:solidFill>
                  <a:schemeClr val="tx1"/>
                </a:solidFill>
              </a:rPr>
              <a:t>ρ = P/(RT) = 101 325/(287 × 288)</a:t>
            </a:r>
            <a:endParaRPr lang="en-US" sz="1300" dirty="0"/>
          </a:p>
          <a:p>
            <a:pPr indent="0" marL="0">
              <a:spcAft>
                <a:spcPts val="400"/>
              </a:spcAft>
              <a:buNone/>
            </a:pPr>
            <a:r>
              <a:rPr lang="en-US" sz="1400" b="1" dirty="0">
                <a:solidFill>
                  <a:schemeClr val="accent1"/>
                </a:solidFill>
              </a:rPr>
              <a:t>ρ ≈ 1.23 kg/m³</a:t>
            </a:r>
            <a:r>
              <a:rPr lang="en-US" sz="1400" dirty="0">
                <a:solidFill>
                  <a:schemeClr val="accent1"/>
                </a:solidFill>
              </a:rPr>
              <a:t> ✓</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Virtual temperature: accounting for water vapour</a:t>
            </a:r>
            <a:endParaRPr lang="en-US" sz="3200" dirty="0"/>
          </a:p>
        </p:txBody>
      </p:sp>
      <p:sp>
        <p:nvSpPr>
          <p:cNvPr id="4" name="card"/>
          <p:cNvSpPr/>
          <p:nvPr/>
        </p:nvSpPr>
        <p:spPr>
          <a:xfrm>
            <a:off x="548640" y="1371600"/>
            <a:ext cx="5440680" cy="2194560"/>
          </a:xfrm>
          <a:prstGeom prst="roundRect">
            <a:avLst>
              <a:gd name="adj" fmla="val 3333"/>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777240" y="1463040"/>
            <a:ext cx="5029200" cy="411480"/>
          </a:xfrm>
          <a:prstGeom prst="rect">
            <a:avLst/>
          </a:prstGeom>
          <a:noFill/>
          <a:ln/>
        </p:spPr>
        <p:txBody>
          <a:bodyPr wrap="square" lIns="0" tIns="0" rIns="0" bIns="0" rtlCol="0" anchor="ctr"/>
          <a:lstStyle/>
          <a:p>
            <a:pPr algn="l" indent="0" marL="0">
              <a:buNone/>
            </a:pPr>
            <a:r>
              <a:rPr lang="en-US" sz="1600" b="1" dirty="0">
                <a:solidFill>
                  <a:schemeClr val="tx2"/>
                </a:solidFill>
              </a:rPr>
              <a:t>Moist air is lighter than dry air</a:t>
            </a:r>
            <a:endParaRPr lang="en-US" sz="1600" dirty="0"/>
          </a:p>
        </p:txBody>
      </p:sp>
      <p:sp>
        <p:nvSpPr>
          <p:cNvPr id="6" name="molecule"/>
          <p:cNvSpPr/>
          <p:nvPr/>
        </p:nvSpPr>
        <p:spPr>
          <a:xfrm>
            <a:off x="1280160" y="1965960"/>
            <a:ext cx="914400" cy="914400"/>
          </a:xfrm>
          <a:prstGeom prst="ellipse">
            <a:avLst/>
          </a:prstGeom>
          <a:solidFill>
            <a:schemeClr val="accent2"/>
          </a:solidFill>
          <a:ln/>
        </p:spPr>
      </p:sp>
      <p:sp>
        <p:nvSpPr>
          <p:cNvPr id="7" name="Text 4"/>
          <p:cNvSpPr txBox="1"/>
          <p:nvPr/>
        </p:nvSpPr>
        <p:spPr>
          <a:xfrm>
            <a:off x="1005840" y="1965960"/>
            <a:ext cx="1463040" cy="502920"/>
          </a:xfrm>
          <a:prstGeom prst="rect">
            <a:avLst/>
          </a:prstGeom>
          <a:noFill/>
          <a:ln/>
        </p:spPr>
        <p:txBody>
          <a:bodyPr wrap="square" lIns="0" tIns="0" rIns="0" bIns="0" rtlCol="0" anchor="ctr"/>
          <a:lstStyle/>
          <a:p>
            <a:pPr algn="ctr" indent="0" marL="0">
              <a:buNone/>
            </a:pPr>
            <a:r>
              <a:rPr lang="en-US" sz="1300" b="1" dirty="0">
                <a:solidFill>
                  <a:schemeClr val="bg1"/>
                </a:solidFill>
              </a:rPr>
              <a:t>H₂O</a:t>
            </a:r>
            <a:endParaRPr lang="en-US" sz="1300" dirty="0"/>
          </a:p>
        </p:txBody>
      </p:sp>
      <p:sp>
        <p:nvSpPr>
          <p:cNvPr id="8" name="Text 5"/>
          <p:cNvSpPr txBox="1"/>
          <p:nvPr/>
        </p:nvSpPr>
        <p:spPr>
          <a:xfrm>
            <a:off x="1005840" y="2377440"/>
            <a:ext cx="1463040" cy="411480"/>
          </a:xfrm>
          <a:prstGeom prst="rect">
            <a:avLst/>
          </a:prstGeom>
          <a:noFill/>
          <a:ln/>
        </p:spPr>
        <p:txBody>
          <a:bodyPr wrap="square" lIns="0" tIns="0" rIns="0" bIns="0" rtlCol="0" anchor="ctr"/>
          <a:lstStyle/>
          <a:p>
            <a:pPr algn="ctr" indent="0" marL="0">
              <a:buNone/>
            </a:pPr>
            <a:r>
              <a:rPr lang="en-US" sz="1100" dirty="0">
                <a:solidFill>
                  <a:schemeClr val="bg1"/>
                </a:solidFill>
              </a:rPr>
              <a:t>M = 18</a:t>
            </a:r>
            <a:endParaRPr lang="en-US" sz="1100" dirty="0"/>
          </a:p>
        </p:txBody>
      </p:sp>
      <p:sp>
        <p:nvSpPr>
          <p:cNvPr id="9" name="molecule"/>
          <p:cNvSpPr/>
          <p:nvPr/>
        </p:nvSpPr>
        <p:spPr>
          <a:xfrm>
            <a:off x="3840480" y="1965960"/>
            <a:ext cx="1234440" cy="1234440"/>
          </a:xfrm>
          <a:prstGeom prst="ellipse">
            <a:avLst/>
          </a:prstGeom>
          <a:solidFill>
            <a:schemeClr val="accent6"/>
          </a:solidFill>
          <a:ln/>
        </p:spPr>
      </p:sp>
      <p:sp>
        <p:nvSpPr>
          <p:cNvPr id="10" name="Text 7"/>
          <p:cNvSpPr txBox="1"/>
          <p:nvPr/>
        </p:nvSpPr>
        <p:spPr>
          <a:xfrm>
            <a:off x="3566160" y="1965960"/>
            <a:ext cx="1783080" cy="678942"/>
          </a:xfrm>
          <a:prstGeom prst="rect">
            <a:avLst/>
          </a:prstGeom>
          <a:noFill/>
          <a:ln/>
        </p:spPr>
        <p:txBody>
          <a:bodyPr wrap="square" lIns="0" tIns="0" rIns="0" bIns="0" rtlCol="0" anchor="ctr"/>
          <a:lstStyle/>
          <a:p>
            <a:pPr algn="ctr" indent="0" marL="0">
              <a:buNone/>
            </a:pPr>
            <a:r>
              <a:rPr lang="en-US" sz="1300" b="1" dirty="0">
                <a:solidFill>
                  <a:schemeClr val="bg1"/>
                </a:solidFill>
              </a:rPr>
              <a:t>dry air</a:t>
            </a:r>
            <a:endParaRPr lang="en-US" sz="1300" dirty="0"/>
          </a:p>
        </p:txBody>
      </p:sp>
      <p:sp>
        <p:nvSpPr>
          <p:cNvPr id="11" name="Text 8"/>
          <p:cNvSpPr txBox="1"/>
          <p:nvPr/>
        </p:nvSpPr>
        <p:spPr>
          <a:xfrm>
            <a:off x="3566160" y="2521458"/>
            <a:ext cx="1783080" cy="555498"/>
          </a:xfrm>
          <a:prstGeom prst="rect">
            <a:avLst/>
          </a:prstGeom>
          <a:noFill/>
          <a:ln/>
        </p:spPr>
        <p:txBody>
          <a:bodyPr wrap="square" lIns="0" tIns="0" rIns="0" bIns="0" rtlCol="0" anchor="ctr"/>
          <a:lstStyle/>
          <a:p>
            <a:pPr algn="ctr" indent="0" marL="0">
              <a:buNone/>
            </a:pPr>
            <a:r>
              <a:rPr lang="en-US" sz="1100" dirty="0">
                <a:solidFill>
                  <a:schemeClr val="bg1"/>
                </a:solidFill>
              </a:rPr>
              <a:t>M = 28.97</a:t>
            </a:r>
            <a:endParaRPr lang="en-US" sz="1100" dirty="0"/>
          </a:p>
        </p:txBody>
      </p:sp>
      <p:sp>
        <p:nvSpPr>
          <p:cNvPr id="12" name="Text 9"/>
          <p:cNvSpPr txBox="1"/>
          <p:nvPr/>
        </p:nvSpPr>
        <p:spPr>
          <a:xfrm>
            <a:off x="777240" y="3200400"/>
            <a:ext cx="5029200" cy="320040"/>
          </a:xfrm>
          <a:prstGeom prst="rect">
            <a:avLst/>
          </a:prstGeom>
          <a:noFill/>
          <a:ln/>
        </p:spPr>
        <p:txBody>
          <a:bodyPr wrap="square" lIns="508" tIns="508" rIns="508" bIns="508" rtlCol="0" anchor="t"/>
          <a:lstStyle/>
          <a:p>
            <a:pPr indent="0" marL="0">
              <a:spcAft>
                <a:spcPts val="600"/>
              </a:spcAft>
              <a:buNone/>
            </a:pPr>
            <a:r>
              <a:rPr lang="en-US" sz="1400" b="1" dirty="0">
                <a:solidFill>
                  <a:schemeClr val="accent1"/>
                </a:solidFill>
              </a:rPr>
              <a:t>ρ</a:t>
            </a:r>
            <a:r>
              <a:rPr lang="en-US" sz="1400" b="1" baseline="-40000" dirty="0">
                <a:solidFill>
                  <a:schemeClr val="accent1"/>
                </a:solidFill>
              </a:rPr>
              <a:t>moist</a:t>
            </a:r>
            <a:r>
              <a:rPr lang="en-US" sz="1400" b="1" dirty="0">
                <a:solidFill>
                  <a:schemeClr val="accent1"/>
                </a:solidFill>
              </a:rPr>
              <a:t> &lt; ρ</a:t>
            </a:r>
            <a:r>
              <a:rPr lang="en-US" sz="1400" b="1" baseline="-40000" dirty="0">
                <a:solidFill>
                  <a:schemeClr val="accent1"/>
                </a:solidFill>
              </a:rPr>
              <a:t>dry</a:t>
            </a:r>
            <a:r>
              <a:rPr lang="en-US" sz="1400" b="1" dirty="0">
                <a:solidFill>
                  <a:schemeClr val="accent1"/>
                </a:solidFill>
              </a:rPr>
              <a:t> → buoyancy</a:t>
            </a:r>
            <a:endParaRPr lang="en-US" sz="1400" dirty="0"/>
          </a:p>
        </p:txBody>
      </p:sp>
      <p:sp>
        <p:nvSpPr>
          <p:cNvPr id="13" name="card"/>
          <p:cNvSpPr/>
          <p:nvPr/>
        </p:nvSpPr>
        <p:spPr>
          <a:xfrm>
            <a:off x="6199632" y="1371600"/>
            <a:ext cx="5440680" cy="1005840"/>
          </a:xfrm>
          <a:prstGeom prst="roundRect">
            <a:avLst>
              <a:gd name="adj" fmla="val 7273"/>
            </a:avLst>
          </a:prstGeom>
          <a:solidFill>
            <a:schemeClr val="tx2"/>
          </a:solidFill>
          <a:ln/>
          <a:effectLst>
            <a:outerShdw sx="100000" sy="100000" kx="0" ky="0" algn="bl" rotWithShape="0" blurRad="76200" dist="25400" dir="5400000">
              <a:srgbClr val="000000">
                <a:alpha val="14000"/>
              </a:srgbClr>
            </a:outerShdw>
          </a:effectLst>
        </p:spPr>
      </p:sp>
      <p:sp>
        <p:nvSpPr>
          <p:cNvPr id="14" name="Text 11"/>
          <p:cNvSpPr txBox="1"/>
          <p:nvPr/>
        </p:nvSpPr>
        <p:spPr>
          <a:xfrm>
            <a:off x="6336792" y="1371600"/>
            <a:ext cx="5166360" cy="1005840"/>
          </a:xfrm>
          <a:prstGeom prst="rect">
            <a:avLst/>
          </a:prstGeom>
          <a:noFill/>
          <a:ln/>
        </p:spPr>
        <p:txBody>
          <a:bodyPr wrap="square" lIns="0" tIns="0" rIns="0" bIns="0" rtlCol="0" anchor="ctr"/>
          <a:lstStyle/>
          <a:p>
            <a:pPr algn="ctr" indent="0" marL="0">
              <a:buNone/>
            </a:pPr>
            <a:r>
              <a:rPr lang="en-US" sz="2100" b="1" dirty="0">
                <a:solidFill>
                  <a:schemeClr val="bg1"/>
                </a:solidFill>
              </a:rPr>
              <a:t>T</a:t>
            </a:r>
            <a:r>
              <a:rPr lang="en-US" sz="2100" b="1" baseline="-40000" dirty="0">
                <a:solidFill>
                  <a:schemeClr val="bg1"/>
                </a:solidFill>
              </a:rPr>
              <a:t>v</a:t>
            </a:r>
            <a:r>
              <a:rPr lang="en-US" sz="2100" b="1" dirty="0">
                <a:solidFill>
                  <a:schemeClr val="bg1"/>
                </a:solidFill>
              </a:rPr>
              <a:t> = T (1 + 0.61 q)  ≈  T / (1 − 0.6 q)</a:t>
            </a:r>
            <a:endParaRPr lang="en-US" sz="2100" dirty="0"/>
          </a:p>
        </p:txBody>
      </p:sp>
      <p:sp>
        <p:nvSpPr>
          <p:cNvPr id="15" name="Text 12"/>
          <p:cNvSpPr txBox="1"/>
          <p:nvPr/>
        </p:nvSpPr>
        <p:spPr>
          <a:xfrm>
            <a:off x="6199632" y="2423160"/>
            <a:ext cx="5440680" cy="685800"/>
          </a:xfrm>
          <a:prstGeom prst="rect">
            <a:avLst/>
          </a:prstGeom>
          <a:noFill/>
          <a:ln/>
        </p:spPr>
        <p:txBody>
          <a:bodyPr wrap="square" lIns="508" tIns="508" rIns="508" bIns="508" rtlCol="0" anchor="t"/>
          <a:lstStyle/>
          <a:p>
            <a:pPr indent="0" marL="0">
              <a:spcAft>
                <a:spcPts val="600"/>
              </a:spcAft>
              <a:buNone/>
            </a:pPr>
            <a:r>
              <a:rPr lang="en-US" sz="1200" dirty="0">
                <a:solidFill>
                  <a:schemeClr val="accent6"/>
                </a:solidFill>
              </a:rPr>
              <a:t>q = specific humidity = mass of water vapour per unit mass of moist air (kg/kg). Notes: T</a:t>
            </a:r>
            <a:r>
              <a:rPr lang="en-US" sz="1200" i="1" dirty="0">
                <a:solidFill>
                  <a:schemeClr val="accent6"/>
                </a:solidFill>
              </a:rPr>
              <a:t> = T / (1 − (3/5) q).</a:t>
            </a:r>
            <a:endParaRPr lang="en-US" sz="1200" dirty="0"/>
          </a:p>
        </p:txBody>
      </p:sp>
      <p:sp>
        <p:nvSpPr>
          <p:cNvPr id="16" name="card"/>
          <p:cNvSpPr/>
          <p:nvPr/>
        </p:nvSpPr>
        <p:spPr>
          <a:xfrm>
            <a:off x="6199632" y="3063240"/>
            <a:ext cx="5440680" cy="502920"/>
          </a:xfrm>
          <a:prstGeom prst="roundRect">
            <a:avLst>
              <a:gd name="adj" fmla="val 14545"/>
            </a:avLst>
          </a:prstGeom>
          <a:solidFill>
            <a:schemeClr val="bg2"/>
          </a:solidFill>
          <a:ln/>
        </p:spPr>
      </p:sp>
      <p:sp>
        <p:nvSpPr>
          <p:cNvPr id="17" name="Text 14"/>
          <p:cNvSpPr txBox="1"/>
          <p:nvPr/>
        </p:nvSpPr>
        <p:spPr>
          <a:xfrm>
            <a:off x="6382512" y="3200400"/>
            <a:ext cx="5120640" cy="365760"/>
          </a:xfrm>
          <a:prstGeom prst="rect">
            <a:avLst/>
          </a:prstGeom>
          <a:noFill/>
          <a:ln/>
        </p:spPr>
        <p:txBody>
          <a:bodyPr wrap="square" lIns="0" tIns="0" rIns="0" bIns="0" rtlCol="0" anchor="ctr"/>
          <a:lstStyle/>
          <a:p>
            <a:pPr indent="0" marL="0">
              <a:buNone/>
            </a:pPr>
            <a:r>
              <a:rPr lang="en-US" sz="1300" b="1" dirty="0">
                <a:solidFill>
                  <a:schemeClr val="tx2"/>
                </a:solidFill>
              </a:rPr>
              <a:t>Definition: temperature of dry air with the same P and ρ as the moist air</a:t>
            </a:r>
            <a:endParaRPr lang="en-US" sz="1300" dirty="0"/>
          </a:p>
        </p:txBody>
      </p:sp>
      <p:sp>
        <p:nvSpPr>
          <p:cNvPr id="18" name="card"/>
          <p:cNvSpPr/>
          <p:nvPr/>
        </p:nvSpPr>
        <p:spPr>
          <a:xfrm>
            <a:off x="548640" y="3794760"/>
            <a:ext cx="5440680"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19" name="icon circle"/>
          <p:cNvSpPr/>
          <p:nvPr/>
        </p:nvSpPr>
        <p:spPr>
          <a:xfrm>
            <a:off x="731520" y="3950208"/>
            <a:ext cx="420624" cy="420624"/>
          </a:xfrm>
          <a:prstGeom prst="ellipse">
            <a:avLst/>
          </a:prstGeom>
          <a:solidFill>
            <a:schemeClr val="accent3"/>
          </a:solidFill>
          <a:ln/>
        </p:spPr>
      </p:sp>
      <p:pic>
        <p:nvPicPr>
          <p:cNvPr id="20" name="Image 0" descr="Calculator icon">    </p:cNvPr>
          <p:cNvPicPr>
            <a:picLocks noChangeAspect="1"/>
          </p:cNvPicPr>
          <p:nvPr/>
        </p:nvPicPr>
        <p:blipFill>
          <a:blip r:embed="rId1"/>
          <a:stretch>
            <a:fillRect/>
          </a:stretch>
        </p:blipFill>
        <p:spPr>
          <a:xfrm>
            <a:off x="840882" y="4059570"/>
            <a:ext cx="201900" cy="201900"/>
          </a:xfrm>
          <a:prstGeom prst="rect">
            <a:avLst/>
          </a:prstGeom>
        </p:spPr>
      </p:pic>
      <p:sp>
        <p:nvSpPr>
          <p:cNvPr id="21" name="Text 17"/>
          <p:cNvSpPr txBox="1"/>
          <p:nvPr/>
        </p:nvSpPr>
        <p:spPr>
          <a:xfrm>
            <a:off x="1261872" y="393192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Worked example</a:t>
            </a:r>
            <a:endParaRPr lang="en-US" sz="1600" dirty="0"/>
          </a:p>
        </p:txBody>
      </p:sp>
      <p:sp>
        <p:nvSpPr>
          <p:cNvPr id="22" name="Text 18"/>
          <p:cNvSpPr txBox="1"/>
          <p:nvPr/>
        </p:nvSpPr>
        <p:spPr>
          <a:xfrm>
            <a:off x="731520" y="4480560"/>
            <a:ext cx="5074920"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T = 30 °C = 303.15 K, q = 15 g/kg = 0.015</a:t>
            </a:r>
            <a:endParaRPr lang="en-US" sz="1300" dirty="0"/>
          </a:p>
          <a:p>
            <a:pPr marL="177800" indent="-177800">
              <a:spcAft>
                <a:spcPts val="400"/>
              </a:spcAft>
              <a:buSzPct val="100000"/>
              <a:buChar char="•"/>
            </a:pPr>
            <a:r>
              <a:rPr lang="en-US" sz="1300" dirty="0">
                <a:solidFill>
                  <a:schemeClr val="tx1"/>
                </a:solidFill>
              </a:rPr>
              <a:t>T</a:t>
            </a:r>
            <a:r>
              <a:rPr lang="en-US" sz="1300" baseline="-40000" dirty="0">
                <a:solidFill>
                  <a:schemeClr val="tx1"/>
                </a:solidFill>
              </a:rPr>
              <a:t>v</a:t>
            </a:r>
            <a:r>
              <a:rPr lang="en-US" sz="1300" dirty="0">
                <a:solidFill>
                  <a:schemeClr val="tx1"/>
                </a:solidFill>
              </a:rPr>
              <a:t> = 303.15 × (1 + 0.61 × 0.015) = 303.15 × 1.0092</a:t>
            </a:r>
            <a:endParaRPr lang="en-US" sz="1300" dirty="0"/>
          </a:p>
          <a:p>
            <a:pPr marL="177800" indent="-177800">
              <a:spcAft>
                <a:spcPts val="400"/>
              </a:spcAft>
              <a:buSzPct val="100000"/>
              <a:buChar char="•"/>
            </a:pPr>
            <a:r>
              <a:rPr lang="en-US" sz="1300" b="1" dirty="0">
                <a:solidFill>
                  <a:schemeClr val="tx1"/>
                </a:solidFill>
              </a:rPr>
              <a:t>T</a:t>
            </a:r>
            <a:r>
              <a:rPr lang="en-US" sz="1300" b="1" baseline="-40000" dirty="0">
                <a:solidFill>
                  <a:schemeClr val="tx1"/>
                </a:solidFill>
              </a:rPr>
              <a:t>v</a:t>
            </a:r>
            <a:r>
              <a:rPr lang="en-US" sz="1300" b="1" dirty="0">
                <a:solidFill>
                  <a:schemeClr val="tx1"/>
                </a:solidFill>
              </a:rPr>
              <a:t> ≈ 305.9 K → 2.8 K warmer than T</a:t>
            </a:r>
            <a:r>
              <a:rPr lang="en-US" sz="1300" dirty="0">
                <a:solidFill>
                  <a:schemeClr val="tx1"/>
                </a:solidFill>
              </a:rPr>
              <a:t> ✓ (notes: 2–3 °C)</a:t>
            </a:r>
            <a:endParaRPr lang="en-US" sz="1300" dirty="0"/>
          </a:p>
        </p:txBody>
      </p:sp>
      <p:sp>
        <p:nvSpPr>
          <p:cNvPr id="23" name="card"/>
          <p:cNvSpPr/>
          <p:nvPr/>
        </p:nvSpPr>
        <p:spPr>
          <a:xfrm>
            <a:off x="6199632" y="3794760"/>
            <a:ext cx="5440680"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24" name="icon circle"/>
          <p:cNvSpPr/>
          <p:nvPr/>
        </p:nvSpPr>
        <p:spPr>
          <a:xfrm>
            <a:off x="6382512" y="3950208"/>
            <a:ext cx="420624" cy="420624"/>
          </a:xfrm>
          <a:prstGeom prst="ellipse">
            <a:avLst/>
          </a:prstGeom>
          <a:solidFill>
            <a:schemeClr val="accent2"/>
          </a:solidFill>
          <a:ln/>
        </p:spPr>
      </p:sp>
      <p:pic>
        <p:nvPicPr>
          <p:cNvPr id="25" name="Image 1" descr="LayerGroup icon">    </p:cNvPr>
          <p:cNvPicPr>
            <a:picLocks noChangeAspect="1"/>
          </p:cNvPicPr>
          <p:nvPr/>
        </p:nvPicPr>
        <p:blipFill>
          <a:blip r:embed="rId2"/>
          <a:stretch>
            <a:fillRect/>
          </a:stretch>
        </p:blipFill>
        <p:spPr>
          <a:xfrm>
            <a:off x="6491874" y="4059570"/>
            <a:ext cx="201900" cy="201900"/>
          </a:xfrm>
          <a:prstGeom prst="rect">
            <a:avLst/>
          </a:prstGeom>
        </p:spPr>
      </p:pic>
      <p:sp>
        <p:nvSpPr>
          <p:cNvPr id="26" name="Text 21"/>
          <p:cNvSpPr txBox="1"/>
          <p:nvPr/>
        </p:nvSpPr>
        <p:spPr>
          <a:xfrm>
            <a:off x="6912864" y="393192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Where it is used</a:t>
            </a:r>
            <a:endParaRPr lang="en-US" sz="1600" dirty="0"/>
          </a:p>
        </p:txBody>
      </p:sp>
      <p:sp>
        <p:nvSpPr>
          <p:cNvPr id="27" name="Text 22"/>
          <p:cNvSpPr txBox="1"/>
          <p:nvPr/>
        </p:nvSpPr>
        <p:spPr>
          <a:xfrm>
            <a:off x="6382512" y="4480560"/>
            <a:ext cx="5074920"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Gas law for moist air: P = ρ R</a:t>
            </a:r>
            <a:r>
              <a:rPr lang="en-US" sz="1300" baseline="-40000" dirty="0">
                <a:solidFill>
                  <a:schemeClr val="tx1"/>
                </a:solidFill>
              </a:rPr>
              <a:t>d</a:t>
            </a:r>
            <a:r>
              <a:rPr lang="en-US" sz="1300" dirty="0">
                <a:solidFill>
                  <a:schemeClr val="tx1"/>
                </a:solidFill>
              </a:rPr>
              <a:t> T</a:t>
            </a:r>
            <a:r>
              <a:rPr lang="en-US" sz="1300" baseline="-40000" dirty="0">
                <a:solidFill>
                  <a:schemeClr val="tx1"/>
                </a:solidFill>
              </a:rPr>
              <a:t>v</a:t>
            </a:r>
            <a:r>
              <a:rPr lang="en-US" sz="1300" dirty="0">
                <a:solidFill>
                  <a:schemeClr val="tx1"/>
                </a:solidFill>
              </a:rPr>
              <a:t> (notes: P</a:t>
            </a:r>
            <a:r>
              <a:rPr lang="en-US" sz="1300" baseline="-40000" dirty="0">
                <a:solidFill>
                  <a:schemeClr val="tx1"/>
                </a:solidFill>
              </a:rPr>
              <a:t>d</a:t>
            </a:r>
            <a:r>
              <a:rPr lang="en-US" sz="1300" dirty="0">
                <a:solidFill>
                  <a:schemeClr val="tx1"/>
                </a:solidFill>
              </a:rPr>
              <a:t> V</a:t>
            </a:r>
            <a:r>
              <a:rPr lang="en-US" sz="1300" baseline="-40000" dirty="0">
                <a:solidFill>
                  <a:schemeClr val="tx1"/>
                </a:solidFill>
              </a:rPr>
              <a:t>spd</a:t>
            </a:r>
            <a:r>
              <a:rPr lang="en-US" sz="1300" dirty="0">
                <a:solidFill>
                  <a:schemeClr val="tx1"/>
                </a:solidFill>
              </a:rPr>
              <a:t> = R T</a:t>
            </a:r>
            <a:r>
              <a:rPr lang="en-US" sz="1300" i="1" dirty="0">
                <a:solidFill>
                  <a:schemeClr val="tx1"/>
                </a:solidFill>
              </a:rPr>
              <a:t>)</a:t>
            </a:r>
            <a:endParaRPr lang="en-US" sz="1300" dirty="0"/>
          </a:p>
          <a:p>
            <a:pPr marL="177800" indent="-177800">
              <a:spcAft>
                <a:spcPts val="400"/>
              </a:spcAft>
              <a:buSzPct val="100000"/>
              <a:buChar char="•"/>
            </a:pPr>
            <a:r>
              <a:rPr lang="en-US" sz="1300" dirty="0">
                <a:solidFill>
                  <a:schemeClr val="tx1"/>
                </a:solidFill>
              </a:rPr>
              <a:t>Hypsometric equation (layer thickness)</a:t>
            </a:r>
            <a:endParaRPr lang="en-US" sz="1300" dirty="0"/>
          </a:p>
          <a:p>
            <a:pPr marL="177800" indent="-177800">
              <a:spcAft>
                <a:spcPts val="400"/>
              </a:spcAft>
              <a:buSzPct val="100000"/>
              <a:buChar char="•"/>
            </a:pPr>
            <a:r>
              <a:rPr lang="en-US" sz="1300" dirty="0">
                <a:solidFill>
                  <a:schemeClr val="tx1"/>
                </a:solidFill>
              </a:rPr>
              <a:t>Parcel buoyancy and CAPE (compare T</a:t>
            </a:r>
            <a:r>
              <a:rPr lang="en-US" sz="1300" baseline="-40000" dirty="0">
                <a:solidFill>
                  <a:schemeClr val="tx1"/>
                </a:solidFill>
              </a:rPr>
              <a:t>v</a:t>
            </a:r>
            <a:r>
              <a:rPr lang="en-US" sz="1300" dirty="0">
                <a:solidFill>
                  <a:schemeClr val="tx1"/>
                </a:solidFill>
              </a:rPr>
              <a:t> of parcel and environment)</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First law &amp; adiabatic processes</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Energy bookkeeping for an air parcel, and why rising air cools</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03</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First law of thermodynamics for air</a:t>
            </a:r>
            <a:endParaRPr lang="en-US" sz="3200" dirty="0"/>
          </a:p>
        </p:txBody>
      </p:sp>
      <p:sp>
        <p:nvSpPr>
          <p:cNvPr id="4" name="step number"/>
          <p:cNvSpPr/>
          <p:nvPr/>
        </p:nvSpPr>
        <p:spPr>
          <a:xfrm>
            <a:off x="548640" y="1453896"/>
            <a:ext cx="384048" cy="384048"/>
          </a:xfrm>
          <a:prstGeom prst="ellipse">
            <a:avLst/>
          </a:prstGeom>
          <a:solidFill>
            <a:schemeClr val="accent1"/>
          </a:solidFill>
          <a:ln/>
        </p:spPr>
      </p:sp>
      <p:sp>
        <p:nvSpPr>
          <p:cNvPr id="5"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3"/>
          <p:cNvSpPr txBox="1"/>
          <p:nvPr/>
        </p:nvSpPr>
        <p:spPr>
          <a:xfrm>
            <a:off x="1051560" y="1417320"/>
            <a:ext cx="5989320" cy="685800"/>
          </a:xfrm>
          <a:prstGeom prst="rect">
            <a:avLst/>
          </a:prstGeom>
          <a:noFill/>
          <a:ln/>
        </p:spPr>
        <p:txBody>
          <a:bodyPr wrap="square" lIns="0" tIns="0" rIns="0" bIns="0" rtlCol="0" anchor="ctr"/>
          <a:lstStyle/>
          <a:p>
            <a:pPr indent="0" marL="0">
              <a:buNone/>
            </a:pPr>
            <a:r>
              <a:rPr lang="en-US" sz="1500" dirty="0">
                <a:solidFill>
                  <a:schemeClr val="tx1"/>
                </a:solidFill>
              </a:rPr>
              <a:t>Sealed vessel, 1 g of air (volume V</a:t>
            </a:r>
            <a:r>
              <a:rPr lang="en-US" sz="1500" baseline="-40000" dirty="0">
                <a:solidFill>
                  <a:schemeClr val="tx1"/>
                </a:solidFill>
              </a:rPr>
              <a:t>sp</a:t>
            </a:r>
            <a:r>
              <a:rPr lang="en-US" sz="1500" dirty="0">
                <a:solidFill>
                  <a:schemeClr val="tx1"/>
                </a:solidFill>
              </a:rPr>
              <a:t> = α fixed): Δh = c</a:t>
            </a:r>
            <a:r>
              <a:rPr lang="en-US" sz="1500" baseline="-40000" dirty="0">
                <a:solidFill>
                  <a:schemeClr val="tx1"/>
                </a:solidFill>
              </a:rPr>
              <a:t>v</a:t>
            </a:r>
            <a:r>
              <a:rPr lang="en-US" sz="1500" dirty="0">
                <a:solidFill>
                  <a:schemeClr val="tx1"/>
                </a:solidFill>
              </a:rPr>
              <a:t> ΔT</a:t>
            </a:r>
            <a:endParaRPr lang="en-US" sz="1500" dirty="0"/>
          </a:p>
        </p:txBody>
      </p:sp>
      <p:sp>
        <p:nvSpPr>
          <p:cNvPr id="7" name="step number"/>
          <p:cNvSpPr/>
          <p:nvPr/>
        </p:nvSpPr>
        <p:spPr>
          <a:xfrm>
            <a:off x="548640" y="2185416"/>
            <a:ext cx="384048" cy="384048"/>
          </a:xfrm>
          <a:prstGeom prst="ellipse">
            <a:avLst/>
          </a:prstGeom>
          <a:solidFill>
            <a:schemeClr val="accent1"/>
          </a:solidFill>
          <a:ln/>
        </p:spPr>
      </p:sp>
      <p:sp>
        <p:nvSpPr>
          <p:cNvPr id="8" name="Text 5"/>
          <p:cNvSpPr txBox="1"/>
          <p:nvPr/>
        </p:nvSpPr>
        <p:spPr>
          <a:xfrm>
            <a:off x="548640" y="21854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6"/>
          <p:cNvSpPr txBox="1"/>
          <p:nvPr/>
        </p:nvSpPr>
        <p:spPr>
          <a:xfrm>
            <a:off x="1051560" y="2148840"/>
            <a:ext cx="5989320" cy="685800"/>
          </a:xfrm>
          <a:prstGeom prst="rect">
            <a:avLst/>
          </a:prstGeom>
          <a:noFill/>
          <a:ln/>
        </p:spPr>
        <p:txBody>
          <a:bodyPr wrap="square" lIns="0" tIns="0" rIns="0" bIns="0" rtlCol="0" anchor="ctr"/>
          <a:lstStyle/>
          <a:p>
            <a:pPr indent="0" marL="0">
              <a:buNone/>
            </a:pPr>
            <a:r>
              <a:rPr lang="en-US" sz="1500" dirty="0">
                <a:solidFill>
                  <a:schemeClr val="tx1"/>
                </a:solidFill>
              </a:rPr>
              <a:t>Air free to expand: work against outside pressure = P Δα</a:t>
            </a:r>
            <a:endParaRPr lang="en-US" sz="1500" dirty="0"/>
          </a:p>
        </p:txBody>
      </p:sp>
      <p:sp>
        <p:nvSpPr>
          <p:cNvPr id="10" name="step number"/>
          <p:cNvSpPr/>
          <p:nvPr/>
        </p:nvSpPr>
        <p:spPr>
          <a:xfrm>
            <a:off x="548640" y="2916936"/>
            <a:ext cx="384048" cy="384048"/>
          </a:xfrm>
          <a:prstGeom prst="ellipse">
            <a:avLst/>
          </a:prstGeom>
          <a:solidFill>
            <a:schemeClr val="accent1"/>
          </a:solidFill>
          <a:ln/>
        </p:spPr>
      </p:sp>
      <p:sp>
        <p:nvSpPr>
          <p:cNvPr id="11" name="Text 8"/>
          <p:cNvSpPr txBox="1"/>
          <p:nvPr/>
        </p:nvSpPr>
        <p:spPr>
          <a:xfrm>
            <a:off x="548640" y="291693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9"/>
          <p:cNvSpPr txBox="1"/>
          <p:nvPr/>
        </p:nvSpPr>
        <p:spPr>
          <a:xfrm>
            <a:off x="1051560" y="2880360"/>
            <a:ext cx="5989320" cy="685800"/>
          </a:xfrm>
          <a:prstGeom prst="rect">
            <a:avLst/>
          </a:prstGeom>
          <a:noFill/>
          <a:ln/>
        </p:spPr>
        <p:txBody>
          <a:bodyPr wrap="square" lIns="0" tIns="0" rIns="0" bIns="0" rtlCol="0" anchor="ctr"/>
          <a:lstStyle/>
          <a:p>
            <a:pPr indent="0" marL="0">
              <a:buNone/>
            </a:pPr>
            <a:r>
              <a:rPr lang="en-US" sz="1500" b="1" dirty="0">
                <a:solidFill>
                  <a:schemeClr val="tx1"/>
                </a:solidFill>
              </a:rPr>
              <a:t>Δh = c</a:t>
            </a:r>
            <a:r>
              <a:rPr lang="en-US" sz="1500" b="1" baseline="-40000" dirty="0">
                <a:solidFill>
                  <a:schemeClr val="tx1"/>
                </a:solidFill>
              </a:rPr>
              <a:t>v</a:t>
            </a:r>
            <a:r>
              <a:rPr lang="en-US" sz="1500" b="1" dirty="0">
                <a:solidFill>
                  <a:schemeClr val="tx1"/>
                </a:solidFill>
              </a:rPr>
              <a:t> ΔT + P Δα</a:t>
            </a:r>
            <a:r>
              <a:rPr lang="en-US" sz="1500" dirty="0">
                <a:solidFill>
                  <a:schemeClr val="tx1"/>
                </a:solidFill>
              </a:rPr>
              <a:t>  (heat → internal energy + work)</a:t>
            </a:r>
            <a:endParaRPr lang="en-US" sz="1500" dirty="0"/>
          </a:p>
        </p:txBody>
      </p:sp>
      <p:sp>
        <p:nvSpPr>
          <p:cNvPr id="13" name="step number"/>
          <p:cNvSpPr/>
          <p:nvPr/>
        </p:nvSpPr>
        <p:spPr>
          <a:xfrm>
            <a:off x="548640" y="3648456"/>
            <a:ext cx="384048" cy="384048"/>
          </a:xfrm>
          <a:prstGeom prst="ellipse">
            <a:avLst/>
          </a:prstGeom>
          <a:solidFill>
            <a:schemeClr val="accent1"/>
          </a:solidFill>
          <a:ln/>
        </p:spPr>
      </p:sp>
      <p:sp>
        <p:nvSpPr>
          <p:cNvPr id="14" name="Text 11"/>
          <p:cNvSpPr txBox="1"/>
          <p:nvPr/>
        </p:nvSpPr>
        <p:spPr>
          <a:xfrm>
            <a:off x="548640" y="364845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Text 12"/>
          <p:cNvSpPr txBox="1"/>
          <p:nvPr/>
        </p:nvSpPr>
        <p:spPr>
          <a:xfrm>
            <a:off x="1051560" y="3611880"/>
            <a:ext cx="5989320" cy="685800"/>
          </a:xfrm>
          <a:prstGeom prst="rect">
            <a:avLst/>
          </a:prstGeom>
          <a:noFill/>
          <a:ln/>
        </p:spPr>
        <p:txBody>
          <a:bodyPr wrap="square" lIns="0" tIns="0" rIns="0" bIns="0" rtlCol="0" anchor="ctr"/>
          <a:lstStyle/>
          <a:p>
            <a:pPr indent="0" marL="0">
              <a:buNone/>
            </a:pPr>
            <a:r>
              <a:rPr lang="en-US" sz="1500" dirty="0">
                <a:solidFill>
                  <a:schemeClr val="tx1"/>
                </a:solidFill>
              </a:rPr>
              <a:t>Gas law Pα = RT gives P Δα = R ΔT − α ΔP</a:t>
            </a:r>
            <a:endParaRPr lang="en-US" sz="1500" dirty="0"/>
          </a:p>
        </p:txBody>
      </p:sp>
      <p:sp>
        <p:nvSpPr>
          <p:cNvPr id="16" name="step number"/>
          <p:cNvSpPr/>
          <p:nvPr/>
        </p:nvSpPr>
        <p:spPr>
          <a:xfrm>
            <a:off x="548640" y="4379976"/>
            <a:ext cx="384048" cy="384048"/>
          </a:xfrm>
          <a:prstGeom prst="ellipse">
            <a:avLst/>
          </a:prstGeom>
          <a:solidFill>
            <a:schemeClr val="accent1"/>
          </a:solidFill>
          <a:ln/>
        </p:spPr>
      </p:sp>
      <p:sp>
        <p:nvSpPr>
          <p:cNvPr id="17" name="Text 14"/>
          <p:cNvSpPr txBox="1"/>
          <p:nvPr/>
        </p:nvSpPr>
        <p:spPr>
          <a:xfrm>
            <a:off x="548640" y="437997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8" name="Text 15"/>
          <p:cNvSpPr txBox="1"/>
          <p:nvPr/>
        </p:nvSpPr>
        <p:spPr>
          <a:xfrm>
            <a:off x="1051560" y="4343400"/>
            <a:ext cx="5989320" cy="685800"/>
          </a:xfrm>
          <a:prstGeom prst="rect">
            <a:avLst/>
          </a:prstGeom>
          <a:noFill/>
          <a:ln/>
        </p:spPr>
        <p:txBody>
          <a:bodyPr wrap="square" lIns="0" tIns="0" rIns="0" bIns="0" rtlCol="0" anchor="ctr"/>
          <a:lstStyle/>
          <a:p>
            <a:pPr indent="0" marL="0">
              <a:buNone/>
            </a:pPr>
            <a:r>
              <a:rPr lang="en-US" sz="1500" b="1" dirty="0">
                <a:solidFill>
                  <a:schemeClr val="tx1"/>
                </a:solidFill>
              </a:rPr>
              <a:t>Δh = c</a:t>
            </a:r>
            <a:r>
              <a:rPr lang="en-US" sz="1500" b="1" baseline="-40000" dirty="0">
                <a:solidFill>
                  <a:schemeClr val="tx1"/>
                </a:solidFill>
              </a:rPr>
              <a:t>p</a:t>
            </a:r>
            <a:r>
              <a:rPr lang="en-US" sz="1500" b="1" dirty="0">
                <a:solidFill>
                  <a:schemeClr val="tx1"/>
                </a:solidFill>
              </a:rPr>
              <a:t> ΔT − α ΔP</a:t>
            </a:r>
            <a:r>
              <a:rPr lang="en-US" sz="1500" dirty="0">
                <a:solidFill>
                  <a:schemeClr val="tx1"/>
                </a:solidFill>
              </a:rPr>
              <a:t>,  with </a:t>
            </a:r>
            <a:r>
              <a:rPr lang="en-US" sz="1500" b="1" dirty="0">
                <a:solidFill>
                  <a:schemeClr val="tx1"/>
                </a:solidFill>
              </a:rPr>
              <a:t>c</a:t>
            </a:r>
            <a:r>
              <a:rPr lang="en-US" sz="1500" b="1" baseline="-40000" dirty="0">
                <a:solidFill>
                  <a:schemeClr val="tx1"/>
                </a:solidFill>
              </a:rPr>
              <a:t>p</a:t>
            </a:r>
            <a:r>
              <a:rPr lang="en-US" sz="1500" b="1" dirty="0">
                <a:solidFill>
                  <a:schemeClr val="tx1"/>
                </a:solidFill>
              </a:rPr>
              <a:t> = c</a:t>
            </a:r>
            <a:r>
              <a:rPr lang="en-US" sz="1500" b="1" baseline="-40000" dirty="0">
                <a:solidFill>
                  <a:schemeClr val="tx1"/>
                </a:solidFill>
              </a:rPr>
              <a:t>v</a:t>
            </a:r>
            <a:r>
              <a:rPr lang="en-US" sz="1500" b="1" dirty="0">
                <a:solidFill>
                  <a:schemeClr val="tx1"/>
                </a:solidFill>
              </a:rPr>
              <a:t> + R</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0" y="1417320"/>
          <a:ext cx="4325112" cy="914400"/>
        </p:xfrm>
        <a:graphic>
          <a:graphicData uri="http://schemas.openxmlformats.org/drawingml/2006/table">
            <a:tbl>
              <a:tblPr/>
              <a:tblGrid>
                <a:gridCol w="960120"/>
                <a:gridCol w="1097280"/>
                <a:gridCol w="2267712"/>
              </a:tblGrid>
              <a:tr h="566928">
                <a:tc>
                  <a:txBody>
                    <a:bodyPr/>
                    <a:lstStyle/>
                    <a:p>
                      <a:pPr indent="0" marL="0">
                        <a:buNone/>
                      </a:pPr>
                      <a:r>
                        <a:rPr lang="en-US" sz="1300" b="1" dirty="0">
                          <a:solidFill>
                            <a:schemeClr val="bg1"/>
                          </a:solidFill>
                        </a:rPr>
                        <a:t>Constant</a:t>
                      </a:r>
                      <a:endParaRPr lang="en-US" sz="13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Value (J kg⁻¹ K⁻¹)</a:t>
                      </a:r>
                      <a:endParaRPr lang="en-US" sz="13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Meaning</a:t>
                      </a:r>
                      <a:endParaRPr lang="en-US" sz="13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566928">
                <a:tc>
                  <a:txBody>
                    <a:bodyPr/>
                    <a:lstStyle/>
                    <a:p>
                      <a:pPr indent="0" marL="0">
                        <a:buNone/>
                      </a:pPr>
                      <a:r>
                        <a:rPr lang="en-US" sz="1300" b="1" dirty="0">
                          <a:solidFill>
                            <a:schemeClr val="accent1"/>
                          </a:solidFill>
                        </a:rPr>
                        <a:t>c</a:t>
                      </a:r>
                      <a:r>
                        <a:rPr lang="en-US" sz="1300" b="1" baseline="-40000" dirty="0">
                          <a:solidFill>
                            <a:schemeClr val="accent1"/>
                          </a:solidFill>
                        </a:rPr>
                        <a:t>p</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1004</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specific heat at constant pressure</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accent1"/>
                          </a:solidFill>
                        </a:rPr>
                        <a:t>c</a:t>
                      </a:r>
                      <a:r>
                        <a:rPr lang="en-US" sz="1300" b="1" baseline="-40000" dirty="0">
                          <a:solidFill>
                            <a:schemeClr val="accent1"/>
                          </a:solidFill>
                        </a:rPr>
                        <a:t>v</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717</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specific heat at constant volume</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66928">
                <a:tc>
                  <a:txBody>
                    <a:bodyPr/>
                    <a:lstStyle/>
                    <a:p>
                      <a:pPr indent="0" marL="0">
                        <a:buNone/>
                      </a:pPr>
                      <a:r>
                        <a:rPr lang="en-US" sz="1300" b="1" dirty="0">
                          <a:solidFill>
                            <a:schemeClr val="accent1"/>
                          </a:solidFill>
                        </a:rPr>
                        <a:t>R</a:t>
                      </a:r>
                      <a:r>
                        <a:rPr lang="en-US" sz="1300" b="1" baseline="-40000" dirty="0">
                          <a:solidFill>
                            <a:schemeClr val="accent1"/>
                          </a:solidFill>
                        </a:rPr>
                        <a:t>d</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287</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gas constant for dry air (= c</a:t>
                      </a:r>
                      <a:r>
                        <a:rPr lang="en-US" sz="1300" baseline="-40000" dirty="0">
                          <a:solidFill>
                            <a:schemeClr val="tx1"/>
                          </a:solidFill>
                        </a:rPr>
                        <a:t>p</a:t>
                      </a:r>
                      <a:r>
                        <a:rPr lang="en-US" sz="1300" dirty="0">
                          <a:solidFill>
                            <a:schemeClr val="tx1"/>
                          </a:solidFill>
                        </a:rPr>
                        <a:t> − c</a:t>
                      </a:r>
                      <a:r>
                        <a:rPr lang="en-US" sz="1300" baseline="-40000" dirty="0">
                          <a:solidFill>
                            <a:schemeClr val="tx1"/>
                          </a:solidFill>
                        </a:rPr>
                        <a:t>v</a:t>
                      </a:r>
                      <a:r>
                        <a:rPr lang="en-US" sz="1300" dirty="0">
                          <a:solidFill>
                            <a:schemeClr val="tx1"/>
                          </a:solidFill>
                        </a:rPr>
                        <a:t>)</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66928">
                <a:tc>
                  <a:txBody>
                    <a:bodyPr/>
                    <a:lstStyle/>
                    <a:p>
                      <a:pPr indent="0" marL="0">
                        <a:buNone/>
                      </a:pPr>
                      <a:r>
                        <a:rPr lang="en-US" sz="1300" b="1" dirty="0">
                          <a:solidFill>
                            <a:schemeClr val="accent1"/>
                          </a:solidFill>
                        </a:rPr>
                        <a:t>κ = R/c</a:t>
                      </a:r>
                      <a:r>
                        <a:rPr lang="en-US" sz="1300" b="1" baseline="-40000" dirty="0">
                          <a:solidFill>
                            <a:schemeClr val="accent1"/>
                          </a:solidFill>
                        </a:rPr>
                        <a:t>p</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b="1" dirty="0">
                          <a:solidFill>
                            <a:schemeClr val="tx1"/>
                          </a:solidFill>
                        </a:rPr>
                        <a:t>0.286</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used in potential temperature</a:t>
                      </a:r>
                      <a:endParaRPr lang="en-US" sz="1200" dirty="0"/>
                    </a:p>
                  </a:txBody>
                  <a:tcPr marL="73152" marR="73152"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bl>
          </a:graphicData>
        </a:graphic>
      </p:graphicFrame>
      <p:sp>
        <p:nvSpPr>
          <p:cNvPr id="20" name="insight"/>
          <p:cNvSpPr/>
          <p:nvPr/>
        </p:nvSpPr>
        <p:spPr>
          <a:xfrm>
            <a:off x="548640" y="5349240"/>
            <a:ext cx="11094415" cy="822960"/>
          </a:xfrm>
          <a:prstGeom prst="roundRect">
            <a:avLst>
              <a:gd name="adj" fmla="val 8889"/>
            </a:avLst>
          </a:prstGeom>
          <a:solidFill>
            <a:schemeClr val="bg2"/>
          </a:solidFill>
          <a:ln/>
        </p:spPr>
      </p:sp>
      <p:sp>
        <p:nvSpPr>
          <p:cNvPr id="21" name="icon circle"/>
          <p:cNvSpPr/>
          <p:nvPr/>
        </p:nvSpPr>
        <p:spPr>
          <a:xfrm>
            <a:off x="685800" y="5522976"/>
            <a:ext cx="475488" cy="475488"/>
          </a:xfrm>
          <a:prstGeom prst="ellipse">
            <a:avLst/>
          </a:prstGeom>
          <a:solidFill>
            <a:schemeClr val="accent3"/>
          </a:solidFill>
          <a:ln/>
        </p:spPr>
      </p:sp>
      <p:pic>
        <p:nvPicPr>
          <p:cNvPr id="22" name="Image 0" descr="Lightbulb icon">    </p:cNvPr>
          <p:cNvPicPr>
            <a:picLocks noChangeAspect="1"/>
          </p:cNvPicPr>
          <p:nvPr/>
        </p:nvPicPr>
        <p:blipFill>
          <a:blip r:embed="rId1"/>
          <a:stretch>
            <a:fillRect/>
          </a:stretch>
        </p:blipFill>
        <p:spPr>
          <a:xfrm>
            <a:off x="809427" y="5646603"/>
            <a:ext cx="228234" cy="228234"/>
          </a:xfrm>
          <a:prstGeom prst="rect">
            <a:avLst/>
          </a:prstGeom>
        </p:spPr>
      </p:pic>
      <p:sp>
        <p:nvSpPr>
          <p:cNvPr id="23" name="Text 18"/>
          <p:cNvSpPr txBox="1"/>
          <p:nvPr/>
        </p:nvSpPr>
        <p:spPr>
          <a:xfrm>
            <a:off x="1325880" y="5385816"/>
            <a:ext cx="10180015" cy="749808"/>
          </a:xfrm>
          <a:prstGeom prst="rect">
            <a:avLst/>
          </a:prstGeom>
          <a:noFill/>
          <a:ln/>
        </p:spPr>
        <p:txBody>
          <a:bodyPr wrap="square" lIns="508" tIns="508" rIns="508" bIns="508" rtlCol="0" anchor="ctr"/>
          <a:lstStyle/>
          <a:p>
            <a:pPr indent="0" marL="0">
              <a:spcAft>
                <a:spcPts val="600"/>
              </a:spcAft>
              <a:buNone/>
            </a:pPr>
            <a:r>
              <a:rPr lang="en-US" sz="1400" b="1" dirty="0">
                <a:solidFill>
                  <a:schemeClr val="tx1"/>
                </a:solidFill>
              </a:rPr>
              <a:t>Meaning of Δh = c</a:t>
            </a:r>
            <a:r>
              <a:rPr lang="en-US" sz="1400" b="1" baseline="-40000" dirty="0">
                <a:solidFill>
                  <a:schemeClr val="tx1"/>
                </a:solidFill>
              </a:rPr>
              <a:t>p</a:t>
            </a:r>
            <a:r>
              <a:rPr lang="en-US" sz="1400" b="1" dirty="0">
                <a:solidFill>
                  <a:schemeClr val="tx1"/>
                </a:solidFill>
              </a:rPr>
              <a:t> ΔT − α ΔP:</a:t>
            </a:r>
            <a:r>
              <a:rPr lang="en-US" sz="1400" dirty="0">
                <a:solidFill>
                  <a:schemeClr val="tx1"/>
                </a:solidFill>
              </a:rPr>
              <a:t> if no heat is added (Δh = 0), a fall in pressure (rising air, ΔP &lt; 0) must lower the temperature. That one line explains why rising air cools.</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Adiabatic and diabatic processes</a:t>
            </a:r>
            <a:endParaRPr lang="en-US" sz="3200" dirty="0"/>
          </a:p>
        </p:txBody>
      </p:sp>
      <p:sp>
        <p:nvSpPr>
          <p:cNvPr id="4" name="parcel"/>
          <p:cNvSpPr/>
          <p:nvPr/>
        </p:nvSpPr>
        <p:spPr>
          <a:xfrm>
            <a:off x="1600200" y="4937760"/>
            <a:ext cx="640080" cy="640080"/>
          </a:xfrm>
          <a:prstGeom prst="ellipse">
            <a:avLst/>
          </a:prstGeom>
          <a:solidFill>
            <a:schemeClr val="accent1"/>
          </a:solidFill>
          <a:ln/>
        </p:spPr>
      </p:sp>
      <p:sp>
        <p:nvSpPr>
          <p:cNvPr id="5" name="Text 2"/>
          <p:cNvSpPr txBox="1"/>
          <p:nvPr/>
        </p:nvSpPr>
        <p:spPr>
          <a:xfrm>
            <a:off x="2697480" y="5093208"/>
            <a:ext cx="2011680" cy="329184"/>
          </a:xfrm>
          <a:prstGeom prst="rect">
            <a:avLst/>
          </a:prstGeom>
          <a:noFill/>
          <a:ln/>
        </p:spPr>
        <p:txBody>
          <a:bodyPr wrap="square" lIns="0" tIns="0" rIns="0" bIns="0" rtlCol="0" anchor="ctr"/>
          <a:lstStyle/>
          <a:p>
            <a:pPr algn="l" indent="0" marL="0">
              <a:buNone/>
            </a:pPr>
            <a:r>
              <a:rPr lang="en-US" sz="1200" b="1" dirty="0">
                <a:solidFill>
                  <a:schemeClr val="tx2"/>
                </a:solidFill>
              </a:rPr>
              <a:t>1000 hPa · warm</a:t>
            </a:r>
            <a:endParaRPr lang="en-US" sz="1200" dirty="0"/>
          </a:p>
        </p:txBody>
      </p:sp>
      <p:sp>
        <p:nvSpPr>
          <p:cNvPr id="6" name="parcel"/>
          <p:cNvSpPr/>
          <p:nvPr/>
        </p:nvSpPr>
        <p:spPr>
          <a:xfrm>
            <a:off x="1485900" y="3566160"/>
            <a:ext cx="868680" cy="868680"/>
          </a:xfrm>
          <a:prstGeom prst="ellipse">
            <a:avLst/>
          </a:prstGeom>
          <a:solidFill>
            <a:schemeClr val="accent3"/>
          </a:solidFill>
          <a:ln/>
        </p:spPr>
      </p:sp>
      <p:sp>
        <p:nvSpPr>
          <p:cNvPr id="7" name="Text 4"/>
          <p:cNvSpPr txBox="1"/>
          <p:nvPr/>
        </p:nvSpPr>
        <p:spPr>
          <a:xfrm>
            <a:off x="2697480" y="3835908"/>
            <a:ext cx="2011680" cy="329184"/>
          </a:xfrm>
          <a:prstGeom prst="rect">
            <a:avLst/>
          </a:prstGeom>
          <a:noFill/>
          <a:ln/>
        </p:spPr>
        <p:txBody>
          <a:bodyPr wrap="square" lIns="0" tIns="0" rIns="0" bIns="0" rtlCol="0" anchor="ctr"/>
          <a:lstStyle/>
          <a:p>
            <a:pPr algn="l" indent="0" marL="0">
              <a:buNone/>
            </a:pPr>
            <a:r>
              <a:rPr lang="en-US" sz="1200" b="1" dirty="0">
                <a:solidFill>
                  <a:schemeClr val="tx2"/>
                </a:solidFill>
              </a:rPr>
              <a:t>800 hPa · cooler</a:t>
            </a:r>
            <a:endParaRPr lang="en-US" sz="1200" dirty="0"/>
          </a:p>
        </p:txBody>
      </p:sp>
      <p:sp>
        <p:nvSpPr>
          <p:cNvPr id="8" name="parcel"/>
          <p:cNvSpPr/>
          <p:nvPr/>
        </p:nvSpPr>
        <p:spPr>
          <a:xfrm>
            <a:off x="1348740" y="2011680"/>
            <a:ext cx="1143000" cy="1143000"/>
          </a:xfrm>
          <a:prstGeom prst="ellipse">
            <a:avLst/>
          </a:prstGeom>
          <a:solidFill>
            <a:schemeClr val="accent2"/>
          </a:solidFill>
          <a:ln/>
        </p:spPr>
      </p:sp>
      <p:sp>
        <p:nvSpPr>
          <p:cNvPr id="9" name="Text 6"/>
          <p:cNvSpPr txBox="1"/>
          <p:nvPr/>
        </p:nvSpPr>
        <p:spPr>
          <a:xfrm>
            <a:off x="2697480" y="2418588"/>
            <a:ext cx="2011680" cy="329184"/>
          </a:xfrm>
          <a:prstGeom prst="rect">
            <a:avLst/>
          </a:prstGeom>
          <a:noFill/>
          <a:ln/>
        </p:spPr>
        <p:txBody>
          <a:bodyPr wrap="square" lIns="0" tIns="0" rIns="0" bIns="0" rtlCol="0" anchor="ctr"/>
          <a:lstStyle/>
          <a:p>
            <a:pPr algn="l" indent="0" marL="0">
              <a:buNone/>
            </a:pPr>
            <a:r>
              <a:rPr lang="en-US" sz="1200" b="1" dirty="0">
                <a:solidFill>
                  <a:schemeClr val="tx2"/>
                </a:solidFill>
              </a:rPr>
              <a:t>600 hPa · cold</a:t>
            </a:r>
            <a:endParaRPr lang="en-US" sz="1200" dirty="0"/>
          </a:p>
        </p:txBody>
      </p:sp>
      <p:sp>
        <p:nvSpPr>
          <p:cNvPr id="10" name="arrow"/>
          <p:cNvSpPr/>
          <p:nvPr/>
        </p:nvSpPr>
        <p:spPr>
          <a:xfrm flipV="1">
            <a:off x="1325880" y="2011680"/>
            <a:ext cx="0" cy="3474720"/>
          </a:xfrm>
          <a:prstGeom prst="line">
            <a:avLst/>
          </a:prstGeom>
          <a:noFill/>
          <a:ln w="38100">
            <a:solidFill>
              <a:srgbClr val="1D2B4F"/>
            </a:solidFill>
            <a:prstDash val="solid"/>
            <a:tailEnd type="triangle"/>
          </a:ln>
        </p:spPr>
      </p:sp>
      <p:sp>
        <p:nvSpPr>
          <p:cNvPr id="11" name="Text 8"/>
          <p:cNvSpPr txBox="1"/>
          <p:nvPr/>
        </p:nvSpPr>
        <p:spPr>
          <a:xfrm>
            <a:off x="594360" y="1417320"/>
            <a:ext cx="4023360" cy="320040"/>
          </a:xfrm>
          <a:prstGeom prst="rect">
            <a:avLst/>
          </a:prstGeom>
          <a:noFill/>
          <a:ln/>
        </p:spPr>
        <p:txBody>
          <a:bodyPr wrap="square" lIns="0" tIns="0" rIns="0" bIns="0" rtlCol="0" anchor="ctr"/>
          <a:lstStyle/>
          <a:p>
            <a:pPr algn="l" indent="0" marL="0">
              <a:buNone/>
            </a:pPr>
            <a:r>
              <a:rPr lang="en-US" sz="1200" i="1" dirty="0">
                <a:solidFill>
                  <a:schemeClr val="accent6"/>
                </a:solidFill>
              </a:rPr>
              <a:t>rises → lower pressure → expands → cools</a:t>
            </a:r>
            <a:endParaRPr lang="en-US" sz="1200" dirty="0"/>
          </a:p>
        </p:txBody>
      </p:sp>
      <p:sp>
        <p:nvSpPr>
          <p:cNvPr id="12" name="arrow"/>
          <p:cNvSpPr/>
          <p:nvPr/>
        </p:nvSpPr>
        <p:spPr>
          <a:xfrm>
            <a:off x="4389120" y="2194560"/>
            <a:ext cx="0" cy="3291840"/>
          </a:xfrm>
          <a:prstGeom prst="line">
            <a:avLst/>
          </a:prstGeom>
          <a:noFill/>
          <a:ln w="38100">
            <a:solidFill>
              <a:srgbClr val="D1495B"/>
            </a:solidFill>
            <a:prstDash val="solid"/>
            <a:tailEnd type="triangle"/>
          </a:ln>
        </p:spPr>
      </p:sp>
      <p:sp>
        <p:nvSpPr>
          <p:cNvPr id="13" name="Text 10"/>
          <p:cNvSpPr txBox="1"/>
          <p:nvPr/>
        </p:nvSpPr>
        <p:spPr>
          <a:xfrm>
            <a:off x="3977640" y="5577840"/>
            <a:ext cx="2377440" cy="320040"/>
          </a:xfrm>
          <a:prstGeom prst="rect">
            <a:avLst/>
          </a:prstGeom>
          <a:noFill/>
          <a:ln/>
        </p:spPr>
        <p:txBody>
          <a:bodyPr wrap="square" lIns="0" tIns="0" rIns="0" bIns="0" rtlCol="0" anchor="ctr"/>
          <a:lstStyle/>
          <a:p>
            <a:pPr algn="l" indent="0" marL="0">
              <a:buNone/>
            </a:pPr>
            <a:r>
              <a:rPr lang="en-US" sz="1200" i="1" dirty="0">
                <a:solidFill>
                  <a:schemeClr val="accent1"/>
                </a:solidFill>
              </a:rPr>
              <a:t>sinks → compressed → warms</a:t>
            </a:r>
            <a:endParaRPr lang="en-US" sz="1200" dirty="0"/>
          </a:p>
        </p:txBody>
      </p:sp>
      <p:sp>
        <p:nvSpPr>
          <p:cNvPr id="14" name="card"/>
          <p:cNvSpPr/>
          <p:nvPr/>
        </p:nvSpPr>
        <p:spPr>
          <a:xfrm>
            <a:off x="5897880" y="1371600"/>
            <a:ext cx="2788920"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6080760" y="1527048"/>
            <a:ext cx="420624" cy="420624"/>
          </a:xfrm>
          <a:prstGeom prst="ellipse">
            <a:avLst/>
          </a:prstGeom>
          <a:solidFill>
            <a:schemeClr val="accent2"/>
          </a:solidFill>
          <a:ln/>
        </p:spPr>
      </p:sp>
      <p:pic>
        <p:nvPicPr>
          <p:cNvPr id="16" name="Image 0" descr="Compress icon">    </p:cNvPr>
          <p:cNvPicPr>
            <a:picLocks noChangeAspect="1"/>
          </p:cNvPicPr>
          <p:nvPr/>
        </p:nvPicPr>
        <p:blipFill>
          <a:blip r:embed="rId1"/>
          <a:stretch>
            <a:fillRect/>
          </a:stretch>
        </p:blipFill>
        <p:spPr>
          <a:xfrm>
            <a:off x="6190122" y="1636410"/>
            <a:ext cx="201900" cy="201900"/>
          </a:xfrm>
          <a:prstGeom prst="rect">
            <a:avLst/>
          </a:prstGeom>
        </p:spPr>
      </p:pic>
      <p:sp>
        <p:nvSpPr>
          <p:cNvPr id="17" name="Text 13"/>
          <p:cNvSpPr txBox="1"/>
          <p:nvPr/>
        </p:nvSpPr>
        <p:spPr>
          <a:xfrm>
            <a:off x="6611112" y="1508760"/>
            <a:ext cx="1938528" cy="457200"/>
          </a:xfrm>
          <a:prstGeom prst="rect">
            <a:avLst/>
          </a:prstGeom>
          <a:noFill/>
          <a:ln/>
        </p:spPr>
        <p:txBody>
          <a:bodyPr wrap="square" lIns="0" tIns="0" rIns="0" bIns="0" rtlCol="0" anchor="ctr"/>
          <a:lstStyle/>
          <a:p>
            <a:pPr indent="0" marL="0">
              <a:buNone/>
            </a:pPr>
            <a:r>
              <a:rPr lang="en-US" sz="1500" b="1" dirty="0">
                <a:solidFill>
                  <a:schemeClr val="tx2"/>
                </a:solidFill>
              </a:rPr>
              <a:t>Adiabatic</a:t>
            </a:r>
            <a:endParaRPr lang="en-US" sz="1500" dirty="0"/>
          </a:p>
        </p:txBody>
      </p:sp>
      <p:sp>
        <p:nvSpPr>
          <p:cNvPr id="18" name="Text 14"/>
          <p:cNvSpPr txBox="1"/>
          <p:nvPr/>
        </p:nvSpPr>
        <p:spPr>
          <a:xfrm>
            <a:off x="6080760" y="2057400"/>
            <a:ext cx="2423160"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No heat exchange</a:t>
            </a:r>
            <a:endParaRPr lang="en-US" sz="1300" dirty="0"/>
          </a:p>
          <a:p>
            <a:pPr marL="177800" indent="-177800">
              <a:spcAft>
                <a:spcPts val="400"/>
              </a:spcAft>
              <a:buSzPct val="100000"/>
              <a:buChar char="•"/>
            </a:pPr>
            <a:r>
              <a:rPr lang="en-US" sz="1300" dirty="0">
                <a:solidFill>
                  <a:schemeClr val="tx1"/>
                </a:solidFill>
              </a:rPr>
              <a:t>ΔT only from expansion / compression</a:t>
            </a:r>
            <a:endParaRPr lang="en-US" sz="1300" dirty="0"/>
          </a:p>
          <a:p>
            <a:pPr marL="177800" indent="-177800">
              <a:spcAft>
                <a:spcPts val="400"/>
              </a:spcAft>
              <a:buSzPct val="100000"/>
              <a:buChar char="•"/>
            </a:pPr>
            <a:r>
              <a:rPr lang="en-US" sz="1300" dirty="0">
                <a:solidFill>
                  <a:schemeClr val="tx1"/>
                </a:solidFill>
              </a:rPr>
              <a:t>Free atmosphere: nearly adiabatic</a:t>
            </a:r>
            <a:endParaRPr lang="en-US" sz="1300" dirty="0"/>
          </a:p>
        </p:txBody>
      </p:sp>
      <p:sp>
        <p:nvSpPr>
          <p:cNvPr id="19" name="card"/>
          <p:cNvSpPr/>
          <p:nvPr/>
        </p:nvSpPr>
        <p:spPr>
          <a:xfrm>
            <a:off x="8851392" y="1371600"/>
            <a:ext cx="2788920"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9034272" y="1527048"/>
            <a:ext cx="420624" cy="420624"/>
          </a:xfrm>
          <a:prstGeom prst="ellipse">
            <a:avLst/>
          </a:prstGeom>
          <a:solidFill>
            <a:schemeClr val="accent1"/>
          </a:solidFill>
          <a:ln/>
        </p:spPr>
      </p:sp>
      <p:pic>
        <p:nvPicPr>
          <p:cNvPr id="21" name="Image 1" descr="Fire icon">    </p:cNvPr>
          <p:cNvPicPr>
            <a:picLocks noChangeAspect="1"/>
          </p:cNvPicPr>
          <p:nvPr/>
        </p:nvPicPr>
        <p:blipFill>
          <a:blip r:embed="rId2"/>
          <a:stretch>
            <a:fillRect/>
          </a:stretch>
        </p:blipFill>
        <p:spPr>
          <a:xfrm>
            <a:off x="9143634" y="1636410"/>
            <a:ext cx="201900" cy="201900"/>
          </a:xfrm>
          <a:prstGeom prst="rect">
            <a:avLst/>
          </a:prstGeom>
        </p:spPr>
      </p:pic>
      <p:sp>
        <p:nvSpPr>
          <p:cNvPr id="22" name="Text 17"/>
          <p:cNvSpPr txBox="1"/>
          <p:nvPr/>
        </p:nvSpPr>
        <p:spPr>
          <a:xfrm>
            <a:off x="9564624" y="1508760"/>
            <a:ext cx="1938528" cy="457200"/>
          </a:xfrm>
          <a:prstGeom prst="rect">
            <a:avLst/>
          </a:prstGeom>
          <a:noFill/>
          <a:ln/>
        </p:spPr>
        <p:txBody>
          <a:bodyPr wrap="square" lIns="0" tIns="0" rIns="0" bIns="0" rtlCol="0" anchor="ctr"/>
          <a:lstStyle/>
          <a:p>
            <a:pPr indent="0" marL="0">
              <a:buNone/>
            </a:pPr>
            <a:r>
              <a:rPr lang="en-US" sz="1500" b="1" dirty="0">
                <a:solidFill>
                  <a:schemeClr val="tx2"/>
                </a:solidFill>
              </a:rPr>
              <a:t>Diabatic</a:t>
            </a:r>
            <a:endParaRPr lang="en-US" sz="1500" dirty="0"/>
          </a:p>
        </p:txBody>
      </p:sp>
      <p:sp>
        <p:nvSpPr>
          <p:cNvPr id="23" name="Text 18"/>
          <p:cNvSpPr txBox="1"/>
          <p:nvPr/>
        </p:nvSpPr>
        <p:spPr>
          <a:xfrm>
            <a:off x="9034272" y="2057400"/>
            <a:ext cx="2423160"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Heat exchanged with surroundings</a:t>
            </a:r>
            <a:endParaRPr lang="en-US" sz="1300" dirty="0"/>
          </a:p>
          <a:p>
            <a:pPr marL="177800" indent="-177800">
              <a:spcAft>
                <a:spcPts val="400"/>
              </a:spcAft>
              <a:buSzPct val="100000"/>
              <a:buChar char="•"/>
            </a:pPr>
            <a:r>
              <a:rPr lang="en-US" sz="1300" dirty="0">
                <a:solidFill>
                  <a:schemeClr val="tx1"/>
                </a:solidFill>
              </a:rPr>
              <a:t>Radiation, conduction, mixing</a:t>
            </a:r>
            <a:endParaRPr lang="en-US" sz="1300" dirty="0"/>
          </a:p>
          <a:p>
            <a:pPr marL="177800" indent="-177800">
              <a:spcAft>
                <a:spcPts val="400"/>
              </a:spcAft>
              <a:buSzPct val="100000"/>
              <a:buChar char="•"/>
            </a:pPr>
            <a:r>
              <a:rPr lang="en-US" sz="1300" dirty="0">
                <a:solidFill>
                  <a:schemeClr val="tx1"/>
                </a:solidFill>
              </a:rPr>
              <a:t>Common in lowest ~1 km</a:t>
            </a:r>
            <a:endParaRPr lang="en-US" sz="1300" dirty="0"/>
          </a:p>
        </p:txBody>
      </p:sp>
      <p:sp>
        <p:nvSpPr>
          <p:cNvPr id="24" name="card"/>
          <p:cNvSpPr/>
          <p:nvPr/>
        </p:nvSpPr>
        <p:spPr>
          <a:xfrm>
            <a:off x="5897880" y="3840480"/>
            <a:ext cx="2788920"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25" name="Text 20"/>
          <p:cNvSpPr txBox="1"/>
          <p:nvPr/>
        </p:nvSpPr>
        <p:spPr>
          <a:xfrm>
            <a:off x="6080760" y="3977640"/>
            <a:ext cx="2468880" cy="365760"/>
          </a:xfrm>
          <a:prstGeom prst="rect">
            <a:avLst/>
          </a:prstGeom>
          <a:noFill/>
          <a:ln/>
        </p:spPr>
        <p:txBody>
          <a:bodyPr wrap="square" lIns="0" tIns="0" rIns="0" bIns="0" rtlCol="0" anchor="ctr"/>
          <a:lstStyle/>
          <a:p>
            <a:pPr indent="0" marL="0">
              <a:buNone/>
            </a:pPr>
            <a:r>
              <a:rPr lang="en-US" sz="1500" b="1" dirty="0">
                <a:solidFill>
                  <a:schemeClr val="accent4"/>
                </a:solidFill>
              </a:rPr>
              <a:t>Dry adiabatic</a:t>
            </a:r>
            <a:endParaRPr lang="en-US" sz="1500" dirty="0"/>
          </a:p>
        </p:txBody>
      </p:sp>
      <p:sp>
        <p:nvSpPr>
          <p:cNvPr id="26" name="Text 21"/>
          <p:cNvSpPr txBox="1"/>
          <p:nvPr/>
        </p:nvSpPr>
        <p:spPr>
          <a:xfrm>
            <a:off x="6080760" y="4389120"/>
            <a:ext cx="2423160" cy="169164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Air </a:t>
            </a:r>
            <a:r>
              <a:rPr lang="en-US" sz="1300" b="1" dirty="0">
                <a:solidFill>
                  <a:schemeClr val="tx1"/>
                </a:solidFill>
              </a:rPr>
              <a:t>not saturated</a:t>
            </a:r>
            <a:endParaRPr lang="en-US" sz="1300" dirty="0"/>
          </a:p>
          <a:p>
            <a:pPr marL="177800" indent="-177800">
              <a:spcAft>
                <a:spcPts val="400"/>
              </a:spcAft>
              <a:buSzPct val="100000"/>
              <a:buChar char="•"/>
            </a:pPr>
            <a:r>
              <a:rPr lang="en-US" sz="1300" dirty="0">
                <a:solidFill>
                  <a:schemeClr val="tx1"/>
                </a:solidFill>
              </a:rPr>
              <a:t>Cooling purely by expansion</a:t>
            </a:r>
            <a:endParaRPr lang="en-US" sz="1300" dirty="0"/>
          </a:p>
          <a:p>
            <a:pPr marL="177800" indent="-177800">
              <a:spcAft>
                <a:spcPts val="400"/>
              </a:spcAft>
              <a:buSzPct val="100000"/>
              <a:buChar char="•"/>
            </a:pPr>
            <a:r>
              <a:rPr lang="en-US" sz="1300" dirty="0">
                <a:solidFill>
                  <a:schemeClr val="tx1"/>
                </a:solidFill>
              </a:rPr>
              <a:t>Γ</a:t>
            </a:r>
            <a:r>
              <a:rPr lang="en-US" sz="1300" baseline="-40000" dirty="0">
                <a:solidFill>
                  <a:schemeClr val="tx1"/>
                </a:solidFill>
              </a:rPr>
              <a:t>d</a:t>
            </a:r>
            <a:r>
              <a:rPr lang="en-US" sz="1300" dirty="0">
                <a:solidFill>
                  <a:schemeClr val="tx1"/>
                </a:solidFill>
              </a:rPr>
              <a:t> ≈ 9.8 K/km, constant</a:t>
            </a:r>
            <a:endParaRPr lang="en-US" sz="1300" dirty="0"/>
          </a:p>
        </p:txBody>
      </p:sp>
      <p:sp>
        <p:nvSpPr>
          <p:cNvPr id="27" name="card"/>
          <p:cNvSpPr/>
          <p:nvPr/>
        </p:nvSpPr>
        <p:spPr>
          <a:xfrm>
            <a:off x="8851392" y="3840480"/>
            <a:ext cx="2788920"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28" name="Text 23"/>
          <p:cNvSpPr txBox="1"/>
          <p:nvPr/>
        </p:nvSpPr>
        <p:spPr>
          <a:xfrm>
            <a:off x="9034272" y="3977640"/>
            <a:ext cx="2468880" cy="365760"/>
          </a:xfrm>
          <a:prstGeom prst="rect">
            <a:avLst/>
          </a:prstGeom>
          <a:noFill/>
          <a:ln/>
        </p:spPr>
        <p:txBody>
          <a:bodyPr wrap="square" lIns="0" tIns="0" rIns="0" bIns="0" rtlCol="0" anchor="ctr"/>
          <a:lstStyle/>
          <a:p>
            <a:pPr indent="0" marL="0">
              <a:buNone/>
            </a:pPr>
            <a:r>
              <a:rPr lang="en-US" sz="1500" b="1" dirty="0">
                <a:solidFill>
                  <a:schemeClr val="accent5"/>
                </a:solidFill>
              </a:rPr>
              <a:t>Moist (wet) adiabatic</a:t>
            </a:r>
            <a:endParaRPr lang="en-US" sz="1500" dirty="0"/>
          </a:p>
        </p:txBody>
      </p:sp>
      <p:sp>
        <p:nvSpPr>
          <p:cNvPr id="29" name="Text 24"/>
          <p:cNvSpPr txBox="1"/>
          <p:nvPr/>
        </p:nvSpPr>
        <p:spPr>
          <a:xfrm>
            <a:off x="9034272" y="4389120"/>
            <a:ext cx="2423160" cy="169164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Air </a:t>
            </a:r>
            <a:r>
              <a:rPr lang="en-US" sz="1300" b="1" dirty="0">
                <a:solidFill>
                  <a:schemeClr val="tx1"/>
                </a:solidFill>
              </a:rPr>
              <a:t>saturated</a:t>
            </a:r>
            <a:endParaRPr lang="en-US" sz="1300" dirty="0"/>
          </a:p>
          <a:p>
            <a:pPr marL="177800" indent="-177800">
              <a:spcAft>
                <a:spcPts val="400"/>
              </a:spcAft>
              <a:buSzPct val="100000"/>
              <a:buChar char="•"/>
            </a:pPr>
            <a:r>
              <a:rPr lang="en-US" sz="1300" dirty="0">
                <a:solidFill>
                  <a:schemeClr val="tx1"/>
                </a:solidFill>
              </a:rPr>
              <a:t>Expansion cooling partly offset by latent heat</a:t>
            </a:r>
            <a:endParaRPr lang="en-US" sz="1300" dirty="0"/>
          </a:p>
          <a:p>
            <a:pPr marL="177800" indent="-177800">
              <a:spcAft>
                <a:spcPts val="400"/>
              </a:spcAft>
              <a:buSzPct val="100000"/>
              <a:buChar char="•"/>
            </a:pPr>
            <a:r>
              <a:rPr lang="en-US" sz="1300" dirty="0">
                <a:solidFill>
                  <a:schemeClr val="tx1"/>
                </a:solidFill>
              </a:rPr>
              <a:t>Γ</a:t>
            </a:r>
            <a:r>
              <a:rPr lang="en-US" sz="1300" baseline="-40000" dirty="0">
                <a:solidFill>
                  <a:schemeClr val="tx1"/>
                </a:solidFill>
              </a:rPr>
              <a:t>s</a:t>
            </a:r>
            <a:r>
              <a:rPr lang="en-US" sz="1300" dirty="0">
                <a:solidFill>
                  <a:schemeClr val="tx1"/>
                </a:solidFill>
              </a:rPr>
              <a:t> ≈ 4–7 K/km, varies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Adiabatic lapse rates</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Deriving the dry and saturated adiabatic lapse rates step by step, and comparing them with the environment</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04</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Step by step: the dry adiabatic lapse rate (Γd)</a:t>
            </a:r>
            <a:endParaRPr lang="en-US" sz="3200" dirty="0"/>
          </a:p>
        </p:txBody>
      </p:sp>
      <p:sp>
        <p:nvSpPr>
          <p:cNvPr id="4" name="step number"/>
          <p:cNvSpPr/>
          <p:nvPr/>
        </p:nvSpPr>
        <p:spPr>
          <a:xfrm>
            <a:off x="548640" y="1408176"/>
            <a:ext cx="384048" cy="384048"/>
          </a:xfrm>
          <a:prstGeom prst="ellipse">
            <a:avLst/>
          </a:prstGeom>
          <a:solidFill>
            <a:schemeClr val="accent4"/>
          </a:solidFill>
          <a:ln/>
        </p:spPr>
      </p:sp>
      <p:sp>
        <p:nvSpPr>
          <p:cNvPr id="5" name="Text 2"/>
          <p:cNvSpPr txBox="1"/>
          <p:nvPr/>
        </p:nvSpPr>
        <p:spPr>
          <a:xfrm>
            <a:off x="548640" y="140817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3"/>
          <p:cNvSpPr txBox="1"/>
          <p:nvPr/>
        </p:nvSpPr>
        <p:spPr>
          <a:xfrm>
            <a:off x="1051560" y="1371600"/>
            <a:ext cx="6080760" cy="630936"/>
          </a:xfrm>
          <a:prstGeom prst="rect">
            <a:avLst/>
          </a:prstGeom>
          <a:noFill/>
          <a:ln/>
        </p:spPr>
        <p:txBody>
          <a:bodyPr wrap="square" lIns="0" tIns="0" rIns="0" bIns="0" rtlCol="0" anchor="ctr"/>
          <a:lstStyle/>
          <a:p>
            <a:pPr indent="0" marL="0">
              <a:buNone/>
            </a:pPr>
            <a:r>
              <a:rPr lang="en-US" sz="1500" dirty="0">
                <a:solidFill>
                  <a:schemeClr val="tx1"/>
                </a:solidFill>
              </a:rPr>
              <a:t>Unsaturated parcel rising adiabatically: </a:t>
            </a:r>
            <a:r>
              <a:rPr lang="en-US" sz="1500" b="1" dirty="0">
                <a:solidFill>
                  <a:schemeClr val="tx1"/>
                </a:solidFill>
              </a:rPr>
              <a:t>Δh = 0</a:t>
            </a:r>
            <a:endParaRPr lang="en-US" sz="1500" dirty="0"/>
          </a:p>
        </p:txBody>
      </p:sp>
      <p:sp>
        <p:nvSpPr>
          <p:cNvPr id="7" name="step number"/>
          <p:cNvSpPr/>
          <p:nvPr/>
        </p:nvSpPr>
        <p:spPr>
          <a:xfrm>
            <a:off x="548640" y="2084832"/>
            <a:ext cx="384048" cy="384048"/>
          </a:xfrm>
          <a:prstGeom prst="ellipse">
            <a:avLst/>
          </a:prstGeom>
          <a:solidFill>
            <a:schemeClr val="accent4"/>
          </a:solidFill>
          <a:ln/>
        </p:spPr>
      </p:sp>
      <p:sp>
        <p:nvSpPr>
          <p:cNvPr id="8" name="Text 5"/>
          <p:cNvSpPr txBox="1"/>
          <p:nvPr/>
        </p:nvSpPr>
        <p:spPr>
          <a:xfrm>
            <a:off x="548640" y="20848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6"/>
          <p:cNvSpPr txBox="1"/>
          <p:nvPr/>
        </p:nvSpPr>
        <p:spPr>
          <a:xfrm>
            <a:off x="1051560" y="2048256"/>
            <a:ext cx="6080760" cy="630936"/>
          </a:xfrm>
          <a:prstGeom prst="rect">
            <a:avLst/>
          </a:prstGeom>
          <a:noFill/>
          <a:ln/>
        </p:spPr>
        <p:txBody>
          <a:bodyPr wrap="square" lIns="0" tIns="0" rIns="0" bIns="0" rtlCol="0" anchor="ctr"/>
          <a:lstStyle/>
          <a:p>
            <a:pPr indent="0" marL="0">
              <a:buNone/>
            </a:pPr>
            <a:r>
              <a:rPr lang="en-US" sz="1500" dirty="0">
                <a:solidFill>
                  <a:schemeClr val="tx1"/>
                </a:solidFill>
              </a:rPr>
              <a:t>First law: 0 = c</a:t>
            </a:r>
            <a:r>
              <a:rPr lang="en-US" sz="1500" baseline="-40000" dirty="0">
                <a:solidFill>
                  <a:schemeClr val="tx1"/>
                </a:solidFill>
              </a:rPr>
              <a:t>p</a:t>
            </a:r>
            <a:r>
              <a:rPr lang="en-US" sz="1500" dirty="0">
                <a:solidFill>
                  <a:schemeClr val="tx1"/>
                </a:solidFill>
              </a:rPr>
              <a:t> ΔT − α ΔP  →  c</a:t>
            </a:r>
            <a:r>
              <a:rPr lang="en-US" sz="1500" baseline="-40000" dirty="0">
                <a:solidFill>
                  <a:schemeClr val="tx1"/>
                </a:solidFill>
              </a:rPr>
              <a:t>p</a:t>
            </a:r>
            <a:r>
              <a:rPr lang="en-US" sz="1500" dirty="0">
                <a:solidFill>
                  <a:schemeClr val="tx1"/>
                </a:solidFill>
              </a:rPr>
              <a:t> ΔT = α ΔP</a:t>
            </a:r>
            <a:endParaRPr lang="en-US" sz="1500" dirty="0"/>
          </a:p>
        </p:txBody>
      </p:sp>
      <p:sp>
        <p:nvSpPr>
          <p:cNvPr id="10" name="step number"/>
          <p:cNvSpPr/>
          <p:nvPr/>
        </p:nvSpPr>
        <p:spPr>
          <a:xfrm>
            <a:off x="548640" y="2761488"/>
            <a:ext cx="384048" cy="384048"/>
          </a:xfrm>
          <a:prstGeom prst="ellipse">
            <a:avLst/>
          </a:prstGeom>
          <a:solidFill>
            <a:schemeClr val="accent4"/>
          </a:solidFill>
          <a:ln/>
        </p:spPr>
      </p:sp>
      <p:sp>
        <p:nvSpPr>
          <p:cNvPr id="11" name="Text 8"/>
          <p:cNvSpPr txBox="1"/>
          <p:nvPr/>
        </p:nvSpPr>
        <p:spPr>
          <a:xfrm>
            <a:off x="548640" y="27614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9"/>
          <p:cNvSpPr txBox="1"/>
          <p:nvPr/>
        </p:nvSpPr>
        <p:spPr>
          <a:xfrm>
            <a:off x="1051560" y="2724912"/>
            <a:ext cx="6080760" cy="630936"/>
          </a:xfrm>
          <a:prstGeom prst="rect">
            <a:avLst/>
          </a:prstGeom>
          <a:noFill/>
          <a:ln/>
        </p:spPr>
        <p:txBody>
          <a:bodyPr wrap="square" lIns="0" tIns="0" rIns="0" bIns="0" rtlCol="0" anchor="ctr"/>
          <a:lstStyle/>
          <a:p>
            <a:pPr indent="0" marL="0">
              <a:buNone/>
            </a:pPr>
            <a:r>
              <a:rPr lang="en-US" sz="1500" dirty="0">
                <a:solidFill>
                  <a:schemeClr val="tx1"/>
                </a:solidFill>
              </a:rPr>
              <a:t>Hydrostatic equation: </a:t>
            </a:r>
            <a:r>
              <a:rPr lang="en-US" sz="1500" b="1" dirty="0">
                <a:solidFill>
                  <a:schemeClr val="tx1"/>
                </a:solidFill>
              </a:rPr>
              <a:t>−ΔP = ρ g ΔZ</a:t>
            </a:r>
            <a:endParaRPr lang="en-US" sz="1500" dirty="0"/>
          </a:p>
        </p:txBody>
      </p:sp>
      <p:sp>
        <p:nvSpPr>
          <p:cNvPr id="13" name="step number"/>
          <p:cNvSpPr/>
          <p:nvPr/>
        </p:nvSpPr>
        <p:spPr>
          <a:xfrm>
            <a:off x="548640" y="3438144"/>
            <a:ext cx="384048" cy="384048"/>
          </a:xfrm>
          <a:prstGeom prst="ellipse">
            <a:avLst/>
          </a:prstGeom>
          <a:solidFill>
            <a:schemeClr val="accent4"/>
          </a:solidFill>
          <a:ln/>
        </p:spPr>
      </p:sp>
      <p:sp>
        <p:nvSpPr>
          <p:cNvPr id="14" name="Text 11"/>
          <p:cNvSpPr txBox="1"/>
          <p:nvPr/>
        </p:nvSpPr>
        <p:spPr>
          <a:xfrm>
            <a:off x="548640" y="343814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Text 12"/>
          <p:cNvSpPr txBox="1"/>
          <p:nvPr/>
        </p:nvSpPr>
        <p:spPr>
          <a:xfrm>
            <a:off x="1051560" y="3401568"/>
            <a:ext cx="6080760" cy="630936"/>
          </a:xfrm>
          <a:prstGeom prst="rect">
            <a:avLst/>
          </a:prstGeom>
          <a:noFill/>
          <a:ln/>
        </p:spPr>
        <p:txBody>
          <a:bodyPr wrap="square" lIns="0" tIns="0" rIns="0" bIns="0" rtlCol="0" anchor="ctr"/>
          <a:lstStyle/>
          <a:p>
            <a:pPr indent="0" marL="0">
              <a:buNone/>
            </a:pPr>
            <a:r>
              <a:rPr lang="en-US" sz="1500" dirty="0">
                <a:solidFill>
                  <a:schemeClr val="tx1"/>
                </a:solidFill>
              </a:rPr>
              <a:t>Substitute: c</a:t>
            </a:r>
            <a:r>
              <a:rPr lang="en-US" sz="1500" baseline="-40000" dirty="0">
                <a:solidFill>
                  <a:schemeClr val="tx1"/>
                </a:solidFill>
              </a:rPr>
              <a:t>p</a:t>
            </a:r>
            <a:r>
              <a:rPr lang="en-US" sz="1500" dirty="0">
                <a:solidFill>
                  <a:schemeClr val="tx1"/>
                </a:solidFill>
              </a:rPr>
              <a:t> ΔT = −α ρ g ΔZ</a:t>
            </a:r>
            <a:endParaRPr lang="en-US" sz="1500" dirty="0"/>
          </a:p>
        </p:txBody>
      </p:sp>
      <p:sp>
        <p:nvSpPr>
          <p:cNvPr id="16" name="step number"/>
          <p:cNvSpPr/>
          <p:nvPr/>
        </p:nvSpPr>
        <p:spPr>
          <a:xfrm>
            <a:off x="548640" y="4114800"/>
            <a:ext cx="384048" cy="384048"/>
          </a:xfrm>
          <a:prstGeom prst="ellipse">
            <a:avLst/>
          </a:prstGeom>
          <a:solidFill>
            <a:schemeClr val="accent4"/>
          </a:solidFill>
          <a:ln/>
        </p:spPr>
      </p:sp>
      <p:sp>
        <p:nvSpPr>
          <p:cNvPr id="17" name="Text 14"/>
          <p:cNvSpPr txBox="1"/>
          <p:nvPr/>
        </p:nvSpPr>
        <p:spPr>
          <a:xfrm>
            <a:off x="548640" y="41148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8" name="Text 15"/>
          <p:cNvSpPr txBox="1"/>
          <p:nvPr/>
        </p:nvSpPr>
        <p:spPr>
          <a:xfrm>
            <a:off x="1051560" y="4078224"/>
            <a:ext cx="6080760" cy="630936"/>
          </a:xfrm>
          <a:prstGeom prst="rect">
            <a:avLst/>
          </a:prstGeom>
          <a:noFill/>
          <a:ln/>
        </p:spPr>
        <p:txBody>
          <a:bodyPr wrap="square" lIns="0" tIns="0" rIns="0" bIns="0" rtlCol="0" anchor="ctr"/>
          <a:lstStyle/>
          <a:p>
            <a:pPr indent="0" marL="0">
              <a:buNone/>
            </a:pPr>
            <a:r>
              <a:rPr lang="en-US" sz="1500" dirty="0">
                <a:solidFill>
                  <a:schemeClr val="tx1"/>
                </a:solidFill>
              </a:rPr>
              <a:t>Because α = 1/ρ, </a:t>
            </a:r>
            <a:r>
              <a:rPr lang="en-US" sz="1500" b="1" dirty="0">
                <a:solidFill>
                  <a:schemeClr val="tx1"/>
                </a:solidFill>
              </a:rPr>
              <a:t>αρ = 1</a:t>
            </a:r>
            <a:r>
              <a:rPr lang="en-US" sz="1500" dirty="0">
                <a:solidFill>
                  <a:schemeClr val="tx1"/>
                </a:solidFill>
              </a:rPr>
              <a:t>  →  ΔT/ΔZ = −g/c</a:t>
            </a:r>
            <a:r>
              <a:rPr lang="en-US" sz="1500" baseline="-40000" dirty="0">
                <a:solidFill>
                  <a:schemeClr val="tx1"/>
                </a:solidFill>
              </a:rPr>
              <a:t>p</a:t>
            </a:r>
            <a:endParaRPr lang="en-US" sz="1500" dirty="0"/>
          </a:p>
        </p:txBody>
      </p:sp>
      <p:sp>
        <p:nvSpPr>
          <p:cNvPr id="19" name="step number"/>
          <p:cNvSpPr/>
          <p:nvPr/>
        </p:nvSpPr>
        <p:spPr>
          <a:xfrm>
            <a:off x="548640" y="4791456"/>
            <a:ext cx="384048" cy="384048"/>
          </a:xfrm>
          <a:prstGeom prst="ellipse">
            <a:avLst/>
          </a:prstGeom>
          <a:solidFill>
            <a:schemeClr val="accent4"/>
          </a:solidFill>
          <a:ln/>
        </p:spPr>
      </p:sp>
      <p:sp>
        <p:nvSpPr>
          <p:cNvPr id="20" name="Text 17"/>
          <p:cNvSpPr txBox="1"/>
          <p:nvPr/>
        </p:nvSpPr>
        <p:spPr>
          <a:xfrm>
            <a:off x="548640" y="479145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1" name="Text 18"/>
          <p:cNvSpPr txBox="1"/>
          <p:nvPr/>
        </p:nvSpPr>
        <p:spPr>
          <a:xfrm>
            <a:off x="1051560" y="4754880"/>
            <a:ext cx="6080760" cy="630936"/>
          </a:xfrm>
          <a:prstGeom prst="rect">
            <a:avLst/>
          </a:prstGeom>
          <a:noFill/>
          <a:ln/>
        </p:spPr>
        <p:txBody>
          <a:bodyPr wrap="square" lIns="0" tIns="0" rIns="0" bIns="0" rtlCol="0" anchor="ctr"/>
          <a:lstStyle/>
          <a:p>
            <a:pPr indent="0" marL="0">
              <a:buNone/>
            </a:pPr>
            <a:r>
              <a:rPr lang="en-US" sz="1500" dirty="0">
                <a:solidFill>
                  <a:schemeClr val="tx1"/>
                </a:solidFill>
              </a:rPr>
              <a:t>Lapse rate (rate of decrease): </a:t>
            </a:r>
            <a:r>
              <a:rPr lang="en-US" sz="1500" b="1" dirty="0">
                <a:solidFill>
                  <a:schemeClr val="tx1"/>
                </a:solidFill>
              </a:rPr>
              <a:t>Γ</a:t>
            </a:r>
            <a:r>
              <a:rPr lang="en-US" sz="1500" b="1" baseline="-40000" dirty="0">
                <a:solidFill>
                  <a:schemeClr val="tx1"/>
                </a:solidFill>
              </a:rPr>
              <a:t>d</a:t>
            </a:r>
            <a:r>
              <a:rPr lang="en-US" sz="1500" b="1" dirty="0">
                <a:solidFill>
                  <a:schemeClr val="tx1"/>
                </a:solidFill>
              </a:rPr>
              <a:t> = −ΔT/ΔZ = g/c</a:t>
            </a:r>
            <a:r>
              <a:rPr lang="en-US" sz="1500" b="1" baseline="-40000" dirty="0">
                <a:solidFill>
                  <a:schemeClr val="tx1"/>
                </a:solidFill>
              </a:rPr>
              <a:t>p</a:t>
            </a:r>
            <a:endParaRPr lang="en-US" sz="1500" dirty="0"/>
          </a:p>
        </p:txBody>
      </p:sp>
      <p:sp>
        <p:nvSpPr>
          <p:cNvPr id="22" name="card"/>
          <p:cNvSpPr/>
          <p:nvPr/>
        </p:nvSpPr>
        <p:spPr>
          <a:xfrm>
            <a:off x="7498080" y="1371600"/>
            <a:ext cx="4142232" cy="1371600"/>
          </a:xfrm>
          <a:prstGeom prst="roundRect">
            <a:avLst>
              <a:gd name="adj" fmla="val 5333"/>
            </a:avLst>
          </a:prstGeom>
          <a:solidFill>
            <a:schemeClr val="accent4"/>
          </a:solidFill>
          <a:ln/>
          <a:effectLst>
            <a:outerShdw sx="100000" sy="100000" kx="0" ky="0" algn="bl" rotWithShape="0" blurRad="76200" dist="25400" dir="5400000">
              <a:srgbClr val="000000">
                <a:alpha val="14000"/>
              </a:srgbClr>
            </a:outerShdw>
          </a:effectLst>
        </p:spPr>
      </p:sp>
      <p:sp>
        <p:nvSpPr>
          <p:cNvPr id="23" name="Text 20"/>
          <p:cNvSpPr txBox="1"/>
          <p:nvPr/>
        </p:nvSpPr>
        <p:spPr>
          <a:xfrm>
            <a:off x="7635240" y="1371600"/>
            <a:ext cx="3867912" cy="1371600"/>
          </a:xfrm>
          <a:prstGeom prst="rect">
            <a:avLst/>
          </a:prstGeom>
          <a:noFill/>
          <a:ln/>
        </p:spPr>
        <p:txBody>
          <a:bodyPr wrap="square" lIns="0" tIns="0" rIns="0" bIns="0" rtlCol="0" anchor="ctr"/>
          <a:lstStyle/>
          <a:p>
            <a:pPr algn="ctr" indent="0" marL="0">
              <a:buNone/>
            </a:pPr>
            <a:r>
              <a:rPr lang="en-US" sz="3000" b="1" dirty="0">
                <a:solidFill>
                  <a:schemeClr val="bg1"/>
                </a:solidFill>
              </a:rPr>
              <a:t>Γ</a:t>
            </a:r>
            <a:r>
              <a:rPr lang="en-US" sz="3000" b="1" baseline="-40000" dirty="0">
                <a:solidFill>
                  <a:schemeClr val="bg1"/>
                </a:solidFill>
              </a:rPr>
              <a:t>d</a:t>
            </a:r>
            <a:r>
              <a:rPr lang="en-US" sz="3000" b="1" dirty="0">
                <a:solidFill>
                  <a:schemeClr val="bg1"/>
                </a:solidFill>
              </a:rPr>
              <a:t> = g / c</a:t>
            </a:r>
            <a:r>
              <a:rPr lang="en-US" sz="3000" b="1" baseline="-40000" dirty="0">
                <a:solidFill>
                  <a:schemeClr val="bg1"/>
                </a:solidFill>
              </a:rPr>
              <a:t>p</a:t>
            </a:r>
            <a:endParaRPr lang="en-US" sz="3000" dirty="0"/>
          </a:p>
        </p:txBody>
      </p:sp>
      <p:sp>
        <p:nvSpPr>
          <p:cNvPr id="24" name="card"/>
          <p:cNvSpPr/>
          <p:nvPr/>
        </p:nvSpPr>
        <p:spPr>
          <a:xfrm>
            <a:off x="7498080" y="2926080"/>
            <a:ext cx="4142232" cy="1737360"/>
          </a:xfrm>
          <a:prstGeom prst="roundRect">
            <a:avLst>
              <a:gd name="adj" fmla="val 4211"/>
            </a:avLst>
          </a:prstGeom>
          <a:solidFill>
            <a:schemeClr val="bg2"/>
          </a:solidFill>
          <a:ln/>
          <a:effectLst>
            <a:outerShdw sx="100000" sy="100000" kx="0" ky="0" algn="bl" rotWithShape="0" blurRad="76200" dist="25400" dir="5400000">
              <a:srgbClr val="000000">
                <a:alpha val="14000"/>
              </a:srgbClr>
            </a:outerShdw>
          </a:effectLst>
        </p:spPr>
      </p:sp>
      <p:sp>
        <p:nvSpPr>
          <p:cNvPr id="25" name="Text 22"/>
          <p:cNvSpPr txBox="1"/>
          <p:nvPr/>
        </p:nvSpPr>
        <p:spPr>
          <a:xfrm>
            <a:off x="7635240" y="3017520"/>
            <a:ext cx="3931920" cy="457200"/>
          </a:xfrm>
          <a:prstGeom prst="rect">
            <a:avLst/>
          </a:prstGeom>
          <a:noFill/>
          <a:ln/>
        </p:spPr>
        <p:txBody>
          <a:bodyPr wrap="square" lIns="0" tIns="0" rIns="0" bIns="0" rtlCol="0" anchor="ctr"/>
          <a:lstStyle/>
          <a:p>
            <a:pPr algn="ctr" indent="0" marL="0">
              <a:buNone/>
            </a:pPr>
            <a:r>
              <a:rPr lang="en-US" sz="1600" b="1" dirty="0">
                <a:solidFill>
                  <a:schemeClr val="tx2"/>
                </a:solidFill>
              </a:rPr>
              <a:t>= 9.81 / 1004 ≈ 0.0098 K/m</a:t>
            </a:r>
            <a:endParaRPr lang="en-US" sz="1600" dirty="0"/>
          </a:p>
        </p:txBody>
      </p:sp>
      <p:sp>
        <p:nvSpPr>
          <p:cNvPr id="26" name="Text 23"/>
          <p:cNvSpPr txBox="1"/>
          <p:nvPr/>
        </p:nvSpPr>
        <p:spPr>
          <a:xfrm>
            <a:off x="7635240" y="3520440"/>
            <a:ext cx="3931920" cy="457200"/>
          </a:xfrm>
          <a:prstGeom prst="rect">
            <a:avLst/>
          </a:prstGeom>
          <a:noFill/>
          <a:ln/>
        </p:spPr>
        <p:txBody>
          <a:bodyPr wrap="square" lIns="0" tIns="0" rIns="0" bIns="0" rtlCol="0" anchor="ctr"/>
          <a:lstStyle/>
          <a:p>
            <a:pPr algn="ctr" indent="0" marL="0">
              <a:buNone/>
            </a:pPr>
            <a:r>
              <a:rPr lang="en-US" sz="1600" b="1" dirty="0">
                <a:solidFill>
                  <a:schemeClr val="accent4"/>
                </a:solidFill>
              </a:rPr>
              <a:t>≈ 1 °C per 100 m ≈ 10 °C per km</a:t>
            </a:r>
            <a:endParaRPr lang="en-US" sz="1600" dirty="0"/>
          </a:p>
        </p:txBody>
      </p:sp>
      <p:sp>
        <p:nvSpPr>
          <p:cNvPr id="27" name="Text 24"/>
          <p:cNvSpPr txBox="1"/>
          <p:nvPr/>
        </p:nvSpPr>
        <p:spPr>
          <a:xfrm>
            <a:off x="7635240" y="4023360"/>
            <a:ext cx="3931920" cy="457200"/>
          </a:xfrm>
          <a:prstGeom prst="rect">
            <a:avLst/>
          </a:prstGeom>
          <a:noFill/>
          <a:ln/>
        </p:spPr>
        <p:txBody>
          <a:bodyPr wrap="square" lIns="0" tIns="0" rIns="0" bIns="0" rtlCol="0" anchor="ctr"/>
          <a:lstStyle/>
          <a:p>
            <a:pPr algn="ctr" indent="0" marL="0">
              <a:buNone/>
            </a:pPr>
            <a:r>
              <a:rPr lang="en-US" sz="1400" dirty="0">
                <a:solidFill>
                  <a:schemeClr val="accent6"/>
                </a:solidFill>
              </a:rPr>
              <a:t>(9.8 K/km)</a:t>
            </a:r>
            <a:endParaRPr lang="en-US" sz="1400" dirty="0"/>
          </a:p>
        </p:txBody>
      </p:sp>
      <p:sp>
        <p:nvSpPr>
          <p:cNvPr id="28" name="card"/>
          <p:cNvSpPr/>
          <p:nvPr/>
        </p:nvSpPr>
        <p:spPr>
          <a:xfrm>
            <a:off x="7498080" y="4846320"/>
            <a:ext cx="4142232" cy="1325880"/>
          </a:xfrm>
          <a:prstGeom prst="roundRect">
            <a:avLst>
              <a:gd name="adj" fmla="val 5517"/>
            </a:avLst>
          </a:prstGeom>
          <a:solidFill>
            <a:schemeClr val="bg2"/>
          </a:solidFill>
          <a:ln/>
          <a:effectLst>
            <a:outerShdw sx="100000" sy="100000" kx="0" ky="0" algn="bl" rotWithShape="0" blurRad="76200" dist="25400" dir="5400000">
              <a:srgbClr val="000000">
                <a:alpha val="14000"/>
              </a:srgbClr>
            </a:outerShdw>
          </a:effectLst>
        </p:spPr>
      </p:sp>
      <p:sp>
        <p:nvSpPr>
          <p:cNvPr id="29" name="icon circle"/>
          <p:cNvSpPr/>
          <p:nvPr/>
        </p:nvSpPr>
        <p:spPr>
          <a:xfrm>
            <a:off x="7680960" y="5001768"/>
            <a:ext cx="420624" cy="420624"/>
          </a:xfrm>
          <a:prstGeom prst="ellipse">
            <a:avLst/>
          </a:prstGeom>
          <a:solidFill>
            <a:schemeClr val="accent4"/>
          </a:solidFill>
          <a:ln/>
        </p:spPr>
      </p:sp>
      <p:pic>
        <p:nvPicPr>
          <p:cNvPr id="30" name="Image 0" descr="Check icon">    </p:cNvPr>
          <p:cNvPicPr>
            <a:picLocks noChangeAspect="1"/>
          </p:cNvPicPr>
          <p:nvPr/>
        </p:nvPicPr>
        <p:blipFill>
          <a:blip r:embed="rId1"/>
          <a:stretch>
            <a:fillRect/>
          </a:stretch>
        </p:blipFill>
        <p:spPr>
          <a:xfrm>
            <a:off x="7790322" y="5111130"/>
            <a:ext cx="201900" cy="201900"/>
          </a:xfrm>
          <a:prstGeom prst="rect">
            <a:avLst/>
          </a:prstGeom>
        </p:spPr>
      </p:pic>
      <p:sp>
        <p:nvSpPr>
          <p:cNvPr id="31" name="Text 27"/>
          <p:cNvSpPr txBox="1"/>
          <p:nvPr/>
        </p:nvSpPr>
        <p:spPr>
          <a:xfrm>
            <a:off x="8211312" y="4983480"/>
            <a:ext cx="3291840" cy="457200"/>
          </a:xfrm>
          <a:prstGeom prst="rect">
            <a:avLst/>
          </a:prstGeom>
          <a:noFill/>
          <a:ln/>
        </p:spPr>
        <p:txBody>
          <a:bodyPr wrap="square" lIns="0" tIns="0" rIns="0" bIns="0" rtlCol="0" anchor="ctr"/>
          <a:lstStyle/>
          <a:p>
            <a:pPr indent="0" marL="0">
              <a:buNone/>
            </a:pPr>
            <a:r>
              <a:rPr lang="en-US" sz="1600" b="1" dirty="0">
                <a:solidFill>
                  <a:schemeClr val="tx2"/>
                </a:solidFill>
              </a:rPr>
              <a:t>Constant</a:t>
            </a:r>
            <a:endParaRPr lang="en-US" sz="1600" dirty="0"/>
          </a:p>
        </p:txBody>
      </p:sp>
      <p:sp>
        <p:nvSpPr>
          <p:cNvPr id="32" name="Text 28"/>
          <p:cNvSpPr txBox="1"/>
          <p:nvPr/>
        </p:nvSpPr>
        <p:spPr>
          <a:xfrm>
            <a:off x="7680960" y="5532120"/>
            <a:ext cx="3776472" cy="5486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Depends only on g and c</a:t>
            </a:r>
            <a:r>
              <a:rPr lang="en-US" sz="1300" baseline="-40000" dirty="0">
                <a:solidFill>
                  <a:schemeClr val="tx1"/>
                </a:solidFill>
              </a:rPr>
              <a:t>p</a:t>
            </a:r>
            <a:r>
              <a:rPr lang="en-US" sz="1300" dirty="0">
                <a:solidFill>
                  <a:schemeClr val="tx1"/>
                </a:solidFill>
              </a:rPr>
              <a:t>, not on temperature or humidity.</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Step by step: the saturated (wet) adiabatic lapse rate (Γs)</a:t>
            </a:r>
            <a:endParaRPr lang="en-US" sz="3200" dirty="0"/>
          </a:p>
        </p:txBody>
      </p:sp>
      <p:sp>
        <p:nvSpPr>
          <p:cNvPr id="4" name="step number"/>
          <p:cNvSpPr/>
          <p:nvPr/>
        </p:nvSpPr>
        <p:spPr>
          <a:xfrm>
            <a:off x="548640" y="1408176"/>
            <a:ext cx="384048" cy="384048"/>
          </a:xfrm>
          <a:prstGeom prst="ellipse">
            <a:avLst/>
          </a:prstGeom>
          <a:solidFill>
            <a:schemeClr val="accent5"/>
          </a:solidFill>
          <a:ln/>
        </p:spPr>
      </p:sp>
      <p:sp>
        <p:nvSpPr>
          <p:cNvPr id="5" name="Text 2"/>
          <p:cNvSpPr txBox="1"/>
          <p:nvPr/>
        </p:nvSpPr>
        <p:spPr>
          <a:xfrm>
            <a:off x="548640" y="140817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3"/>
          <p:cNvSpPr txBox="1"/>
          <p:nvPr/>
        </p:nvSpPr>
        <p:spPr>
          <a:xfrm>
            <a:off x="1051560" y="1371600"/>
            <a:ext cx="6263640" cy="630936"/>
          </a:xfrm>
          <a:prstGeom prst="rect">
            <a:avLst/>
          </a:prstGeom>
          <a:noFill/>
          <a:ln/>
        </p:spPr>
        <p:txBody>
          <a:bodyPr wrap="square" lIns="0" tIns="0" rIns="0" bIns="0" rtlCol="0" anchor="ctr"/>
          <a:lstStyle/>
          <a:p>
            <a:pPr indent="0" marL="0">
              <a:buNone/>
            </a:pPr>
            <a:r>
              <a:rPr lang="en-US" sz="1400" dirty="0">
                <a:solidFill>
                  <a:schemeClr val="tx1"/>
                </a:solidFill>
              </a:rPr>
              <a:t>Saturated parcel: 1 g dry air + r g vapour; rising condenses Δr (Δr &lt; 0)</a:t>
            </a:r>
            <a:endParaRPr lang="en-US" sz="1400" dirty="0"/>
          </a:p>
        </p:txBody>
      </p:sp>
      <p:sp>
        <p:nvSpPr>
          <p:cNvPr id="7" name="step number"/>
          <p:cNvSpPr/>
          <p:nvPr/>
        </p:nvSpPr>
        <p:spPr>
          <a:xfrm>
            <a:off x="548640" y="2084832"/>
            <a:ext cx="384048" cy="384048"/>
          </a:xfrm>
          <a:prstGeom prst="ellipse">
            <a:avLst/>
          </a:prstGeom>
          <a:solidFill>
            <a:schemeClr val="accent5"/>
          </a:solidFill>
          <a:ln/>
        </p:spPr>
      </p:sp>
      <p:sp>
        <p:nvSpPr>
          <p:cNvPr id="8" name="Text 5"/>
          <p:cNvSpPr txBox="1"/>
          <p:nvPr/>
        </p:nvSpPr>
        <p:spPr>
          <a:xfrm>
            <a:off x="548640" y="208483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6"/>
          <p:cNvSpPr txBox="1"/>
          <p:nvPr/>
        </p:nvSpPr>
        <p:spPr>
          <a:xfrm>
            <a:off x="1051560" y="2048256"/>
            <a:ext cx="6263640" cy="630936"/>
          </a:xfrm>
          <a:prstGeom prst="rect">
            <a:avLst/>
          </a:prstGeom>
          <a:noFill/>
          <a:ln/>
        </p:spPr>
        <p:txBody>
          <a:bodyPr wrap="square" lIns="0" tIns="0" rIns="0" bIns="0" rtlCol="0" anchor="ctr"/>
          <a:lstStyle/>
          <a:p>
            <a:pPr indent="0" marL="0">
              <a:buNone/>
            </a:pPr>
            <a:r>
              <a:rPr lang="en-US" sz="1400" dirty="0">
                <a:solidFill>
                  <a:schemeClr val="tx1"/>
                </a:solidFill>
              </a:rPr>
              <a:t>Heat released = </a:t>
            </a:r>
            <a:r>
              <a:rPr lang="en-US" sz="1400" b="1" dirty="0">
                <a:solidFill>
                  <a:schemeClr val="tx1"/>
                </a:solidFill>
              </a:rPr>
              <a:t>−L Δr</a:t>
            </a:r>
            <a:r>
              <a:rPr lang="en-US" sz="1400" dirty="0">
                <a:solidFill>
                  <a:schemeClr val="tx1"/>
                </a:solidFill>
              </a:rPr>
              <a:t> (L = latent heat of condensation)</a:t>
            </a:r>
            <a:endParaRPr lang="en-US" sz="1400" dirty="0"/>
          </a:p>
        </p:txBody>
      </p:sp>
      <p:sp>
        <p:nvSpPr>
          <p:cNvPr id="10" name="step number"/>
          <p:cNvSpPr/>
          <p:nvPr/>
        </p:nvSpPr>
        <p:spPr>
          <a:xfrm>
            <a:off x="548640" y="2761488"/>
            <a:ext cx="384048" cy="384048"/>
          </a:xfrm>
          <a:prstGeom prst="ellipse">
            <a:avLst/>
          </a:prstGeom>
          <a:solidFill>
            <a:schemeClr val="accent5"/>
          </a:solidFill>
          <a:ln/>
        </p:spPr>
      </p:sp>
      <p:sp>
        <p:nvSpPr>
          <p:cNvPr id="11" name="Text 8"/>
          <p:cNvSpPr txBox="1"/>
          <p:nvPr/>
        </p:nvSpPr>
        <p:spPr>
          <a:xfrm>
            <a:off x="548640" y="276148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9"/>
          <p:cNvSpPr txBox="1"/>
          <p:nvPr/>
        </p:nvSpPr>
        <p:spPr>
          <a:xfrm>
            <a:off x="1051560" y="2724912"/>
            <a:ext cx="6263640" cy="630936"/>
          </a:xfrm>
          <a:prstGeom prst="rect">
            <a:avLst/>
          </a:prstGeom>
          <a:noFill/>
          <a:ln/>
        </p:spPr>
        <p:txBody>
          <a:bodyPr wrap="square" lIns="0" tIns="0" rIns="0" bIns="0" rtlCol="0" anchor="ctr"/>
          <a:lstStyle/>
          <a:p>
            <a:pPr indent="0" marL="0">
              <a:buNone/>
            </a:pPr>
            <a:r>
              <a:rPr lang="en-US" sz="1400" dirty="0">
                <a:solidFill>
                  <a:schemeClr val="tx1"/>
                </a:solidFill>
              </a:rPr>
              <a:t>First law: </a:t>
            </a:r>
            <a:r>
              <a:rPr lang="en-US" sz="1400" b="1" dirty="0">
                <a:solidFill>
                  <a:schemeClr val="tx1"/>
                </a:solidFill>
              </a:rPr>
              <a:t>−L Δr = c</a:t>
            </a:r>
            <a:r>
              <a:rPr lang="en-US" sz="1400" b="1" baseline="-40000" dirty="0">
                <a:solidFill>
                  <a:schemeClr val="tx1"/>
                </a:solidFill>
              </a:rPr>
              <a:t>p</a:t>
            </a:r>
            <a:r>
              <a:rPr lang="en-US" sz="1400" b="1" dirty="0">
                <a:solidFill>
                  <a:schemeClr val="tx1"/>
                </a:solidFill>
              </a:rPr>
              <a:t> ΔT − α ΔP</a:t>
            </a:r>
            <a:r>
              <a:rPr lang="en-US" sz="1400" dirty="0">
                <a:solidFill>
                  <a:schemeClr val="tx1"/>
                </a:solidFill>
              </a:rPr>
              <a:t>  →  ΔT = (α ΔP − L Δr)/c</a:t>
            </a:r>
            <a:r>
              <a:rPr lang="en-US" sz="1400" baseline="-40000" dirty="0">
                <a:solidFill>
                  <a:schemeClr val="tx1"/>
                </a:solidFill>
              </a:rPr>
              <a:t>p</a:t>
            </a:r>
            <a:endParaRPr lang="en-US" sz="1400" dirty="0"/>
          </a:p>
        </p:txBody>
      </p:sp>
      <p:sp>
        <p:nvSpPr>
          <p:cNvPr id="13" name="step number"/>
          <p:cNvSpPr/>
          <p:nvPr/>
        </p:nvSpPr>
        <p:spPr>
          <a:xfrm>
            <a:off x="548640" y="3438144"/>
            <a:ext cx="384048" cy="384048"/>
          </a:xfrm>
          <a:prstGeom prst="ellipse">
            <a:avLst/>
          </a:prstGeom>
          <a:solidFill>
            <a:schemeClr val="accent5"/>
          </a:solidFill>
          <a:ln/>
        </p:spPr>
      </p:sp>
      <p:sp>
        <p:nvSpPr>
          <p:cNvPr id="14" name="Text 11"/>
          <p:cNvSpPr txBox="1"/>
          <p:nvPr/>
        </p:nvSpPr>
        <p:spPr>
          <a:xfrm>
            <a:off x="548640" y="343814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Text 12"/>
          <p:cNvSpPr txBox="1"/>
          <p:nvPr/>
        </p:nvSpPr>
        <p:spPr>
          <a:xfrm>
            <a:off x="1051560" y="3401568"/>
            <a:ext cx="6263640" cy="630936"/>
          </a:xfrm>
          <a:prstGeom prst="rect">
            <a:avLst/>
          </a:prstGeom>
          <a:noFill/>
          <a:ln/>
        </p:spPr>
        <p:txBody>
          <a:bodyPr wrap="square" lIns="0" tIns="0" rIns="0" bIns="0" rtlCol="0" anchor="ctr"/>
          <a:lstStyle/>
          <a:p>
            <a:pPr indent="0" marL="0">
              <a:buNone/>
            </a:pPr>
            <a:r>
              <a:rPr lang="en-US" sz="1400" dirty="0">
                <a:solidFill>
                  <a:schemeClr val="tx1"/>
                </a:solidFill>
              </a:rPr>
              <a:t>Hydrostatic −ΔP = ρ g ΔZ: ΔT = −g ΔZ/c</a:t>
            </a:r>
            <a:r>
              <a:rPr lang="en-US" sz="1400" baseline="-40000" dirty="0">
                <a:solidFill>
                  <a:schemeClr val="tx1"/>
                </a:solidFill>
              </a:rPr>
              <a:t>p</a:t>
            </a:r>
            <a:r>
              <a:rPr lang="en-US" sz="1400" dirty="0">
                <a:solidFill>
                  <a:schemeClr val="tx1"/>
                </a:solidFill>
              </a:rPr>
              <a:t> − L Δr/c</a:t>
            </a:r>
            <a:r>
              <a:rPr lang="en-US" sz="1400" baseline="-40000" dirty="0">
                <a:solidFill>
                  <a:schemeClr val="tx1"/>
                </a:solidFill>
              </a:rPr>
              <a:t>p</a:t>
            </a:r>
            <a:endParaRPr lang="en-US" sz="1400" dirty="0"/>
          </a:p>
        </p:txBody>
      </p:sp>
      <p:sp>
        <p:nvSpPr>
          <p:cNvPr id="16" name="step number"/>
          <p:cNvSpPr/>
          <p:nvPr/>
        </p:nvSpPr>
        <p:spPr>
          <a:xfrm>
            <a:off x="548640" y="4114800"/>
            <a:ext cx="384048" cy="384048"/>
          </a:xfrm>
          <a:prstGeom prst="ellipse">
            <a:avLst/>
          </a:prstGeom>
          <a:solidFill>
            <a:schemeClr val="accent5"/>
          </a:solidFill>
          <a:ln/>
        </p:spPr>
      </p:sp>
      <p:sp>
        <p:nvSpPr>
          <p:cNvPr id="17" name="Text 14"/>
          <p:cNvSpPr txBox="1"/>
          <p:nvPr/>
        </p:nvSpPr>
        <p:spPr>
          <a:xfrm>
            <a:off x="548640" y="411480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8" name="Text 15"/>
          <p:cNvSpPr txBox="1"/>
          <p:nvPr/>
        </p:nvSpPr>
        <p:spPr>
          <a:xfrm>
            <a:off x="1051560" y="4078224"/>
            <a:ext cx="6263640" cy="630936"/>
          </a:xfrm>
          <a:prstGeom prst="rect">
            <a:avLst/>
          </a:prstGeom>
          <a:noFill/>
          <a:ln/>
        </p:spPr>
        <p:txBody>
          <a:bodyPr wrap="square" lIns="0" tIns="0" rIns="0" bIns="0" rtlCol="0" anchor="ctr"/>
          <a:lstStyle/>
          <a:p>
            <a:pPr indent="0" marL="0">
              <a:buNone/>
            </a:pPr>
            <a:r>
              <a:rPr lang="en-US" sz="1400" dirty="0">
                <a:solidFill>
                  <a:schemeClr val="tx1"/>
                </a:solidFill>
              </a:rPr>
              <a:t>Divide by ΔZ: ΔT/ΔZ = −g/c</a:t>
            </a:r>
            <a:r>
              <a:rPr lang="en-US" sz="1400" baseline="-40000" dirty="0">
                <a:solidFill>
                  <a:schemeClr val="tx1"/>
                </a:solidFill>
              </a:rPr>
              <a:t>p</a:t>
            </a:r>
            <a:r>
              <a:rPr lang="en-US" sz="1400" dirty="0">
                <a:solidFill>
                  <a:schemeClr val="tx1"/>
                </a:solidFill>
              </a:rPr>
              <a:t> − (L/c</a:t>
            </a:r>
            <a:r>
              <a:rPr lang="en-US" sz="1400" baseline="-40000" dirty="0">
                <a:solidFill>
                  <a:schemeClr val="tx1"/>
                </a:solidFill>
              </a:rPr>
              <a:t>p</a:t>
            </a:r>
            <a:r>
              <a:rPr lang="en-US" sz="1400" dirty="0">
                <a:solidFill>
                  <a:schemeClr val="tx1"/>
                </a:solidFill>
              </a:rPr>
              <a:t>)(Δr/ΔZ)</a:t>
            </a:r>
            <a:endParaRPr lang="en-US" sz="1400" dirty="0"/>
          </a:p>
        </p:txBody>
      </p:sp>
      <p:sp>
        <p:nvSpPr>
          <p:cNvPr id="19" name="step number"/>
          <p:cNvSpPr/>
          <p:nvPr/>
        </p:nvSpPr>
        <p:spPr>
          <a:xfrm>
            <a:off x="548640" y="4791456"/>
            <a:ext cx="384048" cy="384048"/>
          </a:xfrm>
          <a:prstGeom prst="ellipse">
            <a:avLst/>
          </a:prstGeom>
          <a:solidFill>
            <a:schemeClr val="accent5"/>
          </a:solidFill>
          <a:ln/>
        </p:spPr>
      </p:sp>
      <p:sp>
        <p:nvSpPr>
          <p:cNvPr id="20" name="Text 17"/>
          <p:cNvSpPr txBox="1"/>
          <p:nvPr/>
        </p:nvSpPr>
        <p:spPr>
          <a:xfrm>
            <a:off x="548640" y="479145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1" name="Text 18"/>
          <p:cNvSpPr txBox="1"/>
          <p:nvPr/>
        </p:nvSpPr>
        <p:spPr>
          <a:xfrm>
            <a:off x="1051560" y="4754880"/>
            <a:ext cx="6263640" cy="630936"/>
          </a:xfrm>
          <a:prstGeom prst="rect">
            <a:avLst/>
          </a:prstGeom>
          <a:noFill/>
          <a:ln/>
        </p:spPr>
        <p:txBody>
          <a:bodyPr wrap="square" lIns="0" tIns="0" rIns="0" bIns="0" rtlCol="0" anchor="ctr"/>
          <a:lstStyle/>
          <a:p>
            <a:pPr indent="0" marL="0">
              <a:buNone/>
            </a:pPr>
            <a:r>
              <a:rPr lang="en-US" sz="1400" b="1" dirty="0">
                <a:solidFill>
                  <a:schemeClr val="tx1"/>
                </a:solidFill>
              </a:rPr>
              <a:t>Γ</a:t>
            </a:r>
            <a:r>
              <a:rPr lang="en-US" sz="1400" b="1" baseline="-40000" dirty="0">
                <a:solidFill>
                  <a:schemeClr val="tx1"/>
                </a:solidFill>
              </a:rPr>
              <a:t>s</a:t>
            </a:r>
            <a:r>
              <a:rPr lang="en-US" sz="1400" b="1" dirty="0">
                <a:solidFill>
                  <a:schemeClr val="tx1"/>
                </a:solidFill>
              </a:rPr>
              <a:t> = Γ</a:t>
            </a:r>
            <a:r>
              <a:rPr lang="en-US" sz="1400" b="1" baseline="-40000" dirty="0">
                <a:solidFill>
                  <a:schemeClr val="tx1"/>
                </a:solidFill>
              </a:rPr>
              <a:t>d</a:t>
            </a:r>
            <a:r>
              <a:rPr lang="en-US" sz="1400" b="1" dirty="0">
                <a:solidFill>
                  <a:schemeClr val="tx1"/>
                </a:solidFill>
              </a:rPr>
              <a:t> + (L/c</a:t>
            </a:r>
            <a:r>
              <a:rPr lang="en-US" sz="1400" b="1" baseline="-40000" dirty="0">
                <a:solidFill>
                  <a:schemeClr val="tx1"/>
                </a:solidFill>
              </a:rPr>
              <a:t>p</a:t>
            </a:r>
            <a:r>
              <a:rPr lang="en-US" sz="1400" b="1" dirty="0">
                <a:solidFill>
                  <a:schemeClr val="tx1"/>
                </a:solidFill>
              </a:rPr>
              <a:t>)(Δr/ΔZ)</a:t>
            </a:r>
            <a:r>
              <a:rPr lang="en-US" sz="1400" dirty="0">
                <a:solidFill>
                  <a:schemeClr val="tx1"/>
                </a:solidFill>
              </a:rPr>
              <a:t>, with Δr/ΔZ &lt; 0 → Γ</a:t>
            </a:r>
            <a:r>
              <a:rPr lang="en-US" sz="1400" baseline="-40000" dirty="0">
                <a:solidFill>
                  <a:schemeClr val="tx1"/>
                </a:solidFill>
              </a:rPr>
              <a:t>s</a:t>
            </a:r>
            <a:r>
              <a:rPr lang="en-US" sz="1400" dirty="0">
                <a:solidFill>
                  <a:schemeClr val="tx1"/>
                </a:solidFill>
              </a:rPr>
              <a:t> &lt; Γ</a:t>
            </a:r>
            <a:r>
              <a:rPr lang="en-US" sz="1400" baseline="-40000" dirty="0">
                <a:solidFill>
                  <a:schemeClr val="tx1"/>
                </a:solidFill>
              </a:rPr>
              <a:t>d</a:t>
            </a:r>
            <a:endParaRPr lang="en-US" sz="1400" dirty="0"/>
          </a:p>
        </p:txBody>
      </p:sp>
      <p:sp>
        <p:nvSpPr>
          <p:cNvPr id="22" name="card"/>
          <p:cNvSpPr/>
          <p:nvPr/>
        </p:nvSpPr>
        <p:spPr>
          <a:xfrm>
            <a:off x="7680960" y="1371600"/>
            <a:ext cx="3959352" cy="1280160"/>
          </a:xfrm>
          <a:prstGeom prst="roundRect">
            <a:avLst>
              <a:gd name="adj" fmla="val 5714"/>
            </a:avLst>
          </a:prstGeom>
          <a:solidFill>
            <a:schemeClr val="accent5"/>
          </a:solidFill>
          <a:ln/>
          <a:effectLst>
            <a:outerShdw sx="100000" sy="100000" kx="0" ky="0" algn="bl" rotWithShape="0" blurRad="76200" dist="25400" dir="5400000">
              <a:srgbClr val="000000">
                <a:alpha val="14000"/>
              </a:srgbClr>
            </a:outerShdw>
          </a:effectLst>
        </p:spPr>
      </p:sp>
      <p:sp>
        <p:nvSpPr>
          <p:cNvPr id="23" name="Text 20"/>
          <p:cNvSpPr txBox="1"/>
          <p:nvPr/>
        </p:nvSpPr>
        <p:spPr>
          <a:xfrm>
            <a:off x="7818120" y="1371600"/>
            <a:ext cx="3685032" cy="1280160"/>
          </a:xfrm>
          <a:prstGeom prst="rect">
            <a:avLst/>
          </a:prstGeom>
          <a:noFill/>
          <a:ln/>
        </p:spPr>
        <p:txBody>
          <a:bodyPr wrap="square" lIns="0" tIns="0" rIns="0" bIns="0" rtlCol="0" anchor="ctr"/>
          <a:lstStyle/>
          <a:p>
            <a:pPr algn="ctr" indent="0" marL="0">
              <a:buNone/>
            </a:pPr>
            <a:r>
              <a:rPr lang="en-US" sz="2000" b="1" dirty="0">
                <a:solidFill>
                  <a:schemeClr val="bg1"/>
                </a:solidFill>
              </a:rPr>
              <a:t>Γ</a:t>
            </a:r>
            <a:r>
              <a:rPr lang="en-US" sz="2000" b="1" baseline="-40000" dirty="0">
                <a:solidFill>
                  <a:schemeClr val="bg1"/>
                </a:solidFill>
              </a:rPr>
              <a:t>s</a:t>
            </a:r>
            <a:r>
              <a:rPr lang="en-US" sz="2000" b="1" dirty="0">
                <a:solidFill>
                  <a:schemeClr val="bg1"/>
                </a:solidFill>
              </a:rPr>
              <a:t> = Γ</a:t>
            </a:r>
            <a:r>
              <a:rPr lang="en-US" sz="2000" b="1" baseline="-40000" dirty="0">
                <a:solidFill>
                  <a:schemeClr val="bg1"/>
                </a:solidFill>
              </a:rPr>
              <a:t>d</a:t>
            </a:r>
            <a:r>
              <a:rPr lang="en-US" sz="2000" b="1" dirty="0">
                <a:solidFill>
                  <a:schemeClr val="bg1"/>
                </a:solidFill>
              </a:rPr>
              <a:t> + (L/c</a:t>
            </a:r>
            <a:r>
              <a:rPr lang="en-US" sz="2000" b="1" baseline="-40000" dirty="0">
                <a:solidFill>
                  <a:schemeClr val="bg1"/>
                </a:solidFill>
              </a:rPr>
              <a:t>p</a:t>
            </a:r>
            <a:r>
              <a:rPr lang="en-US" sz="2000" b="1" dirty="0">
                <a:solidFill>
                  <a:schemeClr val="bg1"/>
                </a:solidFill>
              </a:rPr>
              <a:t>) Δr/ΔZ</a:t>
            </a:r>
            <a:endParaRPr lang="en-US" sz="2000" dirty="0"/>
          </a:p>
        </p:txBody>
      </p:sp>
      <p:sp>
        <p:nvSpPr>
          <p:cNvPr id="24" name="card"/>
          <p:cNvSpPr/>
          <p:nvPr/>
        </p:nvSpPr>
        <p:spPr>
          <a:xfrm>
            <a:off x="7680960" y="2834640"/>
            <a:ext cx="3959352" cy="1737360"/>
          </a:xfrm>
          <a:prstGeom prst="roundRect">
            <a:avLst>
              <a:gd name="adj" fmla="val 4211"/>
            </a:avLst>
          </a:prstGeom>
          <a:solidFill>
            <a:schemeClr val="bg2"/>
          </a:solidFill>
          <a:ln/>
          <a:effectLst>
            <a:outerShdw sx="100000" sy="100000" kx="0" ky="0" algn="bl" rotWithShape="0" blurRad="76200" dist="25400" dir="5400000">
              <a:srgbClr val="000000">
                <a:alpha val="14000"/>
              </a:srgbClr>
            </a:outerShdw>
          </a:effectLst>
        </p:spPr>
      </p:sp>
      <p:sp>
        <p:nvSpPr>
          <p:cNvPr id="25" name="icon circle"/>
          <p:cNvSpPr/>
          <p:nvPr/>
        </p:nvSpPr>
        <p:spPr>
          <a:xfrm>
            <a:off x="7863840" y="2990088"/>
            <a:ext cx="420624" cy="420624"/>
          </a:xfrm>
          <a:prstGeom prst="ellipse">
            <a:avLst/>
          </a:prstGeom>
          <a:solidFill>
            <a:schemeClr val="accent5"/>
          </a:solidFill>
          <a:ln/>
        </p:spPr>
      </p:sp>
      <p:pic>
        <p:nvPicPr>
          <p:cNvPr id="26" name="Image 0" descr="ThermometerHalf icon">    </p:cNvPr>
          <p:cNvPicPr>
            <a:picLocks noChangeAspect="1"/>
          </p:cNvPicPr>
          <p:nvPr/>
        </p:nvPicPr>
        <p:blipFill>
          <a:blip r:embed="rId1"/>
          <a:stretch>
            <a:fillRect/>
          </a:stretch>
        </p:blipFill>
        <p:spPr>
          <a:xfrm>
            <a:off x="7973202" y="3099450"/>
            <a:ext cx="201900" cy="201900"/>
          </a:xfrm>
          <a:prstGeom prst="rect">
            <a:avLst/>
          </a:prstGeom>
        </p:spPr>
      </p:pic>
      <p:sp>
        <p:nvSpPr>
          <p:cNvPr id="27" name="Text 23"/>
          <p:cNvSpPr txBox="1"/>
          <p:nvPr/>
        </p:nvSpPr>
        <p:spPr>
          <a:xfrm>
            <a:off x="8394192" y="2971800"/>
            <a:ext cx="3108960" cy="457200"/>
          </a:xfrm>
          <a:prstGeom prst="rect">
            <a:avLst/>
          </a:prstGeom>
          <a:noFill/>
          <a:ln/>
        </p:spPr>
        <p:txBody>
          <a:bodyPr wrap="square" lIns="0" tIns="0" rIns="0" bIns="0" rtlCol="0" anchor="ctr"/>
          <a:lstStyle/>
          <a:p>
            <a:pPr indent="0" marL="0">
              <a:buNone/>
            </a:pPr>
            <a:r>
              <a:rPr lang="en-US" sz="1600" b="1" dirty="0">
                <a:solidFill>
                  <a:schemeClr val="tx2"/>
                </a:solidFill>
              </a:rPr>
              <a:t>Not constant</a:t>
            </a:r>
            <a:endParaRPr lang="en-US" sz="1600" dirty="0"/>
          </a:p>
        </p:txBody>
      </p:sp>
      <p:sp>
        <p:nvSpPr>
          <p:cNvPr id="28" name="Text 24"/>
          <p:cNvSpPr txBox="1"/>
          <p:nvPr/>
        </p:nvSpPr>
        <p:spPr>
          <a:xfrm>
            <a:off x="7863840" y="3520440"/>
            <a:ext cx="3593592" cy="96012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Warm, moist air: much condensation → </a:t>
            </a:r>
            <a:r>
              <a:rPr lang="en-US" sz="1300" b="1" dirty="0">
                <a:solidFill>
                  <a:schemeClr val="tx1"/>
                </a:solidFill>
              </a:rPr>
              <a:t>Γ</a:t>
            </a:r>
            <a:r>
              <a:rPr lang="en-US" sz="1300" b="1" baseline="-40000" dirty="0">
                <a:solidFill>
                  <a:schemeClr val="tx1"/>
                </a:solidFill>
              </a:rPr>
              <a:t>s</a:t>
            </a:r>
            <a:r>
              <a:rPr lang="en-US" sz="1300" b="1" dirty="0">
                <a:solidFill>
                  <a:schemeClr val="tx1"/>
                </a:solidFill>
              </a:rPr>
              <a:t> ≈ 4 K/km</a:t>
            </a:r>
            <a:endParaRPr lang="en-US" sz="1300" dirty="0"/>
          </a:p>
          <a:p>
            <a:pPr marL="177800" indent="-177800">
              <a:spcAft>
                <a:spcPts val="400"/>
              </a:spcAft>
              <a:buSzPct val="100000"/>
              <a:buChar char="•"/>
            </a:pPr>
            <a:r>
              <a:rPr lang="en-US" sz="1300" dirty="0">
                <a:solidFill>
                  <a:schemeClr val="tx1"/>
                </a:solidFill>
              </a:rPr>
              <a:t>Cold air: little vapour → Γ</a:t>
            </a:r>
            <a:r>
              <a:rPr lang="en-US" sz="1300" baseline="-40000" dirty="0">
                <a:solidFill>
                  <a:schemeClr val="tx1"/>
                </a:solidFill>
              </a:rPr>
              <a:t>s</a:t>
            </a:r>
            <a:r>
              <a:rPr lang="en-US" sz="1300" dirty="0">
                <a:solidFill>
                  <a:schemeClr val="tx1"/>
                </a:solidFill>
              </a:rPr>
              <a:t> → Γ</a:t>
            </a:r>
            <a:r>
              <a:rPr lang="en-US" sz="1300" baseline="-40000" dirty="0">
                <a:solidFill>
                  <a:schemeClr val="tx1"/>
                </a:solidFill>
              </a:rPr>
              <a:t>d</a:t>
            </a:r>
            <a:endParaRPr lang="en-US" sz="1300" dirty="0"/>
          </a:p>
        </p:txBody>
      </p:sp>
      <p:sp>
        <p:nvSpPr>
          <p:cNvPr id="29" name="card"/>
          <p:cNvSpPr/>
          <p:nvPr/>
        </p:nvSpPr>
        <p:spPr>
          <a:xfrm>
            <a:off x="7680960" y="4709160"/>
            <a:ext cx="3959352" cy="1463040"/>
          </a:xfrm>
          <a:prstGeom prst="roundRect">
            <a:avLst>
              <a:gd name="adj" fmla="val 5000"/>
            </a:avLst>
          </a:prstGeom>
          <a:solidFill>
            <a:schemeClr val="bg2"/>
          </a:solidFill>
          <a:ln/>
          <a:effectLst>
            <a:outerShdw sx="100000" sy="100000" kx="0" ky="0" algn="bl" rotWithShape="0" blurRad="76200" dist="25400" dir="5400000">
              <a:srgbClr val="000000">
                <a:alpha val="14000"/>
              </a:srgbClr>
            </a:outerShdw>
          </a:effectLst>
        </p:spPr>
      </p:sp>
      <p:sp>
        <p:nvSpPr>
          <p:cNvPr id="30" name="Text 26"/>
          <p:cNvSpPr txBox="1"/>
          <p:nvPr/>
        </p:nvSpPr>
        <p:spPr>
          <a:xfrm>
            <a:off x="7863840" y="4846320"/>
            <a:ext cx="3639312" cy="365760"/>
          </a:xfrm>
          <a:prstGeom prst="rect">
            <a:avLst/>
          </a:prstGeom>
          <a:noFill/>
          <a:ln/>
        </p:spPr>
        <p:txBody>
          <a:bodyPr wrap="square" lIns="0" tIns="0" rIns="0" bIns="0" rtlCol="0" anchor="ctr"/>
          <a:lstStyle/>
          <a:p>
            <a:pPr indent="0" marL="0">
              <a:buNone/>
            </a:pPr>
            <a:r>
              <a:rPr lang="en-US" sz="1400" b="1" dirty="0">
                <a:solidFill>
                  <a:schemeClr val="tx2"/>
                </a:solidFill>
              </a:rPr>
              <a:t>Typical range</a:t>
            </a:r>
            <a:endParaRPr lang="en-US" sz="1400" dirty="0"/>
          </a:p>
        </p:txBody>
      </p:sp>
      <p:sp>
        <p:nvSpPr>
          <p:cNvPr id="31" name="Text 27"/>
          <p:cNvSpPr txBox="1"/>
          <p:nvPr/>
        </p:nvSpPr>
        <p:spPr>
          <a:xfrm>
            <a:off x="7863840" y="5257800"/>
            <a:ext cx="3593592" cy="82296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 4–7 K/km in the lower troposphere; the notes give ~6.5 °C/km (≈ 35% below Γ</a:t>
            </a:r>
            <a:r>
              <a:rPr lang="en-US" sz="1200" baseline="-40000" dirty="0">
                <a:solidFill>
                  <a:schemeClr val="tx1"/>
                </a:solidFill>
              </a:rPr>
              <a:t>d</a:t>
            </a:r>
            <a:r>
              <a:rPr lang="en-US" sz="1200" dirty="0">
                <a:solidFill>
                  <a:schemeClr val="tx1"/>
                </a:solidFill>
              </a:rPr>
              <a:t>) for tropical air.</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How Γs changes with temperature</a:t>
            </a:r>
            <a:endParaRPr lang="en-US" sz="3200" dirty="0"/>
          </a:p>
        </p:txBody>
      </p:sp>
      <p:graphicFrame>
        <p:nvGraphicFramePr>
          <p:cNvPr id="4" name="Chart 0" descr=""/>
          <p:cNvGraphicFramePr/>
          <p:nvPr/>
        </p:nvGraphicFramePr>
        <p:xfrm>
          <a:off x="548640" y="1325880"/>
          <a:ext cx="6949440" cy="484632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548640" y="6172200"/>
            <a:ext cx="4572000" cy="228600"/>
          </a:xfrm>
          <a:prstGeom prst="rect">
            <a:avLst/>
          </a:prstGeom>
          <a:noFill/>
          <a:ln/>
        </p:spPr>
        <p:txBody>
          <a:bodyPr wrap="square" lIns="508" tIns="508" rIns="508" bIns="508" rtlCol="0" anchor="t"/>
          <a:lstStyle/>
          <a:p>
            <a:pPr indent="0" marL="0">
              <a:spcAft>
                <a:spcPts val="600"/>
              </a:spcAft>
              <a:buNone/>
            </a:pPr>
            <a:r>
              <a:rPr lang="en-US" sz="1100" i="1" dirty="0">
                <a:solidFill>
                  <a:schemeClr val="accent6"/>
                </a:solidFill>
              </a:rPr>
              <a:t>Γs values approximate.</a:t>
            </a:r>
            <a:endParaRPr lang="en-US" sz="1100" dirty="0"/>
          </a:p>
        </p:txBody>
      </p:sp>
      <p:sp>
        <p:nvSpPr>
          <p:cNvPr id="6" name="card"/>
          <p:cNvSpPr/>
          <p:nvPr/>
        </p:nvSpPr>
        <p:spPr>
          <a:xfrm>
            <a:off x="7726680" y="1325880"/>
            <a:ext cx="3913632"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7" name="icon circle"/>
          <p:cNvSpPr/>
          <p:nvPr/>
        </p:nvSpPr>
        <p:spPr>
          <a:xfrm>
            <a:off x="7909560" y="1481328"/>
            <a:ext cx="420624" cy="420624"/>
          </a:xfrm>
          <a:prstGeom prst="ellipse">
            <a:avLst/>
          </a:prstGeom>
          <a:solidFill>
            <a:schemeClr val="accent5"/>
          </a:solidFill>
          <a:ln/>
        </p:spPr>
      </p:sp>
      <p:pic>
        <p:nvPicPr>
          <p:cNvPr id="8" name="Image 0" descr="ChartLine icon">    </p:cNvPr>
          <p:cNvPicPr>
            <a:picLocks noChangeAspect="1"/>
          </p:cNvPicPr>
          <p:nvPr/>
        </p:nvPicPr>
        <p:blipFill>
          <a:blip r:embed="rId2"/>
          <a:stretch>
            <a:fillRect/>
          </a:stretch>
        </p:blipFill>
        <p:spPr>
          <a:xfrm>
            <a:off x="8018922" y="1590690"/>
            <a:ext cx="201900" cy="201900"/>
          </a:xfrm>
          <a:prstGeom prst="rect">
            <a:avLst/>
          </a:prstGeom>
        </p:spPr>
      </p:pic>
      <p:sp>
        <p:nvSpPr>
          <p:cNvPr id="9" name="Text 4"/>
          <p:cNvSpPr txBox="1"/>
          <p:nvPr/>
        </p:nvSpPr>
        <p:spPr>
          <a:xfrm>
            <a:off x="8439912" y="1463040"/>
            <a:ext cx="3063240" cy="457200"/>
          </a:xfrm>
          <a:prstGeom prst="rect">
            <a:avLst/>
          </a:prstGeom>
          <a:noFill/>
          <a:ln/>
        </p:spPr>
        <p:txBody>
          <a:bodyPr wrap="square" lIns="0" tIns="0" rIns="0" bIns="0" rtlCol="0" anchor="ctr"/>
          <a:lstStyle/>
          <a:p>
            <a:pPr indent="0" marL="0">
              <a:buNone/>
            </a:pPr>
            <a:r>
              <a:rPr lang="en-US" sz="1600" b="1" dirty="0">
                <a:solidFill>
                  <a:schemeClr val="tx2"/>
                </a:solidFill>
              </a:rPr>
              <a:t>Read the chart</a:t>
            </a:r>
            <a:endParaRPr lang="en-US" sz="1600" dirty="0"/>
          </a:p>
        </p:txBody>
      </p:sp>
      <p:sp>
        <p:nvSpPr>
          <p:cNvPr id="10" name="Text 5"/>
          <p:cNvSpPr txBox="1"/>
          <p:nvPr/>
        </p:nvSpPr>
        <p:spPr>
          <a:xfrm>
            <a:off x="7909560" y="2011680"/>
            <a:ext cx="3547872"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Warmer air → more vapour → more latent heat → </a:t>
            </a:r>
            <a:r>
              <a:rPr lang="en-US" sz="1300" b="1" dirty="0">
                <a:solidFill>
                  <a:schemeClr val="tx1"/>
                </a:solidFill>
              </a:rPr>
              <a:t>smaller Γs</a:t>
            </a:r>
            <a:endParaRPr lang="en-US" sz="1300" dirty="0"/>
          </a:p>
          <a:p>
            <a:pPr marL="177800" indent="-177800">
              <a:spcAft>
                <a:spcPts val="400"/>
              </a:spcAft>
              <a:buSzPct val="100000"/>
              <a:buChar char="•"/>
            </a:pPr>
            <a:r>
              <a:rPr lang="en-US" sz="1300" dirty="0">
                <a:solidFill>
                  <a:schemeClr val="tx1"/>
                </a:solidFill>
              </a:rPr>
              <a:t>Γs → Γd in cold air (polar regions, upper troposphere)</a:t>
            </a:r>
            <a:endParaRPr lang="en-US" sz="1300" dirty="0"/>
          </a:p>
        </p:txBody>
      </p:sp>
      <p:sp>
        <p:nvSpPr>
          <p:cNvPr id="11" name="card"/>
          <p:cNvSpPr/>
          <p:nvPr/>
        </p:nvSpPr>
        <p:spPr>
          <a:xfrm>
            <a:off x="7726680" y="3794760"/>
            <a:ext cx="3913632"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12" name="icon circle"/>
          <p:cNvSpPr/>
          <p:nvPr/>
        </p:nvSpPr>
        <p:spPr>
          <a:xfrm>
            <a:off x="7909560" y="3950208"/>
            <a:ext cx="420624" cy="420624"/>
          </a:xfrm>
          <a:prstGeom prst="ellipse">
            <a:avLst/>
          </a:prstGeom>
          <a:solidFill>
            <a:schemeClr val="accent1"/>
          </a:solidFill>
          <a:ln/>
        </p:spPr>
      </p:sp>
      <p:pic>
        <p:nvPicPr>
          <p:cNvPr id="13" name="Image 1" descr="ExclamationTriangle icon">    </p:cNvPr>
          <p:cNvPicPr>
            <a:picLocks noChangeAspect="1"/>
          </p:cNvPicPr>
          <p:nvPr/>
        </p:nvPicPr>
        <p:blipFill>
          <a:blip r:embed="rId3"/>
          <a:stretch>
            <a:fillRect/>
          </a:stretch>
        </p:blipFill>
        <p:spPr>
          <a:xfrm>
            <a:off x="8018922" y="4059570"/>
            <a:ext cx="201900" cy="201900"/>
          </a:xfrm>
          <a:prstGeom prst="rect">
            <a:avLst/>
          </a:prstGeom>
        </p:spPr>
      </p:pic>
      <p:sp>
        <p:nvSpPr>
          <p:cNvPr id="14" name="Text 8"/>
          <p:cNvSpPr txBox="1"/>
          <p:nvPr/>
        </p:nvSpPr>
        <p:spPr>
          <a:xfrm>
            <a:off x="8439912" y="3931920"/>
            <a:ext cx="3063240" cy="457200"/>
          </a:xfrm>
          <a:prstGeom prst="rect">
            <a:avLst/>
          </a:prstGeom>
          <a:noFill/>
          <a:ln/>
        </p:spPr>
        <p:txBody>
          <a:bodyPr wrap="square" lIns="0" tIns="0" rIns="0" bIns="0" rtlCol="0" anchor="ctr"/>
          <a:lstStyle/>
          <a:p>
            <a:pPr indent="0" marL="0">
              <a:buNone/>
            </a:pPr>
            <a:r>
              <a:rPr lang="en-US" sz="1600" b="1" dirty="0">
                <a:solidFill>
                  <a:schemeClr val="tx2"/>
                </a:solidFill>
              </a:rPr>
              <a:t>Don't confuse</a:t>
            </a:r>
            <a:endParaRPr lang="en-US" sz="1600" dirty="0"/>
          </a:p>
        </p:txBody>
      </p:sp>
      <p:sp>
        <p:nvSpPr>
          <p:cNvPr id="15" name="Text 9"/>
          <p:cNvSpPr txBox="1"/>
          <p:nvPr/>
        </p:nvSpPr>
        <p:spPr>
          <a:xfrm>
            <a:off x="7909560" y="4480560"/>
            <a:ext cx="3547872" cy="160020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Γd, Γs</a:t>
            </a:r>
            <a:r>
              <a:rPr lang="en-US" sz="1300" dirty="0">
                <a:solidFill>
                  <a:schemeClr val="tx1"/>
                </a:solidFill>
              </a:rPr>
              <a:t> = rates of a moving parcel (theory)</a:t>
            </a:r>
            <a:endParaRPr lang="en-US" sz="1300" dirty="0"/>
          </a:p>
          <a:p>
            <a:pPr marL="177800" indent="-177800">
              <a:spcAft>
                <a:spcPts val="400"/>
              </a:spcAft>
              <a:buSzPct val="100000"/>
              <a:buChar char="•"/>
            </a:pPr>
            <a:r>
              <a:rPr lang="en-US" sz="1300" b="1" dirty="0">
                <a:solidFill>
                  <a:schemeClr val="tx1"/>
                </a:solidFill>
              </a:rPr>
              <a:t>γ (ELR)</a:t>
            </a:r>
            <a:r>
              <a:rPr lang="en-US" sz="1300" dirty="0">
                <a:solidFill>
                  <a:schemeClr val="tx1"/>
                </a:solidFill>
              </a:rPr>
              <a:t> = observed decrease in the still environment (~6.5 K/km on average)</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Three lapse rates: γ, Γd, Γs</a:t>
            </a:r>
            <a:endParaRPr lang="en-US" sz="3200" dirty="0"/>
          </a:p>
        </p:txBody>
      </p:sp>
      <p:sp>
        <p:nvSpPr>
          <p:cNvPr id="4" name="plot area"/>
          <p:cNvSpPr/>
          <p:nvPr/>
        </p:nvSpPr>
        <p:spPr>
          <a:xfrm>
            <a:off x="1051560" y="1600200"/>
            <a:ext cx="5852160" cy="4206240"/>
          </a:xfrm>
          <a:prstGeom prst="rect">
            <a:avLst/>
          </a:prstGeom>
          <a:solidFill>
            <a:schemeClr val="bg1"/>
          </a:solidFill>
          <a:ln w="9525">
            <a:solidFill>
              <a:srgbClr val="C9D2DC"/>
            </a:solidFill>
            <a:prstDash val="solid"/>
          </a:ln>
        </p:spPr>
      </p:sp>
      <p:sp>
        <p:nvSpPr>
          <p:cNvPr id="5" name="Text 2"/>
          <p:cNvSpPr txBox="1"/>
          <p:nvPr/>
        </p:nvSpPr>
        <p:spPr>
          <a:xfrm>
            <a:off x="77724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-30</a:t>
            </a:r>
            <a:endParaRPr lang="en-US" sz="1000" dirty="0"/>
          </a:p>
        </p:txBody>
      </p:sp>
      <p:sp>
        <p:nvSpPr>
          <p:cNvPr id="6" name="arrow"/>
          <p:cNvSpPr/>
          <p:nvPr/>
        </p:nvSpPr>
        <p:spPr>
          <a:xfrm>
            <a:off x="2026920" y="1600200"/>
            <a:ext cx="0" cy="4206240"/>
          </a:xfrm>
          <a:prstGeom prst="line">
            <a:avLst/>
          </a:prstGeom>
          <a:noFill/>
          <a:ln w="6350">
            <a:solidFill>
              <a:srgbClr val="E3E8EE"/>
            </a:solidFill>
            <a:prstDash val="solid"/>
          </a:ln>
        </p:spPr>
      </p:sp>
      <p:sp>
        <p:nvSpPr>
          <p:cNvPr id="7" name="Text 4"/>
          <p:cNvSpPr txBox="1"/>
          <p:nvPr/>
        </p:nvSpPr>
        <p:spPr>
          <a:xfrm>
            <a:off x="175260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-20</a:t>
            </a:r>
            <a:endParaRPr lang="en-US" sz="1000" dirty="0"/>
          </a:p>
        </p:txBody>
      </p:sp>
      <p:sp>
        <p:nvSpPr>
          <p:cNvPr id="8" name="arrow"/>
          <p:cNvSpPr/>
          <p:nvPr/>
        </p:nvSpPr>
        <p:spPr>
          <a:xfrm>
            <a:off x="3002280" y="1600200"/>
            <a:ext cx="0" cy="4206240"/>
          </a:xfrm>
          <a:prstGeom prst="line">
            <a:avLst/>
          </a:prstGeom>
          <a:noFill/>
          <a:ln w="6350">
            <a:solidFill>
              <a:srgbClr val="E3E8EE"/>
            </a:solidFill>
            <a:prstDash val="solid"/>
          </a:ln>
        </p:spPr>
      </p:sp>
      <p:sp>
        <p:nvSpPr>
          <p:cNvPr id="9" name="Text 6"/>
          <p:cNvSpPr txBox="1"/>
          <p:nvPr/>
        </p:nvSpPr>
        <p:spPr>
          <a:xfrm>
            <a:off x="272796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-10</a:t>
            </a:r>
            <a:endParaRPr lang="en-US" sz="1000" dirty="0"/>
          </a:p>
        </p:txBody>
      </p:sp>
      <p:sp>
        <p:nvSpPr>
          <p:cNvPr id="10" name="arrow"/>
          <p:cNvSpPr/>
          <p:nvPr/>
        </p:nvSpPr>
        <p:spPr>
          <a:xfrm>
            <a:off x="3977640" y="1600200"/>
            <a:ext cx="0" cy="4206240"/>
          </a:xfrm>
          <a:prstGeom prst="line">
            <a:avLst/>
          </a:prstGeom>
          <a:noFill/>
          <a:ln w="6350">
            <a:solidFill>
              <a:srgbClr val="E3E8EE"/>
            </a:solidFill>
            <a:prstDash val="solid"/>
          </a:ln>
        </p:spPr>
      </p:sp>
      <p:sp>
        <p:nvSpPr>
          <p:cNvPr id="11" name="Text 8"/>
          <p:cNvSpPr txBox="1"/>
          <p:nvPr/>
        </p:nvSpPr>
        <p:spPr>
          <a:xfrm>
            <a:off x="370332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0</a:t>
            </a:r>
            <a:endParaRPr lang="en-US" sz="1000" dirty="0"/>
          </a:p>
        </p:txBody>
      </p:sp>
      <p:sp>
        <p:nvSpPr>
          <p:cNvPr id="12" name="arrow"/>
          <p:cNvSpPr/>
          <p:nvPr/>
        </p:nvSpPr>
        <p:spPr>
          <a:xfrm>
            <a:off x="4953000" y="1600200"/>
            <a:ext cx="0" cy="4206240"/>
          </a:xfrm>
          <a:prstGeom prst="line">
            <a:avLst/>
          </a:prstGeom>
          <a:noFill/>
          <a:ln w="6350">
            <a:solidFill>
              <a:srgbClr val="E3E8EE"/>
            </a:solidFill>
            <a:prstDash val="solid"/>
          </a:ln>
        </p:spPr>
      </p:sp>
      <p:sp>
        <p:nvSpPr>
          <p:cNvPr id="13" name="Text 10"/>
          <p:cNvSpPr txBox="1"/>
          <p:nvPr/>
        </p:nvSpPr>
        <p:spPr>
          <a:xfrm>
            <a:off x="467868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10</a:t>
            </a:r>
            <a:endParaRPr lang="en-US" sz="1000" dirty="0"/>
          </a:p>
        </p:txBody>
      </p:sp>
      <p:sp>
        <p:nvSpPr>
          <p:cNvPr id="14" name="arrow"/>
          <p:cNvSpPr/>
          <p:nvPr/>
        </p:nvSpPr>
        <p:spPr>
          <a:xfrm>
            <a:off x="5928360" y="1600200"/>
            <a:ext cx="0" cy="4206240"/>
          </a:xfrm>
          <a:prstGeom prst="line">
            <a:avLst/>
          </a:prstGeom>
          <a:noFill/>
          <a:ln w="6350">
            <a:solidFill>
              <a:srgbClr val="E3E8EE"/>
            </a:solidFill>
            <a:prstDash val="solid"/>
          </a:ln>
        </p:spPr>
      </p:sp>
      <p:sp>
        <p:nvSpPr>
          <p:cNvPr id="15" name="Text 12"/>
          <p:cNvSpPr txBox="1"/>
          <p:nvPr/>
        </p:nvSpPr>
        <p:spPr>
          <a:xfrm>
            <a:off x="565404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20</a:t>
            </a:r>
            <a:endParaRPr lang="en-US" sz="1000" dirty="0"/>
          </a:p>
        </p:txBody>
      </p:sp>
      <p:sp>
        <p:nvSpPr>
          <p:cNvPr id="16" name="Text 13"/>
          <p:cNvSpPr txBox="1"/>
          <p:nvPr/>
        </p:nvSpPr>
        <p:spPr>
          <a:xfrm>
            <a:off x="662940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30</a:t>
            </a:r>
            <a:endParaRPr lang="en-US" sz="1000" dirty="0"/>
          </a:p>
        </p:txBody>
      </p:sp>
      <p:sp>
        <p:nvSpPr>
          <p:cNvPr id="17" name="Text 14"/>
          <p:cNvSpPr txBox="1"/>
          <p:nvPr/>
        </p:nvSpPr>
        <p:spPr>
          <a:xfrm>
            <a:off x="640080" y="569671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0</a:t>
            </a:r>
            <a:endParaRPr lang="en-US" sz="1000" dirty="0"/>
          </a:p>
        </p:txBody>
      </p:sp>
      <p:sp>
        <p:nvSpPr>
          <p:cNvPr id="18" name="arrow"/>
          <p:cNvSpPr/>
          <p:nvPr/>
        </p:nvSpPr>
        <p:spPr>
          <a:xfrm>
            <a:off x="1051560" y="4965192"/>
            <a:ext cx="5852160" cy="0"/>
          </a:xfrm>
          <a:prstGeom prst="line">
            <a:avLst/>
          </a:prstGeom>
          <a:noFill/>
          <a:ln w="6350">
            <a:solidFill>
              <a:srgbClr val="E3E8EE"/>
            </a:solidFill>
            <a:prstDash val="solid"/>
          </a:ln>
        </p:spPr>
      </p:sp>
      <p:sp>
        <p:nvSpPr>
          <p:cNvPr id="19" name="Text 16"/>
          <p:cNvSpPr txBox="1"/>
          <p:nvPr/>
        </p:nvSpPr>
        <p:spPr>
          <a:xfrm>
            <a:off x="640080" y="4855464"/>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1</a:t>
            </a:r>
            <a:endParaRPr lang="en-US" sz="1000" dirty="0"/>
          </a:p>
        </p:txBody>
      </p:sp>
      <p:sp>
        <p:nvSpPr>
          <p:cNvPr id="20" name="arrow"/>
          <p:cNvSpPr/>
          <p:nvPr/>
        </p:nvSpPr>
        <p:spPr>
          <a:xfrm>
            <a:off x="1051560" y="4123944"/>
            <a:ext cx="5852160" cy="0"/>
          </a:xfrm>
          <a:prstGeom prst="line">
            <a:avLst/>
          </a:prstGeom>
          <a:noFill/>
          <a:ln w="6350">
            <a:solidFill>
              <a:srgbClr val="E3E8EE"/>
            </a:solidFill>
            <a:prstDash val="solid"/>
          </a:ln>
        </p:spPr>
      </p:sp>
      <p:sp>
        <p:nvSpPr>
          <p:cNvPr id="21" name="Text 18"/>
          <p:cNvSpPr txBox="1"/>
          <p:nvPr/>
        </p:nvSpPr>
        <p:spPr>
          <a:xfrm>
            <a:off x="640080" y="4014216"/>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2</a:t>
            </a:r>
            <a:endParaRPr lang="en-US" sz="1000" dirty="0"/>
          </a:p>
        </p:txBody>
      </p:sp>
      <p:sp>
        <p:nvSpPr>
          <p:cNvPr id="22" name="arrow"/>
          <p:cNvSpPr/>
          <p:nvPr/>
        </p:nvSpPr>
        <p:spPr>
          <a:xfrm>
            <a:off x="1051560" y="3282696"/>
            <a:ext cx="5852160" cy="0"/>
          </a:xfrm>
          <a:prstGeom prst="line">
            <a:avLst/>
          </a:prstGeom>
          <a:noFill/>
          <a:ln w="6350">
            <a:solidFill>
              <a:srgbClr val="E3E8EE"/>
            </a:solidFill>
            <a:prstDash val="solid"/>
          </a:ln>
        </p:spPr>
      </p:sp>
      <p:sp>
        <p:nvSpPr>
          <p:cNvPr id="23" name="Text 20"/>
          <p:cNvSpPr txBox="1"/>
          <p:nvPr/>
        </p:nvSpPr>
        <p:spPr>
          <a:xfrm>
            <a:off x="640080" y="3172968"/>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3</a:t>
            </a:r>
            <a:endParaRPr lang="en-US" sz="1000" dirty="0"/>
          </a:p>
        </p:txBody>
      </p:sp>
      <p:sp>
        <p:nvSpPr>
          <p:cNvPr id="24" name="arrow"/>
          <p:cNvSpPr/>
          <p:nvPr/>
        </p:nvSpPr>
        <p:spPr>
          <a:xfrm>
            <a:off x="1051560" y="2441448"/>
            <a:ext cx="5852160" cy="0"/>
          </a:xfrm>
          <a:prstGeom prst="line">
            <a:avLst/>
          </a:prstGeom>
          <a:noFill/>
          <a:ln w="6350">
            <a:solidFill>
              <a:srgbClr val="E3E8EE"/>
            </a:solidFill>
            <a:prstDash val="solid"/>
          </a:ln>
        </p:spPr>
      </p:sp>
      <p:sp>
        <p:nvSpPr>
          <p:cNvPr id="25" name="Text 22"/>
          <p:cNvSpPr txBox="1"/>
          <p:nvPr/>
        </p:nvSpPr>
        <p:spPr>
          <a:xfrm>
            <a:off x="640080" y="2331720"/>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4</a:t>
            </a:r>
            <a:endParaRPr lang="en-US" sz="1000" dirty="0"/>
          </a:p>
        </p:txBody>
      </p:sp>
      <p:sp>
        <p:nvSpPr>
          <p:cNvPr id="26" name="Text 23"/>
          <p:cNvSpPr txBox="1"/>
          <p:nvPr/>
        </p:nvSpPr>
        <p:spPr>
          <a:xfrm>
            <a:off x="640080" y="149047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5</a:t>
            </a:r>
            <a:endParaRPr lang="en-US" sz="1000" dirty="0"/>
          </a:p>
        </p:txBody>
      </p:sp>
      <p:sp>
        <p:nvSpPr>
          <p:cNvPr id="27" name="Text 24"/>
          <p:cNvSpPr txBox="1"/>
          <p:nvPr/>
        </p:nvSpPr>
        <p:spPr>
          <a:xfrm>
            <a:off x="1051560" y="6053328"/>
            <a:ext cx="5852160" cy="256032"/>
          </a:xfrm>
          <a:prstGeom prst="rect">
            <a:avLst/>
          </a:prstGeom>
          <a:noFill/>
          <a:ln/>
        </p:spPr>
        <p:txBody>
          <a:bodyPr wrap="square" lIns="0" tIns="0" rIns="0" bIns="0" rtlCol="0" anchor="ctr"/>
          <a:lstStyle/>
          <a:p>
            <a:pPr algn="ctr" indent="0" marL="0">
              <a:buNone/>
            </a:pPr>
            <a:r>
              <a:rPr lang="en-US" sz="1100" i="1" dirty="0">
                <a:solidFill>
                  <a:schemeClr val="accent6"/>
                </a:solidFill>
              </a:rPr>
              <a:t>Temperature (°C)</a:t>
            </a:r>
            <a:endParaRPr lang="en-US" sz="1100" dirty="0"/>
          </a:p>
        </p:txBody>
      </p:sp>
      <p:sp>
        <p:nvSpPr>
          <p:cNvPr id="28" name="Text 25"/>
          <p:cNvSpPr txBox="1"/>
          <p:nvPr/>
        </p:nvSpPr>
        <p:spPr>
          <a:xfrm>
            <a:off x="484632" y="1307592"/>
            <a:ext cx="2286000" cy="256032"/>
          </a:xfrm>
          <a:prstGeom prst="rect">
            <a:avLst/>
          </a:prstGeom>
          <a:noFill/>
          <a:ln/>
        </p:spPr>
        <p:txBody>
          <a:bodyPr wrap="square" lIns="0" tIns="0" rIns="0" bIns="0" rtlCol="0" anchor="ctr"/>
          <a:lstStyle/>
          <a:p>
            <a:pPr algn="l" indent="0" marL="0">
              <a:buNone/>
            </a:pPr>
            <a:r>
              <a:rPr lang="en-US" sz="1100" i="1" dirty="0">
                <a:solidFill>
                  <a:schemeClr val="accent6"/>
                </a:solidFill>
              </a:rPr>
              <a:t>Height (km)</a:t>
            </a:r>
            <a:endParaRPr lang="en-US" sz="1100" dirty="0"/>
          </a:p>
        </p:txBody>
      </p:sp>
      <p:sp>
        <p:nvSpPr>
          <p:cNvPr id="29" name="arrow"/>
          <p:cNvSpPr/>
          <p:nvPr/>
        </p:nvSpPr>
        <p:spPr>
          <a:xfrm flipH="1" flipV="1">
            <a:off x="1636776" y="1600200"/>
            <a:ext cx="4779264" cy="4206240"/>
          </a:xfrm>
          <a:prstGeom prst="line">
            <a:avLst/>
          </a:prstGeom>
          <a:noFill/>
          <a:ln w="38100">
            <a:solidFill>
              <a:srgbClr val="3F8F5A"/>
            </a:solidFill>
            <a:prstDash val="solid"/>
          </a:ln>
        </p:spPr>
      </p:sp>
      <p:sp>
        <p:nvSpPr>
          <p:cNvPr id="30" name="arrow"/>
          <p:cNvSpPr/>
          <p:nvPr/>
        </p:nvSpPr>
        <p:spPr>
          <a:xfrm flipH="1" flipV="1">
            <a:off x="3489960" y="1600200"/>
            <a:ext cx="2926080" cy="4206240"/>
          </a:xfrm>
          <a:prstGeom prst="line">
            <a:avLst/>
          </a:prstGeom>
          <a:noFill/>
          <a:ln w="38100">
            <a:solidFill>
              <a:srgbClr val="6C4F9E"/>
            </a:solidFill>
            <a:prstDash val="dash"/>
          </a:ln>
        </p:spPr>
      </p:sp>
      <p:sp>
        <p:nvSpPr>
          <p:cNvPr id="31" name="arrow"/>
          <p:cNvSpPr/>
          <p:nvPr/>
        </p:nvSpPr>
        <p:spPr>
          <a:xfrm flipH="1" flipV="1">
            <a:off x="5928360" y="4965192"/>
            <a:ext cx="487680" cy="841248"/>
          </a:xfrm>
          <a:prstGeom prst="line">
            <a:avLst/>
          </a:prstGeom>
          <a:noFill/>
          <a:ln w="38100">
            <a:solidFill>
              <a:srgbClr val="2E86AB"/>
            </a:solidFill>
            <a:prstDash val="solid"/>
          </a:ln>
        </p:spPr>
      </p:sp>
      <p:sp>
        <p:nvSpPr>
          <p:cNvPr id="32" name="arrow"/>
          <p:cNvSpPr/>
          <p:nvPr/>
        </p:nvSpPr>
        <p:spPr>
          <a:xfrm flipH="1" flipV="1">
            <a:off x="5538216" y="4123944"/>
            <a:ext cx="390144" cy="841248"/>
          </a:xfrm>
          <a:prstGeom prst="line">
            <a:avLst/>
          </a:prstGeom>
          <a:noFill/>
          <a:ln w="38100">
            <a:solidFill>
              <a:srgbClr val="2E86AB"/>
            </a:solidFill>
            <a:prstDash val="solid"/>
          </a:ln>
        </p:spPr>
      </p:sp>
      <p:sp>
        <p:nvSpPr>
          <p:cNvPr id="33" name="arrow"/>
          <p:cNvSpPr/>
          <p:nvPr/>
        </p:nvSpPr>
        <p:spPr>
          <a:xfrm flipH="1" flipV="1">
            <a:off x="5148072" y="3282696"/>
            <a:ext cx="390144" cy="841248"/>
          </a:xfrm>
          <a:prstGeom prst="line">
            <a:avLst/>
          </a:prstGeom>
          <a:noFill/>
          <a:ln w="38100">
            <a:solidFill>
              <a:srgbClr val="2E86AB"/>
            </a:solidFill>
            <a:prstDash val="solid"/>
          </a:ln>
        </p:spPr>
      </p:sp>
      <p:sp>
        <p:nvSpPr>
          <p:cNvPr id="34" name="arrow"/>
          <p:cNvSpPr/>
          <p:nvPr/>
        </p:nvSpPr>
        <p:spPr>
          <a:xfrm flipH="1" flipV="1">
            <a:off x="4562856" y="2441448"/>
            <a:ext cx="585216" cy="841248"/>
          </a:xfrm>
          <a:prstGeom prst="line">
            <a:avLst/>
          </a:prstGeom>
          <a:noFill/>
          <a:ln w="38100">
            <a:solidFill>
              <a:srgbClr val="2E86AB"/>
            </a:solidFill>
            <a:prstDash val="solid"/>
          </a:ln>
        </p:spPr>
      </p:sp>
      <p:sp>
        <p:nvSpPr>
          <p:cNvPr id="35" name="arrow"/>
          <p:cNvSpPr/>
          <p:nvPr/>
        </p:nvSpPr>
        <p:spPr>
          <a:xfrm flipH="1" flipV="1">
            <a:off x="4075176" y="1600200"/>
            <a:ext cx="487680" cy="841248"/>
          </a:xfrm>
          <a:prstGeom prst="line">
            <a:avLst/>
          </a:prstGeom>
          <a:noFill/>
          <a:ln w="38100">
            <a:solidFill>
              <a:srgbClr val="2E86AB"/>
            </a:solidFill>
            <a:prstDash val="solid"/>
          </a:ln>
        </p:spPr>
      </p:sp>
      <p:sp>
        <p:nvSpPr>
          <p:cNvPr id="36" name="arrow"/>
          <p:cNvSpPr/>
          <p:nvPr/>
        </p:nvSpPr>
        <p:spPr>
          <a:xfrm>
            <a:off x="1149096" y="4176979"/>
            <a:ext cx="438912" cy="0"/>
          </a:xfrm>
          <a:prstGeom prst="line">
            <a:avLst/>
          </a:prstGeom>
          <a:noFill/>
          <a:ln w="38100">
            <a:solidFill>
              <a:srgbClr val="3F8F5A"/>
            </a:solidFill>
            <a:prstDash val="solid"/>
          </a:ln>
        </p:spPr>
      </p:sp>
      <p:sp>
        <p:nvSpPr>
          <p:cNvPr id="37" name="Text 34"/>
          <p:cNvSpPr txBox="1"/>
          <p:nvPr/>
        </p:nvSpPr>
        <p:spPr>
          <a:xfrm>
            <a:off x="1636776" y="4039819"/>
            <a:ext cx="2194560" cy="274320"/>
          </a:xfrm>
          <a:prstGeom prst="rect">
            <a:avLst/>
          </a:prstGeom>
          <a:noFill/>
          <a:ln/>
        </p:spPr>
        <p:txBody>
          <a:bodyPr wrap="square" lIns="0" tIns="0" rIns="0" bIns="0" rtlCol="0" anchor="ctr"/>
          <a:lstStyle/>
          <a:p>
            <a:pPr algn="l" indent="0" marL="0">
              <a:buNone/>
            </a:pPr>
            <a:r>
              <a:rPr lang="en-US" sz="1100" b="1" dirty="0">
                <a:solidFill>
                  <a:schemeClr val="accent4"/>
                </a:solidFill>
              </a:rPr>
              <a:t>Γd ≈ 9.8 K/km (dry parcel)</a:t>
            </a:r>
            <a:endParaRPr lang="en-US" sz="1100" dirty="0"/>
          </a:p>
        </p:txBody>
      </p:sp>
      <p:sp>
        <p:nvSpPr>
          <p:cNvPr id="38" name="arrow"/>
          <p:cNvSpPr/>
          <p:nvPr/>
        </p:nvSpPr>
        <p:spPr>
          <a:xfrm>
            <a:off x="1149096" y="4506163"/>
            <a:ext cx="438912" cy="0"/>
          </a:xfrm>
          <a:prstGeom prst="line">
            <a:avLst/>
          </a:prstGeom>
          <a:noFill/>
          <a:ln w="38100">
            <a:solidFill>
              <a:srgbClr val="6C4F9E"/>
            </a:solidFill>
            <a:prstDash val="dash"/>
          </a:ln>
        </p:spPr>
      </p:sp>
      <p:sp>
        <p:nvSpPr>
          <p:cNvPr id="39" name="Text 36"/>
          <p:cNvSpPr txBox="1"/>
          <p:nvPr/>
        </p:nvSpPr>
        <p:spPr>
          <a:xfrm>
            <a:off x="1636776" y="4369003"/>
            <a:ext cx="2194560" cy="274320"/>
          </a:xfrm>
          <a:prstGeom prst="rect">
            <a:avLst/>
          </a:prstGeom>
          <a:noFill/>
          <a:ln/>
        </p:spPr>
        <p:txBody>
          <a:bodyPr wrap="square" lIns="0" tIns="0" rIns="0" bIns="0" rtlCol="0" anchor="ctr"/>
          <a:lstStyle/>
          <a:p>
            <a:pPr algn="l" indent="0" marL="0">
              <a:buNone/>
            </a:pPr>
            <a:r>
              <a:rPr lang="en-US" sz="1100" b="1" dirty="0">
                <a:solidFill>
                  <a:schemeClr val="accent5"/>
                </a:solidFill>
              </a:rPr>
              <a:t>Γs ≈ 6 K/km (saturated parcel)</a:t>
            </a:r>
            <a:endParaRPr lang="en-US" sz="1100" dirty="0"/>
          </a:p>
        </p:txBody>
      </p:sp>
      <p:sp>
        <p:nvSpPr>
          <p:cNvPr id="40" name="arrow"/>
          <p:cNvSpPr/>
          <p:nvPr/>
        </p:nvSpPr>
        <p:spPr>
          <a:xfrm>
            <a:off x="1149096" y="4835347"/>
            <a:ext cx="438912" cy="0"/>
          </a:xfrm>
          <a:prstGeom prst="line">
            <a:avLst/>
          </a:prstGeom>
          <a:noFill/>
          <a:ln w="38100">
            <a:solidFill>
              <a:srgbClr val="2E86AB"/>
            </a:solidFill>
            <a:prstDash val="solid"/>
          </a:ln>
        </p:spPr>
      </p:sp>
      <p:sp>
        <p:nvSpPr>
          <p:cNvPr id="41" name="Text 38"/>
          <p:cNvSpPr txBox="1"/>
          <p:nvPr/>
        </p:nvSpPr>
        <p:spPr>
          <a:xfrm>
            <a:off x="1636776" y="4698187"/>
            <a:ext cx="2194560" cy="274320"/>
          </a:xfrm>
          <a:prstGeom prst="rect">
            <a:avLst/>
          </a:prstGeom>
          <a:noFill/>
          <a:ln/>
        </p:spPr>
        <p:txBody>
          <a:bodyPr wrap="square" lIns="0" tIns="0" rIns="0" bIns="0" rtlCol="0" anchor="ctr"/>
          <a:lstStyle/>
          <a:p>
            <a:pPr algn="l" indent="0" marL="0">
              <a:buNone/>
            </a:pPr>
            <a:r>
              <a:rPr lang="en-US" sz="1100" b="1" dirty="0">
                <a:solidFill>
                  <a:schemeClr val="accent2"/>
                </a:solidFill>
              </a:rPr>
              <a:t>γ observed (sounding)</a:t>
            </a:r>
            <a:endParaRPr lang="en-US" sz="1100" dirty="0"/>
          </a:p>
        </p:txBody>
      </p:sp>
      <p:sp>
        <p:nvSpPr>
          <p:cNvPr id="42" name="card"/>
          <p:cNvSpPr/>
          <p:nvPr/>
        </p:nvSpPr>
        <p:spPr>
          <a:xfrm>
            <a:off x="7086600" y="1371600"/>
            <a:ext cx="4553712" cy="1508760"/>
          </a:xfrm>
          <a:prstGeom prst="roundRect">
            <a:avLst>
              <a:gd name="adj" fmla="val 4848"/>
            </a:avLst>
          </a:prstGeom>
          <a:solidFill>
            <a:schemeClr val="bg2"/>
          </a:solidFill>
          <a:ln/>
          <a:effectLst>
            <a:outerShdw sx="100000" sy="100000" kx="0" ky="0" algn="bl" rotWithShape="0" blurRad="76200" dist="25400" dir="5400000">
              <a:srgbClr val="000000">
                <a:alpha val="14000"/>
              </a:srgbClr>
            </a:outerShdw>
          </a:effectLst>
        </p:spPr>
      </p:sp>
      <p:sp>
        <p:nvSpPr>
          <p:cNvPr id="43" name="Text 40"/>
          <p:cNvSpPr txBox="1"/>
          <p:nvPr/>
        </p:nvSpPr>
        <p:spPr>
          <a:xfrm>
            <a:off x="7269480" y="1508760"/>
            <a:ext cx="4233672" cy="365760"/>
          </a:xfrm>
          <a:prstGeom prst="rect">
            <a:avLst/>
          </a:prstGeom>
          <a:noFill/>
          <a:ln/>
        </p:spPr>
        <p:txBody>
          <a:bodyPr wrap="square" lIns="0" tIns="0" rIns="0" bIns="0" rtlCol="0" anchor="ctr"/>
          <a:lstStyle/>
          <a:p>
            <a:pPr indent="0" marL="0">
              <a:buNone/>
            </a:pPr>
            <a:r>
              <a:rPr lang="en-US" sz="1400" b="1" dirty="0">
                <a:solidFill>
                  <a:schemeClr val="accent2"/>
                </a:solidFill>
              </a:rPr>
              <a:t>γ — environmental lapse rate (ELR)</a:t>
            </a:r>
            <a:endParaRPr lang="en-US" sz="1400" dirty="0"/>
          </a:p>
        </p:txBody>
      </p:sp>
      <p:sp>
        <p:nvSpPr>
          <p:cNvPr id="44" name="Text 41"/>
          <p:cNvSpPr txBox="1"/>
          <p:nvPr/>
        </p:nvSpPr>
        <p:spPr>
          <a:xfrm>
            <a:off x="7269480" y="1920240"/>
            <a:ext cx="4187952" cy="86868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Observed in still air by radiosonde; varies (average ~6.5 K/km).</a:t>
            </a:r>
            <a:endParaRPr lang="en-US" sz="1300" dirty="0"/>
          </a:p>
        </p:txBody>
      </p:sp>
      <p:sp>
        <p:nvSpPr>
          <p:cNvPr id="45" name="card"/>
          <p:cNvSpPr/>
          <p:nvPr/>
        </p:nvSpPr>
        <p:spPr>
          <a:xfrm>
            <a:off x="7086600" y="3017520"/>
            <a:ext cx="4553712" cy="1508760"/>
          </a:xfrm>
          <a:prstGeom prst="roundRect">
            <a:avLst>
              <a:gd name="adj" fmla="val 4848"/>
            </a:avLst>
          </a:prstGeom>
          <a:solidFill>
            <a:schemeClr val="bg2"/>
          </a:solidFill>
          <a:ln/>
          <a:effectLst>
            <a:outerShdw sx="100000" sy="100000" kx="0" ky="0" algn="bl" rotWithShape="0" blurRad="76200" dist="25400" dir="5400000">
              <a:srgbClr val="000000">
                <a:alpha val="14000"/>
              </a:srgbClr>
            </a:outerShdw>
          </a:effectLst>
        </p:spPr>
      </p:sp>
      <p:sp>
        <p:nvSpPr>
          <p:cNvPr id="46" name="Text 43"/>
          <p:cNvSpPr txBox="1"/>
          <p:nvPr/>
        </p:nvSpPr>
        <p:spPr>
          <a:xfrm>
            <a:off x="7269480" y="3154680"/>
            <a:ext cx="4233672" cy="365760"/>
          </a:xfrm>
          <a:prstGeom prst="rect">
            <a:avLst/>
          </a:prstGeom>
          <a:noFill/>
          <a:ln/>
        </p:spPr>
        <p:txBody>
          <a:bodyPr wrap="square" lIns="0" tIns="0" rIns="0" bIns="0" rtlCol="0" anchor="ctr"/>
          <a:lstStyle/>
          <a:p>
            <a:pPr indent="0" marL="0">
              <a:buNone/>
            </a:pPr>
            <a:r>
              <a:rPr lang="en-US" sz="1400" b="1" dirty="0">
                <a:solidFill>
                  <a:schemeClr val="accent4"/>
                </a:solidFill>
              </a:rPr>
              <a:t>Γd — dry adiabatic</a:t>
            </a:r>
            <a:endParaRPr lang="en-US" sz="1400" dirty="0"/>
          </a:p>
        </p:txBody>
      </p:sp>
      <p:sp>
        <p:nvSpPr>
          <p:cNvPr id="47" name="Text 44"/>
          <p:cNvSpPr txBox="1"/>
          <p:nvPr/>
        </p:nvSpPr>
        <p:spPr>
          <a:xfrm>
            <a:off x="7269480" y="3566160"/>
            <a:ext cx="4187952" cy="86868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Rate for a rising/sinking unsaturated parcel; constant 9.8 K/km.</a:t>
            </a:r>
            <a:endParaRPr lang="en-US" sz="1300" dirty="0"/>
          </a:p>
        </p:txBody>
      </p:sp>
      <p:sp>
        <p:nvSpPr>
          <p:cNvPr id="48" name="card"/>
          <p:cNvSpPr/>
          <p:nvPr/>
        </p:nvSpPr>
        <p:spPr>
          <a:xfrm>
            <a:off x="7086600" y="4663440"/>
            <a:ext cx="4553712" cy="1508760"/>
          </a:xfrm>
          <a:prstGeom prst="roundRect">
            <a:avLst>
              <a:gd name="adj" fmla="val 4848"/>
            </a:avLst>
          </a:prstGeom>
          <a:solidFill>
            <a:schemeClr val="bg2"/>
          </a:solidFill>
          <a:ln/>
          <a:effectLst>
            <a:outerShdw sx="100000" sy="100000" kx="0" ky="0" algn="bl" rotWithShape="0" blurRad="76200" dist="25400" dir="5400000">
              <a:srgbClr val="000000">
                <a:alpha val="14000"/>
              </a:srgbClr>
            </a:outerShdw>
          </a:effectLst>
        </p:spPr>
      </p:sp>
      <p:sp>
        <p:nvSpPr>
          <p:cNvPr id="49" name="Text 46"/>
          <p:cNvSpPr txBox="1"/>
          <p:nvPr/>
        </p:nvSpPr>
        <p:spPr>
          <a:xfrm>
            <a:off x="7269480" y="4800600"/>
            <a:ext cx="4233672" cy="365760"/>
          </a:xfrm>
          <a:prstGeom prst="rect">
            <a:avLst/>
          </a:prstGeom>
          <a:noFill/>
          <a:ln/>
        </p:spPr>
        <p:txBody>
          <a:bodyPr wrap="square" lIns="0" tIns="0" rIns="0" bIns="0" rtlCol="0" anchor="ctr"/>
          <a:lstStyle/>
          <a:p>
            <a:pPr indent="0" marL="0">
              <a:buNone/>
            </a:pPr>
            <a:r>
              <a:rPr lang="en-US" sz="1400" b="1" dirty="0">
                <a:solidFill>
                  <a:schemeClr val="accent5"/>
                </a:solidFill>
              </a:rPr>
              <a:t>Γs — saturated adiabatic</a:t>
            </a:r>
            <a:endParaRPr lang="en-US" sz="1400" dirty="0"/>
          </a:p>
        </p:txBody>
      </p:sp>
      <p:sp>
        <p:nvSpPr>
          <p:cNvPr id="50" name="Text 47"/>
          <p:cNvSpPr txBox="1"/>
          <p:nvPr/>
        </p:nvSpPr>
        <p:spPr>
          <a:xfrm>
            <a:off x="7269480" y="5212080"/>
            <a:ext cx="4187952" cy="86868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Rate for a saturated parcel; 4–7 K/km, depends on T and p.</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Thermodynamic diagrams, LCL &amp; mountains</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Reading the temperature–height chart, finding the lifting condensation level, and the Foehn effect</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05</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Reading a thermodynamic (temperature–height) diagram</a:t>
            </a:r>
            <a:endParaRPr lang="en-US" sz="3200" dirty="0"/>
          </a:p>
        </p:txBody>
      </p:sp>
      <p:sp>
        <p:nvSpPr>
          <p:cNvPr id="4" name="figure frame"/>
          <p:cNvSpPr/>
          <p:nvPr/>
        </p:nvSpPr>
        <p:spPr>
          <a:xfrm>
            <a:off x="548640" y="1325880"/>
            <a:ext cx="5120640" cy="4343400"/>
          </a:xfrm>
          <a:prstGeom prst="roundRect">
            <a:avLst>
              <a:gd name="adj" fmla="val 1263"/>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Class diagram: isobars (mb) and isotherms (°C) with dry adiabats (green), moist adiabats (blue dotted) and mixing-ratio lines (orange, g/kg)">    </p:cNvPr>
          <p:cNvPicPr>
            <a:picLocks noChangeAspect="1"/>
          </p:cNvPicPr>
          <p:nvPr/>
        </p:nvPicPr>
        <p:blipFill>
          <a:blip r:embed="rId1"/>
          <a:stretch>
            <a:fillRect/>
          </a:stretch>
        </p:blipFill>
        <p:spPr>
          <a:xfrm>
            <a:off x="640080" y="1462789"/>
            <a:ext cx="4937760" cy="4069582"/>
          </a:xfrm>
          <a:prstGeom prst="rect">
            <a:avLst/>
          </a:prstGeom>
        </p:spPr>
      </p:pic>
      <p:sp>
        <p:nvSpPr>
          <p:cNvPr id="6" name="Text 2"/>
          <p:cNvSpPr txBox="1"/>
          <p:nvPr/>
        </p:nvSpPr>
        <p:spPr>
          <a:xfrm>
            <a:off x="548640" y="5715000"/>
            <a:ext cx="5120640" cy="457200"/>
          </a:xfrm>
          <a:prstGeom prst="rect">
            <a:avLst/>
          </a:prstGeom>
          <a:noFill/>
          <a:ln/>
        </p:spPr>
        <p:txBody>
          <a:bodyPr wrap="square" lIns="0" tIns="0" rIns="0" bIns="0" rtlCol="0" anchor="t"/>
          <a:lstStyle/>
          <a:p>
            <a:pPr indent="0" marL="0">
              <a:buNone/>
            </a:pPr>
            <a:r>
              <a:rPr lang="en-US" sz="1100" i="1" dirty="0">
                <a:solidFill>
                  <a:schemeClr val="accent6"/>
                </a:solidFill>
              </a:rPr>
              <a:t>Class diagram: isobars (mb) and isotherms (°C) with dry adiabats (green), moist adiabats (blue dotted) and mixing-ratio lines (orange, g/kg)</a:t>
            </a:r>
            <a:endParaRPr lang="en-US" sz="1100" dirty="0"/>
          </a:p>
        </p:txBody>
      </p:sp>
      <p:sp>
        <p:nvSpPr>
          <p:cNvPr id="7" name="card"/>
          <p:cNvSpPr/>
          <p:nvPr/>
        </p:nvSpPr>
        <p:spPr>
          <a:xfrm>
            <a:off x="5943600" y="1371600"/>
            <a:ext cx="5696712" cy="694944"/>
          </a:xfrm>
          <a:prstGeom prst="roundRect">
            <a:avLst>
              <a:gd name="adj" fmla="val 10526"/>
            </a:avLst>
          </a:prstGeom>
          <a:solidFill>
            <a:schemeClr val="bg2"/>
          </a:solidFill>
          <a:ln/>
          <a:effectLst>
            <a:outerShdw sx="100000" sy="100000" kx="0" ky="0" algn="bl" rotWithShape="0" blurRad="76200" dist="25400" dir="5400000">
              <a:srgbClr val="000000">
                <a:alpha val="14000"/>
              </a:srgbClr>
            </a:outerShdw>
          </a:effectLst>
        </p:spPr>
      </p:sp>
      <p:sp>
        <p:nvSpPr>
          <p:cNvPr id="8" name="arrow"/>
          <p:cNvSpPr/>
          <p:nvPr/>
        </p:nvSpPr>
        <p:spPr>
          <a:xfrm>
            <a:off x="6126480" y="1719072"/>
            <a:ext cx="640080" cy="0"/>
          </a:xfrm>
          <a:prstGeom prst="line">
            <a:avLst/>
          </a:prstGeom>
          <a:noFill/>
          <a:ln w="50800">
            <a:solidFill>
              <a:srgbClr val="1D2B4F"/>
            </a:solidFill>
            <a:prstDash val="solid"/>
          </a:ln>
        </p:spPr>
      </p:sp>
      <p:sp>
        <p:nvSpPr>
          <p:cNvPr id="9" name="Text 5"/>
          <p:cNvSpPr txBox="1"/>
          <p:nvPr/>
        </p:nvSpPr>
        <p:spPr>
          <a:xfrm>
            <a:off x="6949440" y="1408176"/>
            <a:ext cx="2011680" cy="621792"/>
          </a:xfrm>
          <a:prstGeom prst="rect">
            <a:avLst/>
          </a:prstGeom>
          <a:noFill/>
          <a:ln/>
        </p:spPr>
        <p:txBody>
          <a:bodyPr wrap="square" lIns="0" tIns="0" rIns="0" bIns="0" rtlCol="0" anchor="ctr"/>
          <a:lstStyle/>
          <a:p>
            <a:pPr algn="l" indent="0" marL="0">
              <a:buNone/>
            </a:pPr>
            <a:r>
              <a:rPr lang="en-US" sz="1400" b="1" dirty="0">
                <a:solidFill>
                  <a:schemeClr val="tx2"/>
                </a:solidFill>
              </a:rPr>
              <a:t>Isobars</a:t>
            </a:r>
            <a:endParaRPr lang="en-US" sz="1400" dirty="0"/>
          </a:p>
        </p:txBody>
      </p:sp>
      <p:sp>
        <p:nvSpPr>
          <p:cNvPr id="10" name="Text 6"/>
          <p:cNvSpPr txBox="1"/>
          <p:nvPr/>
        </p:nvSpPr>
        <p:spPr>
          <a:xfrm>
            <a:off x="8778240" y="1408176"/>
            <a:ext cx="2788920" cy="621792"/>
          </a:xfrm>
          <a:prstGeom prst="rect">
            <a:avLst/>
          </a:prstGeom>
          <a:noFill/>
          <a:ln/>
        </p:spPr>
        <p:txBody>
          <a:bodyPr wrap="square" lIns="0" tIns="0" rIns="0" bIns="0" rtlCol="0" anchor="ctr"/>
          <a:lstStyle/>
          <a:p>
            <a:pPr algn="l" indent="0" marL="0">
              <a:buNone/>
            </a:pPr>
            <a:r>
              <a:rPr lang="en-US" sz="1200" dirty="0">
                <a:solidFill>
                  <a:schemeClr val="tx1"/>
                </a:solidFill>
              </a:rPr>
              <a:t>horizontal lines, pressure in mb (hPa)</a:t>
            </a:r>
            <a:endParaRPr lang="en-US" sz="1200" dirty="0"/>
          </a:p>
        </p:txBody>
      </p:sp>
      <p:sp>
        <p:nvSpPr>
          <p:cNvPr id="11" name="card"/>
          <p:cNvSpPr/>
          <p:nvPr/>
        </p:nvSpPr>
        <p:spPr>
          <a:xfrm>
            <a:off x="5943600" y="2157984"/>
            <a:ext cx="5696712" cy="694944"/>
          </a:xfrm>
          <a:prstGeom prst="roundRect">
            <a:avLst>
              <a:gd name="adj" fmla="val 10526"/>
            </a:avLst>
          </a:prstGeom>
          <a:solidFill>
            <a:schemeClr val="bg2"/>
          </a:solidFill>
          <a:ln/>
          <a:effectLst>
            <a:outerShdw sx="100000" sy="100000" kx="0" ky="0" algn="bl" rotWithShape="0" blurRad="76200" dist="25400" dir="5400000">
              <a:srgbClr val="000000">
                <a:alpha val="14000"/>
              </a:srgbClr>
            </a:outerShdw>
          </a:effectLst>
        </p:spPr>
      </p:sp>
      <p:sp>
        <p:nvSpPr>
          <p:cNvPr id="12" name="arrow"/>
          <p:cNvSpPr/>
          <p:nvPr/>
        </p:nvSpPr>
        <p:spPr>
          <a:xfrm>
            <a:off x="6126480" y="2505456"/>
            <a:ext cx="640080" cy="0"/>
          </a:xfrm>
          <a:prstGeom prst="line">
            <a:avLst/>
          </a:prstGeom>
          <a:noFill/>
          <a:ln w="50800">
            <a:solidFill>
              <a:srgbClr val="1D2B4F"/>
            </a:solidFill>
            <a:prstDash val="solid"/>
          </a:ln>
        </p:spPr>
      </p:sp>
      <p:sp>
        <p:nvSpPr>
          <p:cNvPr id="13" name="Text 9"/>
          <p:cNvSpPr txBox="1"/>
          <p:nvPr/>
        </p:nvSpPr>
        <p:spPr>
          <a:xfrm>
            <a:off x="6949440" y="2194560"/>
            <a:ext cx="2011680" cy="621792"/>
          </a:xfrm>
          <a:prstGeom prst="rect">
            <a:avLst/>
          </a:prstGeom>
          <a:noFill/>
          <a:ln/>
        </p:spPr>
        <p:txBody>
          <a:bodyPr wrap="square" lIns="0" tIns="0" rIns="0" bIns="0" rtlCol="0" anchor="ctr"/>
          <a:lstStyle/>
          <a:p>
            <a:pPr algn="l" indent="0" marL="0">
              <a:buNone/>
            </a:pPr>
            <a:r>
              <a:rPr lang="en-US" sz="1400" b="1" dirty="0">
                <a:solidFill>
                  <a:schemeClr val="tx2"/>
                </a:solidFill>
              </a:rPr>
              <a:t>Isotherms</a:t>
            </a:r>
            <a:endParaRPr lang="en-US" sz="1400" dirty="0"/>
          </a:p>
        </p:txBody>
      </p:sp>
      <p:sp>
        <p:nvSpPr>
          <p:cNvPr id="14" name="Text 10"/>
          <p:cNvSpPr txBox="1"/>
          <p:nvPr/>
        </p:nvSpPr>
        <p:spPr>
          <a:xfrm>
            <a:off x="8778240" y="2194560"/>
            <a:ext cx="2788920" cy="621792"/>
          </a:xfrm>
          <a:prstGeom prst="rect">
            <a:avLst/>
          </a:prstGeom>
          <a:noFill/>
          <a:ln/>
        </p:spPr>
        <p:txBody>
          <a:bodyPr wrap="square" lIns="0" tIns="0" rIns="0" bIns="0" rtlCol="0" anchor="ctr"/>
          <a:lstStyle/>
          <a:p>
            <a:pPr algn="l" indent="0" marL="0">
              <a:buNone/>
            </a:pPr>
            <a:r>
              <a:rPr lang="en-US" sz="1200" dirty="0">
                <a:solidFill>
                  <a:schemeClr val="tx1"/>
                </a:solidFill>
              </a:rPr>
              <a:t>vertical lines, temperature in °C</a:t>
            </a:r>
            <a:endParaRPr lang="en-US" sz="1200" dirty="0"/>
          </a:p>
        </p:txBody>
      </p:sp>
      <p:sp>
        <p:nvSpPr>
          <p:cNvPr id="15" name="card"/>
          <p:cNvSpPr/>
          <p:nvPr/>
        </p:nvSpPr>
        <p:spPr>
          <a:xfrm>
            <a:off x="5943600" y="2944368"/>
            <a:ext cx="5696712" cy="694944"/>
          </a:xfrm>
          <a:prstGeom prst="roundRect">
            <a:avLst>
              <a:gd name="adj" fmla="val 10526"/>
            </a:avLst>
          </a:prstGeom>
          <a:solidFill>
            <a:schemeClr val="bg2"/>
          </a:solidFill>
          <a:ln/>
          <a:effectLst>
            <a:outerShdw sx="100000" sy="100000" kx="0" ky="0" algn="bl" rotWithShape="0" blurRad="76200" dist="25400" dir="5400000">
              <a:srgbClr val="000000">
                <a:alpha val="14000"/>
              </a:srgbClr>
            </a:outerShdw>
          </a:effectLst>
        </p:spPr>
      </p:sp>
      <p:sp>
        <p:nvSpPr>
          <p:cNvPr id="16" name="arrow"/>
          <p:cNvSpPr/>
          <p:nvPr/>
        </p:nvSpPr>
        <p:spPr>
          <a:xfrm>
            <a:off x="6126480" y="3291840"/>
            <a:ext cx="640080" cy="0"/>
          </a:xfrm>
          <a:prstGeom prst="line">
            <a:avLst/>
          </a:prstGeom>
          <a:noFill/>
          <a:ln w="50800">
            <a:solidFill>
              <a:srgbClr val="3F8F5A"/>
            </a:solidFill>
            <a:prstDash val="solid"/>
          </a:ln>
        </p:spPr>
      </p:sp>
      <p:sp>
        <p:nvSpPr>
          <p:cNvPr id="17" name="Text 13"/>
          <p:cNvSpPr txBox="1"/>
          <p:nvPr/>
        </p:nvSpPr>
        <p:spPr>
          <a:xfrm>
            <a:off x="6949440" y="2980944"/>
            <a:ext cx="2011680" cy="621792"/>
          </a:xfrm>
          <a:prstGeom prst="rect">
            <a:avLst/>
          </a:prstGeom>
          <a:noFill/>
          <a:ln/>
        </p:spPr>
        <p:txBody>
          <a:bodyPr wrap="square" lIns="0" tIns="0" rIns="0" bIns="0" rtlCol="0" anchor="ctr"/>
          <a:lstStyle/>
          <a:p>
            <a:pPr algn="l" indent="0" marL="0">
              <a:buNone/>
            </a:pPr>
            <a:r>
              <a:rPr lang="en-US" sz="1400" b="1" dirty="0">
                <a:solidFill>
                  <a:schemeClr val="tx2"/>
                </a:solidFill>
              </a:rPr>
              <a:t>Dry adiabats</a:t>
            </a:r>
            <a:endParaRPr lang="en-US" sz="1400" dirty="0"/>
          </a:p>
        </p:txBody>
      </p:sp>
      <p:sp>
        <p:nvSpPr>
          <p:cNvPr id="18" name="Text 14"/>
          <p:cNvSpPr txBox="1"/>
          <p:nvPr/>
        </p:nvSpPr>
        <p:spPr>
          <a:xfrm>
            <a:off x="8778240" y="2980944"/>
            <a:ext cx="2788920" cy="621792"/>
          </a:xfrm>
          <a:prstGeom prst="rect">
            <a:avLst/>
          </a:prstGeom>
          <a:noFill/>
          <a:ln/>
        </p:spPr>
        <p:txBody>
          <a:bodyPr wrap="square" lIns="0" tIns="0" rIns="0" bIns="0" rtlCol="0" anchor="ctr"/>
          <a:lstStyle/>
          <a:p>
            <a:pPr algn="l" indent="0" marL="0">
              <a:buNone/>
            </a:pPr>
            <a:r>
              <a:rPr lang="en-US" sz="1200" dirty="0">
                <a:solidFill>
                  <a:schemeClr val="tx1"/>
                </a:solidFill>
              </a:rPr>
              <a:t>green: path of an unsaturated parcel (constant θ)</a:t>
            </a:r>
            <a:endParaRPr lang="en-US" sz="1200" dirty="0"/>
          </a:p>
        </p:txBody>
      </p:sp>
      <p:sp>
        <p:nvSpPr>
          <p:cNvPr id="19" name="card"/>
          <p:cNvSpPr/>
          <p:nvPr/>
        </p:nvSpPr>
        <p:spPr>
          <a:xfrm>
            <a:off x="5943600" y="3730752"/>
            <a:ext cx="5696712" cy="694944"/>
          </a:xfrm>
          <a:prstGeom prst="roundRect">
            <a:avLst>
              <a:gd name="adj" fmla="val 10526"/>
            </a:avLst>
          </a:prstGeom>
          <a:solidFill>
            <a:schemeClr val="bg2"/>
          </a:solidFill>
          <a:ln/>
          <a:effectLst>
            <a:outerShdw sx="100000" sy="100000" kx="0" ky="0" algn="bl" rotWithShape="0" blurRad="76200" dist="25400" dir="5400000">
              <a:srgbClr val="000000">
                <a:alpha val="14000"/>
              </a:srgbClr>
            </a:outerShdw>
          </a:effectLst>
        </p:spPr>
      </p:sp>
      <p:sp>
        <p:nvSpPr>
          <p:cNvPr id="20" name="arrow"/>
          <p:cNvSpPr/>
          <p:nvPr/>
        </p:nvSpPr>
        <p:spPr>
          <a:xfrm>
            <a:off x="6126480" y="4078224"/>
            <a:ext cx="640080" cy="0"/>
          </a:xfrm>
          <a:prstGeom prst="line">
            <a:avLst/>
          </a:prstGeom>
          <a:noFill/>
          <a:ln w="50800">
            <a:solidFill>
              <a:srgbClr val="6C4F9E"/>
            </a:solidFill>
            <a:prstDash val="dash"/>
          </a:ln>
        </p:spPr>
      </p:sp>
      <p:sp>
        <p:nvSpPr>
          <p:cNvPr id="21" name="Text 17"/>
          <p:cNvSpPr txBox="1"/>
          <p:nvPr/>
        </p:nvSpPr>
        <p:spPr>
          <a:xfrm>
            <a:off x="6949440" y="3767328"/>
            <a:ext cx="2011680" cy="621792"/>
          </a:xfrm>
          <a:prstGeom prst="rect">
            <a:avLst/>
          </a:prstGeom>
          <a:noFill/>
          <a:ln/>
        </p:spPr>
        <p:txBody>
          <a:bodyPr wrap="square" lIns="0" tIns="0" rIns="0" bIns="0" rtlCol="0" anchor="ctr"/>
          <a:lstStyle/>
          <a:p>
            <a:pPr algn="l" indent="0" marL="0">
              <a:buNone/>
            </a:pPr>
            <a:r>
              <a:rPr lang="en-US" sz="1400" b="1" dirty="0">
                <a:solidFill>
                  <a:schemeClr val="tx2"/>
                </a:solidFill>
              </a:rPr>
              <a:t>Saturated adiabats</a:t>
            </a:r>
            <a:endParaRPr lang="en-US" sz="1400" dirty="0"/>
          </a:p>
        </p:txBody>
      </p:sp>
      <p:sp>
        <p:nvSpPr>
          <p:cNvPr id="22" name="Text 18"/>
          <p:cNvSpPr txBox="1"/>
          <p:nvPr/>
        </p:nvSpPr>
        <p:spPr>
          <a:xfrm>
            <a:off x="8778240" y="3767328"/>
            <a:ext cx="2788920" cy="621792"/>
          </a:xfrm>
          <a:prstGeom prst="rect">
            <a:avLst/>
          </a:prstGeom>
          <a:noFill/>
          <a:ln/>
        </p:spPr>
        <p:txBody>
          <a:bodyPr wrap="square" lIns="0" tIns="0" rIns="0" bIns="0" rtlCol="0" anchor="ctr"/>
          <a:lstStyle/>
          <a:p>
            <a:pPr algn="l" indent="0" marL="0">
              <a:buNone/>
            </a:pPr>
            <a:r>
              <a:rPr lang="en-US" sz="1200" dirty="0">
                <a:solidFill>
                  <a:schemeClr val="tx1"/>
                </a:solidFill>
              </a:rPr>
              <a:t>blue dotted: path of a saturated parcel (constant θe)</a:t>
            </a:r>
            <a:endParaRPr lang="en-US" sz="1200" dirty="0"/>
          </a:p>
        </p:txBody>
      </p:sp>
      <p:sp>
        <p:nvSpPr>
          <p:cNvPr id="23" name="card"/>
          <p:cNvSpPr/>
          <p:nvPr/>
        </p:nvSpPr>
        <p:spPr>
          <a:xfrm>
            <a:off x="5943600" y="4517136"/>
            <a:ext cx="5696712" cy="694944"/>
          </a:xfrm>
          <a:prstGeom prst="roundRect">
            <a:avLst>
              <a:gd name="adj" fmla="val 10526"/>
            </a:avLst>
          </a:prstGeom>
          <a:solidFill>
            <a:schemeClr val="bg2"/>
          </a:solidFill>
          <a:ln/>
          <a:effectLst>
            <a:outerShdw sx="100000" sy="100000" kx="0" ky="0" algn="bl" rotWithShape="0" blurRad="76200" dist="25400" dir="5400000">
              <a:srgbClr val="000000">
                <a:alpha val="14000"/>
              </a:srgbClr>
            </a:outerShdw>
          </a:effectLst>
        </p:spPr>
      </p:sp>
      <p:sp>
        <p:nvSpPr>
          <p:cNvPr id="24" name="arrow"/>
          <p:cNvSpPr/>
          <p:nvPr/>
        </p:nvSpPr>
        <p:spPr>
          <a:xfrm>
            <a:off x="6126480" y="4864608"/>
            <a:ext cx="640080" cy="0"/>
          </a:xfrm>
          <a:prstGeom prst="line">
            <a:avLst/>
          </a:prstGeom>
          <a:noFill/>
          <a:ln w="50800">
            <a:solidFill>
              <a:srgbClr val="D98E04"/>
            </a:solidFill>
            <a:prstDash val="dash"/>
          </a:ln>
        </p:spPr>
      </p:sp>
      <p:sp>
        <p:nvSpPr>
          <p:cNvPr id="25" name="Text 21"/>
          <p:cNvSpPr txBox="1"/>
          <p:nvPr/>
        </p:nvSpPr>
        <p:spPr>
          <a:xfrm>
            <a:off x="6949440" y="4553712"/>
            <a:ext cx="2011680" cy="621792"/>
          </a:xfrm>
          <a:prstGeom prst="rect">
            <a:avLst/>
          </a:prstGeom>
          <a:noFill/>
          <a:ln/>
        </p:spPr>
        <p:txBody>
          <a:bodyPr wrap="square" lIns="0" tIns="0" rIns="0" bIns="0" rtlCol="0" anchor="ctr"/>
          <a:lstStyle/>
          <a:p>
            <a:pPr algn="l" indent="0" marL="0">
              <a:buNone/>
            </a:pPr>
            <a:r>
              <a:rPr lang="en-US" sz="1400" b="1" dirty="0">
                <a:solidFill>
                  <a:schemeClr val="tx2"/>
                </a:solidFill>
              </a:rPr>
              <a:t>Mixing-ratio lines</a:t>
            </a:r>
            <a:endParaRPr lang="en-US" sz="1400" dirty="0"/>
          </a:p>
        </p:txBody>
      </p:sp>
      <p:sp>
        <p:nvSpPr>
          <p:cNvPr id="26" name="Text 22"/>
          <p:cNvSpPr txBox="1"/>
          <p:nvPr/>
        </p:nvSpPr>
        <p:spPr>
          <a:xfrm>
            <a:off x="8778240" y="4553712"/>
            <a:ext cx="2788920" cy="621792"/>
          </a:xfrm>
          <a:prstGeom prst="rect">
            <a:avLst/>
          </a:prstGeom>
          <a:noFill/>
          <a:ln/>
        </p:spPr>
        <p:txBody>
          <a:bodyPr wrap="square" lIns="0" tIns="0" rIns="0" bIns="0" rtlCol="0" anchor="ctr"/>
          <a:lstStyle/>
          <a:p>
            <a:pPr algn="l" indent="0" marL="0">
              <a:buNone/>
            </a:pPr>
            <a:r>
              <a:rPr lang="en-US" sz="1200" dirty="0">
                <a:solidFill>
                  <a:schemeClr val="tx1"/>
                </a:solidFill>
              </a:rPr>
              <a:t>orange dotted: constant saturation mixing ratio (g/kg)</a:t>
            </a:r>
            <a:endParaRPr lang="en-US" sz="1200" dirty="0"/>
          </a:p>
        </p:txBody>
      </p:sp>
      <p:sp>
        <p:nvSpPr>
          <p:cNvPr id="27" name="card"/>
          <p:cNvSpPr/>
          <p:nvPr/>
        </p:nvSpPr>
        <p:spPr>
          <a:xfrm>
            <a:off x="5943600" y="5349240"/>
            <a:ext cx="5696712" cy="822960"/>
          </a:xfrm>
          <a:prstGeom prst="roundRect">
            <a:avLst>
              <a:gd name="adj" fmla="val 8889"/>
            </a:avLst>
          </a:prstGeom>
          <a:solidFill>
            <a:schemeClr val="bg2"/>
          </a:solidFill>
          <a:ln/>
        </p:spPr>
      </p:sp>
      <p:sp>
        <p:nvSpPr>
          <p:cNvPr id="28" name="icon circle"/>
          <p:cNvSpPr/>
          <p:nvPr/>
        </p:nvSpPr>
        <p:spPr>
          <a:xfrm>
            <a:off x="6126480" y="5504688"/>
            <a:ext cx="420624" cy="420624"/>
          </a:xfrm>
          <a:prstGeom prst="ellipse">
            <a:avLst/>
          </a:prstGeom>
          <a:solidFill>
            <a:schemeClr val="accent1"/>
          </a:solidFill>
          <a:ln/>
        </p:spPr>
      </p:sp>
      <p:pic>
        <p:nvPicPr>
          <p:cNvPr id="29" name="Image 1" descr="Route icon">    </p:cNvPr>
          <p:cNvPicPr>
            <a:picLocks noChangeAspect="1"/>
          </p:cNvPicPr>
          <p:nvPr/>
        </p:nvPicPr>
        <p:blipFill>
          <a:blip r:embed="rId2"/>
          <a:stretch>
            <a:fillRect/>
          </a:stretch>
        </p:blipFill>
        <p:spPr>
          <a:xfrm>
            <a:off x="6235842" y="5614050"/>
            <a:ext cx="201900" cy="201900"/>
          </a:xfrm>
          <a:prstGeom prst="rect">
            <a:avLst/>
          </a:prstGeom>
        </p:spPr>
      </p:pic>
      <p:sp>
        <p:nvSpPr>
          <p:cNvPr id="30" name="Text 25"/>
          <p:cNvSpPr txBox="1"/>
          <p:nvPr/>
        </p:nvSpPr>
        <p:spPr>
          <a:xfrm>
            <a:off x="6656832" y="5486400"/>
            <a:ext cx="4846320" cy="457200"/>
          </a:xfrm>
          <a:prstGeom prst="rect">
            <a:avLst/>
          </a:prstGeom>
          <a:noFill/>
          <a:ln/>
        </p:spPr>
        <p:txBody>
          <a:bodyPr wrap="square" lIns="0" tIns="0" rIns="0" bIns="0" rtlCol="0" anchor="ctr"/>
          <a:lstStyle/>
          <a:p>
            <a:pPr indent="0" marL="0">
              <a:buNone/>
            </a:pPr>
            <a:r>
              <a:rPr lang="en-US" sz="1300" b="1" dirty="0">
                <a:solidFill>
                  <a:schemeClr val="tx2"/>
                </a:solidFill>
              </a:rPr>
              <a:t>Use: plot T &amp; T</a:t>
            </a:r>
            <a:r>
              <a:rPr lang="en-US" sz="1300" b="1" baseline="-40000" dirty="0">
                <a:solidFill>
                  <a:schemeClr val="tx2"/>
                </a:solidFill>
              </a:rPr>
              <a:t>d</a:t>
            </a:r>
            <a:r>
              <a:rPr lang="en-US" sz="1300" b="1" dirty="0">
                <a:solidFill>
                  <a:schemeClr val="tx2"/>
                </a:solidFill>
              </a:rPr>
              <a:t> from a sounding, lift a parcel, compare temperatures</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Lifting condensation level (LCL)</a:t>
            </a:r>
            <a:endParaRPr lang="en-US" sz="3200" dirty="0"/>
          </a:p>
        </p:txBody>
      </p:sp>
      <p:sp>
        <p:nvSpPr>
          <p:cNvPr id="4" name="plot area"/>
          <p:cNvSpPr/>
          <p:nvPr/>
        </p:nvSpPr>
        <p:spPr>
          <a:xfrm>
            <a:off x="1051560" y="1600200"/>
            <a:ext cx="5669280" cy="4206240"/>
          </a:xfrm>
          <a:prstGeom prst="rect">
            <a:avLst/>
          </a:prstGeom>
          <a:solidFill>
            <a:schemeClr val="bg1"/>
          </a:solidFill>
          <a:ln w="9525">
            <a:solidFill>
              <a:srgbClr val="C9D2DC"/>
            </a:solidFill>
            <a:prstDash val="solid"/>
          </a:ln>
        </p:spPr>
      </p:sp>
      <p:sp>
        <p:nvSpPr>
          <p:cNvPr id="5" name="Text 2"/>
          <p:cNvSpPr txBox="1"/>
          <p:nvPr/>
        </p:nvSpPr>
        <p:spPr>
          <a:xfrm>
            <a:off x="77724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0</a:t>
            </a:r>
            <a:endParaRPr lang="en-US" sz="1000" dirty="0"/>
          </a:p>
        </p:txBody>
      </p:sp>
      <p:sp>
        <p:nvSpPr>
          <p:cNvPr id="6" name="arrow"/>
          <p:cNvSpPr/>
          <p:nvPr/>
        </p:nvSpPr>
        <p:spPr>
          <a:xfrm>
            <a:off x="1861457" y="1600200"/>
            <a:ext cx="0" cy="4206240"/>
          </a:xfrm>
          <a:prstGeom prst="line">
            <a:avLst/>
          </a:prstGeom>
          <a:noFill/>
          <a:ln w="6350">
            <a:solidFill>
              <a:srgbClr val="E3E8EE"/>
            </a:solidFill>
            <a:prstDash val="solid"/>
          </a:ln>
        </p:spPr>
      </p:sp>
      <p:sp>
        <p:nvSpPr>
          <p:cNvPr id="7" name="Text 4"/>
          <p:cNvSpPr txBox="1"/>
          <p:nvPr/>
        </p:nvSpPr>
        <p:spPr>
          <a:xfrm>
            <a:off x="1587137"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5</a:t>
            </a:r>
            <a:endParaRPr lang="en-US" sz="1000" dirty="0"/>
          </a:p>
        </p:txBody>
      </p:sp>
      <p:sp>
        <p:nvSpPr>
          <p:cNvPr id="8" name="arrow"/>
          <p:cNvSpPr/>
          <p:nvPr/>
        </p:nvSpPr>
        <p:spPr>
          <a:xfrm>
            <a:off x="2671354" y="1600200"/>
            <a:ext cx="0" cy="4206240"/>
          </a:xfrm>
          <a:prstGeom prst="line">
            <a:avLst/>
          </a:prstGeom>
          <a:noFill/>
          <a:ln w="6350">
            <a:solidFill>
              <a:srgbClr val="E3E8EE"/>
            </a:solidFill>
            <a:prstDash val="solid"/>
          </a:ln>
        </p:spPr>
      </p:sp>
      <p:sp>
        <p:nvSpPr>
          <p:cNvPr id="9" name="Text 6"/>
          <p:cNvSpPr txBox="1"/>
          <p:nvPr/>
        </p:nvSpPr>
        <p:spPr>
          <a:xfrm>
            <a:off x="2397034"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10</a:t>
            </a:r>
            <a:endParaRPr lang="en-US" sz="1000" dirty="0"/>
          </a:p>
        </p:txBody>
      </p:sp>
      <p:sp>
        <p:nvSpPr>
          <p:cNvPr id="10" name="arrow"/>
          <p:cNvSpPr/>
          <p:nvPr/>
        </p:nvSpPr>
        <p:spPr>
          <a:xfrm>
            <a:off x="3481251" y="1600200"/>
            <a:ext cx="0" cy="4206240"/>
          </a:xfrm>
          <a:prstGeom prst="line">
            <a:avLst/>
          </a:prstGeom>
          <a:noFill/>
          <a:ln w="6350">
            <a:solidFill>
              <a:srgbClr val="E3E8EE"/>
            </a:solidFill>
            <a:prstDash val="solid"/>
          </a:ln>
        </p:spPr>
      </p:sp>
      <p:sp>
        <p:nvSpPr>
          <p:cNvPr id="11" name="Text 8"/>
          <p:cNvSpPr txBox="1"/>
          <p:nvPr/>
        </p:nvSpPr>
        <p:spPr>
          <a:xfrm>
            <a:off x="3206931"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15</a:t>
            </a:r>
            <a:endParaRPr lang="en-US" sz="1000" dirty="0"/>
          </a:p>
        </p:txBody>
      </p:sp>
      <p:sp>
        <p:nvSpPr>
          <p:cNvPr id="12" name="arrow"/>
          <p:cNvSpPr/>
          <p:nvPr/>
        </p:nvSpPr>
        <p:spPr>
          <a:xfrm>
            <a:off x="4291149" y="1600200"/>
            <a:ext cx="0" cy="4206240"/>
          </a:xfrm>
          <a:prstGeom prst="line">
            <a:avLst/>
          </a:prstGeom>
          <a:noFill/>
          <a:ln w="6350">
            <a:solidFill>
              <a:srgbClr val="E3E8EE"/>
            </a:solidFill>
            <a:prstDash val="solid"/>
          </a:ln>
        </p:spPr>
      </p:sp>
      <p:sp>
        <p:nvSpPr>
          <p:cNvPr id="13" name="Text 10"/>
          <p:cNvSpPr txBox="1"/>
          <p:nvPr/>
        </p:nvSpPr>
        <p:spPr>
          <a:xfrm>
            <a:off x="4016829"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20</a:t>
            </a:r>
            <a:endParaRPr lang="en-US" sz="1000" dirty="0"/>
          </a:p>
        </p:txBody>
      </p:sp>
      <p:sp>
        <p:nvSpPr>
          <p:cNvPr id="14" name="arrow"/>
          <p:cNvSpPr/>
          <p:nvPr/>
        </p:nvSpPr>
        <p:spPr>
          <a:xfrm>
            <a:off x="5101046" y="1600200"/>
            <a:ext cx="0" cy="4206240"/>
          </a:xfrm>
          <a:prstGeom prst="line">
            <a:avLst/>
          </a:prstGeom>
          <a:noFill/>
          <a:ln w="6350">
            <a:solidFill>
              <a:srgbClr val="E3E8EE"/>
            </a:solidFill>
            <a:prstDash val="solid"/>
          </a:ln>
        </p:spPr>
      </p:sp>
      <p:sp>
        <p:nvSpPr>
          <p:cNvPr id="15" name="Text 12"/>
          <p:cNvSpPr txBox="1"/>
          <p:nvPr/>
        </p:nvSpPr>
        <p:spPr>
          <a:xfrm>
            <a:off x="4826726"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25</a:t>
            </a:r>
            <a:endParaRPr lang="en-US" sz="1000" dirty="0"/>
          </a:p>
        </p:txBody>
      </p:sp>
      <p:sp>
        <p:nvSpPr>
          <p:cNvPr id="16" name="arrow"/>
          <p:cNvSpPr/>
          <p:nvPr/>
        </p:nvSpPr>
        <p:spPr>
          <a:xfrm>
            <a:off x="5910943" y="1600200"/>
            <a:ext cx="0" cy="4206240"/>
          </a:xfrm>
          <a:prstGeom prst="line">
            <a:avLst/>
          </a:prstGeom>
          <a:noFill/>
          <a:ln w="6350">
            <a:solidFill>
              <a:srgbClr val="E3E8EE"/>
            </a:solidFill>
            <a:prstDash val="solid"/>
          </a:ln>
        </p:spPr>
      </p:sp>
      <p:sp>
        <p:nvSpPr>
          <p:cNvPr id="17" name="Text 14"/>
          <p:cNvSpPr txBox="1"/>
          <p:nvPr/>
        </p:nvSpPr>
        <p:spPr>
          <a:xfrm>
            <a:off x="5636623"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30</a:t>
            </a:r>
            <a:endParaRPr lang="en-US" sz="1000" dirty="0"/>
          </a:p>
        </p:txBody>
      </p:sp>
      <p:sp>
        <p:nvSpPr>
          <p:cNvPr id="18" name="Text 15"/>
          <p:cNvSpPr txBox="1"/>
          <p:nvPr/>
        </p:nvSpPr>
        <p:spPr>
          <a:xfrm>
            <a:off x="644652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35</a:t>
            </a:r>
            <a:endParaRPr lang="en-US" sz="1000" dirty="0"/>
          </a:p>
        </p:txBody>
      </p:sp>
      <p:sp>
        <p:nvSpPr>
          <p:cNvPr id="19" name="Text 16"/>
          <p:cNvSpPr txBox="1"/>
          <p:nvPr/>
        </p:nvSpPr>
        <p:spPr>
          <a:xfrm>
            <a:off x="640080" y="569671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0</a:t>
            </a:r>
            <a:endParaRPr lang="en-US" sz="1000" dirty="0"/>
          </a:p>
        </p:txBody>
      </p:sp>
      <p:sp>
        <p:nvSpPr>
          <p:cNvPr id="20" name="arrow"/>
          <p:cNvSpPr/>
          <p:nvPr/>
        </p:nvSpPr>
        <p:spPr>
          <a:xfrm>
            <a:off x="1051560" y="5105400"/>
            <a:ext cx="5669280" cy="0"/>
          </a:xfrm>
          <a:prstGeom prst="line">
            <a:avLst/>
          </a:prstGeom>
          <a:noFill/>
          <a:ln w="6350">
            <a:solidFill>
              <a:srgbClr val="E3E8EE"/>
            </a:solidFill>
            <a:prstDash val="solid"/>
          </a:ln>
        </p:spPr>
      </p:sp>
      <p:sp>
        <p:nvSpPr>
          <p:cNvPr id="21" name="Text 18"/>
          <p:cNvSpPr txBox="1"/>
          <p:nvPr/>
        </p:nvSpPr>
        <p:spPr>
          <a:xfrm>
            <a:off x="640080" y="499567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0.5</a:t>
            </a:r>
            <a:endParaRPr lang="en-US" sz="1000" dirty="0"/>
          </a:p>
        </p:txBody>
      </p:sp>
      <p:sp>
        <p:nvSpPr>
          <p:cNvPr id="22" name="arrow"/>
          <p:cNvSpPr/>
          <p:nvPr/>
        </p:nvSpPr>
        <p:spPr>
          <a:xfrm>
            <a:off x="1051560" y="4404360"/>
            <a:ext cx="5669280" cy="0"/>
          </a:xfrm>
          <a:prstGeom prst="line">
            <a:avLst/>
          </a:prstGeom>
          <a:noFill/>
          <a:ln w="6350">
            <a:solidFill>
              <a:srgbClr val="E3E8EE"/>
            </a:solidFill>
            <a:prstDash val="solid"/>
          </a:ln>
        </p:spPr>
      </p:sp>
      <p:sp>
        <p:nvSpPr>
          <p:cNvPr id="23" name="Text 20"/>
          <p:cNvSpPr txBox="1"/>
          <p:nvPr/>
        </p:nvSpPr>
        <p:spPr>
          <a:xfrm>
            <a:off x="640080" y="429463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1</a:t>
            </a:r>
            <a:endParaRPr lang="en-US" sz="1000" dirty="0"/>
          </a:p>
        </p:txBody>
      </p:sp>
      <p:sp>
        <p:nvSpPr>
          <p:cNvPr id="24" name="arrow"/>
          <p:cNvSpPr/>
          <p:nvPr/>
        </p:nvSpPr>
        <p:spPr>
          <a:xfrm>
            <a:off x="1051560" y="3703320"/>
            <a:ext cx="5669280" cy="0"/>
          </a:xfrm>
          <a:prstGeom prst="line">
            <a:avLst/>
          </a:prstGeom>
          <a:noFill/>
          <a:ln w="6350">
            <a:solidFill>
              <a:srgbClr val="E3E8EE"/>
            </a:solidFill>
            <a:prstDash val="solid"/>
          </a:ln>
        </p:spPr>
      </p:sp>
      <p:sp>
        <p:nvSpPr>
          <p:cNvPr id="25" name="Text 22"/>
          <p:cNvSpPr txBox="1"/>
          <p:nvPr/>
        </p:nvSpPr>
        <p:spPr>
          <a:xfrm>
            <a:off x="640080" y="359359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1.5</a:t>
            </a:r>
            <a:endParaRPr lang="en-US" sz="1000" dirty="0"/>
          </a:p>
        </p:txBody>
      </p:sp>
      <p:sp>
        <p:nvSpPr>
          <p:cNvPr id="26" name="arrow"/>
          <p:cNvSpPr/>
          <p:nvPr/>
        </p:nvSpPr>
        <p:spPr>
          <a:xfrm>
            <a:off x="1051560" y="3002280"/>
            <a:ext cx="5669280" cy="0"/>
          </a:xfrm>
          <a:prstGeom prst="line">
            <a:avLst/>
          </a:prstGeom>
          <a:noFill/>
          <a:ln w="6350">
            <a:solidFill>
              <a:srgbClr val="E3E8EE"/>
            </a:solidFill>
            <a:prstDash val="solid"/>
          </a:ln>
        </p:spPr>
      </p:sp>
      <p:sp>
        <p:nvSpPr>
          <p:cNvPr id="27" name="Text 24"/>
          <p:cNvSpPr txBox="1"/>
          <p:nvPr/>
        </p:nvSpPr>
        <p:spPr>
          <a:xfrm>
            <a:off x="640080" y="289255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2</a:t>
            </a:r>
            <a:endParaRPr lang="en-US" sz="1000" dirty="0"/>
          </a:p>
        </p:txBody>
      </p:sp>
      <p:sp>
        <p:nvSpPr>
          <p:cNvPr id="28" name="arrow"/>
          <p:cNvSpPr/>
          <p:nvPr/>
        </p:nvSpPr>
        <p:spPr>
          <a:xfrm>
            <a:off x="1051560" y="2301240"/>
            <a:ext cx="5669280" cy="0"/>
          </a:xfrm>
          <a:prstGeom prst="line">
            <a:avLst/>
          </a:prstGeom>
          <a:noFill/>
          <a:ln w="6350">
            <a:solidFill>
              <a:srgbClr val="E3E8EE"/>
            </a:solidFill>
            <a:prstDash val="solid"/>
          </a:ln>
        </p:spPr>
      </p:sp>
      <p:sp>
        <p:nvSpPr>
          <p:cNvPr id="29" name="Text 26"/>
          <p:cNvSpPr txBox="1"/>
          <p:nvPr/>
        </p:nvSpPr>
        <p:spPr>
          <a:xfrm>
            <a:off x="640080" y="219151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2.5</a:t>
            </a:r>
            <a:endParaRPr lang="en-US" sz="1000" dirty="0"/>
          </a:p>
        </p:txBody>
      </p:sp>
      <p:sp>
        <p:nvSpPr>
          <p:cNvPr id="30" name="Text 27"/>
          <p:cNvSpPr txBox="1"/>
          <p:nvPr/>
        </p:nvSpPr>
        <p:spPr>
          <a:xfrm>
            <a:off x="640080" y="149047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3</a:t>
            </a:r>
            <a:endParaRPr lang="en-US" sz="1000" dirty="0"/>
          </a:p>
        </p:txBody>
      </p:sp>
      <p:sp>
        <p:nvSpPr>
          <p:cNvPr id="31" name="Text 28"/>
          <p:cNvSpPr txBox="1"/>
          <p:nvPr/>
        </p:nvSpPr>
        <p:spPr>
          <a:xfrm>
            <a:off x="1051560" y="6053328"/>
            <a:ext cx="5669280" cy="256032"/>
          </a:xfrm>
          <a:prstGeom prst="rect">
            <a:avLst/>
          </a:prstGeom>
          <a:noFill/>
          <a:ln/>
        </p:spPr>
        <p:txBody>
          <a:bodyPr wrap="square" lIns="0" tIns="0" rIns="0" bIns="0" rtlCol="0" anchor="ctr"/>
          <a:lstStyle/>
          <a:p>
            <a:pPr algn="ctr" indent="0" marL="0">
              <a:buNone/>
            </a:pPr>
            <a:r>
              <a:rPr lang="en-US" sz="1100" i="1" dirty="0">
                <a:solidFill>
                  <a:schemeClr val="accent6"/>
                </a:solidFill>
              </a:rPr>
              <a:t>Temperature (°C)</a:t>
            </a:r>
            <a:endParaRPr lang="en-US" sz="1100" dirty="0"/>
          </a:p>
        </p:txBody>
      </p:sp>
      <p:sp>
        <p:nvSpPr>
          <p:cNvPr id="32" name="Text 29"/>
          <p:cNvSpPr txBox="1"/>
          <p:nvPr/>
        </p:nvSpPr>
        <p:spPr>
          <a:xfrm>
            <a:off x="484632" y="1307592"/>
            <a:ext cx="2286000" cy="256032"/>
          </a:xfrm>
          <a:prstGeom prst="rect">
            <a:avLst/>
          </a:prstGeom>
          <a:noFill/>
          <a:ln/>
        </p:spPr>
        <p:txBody>
          <a:bodyPr wrap="square" lIns="0" tIns="0" rIns="0" bIns="0" rtlCol="0" anchor="ctr"/>
          <a:lstStyle/>
          <a:p>
            <a:pPr algn="l" indent="0" marL="0">
              <a:buNone/>
            </a:pPr>
            <a:r>
              <a:rPr lang="en-US" sz="1100" i="1" dirty="0">
                <a:solidFill>
                  <a:schemeClr val="accent6"/>
                </a:solidFill>
              </a:rPr>
              <a:t>Height (km)</a:t>
            </a:r>
            <a:endParaRPr lang="en-US" sz="1100" dirty="0"/>
          </a:p>
        </p:txBody>
      </p:sp>
      <p:sp>
        <p:nvSpPr>
          <p:cNvPr id="33" name="arrow"/>
          <p:cNvSpPr/>
          <p:nvPr/>
        </p:nvSpPr>
        <p:spPr>
          <a:xfrm flipH="1" flipV="1">
            <a:off x="4323544" y="4404360"/>
            <a:ext cx="1587398" cy="1402080"/>
          </a:xfrm>
          <a:prstGeom prst="line">
            <a:avLst/>
          </a:prstGeom>
          <a:noFill/>
          <a:ln w="44450">
            <a:solidFill>
              <a:srgbClr val="3F8F5A"/>
            </a:solidFill>
            <a:prstDash val="solid"/>
          </a:ln>
        </p:spPr>
      </p:sp>
      <p:sp>
        <p:nvSpPr>
          <p:cNvPr id="34" name="arrow"/>
          <p:cNvSpPr/>
          <p:nvPr/>
        </p:nvSpPr>
        <p:spPr>
          <a:xfrm flipH="1" flipV="1">
            <a:off x="4323544" y="4404360"/>
            <a:ext cx="291563" cy="1402080"/>
          </a:xfrm>
          <a:prstGeom prst="line">
            <a:avLst/>
          </a:prstGeom>
          <a:noFill/>
          <a:ln w="44450">
            <a:solidFill>
              <a:srgbClr val="2E86AB"/>
            </a:solidFill>
            <a:prstDash val="dash"/>
          </a:ln>
        </p:spPr>
      </p:sp>
      <p:sp>
        <p:nvSpPr>
          <p:cNvPr id="35" name="arrow"/>
          <p:cNvSpPr/>
          <p:nvPr/>
        </p:nvSpPr>
        <p:spPr>
          <a:xfrm flipH="1" flipV="1">
            <a:off x="2379791" y="1600200"/>
            <a:ext cx="1943753" cy="2804160"/>
          </a:xfrm>
          <a:prstGeom prst="line">
            <a:avLst/>
          </a:prstGeom>
          <a:noFill/>
          <a:ln w="44450">
            <a:solidFill>
              <a:srgbClr val="6C4F9E"/>
            </a:solidFill>
            <a:prstDash val="solid"/>
          </a:ln>
        </p:spPr>
      </p:sp>
      <p:sp>
        <p:nvSpPr>
          <p:cNvPr id="36" name="arrow"/>
          <p:cNvSpPr/>
          <p:nvPr/>
        </p:nvSpPr>
        <p:spPr>
          <a:xfrm>
            <a:off x="1051560" y="4404360"/>
            <a:ext cx="3271984" cy="0"/>
          </a:xfrm>
          <a:prstGeom prst="line">
            <a:avLst/>
          </a:prstGeom>
          <a:noFill/>
          <a:ln w="15875">
            <a:solidFill>
              <a:srgbClr val="1D2B4F"/>
            </a:solidFill>
            <a:prstDash val="dash"/>
          </a:ln>
        </p:spPr>
      </p:sp>
      <p:sp>
        <p:nvSpPr>
          <p:cNvPr id="37" name="Text 34"/>
          <p:cNvSpPr txBox="1"/>
          <p:nvPr/>
        </p:nvSpPr>
        <p:spPr>
          <a:xfrm>
            <a:off x="1148748" y="4102608"/>
            <a:ext cx="2377440" cy="274320"/>
          </a:xfrm>
          <a:prstGeom prst="rect">
            <a:avLst/>
          </a:prstGeom>
          <a:noFill/>
          <a:ln/>
        </p:spPr>
        <p:txBody>
          <a:bodyPr wrap="square" lIns="0" tIns="0" rIns="0" bIns="0" rtlCol="0" anchor="ctr"/>
          <a:lstStyle/>
          <a:p>
            <a:pPr algn="l" indent="0" marL="0">
              <a:buNone/>
            </a:pPr>
            <a:r>
              <a:rPr lang="en-US" sz="1200" b="1" dirty="0">
                <a:solidFill>
                  <a:schemeClr val="tx2"/>
                </a:solidFill>
              </a:rPr>
              <a:t>LCL ≈ 1 km (cloud base)</a:t>
            </a:r>
            <a:endParaRPr lang="en-US" sz="1200" dirty="0"/>
          </a:p>
        </p:txBody>
      </p:sp>
      <p:sp>
        <p:nvSpPr>
          <p:cNvPr id="38" name="Text 35"/>
          <p:cNvSpPr txBox="1"/>
          <p:nvPr/>
        </p:nvSpPr>
        <p:spPr>
          <a:xfrm>
            <a:off x="5344015" y="4937150"/>
            <a:ext cx="2011680" cy="274320"/>
          </a:xfrm>
          <a:prstGeom prst="rect">
            <a:avLst/>
          </a:prstGeom>
          <a:noFill/>
          <a:ln/>
        </p:spPr>
        <p:txBody>
          <a:bodyPr wrap="square" lIns="0" tIns="0" rIns="0" bIns="0" rtlCol="0" anchor="ctr"/>
          <a:lstStyle/>
          <a:p>
            <a:pPr algn="l" indent="0" marL="0">
              <a:buNone/>
            </a:pPr>
            <a:r>
              <a:rPr lang="en-US" sz="1100" b="1" dirty="0">
                <a:solidFill>
                  <a:schemeClr val="accent4"/>
                </a:solidFill>
              </a:rPr>
              <a:t>T: dry adiabat 9.8 K/km</a:t>
            </a:r>
            <a:endParaRPr lang="en-US" sz="1100" dirty="0"/>
          </a:p>
        </p:txBody>
      </p:sp>
      <p:sp>
        <p:nvSpPr>
          <p:cNvPr id="39" name="Text 36"/>
          <p:cNvSpPr txBox="1"/>
          <p:nvPr/>
        </p:nvSpPr>
        <p:spPr>
          <a:xfrm>
            <a:off x="3076303" y="5385816"/>
            <a:ext cx="1371600" cy="274320"/>
          </a:xfrm>
          <a:prstGeom prst="rect">
            <a:avLst/>
          </a:prstGeom>
          <a:noFill/>
          <a:ln/>
        </p:spPr>
        <p:txBody>
          <a:bodyPr wrap="square" lIns="0" tIns="0" rIns="0" bIns="0" rtlCol="0" anchor="ctr"/>
          <a:lstStyle/>
          <a:p>
            <a:pPr algn="l" indent="0" marL="0">
              <a:buNone/>
            </a:pPr>
            <a:r>
              <a:rPr lang="en-US" sz="1100" b="1" dirty="0">
                <a:solidFill>
                  <a:schemeClr val="accent2"/>
                </a:solidFill>
              </a:rPr>
              <a:t>T</a:t>
            </a:r>
            <a:r>
              <a:rPr lang="en-US" sz="1100" b="1" baseline="-40000" dirty="0">
                <a:solidFill>
                  <a:schemeClr val="accent2"/>
                </a:solidFill>
              </a:rPr>
              <a:t>d</a:t>
            </a:r>
            <a:r>
              <a:rPr lang="en-US" sz="1100" b="1" dirty="0">
                <a:solidFill>
                  <a:schemeClr val="accent2"/>
                </a:solidFill>
              </a:rPr>
              <a:t>: ≈ 1.8 K/km</a:t>
            </a:r>
            <a:endParaRPr lang="en-US" sz="1100" dirty="0"/>
          </a:p>
        </p:txBody>
      </p:sp>
      <p:sp>
        <p:nvSpPr>
          <p:cNvPr id="40" name="Text 37"/>
          <p:cNvSpPr txBox="1"/>
          <p:nvPr/>
        </p:nvSpPr>
        <p:spPr>
          <a:xfrm>
            <a:off x="3562241" y="2511552"/>
            <a:ext cx="2011680" cy="274320"/>
          </a:xfrm>
          <a:prstGeom prst="rect">
            <a:avLst/>
          </a:prstGeom>
          <a:noFill/>
          <a:ln/>
        </p:spPr>
        <p:txBody>
          <a:bodyPr wrap="square" lIns="0" tIns="0" rIns="0" bIns="0" rtlCol="0" anchor="ctr"/>
          <a:lstStyle/>
          <a:p>
            <a:pPr algn="l" indent="0" marL="0">
              <a:buNone/>
            </a:pPr>
            <a:r>
              <a:rPr lang="en-US" sz="1100" b="1" dirty="0">
                <a:solidFill>
                  <a:schemeClr val="accent5"/>
                </a:solidFill>
              </a:rPr>
              <a:t>moist adiabat ≈ 6 K/km</a:t>
            </a:r>
            <a:endParaRPr lang="en-US" sz="1100" dirty="0"/>
          </a:p>
        </p:txBody>
      </p:sp>
      <p:sp>
        <p:nvSpPr>
          <p:cNvPr id="41" name="LCL point"/>
          <p:cNvSpPr/>
          <p:nvPr/>
        </p:nvSpPr>
        <p:spPr>
          <a:xfrm>
            <a:off x="4213816" y="4294632"/>
            <a:ext cx="219456" cy="219456"/>
          </a:xfrm>
          <a:prstGeom prst="ellipse">
            <a:avLst/>
          </a:prstGeom>
          <a:solidFill>
            <a:schemeClr val="accent1"/>
          </a:solidFill>
          <a:ln w="19050">
            <a:solidFill>
              <a:srgbClr val="FFFFFF"/>
            </a:solidFill>
            <a:prstDash val="solid"/>
          </a:ln>
        </p:spPr>
      </p:sp>
      <p:sp>
        <p:nvSpPr>
          <p:cNvPr id="42" name="card"/>
          <p:cNvSpPr/>
          <p:nvPr/>
        </p:nvSpPr>
        <p:spPr>
          <a:xfrm>
            <a:off x="6949440" y="1371600"/>
            <a:ext cx="4690872" cy="1097280"/>
          </a:xfrm>
          <a:prstGeom prst="roundRect">
            <a:avLst>
              <a:gd name="adj" fmla="val 6667"/>
            </a:avLst>
          </a:prstGeom>
          <a:solidFill>
            <a:schemeClr val="accent1"/>
          </a:solidFill>
          <a:ln/>
          <a:effectLst>
            <a:outerShdw sx="100000" sy="100000" kx="0" ky="0" algn="bl" rotWithShape="0" blurRad="76200" dist="25400" dir="5400000">
              <a:srgbClr val="000000">
                <a:alpha val="14000"/>
              </a:srgbClr>
            </a:outerShdw>
          </a:effectLst>
        </p:spPr>
      </p:sp>
      <p:sp>
        <p:nvSpPr>
          <p:cNvPr id="43" name="Text 40"/>
          <p:cNvSpPr txBox="1"/>
          <p:nvPr/>
        </p:nvSpPr>
        <p:spPr>
          <a:xfrm>
            <a:off x="7086600" y="1371600"/>
            <a:ext cx="4416552" cy="1097280"/>
          </a:xfrm>
          <a:prstGeom prst="rect">
            <a:avLst/>
          </a:prstGeom>
          <a:noFill/>
          <a:ln/>
        </p:spPr>
        <p:txBody>
          <a:bodyPr wrap="square" lIns="0" tIns="0" rIns="0" bIns="0" rtlCol="0" anchor="ctr"/>
          <a:lstStyle/>
          <a:p>
            <a:pPr algn="ctr" indent="0" marL="0">
              <a:buNone/>
            </a:pPr>
            <a:r>
              <a:rPr lang="en-US" sz="2200" b="1" dirty="0">
                <a:solidFill>
                  <a:schemeClr val="bg1"/>
                </a:solidFill>
              </a:rPr>
              <a:t>z</a:t>
            </a:r>
            <a:r>
              <a:rPr lang="en-US" sz="2200" b="1" baseline="-40000" dirty="0">
                <a:solidFill>
                  <a:schemeClr val="bg1"/>
                </a:solidFill>
              </a:rPr>
              <a:t>LCL</a:t>
            </a:r>
            <a:r>
              <a:rPr lang="en-US" sz="2200" b="1" dirty="0">
                <a:solidFill>
                  <a:schemeClr val="bg1"/>
                </a:solidFill>
              </a:rPr>
              <a:t> ≈ 125 m × (T − T</a:t>
            </a:r>
            <a:r>
              <a:rPr lang="en-US" sz="2200" b="1" baseline="-40000" dirty="0">
                <a:solidFill>
                  <a:schemeClr val="bg1"/>
                </a:solidFill>
              </a:rPr>
              <a:t>d</a:t>
            </a:r>
            <a:r>
              <a:rPr lang="en-US" sz="2200" b="1" dirty="0">
                <a:solidFill>
                  <a:schemeClr val="bg1"/>
                </a:solidFill>
              </a:rPr>
              <a:t>)</a:t>
            </a:r>
            <a:endParaRPr lang="en-US" sz="2200" dirty="0"/>
          </a:p>
        </p:txBody>
      </p:sp>
      <p:sp>
        <p:nvSpPr>
          <p:cNvPr id="44" name="card"/>
          <p:cNvSpPr/>
          <p:nvPr/>
        </p:nvSpPr>
        <p:spPr>
          <a:xfrm>
            <a:off x="6949440" y="2651760"/>
            <a:ext cx="4690872" cy="1691640"/>
          </a:xfrm>
          <a:prstGeom prst="roundRect">
            <a:avLst>
              <a:gd name="adj" fmla="val 4324"/>
            </a:avLst>
          </a:prstGeom>
          <a:solidFill>
            <a:schemeClr val="bg2"/>
          </a:solidFill>
          <a:ln/>
          <a:effectLst>
            <a:outerShdw sx="100000" sy="100000" kx="0" ky="0" algn="bl" rotWithShape="0" blurRad="76200" dist="25400" dir="5400000">
              <a:srgbClr val="000000">
                <a:alpha val="14000"/>
              </a:srgbClr>
            </a:outerShdw>
          </a:effectLst>
        </p:spPr>
      </p:sp>
      <p:sp>
        <p:nvSpPr>
          <p:cNvPr id="45" name="icon circle"/>
          <p:cNvSpPr/>
          <p:nvPr/>
        </p:nvSpPr>
        <p:spPr>
          <a:xfrm>
            <a:off x="7132320" y="2807208"/>
            <a:ext cx="420624" cy="420624"/>
          </a:xfrm>
          <a:prstGeom prst="ellipse">
            <a:avLst/>
          </a:prstGeom>
          <a:solidFill>
            <a:schemeClr val="accent3"/>
          </a:solidFill>
          <a:ln/>
        </p:spPr>
      </p:sp>
      <p:pic>
        <p:nvPicPr>
          <p:cNvPr id="46" name="Image 0" descr="Calculator icon">    </p:cNvPr>
          <p:cNvPicPr>
            <a:picLocks noChangeAspect="1"/>
          </p:cNvPicPr>
          <p:nvPr/>
        </p:nvPicPr>
        <p:blipFill>
          <a:blip r:embed="rId1"/>
          <a:stretch>
            <a:fillRect/>
          </a:stretch>
        </p:blipFill>
        <p:spPr>
          <a:xfrm>
            <a:off x="7241682" y="2916570"/>
            <a:ext cx="201900" cy="201900"/>
          </a:xfrm>
          <a:prstGeom prst="rect">
            <a:avLst/>
          </a:prstGeom>
        </p:spPr>
      </p:pic>
      <p:sp>
        <p:nvSpPr>
          <p:cNvPr id="47" name="Text 43"/>
          <p:cNvSpPr txBox="1"/>
          <p:nvPr/>
        </p:nvSpPr>
        <p:spPr>
          <a:xfrm>
            <a:off x="7662672" y="2788920"/>
            <a:ext cx="3840480" cy="457200"/>
          </a:xfrm>
          <a:prstGeom prst="rect">
            <a:avLst/>
          </a:prstGeom>
          <a:noFill/>
          <a:ln/>
        </p:spPr>
        <p:txBody>
          <a:bodyPr wrap="square" lIns="0" tIns="0" rIns="0" bIns="0" rtlCol="0" anchor="ctr"/>
          <a:lstStyle/>
          <a:p>
            <a:pPr indent="0" marL="0">
              <a:buNone/>
            </a:pPr>
            <a:r>
              <a:rPr lang="en-US" sz="1600" b="1" dirty="0">
                <a:solidFill>
                  <a:schemeClr val="tx2"/>
                </a:solidFill>
              </a:rPr>
              <a:t>Why 125 m?</a:t>
            </a:r>
            <a:endParaRPr lang="en-US" sz="1600" dirty="0"/>
          </a:p>
        </p:txBody>
      </p:sp>
      <p:sp>
        <p:nvSpPr>
          <p:cNvPr id="48" name="Text 44"/>
          <p:cNvSpPr txBox="1"/>
          <p:nvPr/>
        </p:nvSpPr>
        <p:spPr>
          <a:xfrm>
            <a:off x="7132320" y="3337560"/>
            <a:ext cx="4325112" cy="9144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Gap closes at 9.8 − 1.8 = 8 K per km</a:t>
            </a:r>
            <a:endParaRPr lang="en-US" sz="1300" dirty="0"/>
          </a:p>
          <a:p>
            <a:pPr marL="177800" indent="-177800">
              <a:spcAft>
                <a:spcPts val="400"/>
              </a:spcAft>
              <a:buSzPct val="100000"/>
              <a:buChar char="•"/>
            </a:pPr>
            <a:r>
              <a:rPr lang="en-US" sz="1300" dirty="0">
                <a:solidFill>
                  <a:schemeClr val="tx1"/>
                </a:solidFill>
              </a:rPr>
              <a:t>1 km / 8 K = </a:t>
            </a:r>
            <a:r>
              <a:rPr lang="en-US" sz="1300" b="1" dirty="0">
                <a:solidFill>
                  <a:schemeClr val="tx1"/>
                </a:solidFill>
              </a:rPr>
              <a:t>125 m per degree</a:t>
            </a:r>
            <a:r>
              <a:rPr lang="en-US" sz="1300" dirty="0">
                <a:solidFill>
                  <a:schemeClr val="tx1"/>
                </a:solidFill>
              </a:rPr>
              <a:t> of dew-point depression</a:t>
            </a:r>
            <a:endParaRPr lang="en-US" sz="1300" dirty="0"/>
          </a:p>
        </p:txBody>
      </p:sp>
      <p:sp>
        <p:nvSpPr>
          <p:cNvPr id="49" name="card"/>
          <p:cNvSpPr/>
          <p:nvPr/>
        </p:nvSpPr>
        <p:spPr>
          <a:xfrm>
            <a:off x="6949440" y="4480560"/>
            <a:ext cx="4690872" cy="1691640"/>
          </a:xfrm>
          <a:prstGeom prst="roundRect">
            <a:avLst>
              <a:gd name="adj" fmla="val 4324"/>
            </a:avLst>
          </a:prstGeom>
          <a:solidFill>
            <a:schemeClr val="bg2"/>
          </a:solidFill>
          <a:ln/>
          <a:effectLst>
            <a:outerShdw sx="100000" sy="100000" kx="0" ky="0" algn="bl" rotWithShape="0" blurRad="76200" dist="25400" dir="5400000">
              <a:srgbClr val="000000">
                <a:alpha val="14000"/>
              </a:srgbClr>
            </a:outerShdw>
          </a:effectLst>
        </p:spPr>
      </p:sp>
      <p:sp>
        <p:nvSpPr>
          <p:cNvPr id="50" name="icon circle"/>
          <p:cNvSpPr/>
          <p:nvPr/>
        </p:nvSpPr>
        <p:spPr>
          <a:xfrm>
            <a:off x="7132320" y="4636008"/>
            <a:ext cx="420624" cy="420624"/>
          </a:xfrm>
          <a:prstGeom prst="ellipse">
            <a:avLst/>
          </a:prstGeom>
          <a:solidFill>
            <a:schemeClr val="accent4"/>
          </a:solidFill>
          <a:ln/>
        </p:spPr>
      </p:sp>
      <p:pic>
        <p:nvPicPr>
          <p:cNvPr id="51" name="Image 1" descr="Check icon">    </p:cNvPr>
          <p:cNvPicPr>
            <a:picLocks noChangeAspect="1"/>
          </p:cNvPicPr>
          <p:nvPr/>
        </p:nvPicPr>
        <p:blipFill>
          <a:blip r:embed="rId2"/>
          <a:stretch>
            <a:fillRect/>
          </a:stretch>
        </p:blipFill>
        <p:spPr>
          <a:xfrm>
            <a:off x="7241682" y="4745370"/>
            <a:ext cx="201900" cy="201900"/>
          </a:xfrm>
          <a:prstGeom prst="rect">
            <a:avLst/>
          </a:prstGeom>
        </p:spPr>
      </p:pic>
      <p:sp>
        <p:nvSpPr>
          <p:cNvPr id="52" name="Text 47"/>
          <p:cNvSpPr txBox="1"/>
          <p:nvPr/>
        </p:nvSpPr>
        <p:spPr>
          <a:xfrm>
            <a:off x="7662672" y="4617720"/>
            <a:ext cx="3840480" cy="457200"/>
          </a:xfrm>
          <a:prstGeom prst="rect">
            <a:avLst/>
          </a:prstGeom>
          <a:noFill/>
          <a:ln/>
        </p:spPr>
        <p:txBody>
          <a:bodyPr wrap="square" lIns="0" tIns="0" rIns="0" bIns="0" rtlCol="0" anchor="ctr"/>
          <a:lstStyle/>
          <a:p>
            <a:pPr indent="0" marL="0">
              <a:buNone/>
            </a:pPr>
            <a:r>
              <a:rPr lang="en-US" sz="1600" b="1" dirty="0">
                <a:solidFill>
                  <a:schemeClr val="tx2"/>
                </a:solidFill>
              </a:rPr>
              <a:t>Worked example</a:t>
            </a:r>
            <a:endParaRPr lang="en-US" sz="1600" dirty="0"/>
          </a:p>
        </p:txBody>
      </p:sp>
      <p:sp>
        <p:nvSpPr>
          <p:cNvPr id="53" name="Text 48"/>
          <p:cNvSpPr txBox="1"/>
          <p:nvPr/>
        </p:nvSpPr>
        <p:spPr>
          <a:xfrm>
            <a:off x="7132320" y="5166360"/>
            <a:ext cx="4325112" cy="9144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T = 30 °C, T</a:t>
            </a:r>
            <a:r>
              <a:rPr lang="en-US" sz="1300" baseline="-40000" dirty="0">
                <a:solidFill>
                  <a:schemeClr val="tx1"/>
                </a:solidFill>
              </a:rPr>
              <a:t>d</a:t>
            </a:r>
            <a:r>
              <a:rPr lang="en-US" sz="1300" dirty="0">
                <a:solidFill>
                  <a:schemeClr val="tx1"/>
                </a:solidFill>
              </a:rPr>
              <a:t> = 22 °C → z = 125 × 8 = </a:t>
            </a:r>
            <a:r>
              <a:rPr lang="en-US" sz="1300" b="1" dirty="0">
                <a:solidFill>
                  <a:schemeClr val="tx1"/>
                </a:solidFill>
              </a:rPr>
              <a:t>1000 m</a:t>
            </a:r>
            <a:endParaRPr lang="en-US" sz="1300" dirty="0"/>
          </a:p>
          <a:p>
            <a:pPr marL="177800" indent="-177800">
              <a:spcAft>
                <a:spcPts val="400"/>
              </a:spcAft>
              <a:buSzPct val="100000"/>
              <a:buChar char="•"/>
            </a:pPr>
            <a:r>
              <a:rPr lang="en-US" sz="1300" dirty="0">
                <a:solidFill>
                  <a:schemeClr val="tx1"/>
                </a:solidFill>
              </a:rPr>
              <a:t>At LCL: T = 30 − 9.8 = 20.2 °C = T</a:t>
            </a:r>
            <a:r>
              <a:rPr lang="en-US" sz="1300" baseline="-40000" dirty="0">
                <a:solidFill>
                  <a:schemeClr val="tx1"/>
                </a:solidFill>
              </a:rPr>
              <a:t>d</a:t>
            </a:r>
            <a:r>
              <a:rPr lang="en-US" sz="1300" dirty="0">
                <a:solidFill>
                  <a:schemeClr val="tx1"/>
                </a:solidFill>
              </a:rPr>
              <a:t> = 22 − 1.8 ✓</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Orographic lifting, rain shadow and the Foehn effect</a:t>
            </a:r>
            <a:endParaRPr lang="en-US" sz="3200" dirty="0"/>
          </a:p>
        </p:txBody>
      </p:sp>
      <p:sp>
        <p:nvSpPr>
          <p:cNvPr id="4" name="figure frame"/>
          <p:cNvSpPr/>
          <p:nvPr/>
        </p:nvSpPr>
        <p:spPr>
          <a:xfrm>
            <a:off x="548640" y="1325880"/>
            <a:ext cx="5760720" cy="3017520"/>
          </a:xfrm>
          <a:prstGeom prst="roundRect">
            <a:avLst>
              <a:gd name="adj" fmla="val 1818"/>
            </a:avLst>
          </a:prstGeom>
          <a:solidFill>
            <a:schemeClr val="bg1"/>
          </a:solidFill>
          <a:ln w="12700">
            <a:solidFill>
              <a:schemeClr val="bg2"/>
            </a:solidFill>
            <a:prstDash val="solid"/>
          </a:ln>
          <a:effectLst>
            <a:outerShdw sx="100000" sy="100000" kx="0" ky="0" algn="bl" rotWithShape="0" blurRad="76200" dist="25400" dir="5400000">
              <a:srgbClr val="000000">
                <a:alpha val="14000"/>
              </a:srgbClr>
            </a:outerShdw>
          </a:effectLst>
        </p:spPr>
      </p:sp>
      <p:pic>
        <p:nvPicPr>
          <p:cNvPr id="5" name="Image 0" descr="Class figure: windward cooling, LCL, rain on the windward side, warm dry air in the rain shadow">    </p:cNvPr>
          <p:cNvPicPr>
            <a:picLocks noChangeAspect="1"/>
          </p:cNvPicPr>
          <p:nvPr/>
        </p:nvPicPr>
        <p:blipFill>
          <a:blip r:embed="rId1"/>
          <a:stretch>
            <a:fillRect/>
          </a:stretch>
        </p:blipFill>
        <p:spPr>
          <a:xfrm>
            <a:off x="910621" y="1417320"/>
            <a:ext cx="5036757" cy="2834640"/>
          </a:xfrm>
          <a:prstGeom prst="rect">
            <a:avLst/>
          </a:prstGeom>
        </p:spPr>
      </p:pic>
      <p:sp>
        <p:nvSpPr>
          <p:cNvPr id="6" name="Text 2"/>
          <p:cNvSpPr txBox="1"/>
          <p:nvPr/>
        </p:nvSpPr>
        <p:spPr>
          <a:xfrm>
            <a:off x="548640" y="4389120"/>
            <a:ext cx="5760720" cy="365760"/>
          </a:xfrm>
          <a:prstGeom prst="rect">
            <a:avLst/>
          </a:prstGeom>
          <a:noFill/>
          <a:ln/>
        </p:spPr>
        <p:txBody>
          <a:bodyPr wrap="square" lIns="0" tIns="0" rIns="0" bIns="0" rtlCol="0" anchor="t"/>
          <a:lstStyle/>
          <a:p>
            <a:pPr indent="0" marL="0">
              <a:buNone/>
            </a:pPr>
            <a:r>
              <a:rPr lang="en-US" sz="1100" i="1" dirty="0">
                <a:solidFill>
                  <a:schemeClr val="accent6"/>
                </a:solidFill>
              </a:rPr>
              <a:t>Class figure: windward cooling, LCL, rain on the windward side, warm dry air in the rain shadow</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492240" y="1325880"/>
          <a:ext cx="5148072" cy="914400"/>
        </p:xfrm>
        <a:graphic>
          <a:graphicData uri="http://schemas.openxmlformats.org/drawingml/2006/table">
            <a:tbl>
              <a:tblPr/>
              <a:tblGrid>
                <a:gridCol w="1463040"/>
                <a:gridCol w="685800"/>
                <a:gridCol w="731520"/>
                <a:gridCol w="2267712"/>
              </a:tblGrid>
              <a:tr h="402336">
                <a:tc>
                  <a:txBody>
                    <a:bodyPr/>
                    <a:lstStyle/>
                    <a:p>
                      <a:pPr indent="0" marL="0">
                        <a:buNone/>
                      </a:pPr>
                      <a:r>
                        <a:rPr lang="en-US" sz="1300" b="1" dirty="0">
                          <a:solidFill>
                            <a:schemeClr val="bg1"/>
                          </a:solidFill>
                        </a:rPr>
                        <a:t>Level</a:t>
                      </a:r>
                      <a:endParaRPr lang="en-US" sz="13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T (°C)</a:t>
                      </a:r>
                      <a:endParaRPr lang="en-US" sz="13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Td (°C)</a:t>
                      </a:r>
                      <a:endParaRPr lang="en-US" sz="13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Process</a:t>
                      </a:r>
                      <a:endParaRPr lang="en-US" sz="13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402336">
                <a:tc>
                  <a:txBody>
                    <a:bodyPr/>
                    <a:lstStyle/>
                    <a:p>
                      <a:pPr indent="0" marL="0">
                        <a:buNone/>
                      </a:pPr>
                      <a:r>
                        <a:rPr lang="en-US" sz="1200" dirty="0">
                          <a:solidFill>
                            <a:schemeClr val="tx1"/>
                          </a:solidFill>
                        </a:rPr>
                        <a:t>0 m (windward)</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2"/>
                          </a:solidFill>
                        </a:rPr>
                        <a:t>20</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12</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start</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02336">
                <a:tc>
                  <a:txBody>
                    <a:bodyPr/>
                    <a:lstStyle/>
                    <a:p>
                      <a:pPr indent="0" marL="0">
                        <a:buNone/>
                      </a:pPr>
                      <a:r>
                        <a:rPr lang="en-US" sz="1200" dirty="0">
                          <a:solidFill>
                            <a:schemeClr val="tx1"/>
                          </a:solidFill>
                        </a:rPr>
                        <a:t>1000 m</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10</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10</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LCL: T = T</a:t>
                      </a:r>
                      <a:r>
                        <a:rPr lang="en-US" sz="1200" baseline="-40000" dirty="0">
                          <a:solidFill>
                            <a:schemeClr val="tx1"/>
                          </a:solidFill>
                        </a:rPr>
                        <a:t>d</a:t>
                      </a:r>
                      <a:r>
                        <a:rPr lang="en-US" sz="1200" dirty="0">
                          <a:solidFill>
                            <a:schemeClr val="tx1"/>
                          </a:solidFill>
                        </a:rPr>
                        <a:t> (−10 °C/km)</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02336">
                <a:tc>
                  <a:txBody>
                    <a:bodyPr/>
                    <a:lstStyle/>
                    <a:p>
                      <a:pPr indent="0" marL="0">
                        <a:buNone/>
                      </a:pPr>
                      <a:r>
                        <a:rPr lang="en-US" sz="1200" dirty="0">
                          <a:solidFill>
                            <a:schemeClr val="tx1"/>
                          </a:solidFill>
                        </a:rPr>
                        <a:t>2000 m</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2"/>
                          </a:solidFill>
                        </a:rPr>
                        <a:t>4</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4</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moist ascent −6 °C/km, rain</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02336">
                <a:tc>
                  <a:txBody>
                    <a:bodyPr/>
                    <a:lstStyle/>
                    <a:p>
                      <a:pPr indent="0" marL="0">
                        <a:buNone/>
                      </a:pPr>
                      <a:r>
                        <a:rPr lang="en-US" sz="1200" dirty="0">
                          <a:solidFill>
                            <a:schemeClr val="tx1"/>
                          </a:solidFill>
                        </a:rPr>
                        <a:t>3000 m (summit)</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2"/>
                          </a:solidFill>
                        </a:rPr>
                        <a:t>−2</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moist ascent</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02336">
                <a:tc>
                  <a:txBody>
                    <a:bodyPr/>
                    <a:lstStyle/>
                    <a:p>
                      <a:pPr indent="0" marL="0">
                        <a:buNone/>
                      </a:pPr>
                      <a:r>
                        <a:rPr lang="en-US" sz="1200" dirty="0">
                          <a:solidFill>
                            <a:schemeClr val="tx1"/>
                          </a:solidFill>
                        </a:rPr>
                        <a:t>2000 m (leeward)</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1"/>
                          </a:solidFill>
                        </a:rPr>
                        <a:t>8</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0</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dry descent +10 °C/km</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02336">
                <a:tc>
                  <a:txBody>
                    <a:bodyPr/>
                    <a:lstStyle/>
                    <a:p>
                      <a:pPr indent="0" marL="0">
                        <a:buNone/>
                      </a:pPr>
                      <a:r>
                        <a:rPr lang="en-US" sz="1200" dirty="0">
                          <a:solidFill>
                            <a:schemeClr val="tx1"/>
                          </a:solidFill>
                        </a:rPr>
                        <a:t>1000 m</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b="1" dirty="0">
                          <a:solidFill>
                            <a:schemeClr val="accent1"/>
                          </a:solidFill>
                        </a:rPr>
                        <a:t>18</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dry descent</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02336">
                <a:tc>
                  <a:txBody>
                    <a:bodyPr/>
                    <a:lstStyle/>
                    <a:p>
                      <a:pPr indent="0" marL="0">
                        <a:buNone/>
                      </a:pPr>
                      <a:r>
                        <a:rPr lang="en-US" sz="1200" b="1" dirty="0">
                          <a:solidFill>
                            <a:schemeClr val="tx1"/>
                          </a:solidFill>
                        </a:rPr>
                        <a:t>0 m (leeward)</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b="1" dirty="0">
                          <a:solidFill>
                            <a:schemeClr val="accent1"/>
                          </a:solidFill>
                        </a:rPr>
                        <a:t>28</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4</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b="1" dirty="0">
                          <a:solidFill>
                            <a:schemeClr val="tx1"/>
                          </a:solidFill>
                        </a:rPr>
                        <a:t>8 °C warmer, drier</a:t>
                      </a:r>
                      <a:endParaRPr lang="en-US" sz="1200" dirty="0"/>
                    </a:p>
                  </a:txBody>
                  <a:tcPr marL="73152" marR="73152"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bl>
          </a:graphicData>
        </a:graphic>
      </p:graphicFrame>
      <p:sp>
        <p:nvSpPr>
          <p:cNvPr id="8" name="card"/>
          <p:cNvSpPr/>
          <p:nvPr/>
        </p:nvSpPr>
        <p:spPr>
          <a:xfrm>
            <a:off x="548640" y="4892040"/>
            <a:ext cx="2788920" cy="1280160"/>
          </a:xfrm>
          <a:prstGeom prst="roundRect">
            <a:avLst>
              <a:gd name="adj" fmla="val 5714"/>
            </a:avLst>
          </a:prstGeom>
          <a:solidFill>
            <a:schemeClr val="bg2"/>
          </a:solidFill>
          <a:ln/>
          <a:effectLst>
            <a:outerShdw sx="100000" sy="100000" kx="0" ky="0" algn="bl" rotWithShape="0" blurRad="76200" dist="25400" dir="5400000">
              <a:srgbClr val="000000">
                <a:alpha val="14000"/>
              </a:srgbClr>
            </a:outerShdw>
          </a:effectLst>
        </p:spPr>
      </p:sp>
      <p:sp>
        <p:nvSpPr>
          <p:cNvPr id="9" name="icon circle"/>
          <p:cNvSpPr/>
          <p:nvPr/>
        </p:nvSpPr>
        <p:spPr>
          <a:xfrm>
            <a:off x="731520" y="5047488"/>
            <a:ext cx="420624" cy="420624"/>
          </a:xfrm>
          <a:prstGeom prst="ellipse">
            <a:avLst/>
          </a:prstGeom>
          <a:solidFill>
            <a:schemeClr val="accent1"/>
          </a:solidFill>
          <a:ln/>
        </p:spPr>
      </p:sp>
      <p:pic>
        <p:nvPicPr>
          <p:cNvPr id="10" name="Image 1" descr="Mountain icon">    </p:cNvPr>
          <p:cNvPicPr>
            <a:picLocks noChangeAspect="1"/>
          </p:cNvPicPr>
          <p:nvPr/>
        </p:nvPicPr>
        <p:blipFill>
          <a:blip r:embed="rId2"/>
          <a:stretch>
            <a:fillRect/>
          </a:stretch>
        </p:blipFill>
        <p:spPr>
          <a:xfrm>
            <a:off x="840882" y="5156850"/>
            <a:ext cx="201900" cy="201900"/>
          </a:xfrm>
          <a:prstGeom prst="rect">
            <a:avLst/>
          </a:prstGeom>
        </p:spPr>
      </p:pic>
      <p:sp>
        <p:nvSpPr>
          <p:cNvPr id="11" name="Text 5"/>
          <p:cNvSpPr txBox="1"/>
          <p:nvPr/>
        </p:nvSpPr>
        <p:spPr>
          <a:xfrm>
            <a:off x="1261872" y="5029200"/>
            <a:ext cx="1938528" cy="457200"/>
          </a:xfrm>
          <a:prstGeom prst="rect">
            <a:avLst/>
          </a:prstGeom>
          <a:noFill/>
          <a:ln/>
        </p:spPr>
        <p:txBody>
          <a:bodyPr wrap="square" lIns="0" tIns="0" rIns="0" bIns="0" rtlCol="0" anchor="ctr"/>
          <a:lstStyle/>
          <a:p>
            <a:pPr indent="0" marL="0">
              <a:buNone/>
            </a:pPr>
            <a:r>
              <a:rPr lang="en-US" sz="1400" b="1" dirty="0">
                <a:solidFill>
                  <a:schemeClr val="tx2"/>
                </a:solidFill>
              </a:rPr>
              <a:t>Foehn · Alps</a:t>
            </a:r>
            <a:endParaRPr lang="en-US" sz="1400" dirty="0"/>
          </a:p>
        </p:txBody>
      </p:sp>
      <p:sp>
        <p:nvSpPr>
          <p:cNvPr id="12" name="Text 6"/>
          <p:cNvSpPr txBox="1"/>
          <p:nvPr/>
        </p:nvSpPr>
        <p:spPr>
          <a:xfrm>
            <a:off x="731520" y="5577840"/>
            <a:ext cx="2423160" cy="50292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Hot dry downslope wind; snow melts fast.</a:t>
            </a:r>
            <a:endParaRPr lang="en-US" sz="1200" dirty="0"/>
          </a:p>
        </p:txBody>
      </p:sp>
      <p:sp>
        <p:nvSpPr>
          <p:cNvPr id="13" name="card"/>
          <p:cNvSpPr/>
          <p:nvPr/>
        </p:nvSpPr>
        <p:spPr>
          <a:xfrm>
            <a:off x="3520440" y="4892040"/>
            <a:ext cx="2788920" cy="1280160"/>
          </a:xfrm>
          <a:prstGeom prst="roundRect">
            <a:avLst>
              <a:gd name="adj" fmla="val 5714"/>
            </a:avLst>
          </a:prstGeom>
          <a:solidFill>
            <a:schemeClr val="bg2"/>
          </a:solidFill>
          <a:ln/>
          <a:effectLst>
            <a:outerShdw sx="100000" sy="100000" kx="0" ky="0" algn="bl" rotWithShape="0" blurRad="76200" dist="25400" dir="5400000">
              <a:srgbClr val="000000">
                <a:alpha val="14000"/>
              </a:srgbClr>
            </a:outerShdw>
          </a:effectLst>
        </p:spPr>
      </p:sp>
      <p:sp>
        <p:nvSpPr>
          <p:cNvPr id="14" name="icon circle"/>
          <p:cNvSpPr/>
          <p:nvPr/>
        </p:nvSpPr>
        <p:spPr>
          <a:xfrm>
            <a:off x="3703320" y="5047488"/>
            <a:ext cx="420624" cy="420624"/>
          </a:xfrm>
          <a:prstGeom prst="ellipse">
            <a:avLst/>
          </a:prstGeom>
          <a:solidFill>
            <a:schemeClr val="accent3"/>
          </a:solidFill>
          <a:ln/>
        </p:spPr>
      </p:sp>
      <p:pic>
        <p:nvPicPr>
          <p:cNvPr id="15" name="Image 2" descr="Helicopter icon">    </p:cNvPr>
          <p:cNvPicPr>
            <a:picLocks noChangeAspect="1"/>
          </p:cNvPicPr>
          <p:nvPr/>
        </p:nvPicPr>
        <p:blipFill>
          <a:blip r:embed="rId3"/>
          <a:stretch>
            <a:fillRect/>
          </a:stretch>
        </p:blipFill>
        <p:spPr>
          <a:xfrm>
            <a:off x="3812682" y="5156850"/>
            <a:ext cx="201900" cy="201900"/>
          </a:xfrm>
          <a:prstGeom prst="rect">
            <a:avLst/>
          </a:prstGeom>
        </p:spPr>
      </p:pic>
      <p:sp>
        <p:nvSpPr>
          <p:cNvPr id="16" name="Text 9"/>
          <p:cNvSpPr txBox="1"/>
          <p:nvPr/>
        </p:nvSpPr>
        <p:spPr>
          <a:xfrm>
            <a:off x="4233672" y="5029200"/>
            <a:ext cx="1938528" cy="457200"/>
          </a:xfrm>
          <a:prstGeom prst="rect">
            <a:avLst/>
          </a:prstGeom>
          <a:noFill/>
          <a:ln/>
        </p:spPr>
        <p:txBody>
          <a:bodyPr wrap="square" lIns="0" tIns="0" rIns="0" bIns="0" rtlCol="0" anchor="ctr"/>
          <a:lstStyle/>
          <a:p>
            <a:pPr indent="0" marL="0">
              <a:buNone/>
            </a:pPr>
            <a:r>
              <a:rPr lang="en-US" sz="1400" b="1" dirty="0">
                <a:solidFill>
                  <a:schemeClr val="tx2"/>
                </a:solidFill>
              </a:rPr>
              <a:t>Chinook · Rockies</a:t>
            </a:r>
            <a:endParaRPr lang="en-US" sz="1400" dirty="0"/>
          </a:p>
        </p:txBody>
      </p:sp>
      <p:sp>
        <p:nvSpPr>
          <p:cNvPr id="17" name="Text 10"/>
          <p:cNvSpPr txBox="1"/>
          <p:nvPr/>
        </p:nvSpPr>
        <p:spPr>
          <a:xfrm>
            <a:off x="3703320" y="5577840"/>
            <a:ext cx="2423160" cy="50292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'Snow eater'; the helicopter in the notes shares its name.</a:t>
            </a:r>
            <a:endParaRPr lang="en-US" sz="1200" dirty="0"/>
          </a:p>
        </p:txBody>
      </p:sp>
      <p:sp>
        <p:nvSpPr>
          <p:cNvPr id="18" name="card"/>
          <p:cNvSpPr/>
          <p:nvPr/>
        </p:nvSpPr>
        <p:spPr>
          <a:xfrm>
            <a:off x="6492240" y="4572000"/>
            <a:ext cx="5148072"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19" name="icon circle"/>
          <p:cNvSpPr/>
          <p:nvPr/>
        </p:nvSpPr>
        <p:spPr>
          <a:xfrm>
            <a:off x="6675120" y="4727448"/>
            <a:ext cx="420624" cy="420624"/>
          </a:xfrm>
          <a:prstGeom prst="ellipse">
            <a:avLst/>
          </a:prstGeom>
          <a:solidFill>
            <a:schemeClr val="accent2"/>
          </a:solidFill>
          <a:ln/>
        </p:spPr>
      </p:sp>
      <p:pic>
        <p:nvPicPr>
          <p:cNvPr id="20" name="Image 3" descr="CloudShowersHeavy icon">    </p:cNvPr>
          <p:cNvPicPr>
            <a:picLocks noChangeAspect="1"/>
          </p:cNvPicPr>
          <p:nvPr/>
        </p:nvPicPr>
        <p:blipFill>
          <a:blip r:embed="rId4"/>
          <a:stretch>
            <a:fillRect/>
          </a:stretch>
        </p:blipFill>
        <p:spPr>
          <a:xfrm>
            <a:off x="6784482" y="4836810"/>
            <a:ext cx="201900" cy="201900"/>
          </a:xfrm>
          <a:prstGeom prst="rect">
            <a:avLst/>
          </a:prstGeom>
        </p:spPr>
      </p:pic>
      <p:sp>
        <p:nvSpPr>
          <p:cNvPr id="21" name="Text 13"/>
          <p:cNvSpPr txBox="1"/>
          <p:nvPr/>
        </p:nvSpPr>
        <p:spPr>
          <a:xfrm>
            <a:off x="7205472" y="4709160"/>
            <a:ext cx="4297680" cy="457200"/>
          </a:xfrm>
          <a:prstGeom prst="rect">
            <a:avLst/>
          </a:prstGeom>
          <a:noFill/>
          <a:ln/>
        </p:spPr>
        <p:txBody>
          <a:bodyPr wrap="square" lIns="0" tIns="0" rIns="0" bIns="0" rtlCol="0" anchor="ctr"/>
          <a:lstStyle/>
          <a:p>
            <a:pPr indent="0" marL="0">
              <a:buNone/>
            </a:pPr>
            <a:r>
              <a:rPr lang="en-US" sz="1400" b="1" dirty="0">
                <a:solidFill>
                  <a:schemeClr val="tx2"/>
                </a:solidFill>
              </a:rPr>
              <a:t>India: Western Ghats</a:t>
            </a:r>
            <a:endParaRPr lang="en-US" sz="1400" dirty="0"/>
          </a:p>
        </p:txBody>
      </p:sp>
      <p:sp>
        <p:nvSpPr>
          <p:cNvPr id="22" name="Text 14"/>
          <p:cNvSpPr txBox="1"/>
          <p:nvPr/>
        </p:nvSpPr>
        <p:spPr>
          <a:xfrm>
            <a:off x="6675120" y="5257800"/>
            <a:ext cx="4782312" cy="82296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Monsoon winds rise over the Ghats: very heavy rain on the windward Konkan side (Mahabaleshwar ~5–6 m/yr), rain shadow on the Deccan (Pune ~0.7 m/yr). Values approximate.</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Potential temperature (θ)</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A temperature that does not change when air moves up or down dry-adiabatically — the key to comparing air at different levels</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06</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Potential temperature: definition and Poisson's equation</a:t>
            </a:r>
            <a:endParaRPr lang="en-US" sz="3200" dirty="0"/>
          </a:p>
        </p:txBody>
      </p:sp>
      <p:sp>
        <p:nvSpPr>
          <p:cNvPr id="4" name="step number"/>
          <p:cNvSpPr/>
          <p:nvPr/>
        </p:nvSpPr>
        <p:spPr>
          <a:xfrm>
            <a:off x="548640" y="1453896"/>
            <a:ext cx="384048" cy="384048"/>
          </a:xfrm>
          <a:prstGeom prst="ellipse">
            <a:avLst/>
          </a:prstGeom>
          <a:solidFill>
            <a:schemeClr val="accent3"/>
          </a:solidFill>
          <a:ln/>
        </p:spPr>
      </p:sp>
      <p:sp>
        <p:nvSpPr>
          <p:cNvPr id="5" name="Text 2"/>
          <p:cNvSpPr txBox="1"/>
          <p:nvPr/>
        </p:nvSpPr>
        <p:spPr>
          <a:xfrm>
            <a:off x="548640" y="14538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3"/>
          <p:cNvSpPr txBox="1"/>
          <p:nvPr/>
        </p:nvSpPr>
        <p:spPr>
          <a:xfrm>
            <a:off x="1051560" y="1417320"/>
            <a:ext cx="5897880" cy="704088"/>
          </a:xfrm>
          <a:prstGeom prst="rect">
            <a:avLst/>
          </a:prstGeom>
          <a:noFill/>
          <a:ln/>
        </p:spPr>
        <p:txBody>
          <a:bodyPr wrap="square" lIns="0" tIns="0" rIns="0" bIns="0" rtlCol="0" anchor="ctr"/>
          <a:lstStyle/>
          <a:p>
            <a:pPr indent="0" marL="0">
              <a:buNone/>
            </a:pPr>
            <a:r>
              <a:rPr lang="en-US" sz="1500" dirty="0">
                <a:solidFill>
                  <a:schemeClr val="tx1"/>
                </a:solidFill>
              </a:rPr>
              <a:t>Adiabatic first law: c</a:t>
            </a:r>
            <a:r>
              <a:rPr lang="en-US" sz="1500" baseline="-40000" dirty="0">
                <a:solidFill>
                  <a:schemeClr val="tx1"/>
                </a:solidFill>
              </a:rPr>
              <a:t>p</a:t>
            </a:r>
            <a:r>
              <a:rPr lang="en-US" sz="1500" dirty="0">
                <a:solidFill>
                  <a:schemeClr val="tx1"/>
                </a:solidFill>
              </a:rPr>
              <a:t> dT = α dp = (RT/p) dp</a:t>
            </a:r>
            <a:endParaRPr lang="en-US" sz="1500" dirty="0"/>
          </a:p>
        </p:txBody>
      </p:sp>
      <p:sp>
        <p:nvSpPr>
          <p:cNvPr id="7" name="step number"/>
          <p:cNvSpPr/>
          <p:nvPr/>
        </p:nvSpPr>
        <p:spPr>
          <a:xfrm>
            <a:off x="548640" y="2203704"/>
            <a:ext cx="384048" cy="384048"/>
          </a:xfrm>
          <a:prstGeom prst="ellipse">
            <a:avLst/>
          </a:prstGeom>
          <a:solidFill>
            <a:schemeClr val="accent3"/>
          </a:solidFill>
          <a:ln/>
        </p:spPr>
      </p:sp>
      <p:sp>
        <p:nvSpPr>
          <p:cNvPr id="8" name="Text 5"/>
          <p:cNvSpPr txBox="1"/>
          <p:nvPr/>
        </p:nvSpPr>
        <p:spPr>
          <a:xfrm>
            <a:off x="548640" y="220370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6"/>
          <p:cNvSpPr txBox="1"/>
          <p:nvPr/>
        </p:nvSpPr>
        <p:spPr>
          <a:xfrm>
            <a:off x="1051560" y="2167128"/>
            <a:ext cx="5897880" cy="704088"/>
          </a:xfrm>
          <a:prstGeom prst="rect">
            <a:avLst/>
          </a:prstGeom>
          <a:noFill/>
          <a:ln/>
        </p:spPr>
        <p:txBody>
          <a:bodyPr wrap="square" lIns="0" tIns="0" rIns="0" bIns="0" rtlCol="0" anchor="ctr"/>
          <a:lstStyle/>
          <a:p>
            <a:pPr indent="0" marL="0">
              <a:buNone/>
            </a:pPr>
            <a:r>
              <a:rPr lang="en-US" sz="1500" dirty="0">
                <a:solidFill>
                  <a:schemeClr val="tx1"/>
                </a:solidFill>
              </a:rPr>
              <a:t>Separate variables: c</a:t>
            </a:r>
            <a:r>
              <a:rPr lang="en-US" sz="1500" baseline="-40000" dirty="0">
                <a:solidFill>
                  <a:schemeClr val="tx1"/>
                </a:solidFill>
              </a:rPr>
              <a:t>p</a:t>
            </a:r>
            <a:r>
              <a:rPr lang="en-US" sz="1500" dirty="0">
                <a:solidFill>
                  <a:schemeClr val="tx1"/>
                </a:solidFill>
              </a:rPr>
              <a:t> dT/T = R dp/p</a:t>
            </a:r>
            <a:endParaRPr lang="en-US" sz="1500" dirty="0"/>
          </a:p>
        </p:txBody>
      </p:sp>
      <p:sp>
        <p:nvSpPr>
          <p:cNvPr id="10" name="step number"/>
          <p:cNvSpPr/>
          <p:nvPr/>
        </p:nvSpPr>
        <p:spPr>
          <a:xfrm>
            <a:off x="548640" y="2953512"/>
            <a:ext cx="384048" cy="384048"/>
          </a:xfrm>
          <a:prstGeom prst="ellipse">
            <a:avLst/>
          </a:prstGeom>
          <a:solidFill>
            <a:schemeClr val="accent3"/>
          </a:solidFill>
          <a:ln/>
        </p:spPr>
      </p:sp>
      <p:sp>
        <p:nvSpPr>
          <p:cNvPr id="11" name="Text 8"/>
          <p:cNvSpPr txBox="1"/>
          <p:nvPr/>
        </p:nvSpPr>
        <p:spPr>
          <a:xfrm>
            <a:off x="548640" y="295351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9"/>
          <p:cNvSpPr txBox="1"/>
          <p:nvPr/>
        </p:nvSpPr>
        <p:spPr>
          <a:xfrm>
            <a:off x="1051560" y="2916936"/>
            <a:ext cx="5897880" cy="704088"/>
          </a:xfrm>
          <a:prstGeom prst="rect">
            <a:avLst/>
          </a:prstGeom>
          <a:noFill/>
          <a:ln/>
        </p:spPr>
        <p:txBody>
          <a:bodyPr wrap="square" lIns="0" tIns="0" rIns="0" bIns="0" rtlCol="0" anchor="ctr"/>
          <a:lstStyle/>
          <a:p>
            <a:pPr indent="0" marL="0">
              <a:buNone/>
            </a:pPr>
            <a:r>
              <a:rPr lang="en-US" sz="1500" dirty="0">
                <a:solidFill>
                  <a:schemeClr val="tx1"/>
                </a:solidFill>
              </a:rPr>
              <a:t>Integrate from (T, p) to (θ, 1000 mb): c</a:t>
            </a:r>
            <a:r>
              <a:rPr lang="en-US" sz="1500" baseline="-40000" dirty="0">
                <a:solidFill>
                  <a:schemeClr val="tx1"/>
                </a:solidFill>
              </a:rPr>
              <a:t>p</a:t>
            </a:r>
            <a:r>
              <a:rPr lang="en-US" sz="1500" dirty="0">
                <a:solidFill>
                  <a:schemeClr val="tx1"/>
                </a:solidFill>
              </a:rPr>
              <a:t> ln(θ/T) = R ln(1000/p)</a:t>
            </a:r>
            <a:endParaRPr lang="en-US" sz="1500" dirty="0"/>
          </a:p>
        </p:txBody>
      </p:sp>
      <p:sp>
        <p:nvSpPr>
          <p:cNvPr id="13" name="step number"/>
          <p:cNvSpPr/>
          <p:nvPr/>
        </p:nvSpPr>
        <p:spPr>
          <a:xfrm>
            <a:off x="548640" y="3703320"/>
            <a:ext cx="384048" cy="384048"/>
          </a:xfrm>
          <a:prstGeom prst="ellipse">
            <a:avLst/>
          </a:prstGeom>
          <a:solidFill>
            <a:schemeClr val="accent3"/>
          </a:solidFill>
          <a:ln/>
        </p:spPr>
      </p:sp>
      <p:sp>
        <p:nvSpPr>
          <p:cNvPr id="14" name="Text 11"/>
          <p:cNvSpPr txBox="1"/>
          <p:nvPr/>
        </p:nvSpPr>
        <p:spPr>
          <a:xfrm>
            <a:off x="548640" y="370332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Text 12"/>
          <p:cNvSpPr txBox="1"/>
          <p:nvPr/>
        </p:nvSpPr>
        <p:spPr>
          <a:xfrm>
            <a:off x="1051560" y="3666744"/>
            <a:ext cx="5897880" cy="704088"/>
          </a:xfrm>
          <a:prstGeom prst="rect">
            <a:avLst/>
          </a:prstGeom>
          <a:noFill/>
          <a:ln/>
        </p:spPr>
        <p:txBody>
          <a:bodyPr wrap="square" lIns="0" tIns="0" rIns="0" bIns="0" rtlCol="0" anchor="ctr"/>
          <a:lstStyle/>
          <a:p>
            <a:pPr indent="0" marL="0">
              <a:buNone/>
            </a:pPr>
            <a:r>
              <a:rPr lang="en-US" sz="1500" b="1" dirty="0">
                <a:solidFill>
                  <a:schemeClr val="tx1"/>
                </a:solidFill>
              </a:rPr>
              <a:t>θ = T (1000/p)</a:t>
            </a:r>
            <a:r>
              <a:rPr lang="en-US" sz="1500" b="1" baseline="30000" dirty="0">
                <a:solidFill>
                  <a:schemeClr val="tx1"/>
                </a:solidFill>
              </a:rPr>
              <a:t>R/cp</a:t>
            </a:r>
            <a:r>
              <a:rPr lang="en-US" sz="1500" dirty="0">
                <a:solidFill>
                  <a:schemeClr val="tx1"/>
                </a:solidFill>
              </a:rPr>
              <a:t>, R/c</a:t>
            </a:r>
            <a:r>
              <a:rPr lang="en-US" sz="1500" baseline="-40000" dirty="0">
                <a:solidFill>
                  <a:schemeClr val="tx1"/>
                </a:solidFill>
              </a:rPr>
              <a:t>p</a:t>
            </a:r>
            <a:r>
              <a:rPr lang="en-US" sz="1500" dirty="0">
                <a:solidFill>
                  <a:schemeClr val="tx1"/>
                </a:solidFill>
              </a:rPr>
              <a:t> = κ ≈ 0.286</a:t>
            </a:r>
            <a:endParaRPr lang="en-US" sz="1500" dirty="0"/>
          </a:p>
        </p:txBody>
      </p:sp>
      <p:sp>
        <p:nvSpPr>
          <p:cNvPr id="16" name="card"/>
          <p:cNvSpPr/>
          <p:nvPr/>
        </p:nvSpPr>
        <p:spPr>
          <a:xfrm>
            <a:off x="7269480" y="1371600"/>
            <a:ext cx="4370832" cy="1280160"/>
          </a:xfrm>
          <a:prstGeom prst="roundRect">
            <a:avLst>
              <a:gd name="adj" fmla="val 5714"/>
            </a:avLst>
          </a:prstGeom>
          <a:solidFill>
            <a:schemeClr val="accent3"/>
          </a:solidFill>
          <a:ln/>
          <a:effectLst>
            <a:outerShdw sx="100000" sy="100000" kx="0" ky="0" algn="bl" rotWithShape="0" blurRad="76200" dist="25400" dir="5400000">
              <a:srgbClr val="000000">
                <a:alpha val="14000"/>
              </a:srgbClr>
            </a:outerShdw>
          </a:effectLst>
        </p:spPr>
      </p:sp>
      <p:sp>
        <p:nvSpPr>
          <p:cNvPr id="17" name="Text 14"/>
          <p:cNvSpPr txBox="1"/>
          <p:nvPr/>
        </p:nvSpPr>
        <p:spPr>
          <a:xfrm>
            <a:off x="7406640" y="1371600"/>
            <a:ext cx="4096512" cy="1280160"/>
          </a:xfrm>
          <a:prstGeom prst="rect">
            <a:avLst/>
          </a:prstGeom>
          <a:noFill/>
          <a:ln/>
        </p:spPr>
        <p:txBody>
          <a:bodyPr wrap="square" lIns="0" tIns="0" rIns="0" bIns="0" rtlCol="0" anchor="ctr"/>
          <a:lstStyle/>
          <a:p>
            <a:pPr algn="ctr" indent="0" marL="0">
              <a:buNone/>
            </a:pPr>
            <a:r>
              <a:rPr lang="en-US" sz="2400" b="1" dirty="0">
                <a:solidFill>
                  <a:schemeClr val="tx1"/>
                </a:solidFill>
              </a:rPr>
              <a:t>θ = T (1000 / p)</a:t>
            </a:r>
            <a:r>
              <a:rPr lang="en-US" sz="2400" b="1" baseline="30000" dirty="0">
                <a:solidFill>
                  <a:schemeClr val="tx1"/>
                </a:solidFill>
              </a:rPr>
              <a:t>0.286</a:t>
            </a:r>
            <a:endParaRPr lang="en-US" sz="2400" dirty="0"/>
          </a:p>
        </p:txBody>
      </p:sp>
      <p:sp>
        <p:nvSpPr>
          <p:cNvPr id="18" name="card"/>
          <p:cNvSpPr/>
          <p:nvPr/>
        </p:nvSpPr>
        <p:spPr>
          <a:xfrm>
            <a:off x="7269480" y="2834640"/>
            <a:ext cx="4370832"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19" name="icon circle"/>
          <p:cNvSpPr/>
          <p:nvPr/>
        </p:nvSpPr>
        <p:spPr>
          <a:xfrm>
            <a:off x="7452360" y="2990088"/>
            <a:ext cx="420624" cy="420624"/>
          </a:xfrm>
          <a:prstGeom prst="ellipse">
            <a:avLst/>
          </a:prstGeom>
          <a:solidFill>
            <a:schemeClr val="accent4"/>
          </a:solidFill>
          <a:ln/>
        </p:spPr>
      </p:sp>
      <p:pic>
        <p:nvPicPr>
          <p:cNvPr id="20" name="Image 0" descr="Check icon">    </p:cNvPr>
          <p:cNvPicPr>
            <a:picLocks noChangeAspect="1"/>
          </p:cNvPicPr>
          <p:nvPr/>
        </p:nvPicPr>
        <p:blipFill>
          <a:blip r:embed="rId1"/>
          <a:stretch>
            <a:fillRect/>
          </a:stretch>
        </p:blipFill>
        <p:spPr>
          <a:xfrm>
            <a:off x="7561722" y="3099450"/>
            <a:ext cx="201900" cy="201900"/>
          </a:xfrm>
          <a:prstGeom prst="rect">
            <a:avLst/>
          </a:prstGeom>
        </p:spPr>
      </p:pic>
      <p:sp>
        <p:nvSpPr>
          <p:cNvPr id="21" name="Text 17"/>
          <p:cNvSpPr txBox="1"/>
          <p:nvPr/>
        </p:nvSpPr>
        <p:spPr>
          <a:xfrm>
            <a:off x="7982712" y="2971800"/>
            <a:ext cx="3520440" cy="457200"/>
          </a:xfrm>
          <a:prstGeom prst="rect">
            <a:avLst/>
          </a:prstGeom>
          <a:noFill/>
          <a:ln/>
        </p:spPr>
        <p:txBody>
          <a:bodyPr wrap="square" lIns="0" tIns="0" rIns="0" bIns="0" rtlCol="0" anchor="ctr"/>
          <a:lstStyle/>
          <a:p>
            <a:pPr indent="0" marL="0">
              <a:buNone/>
            </a:pPr>
            <a:r>
              <a:rPr lang="en-US" sz="1600" b="1" dirty="0">
                <a:solidFill>
                  <a:schemeClr val="tx2"/>
                </a:solidFill>
              </a:rPr>
              <a:t>Key properties</a:t>
            </a:r>
            <a:endParaRPr lang="en-US" sz="1600" dirty="0"/>
          </a:p>
        </p:txBody>
      </p:sp>
      <p:sp>
        <p:nvSpPr>
          <p:cNvPr id="22" name="Text 18"/>
          <p:cNvSpPr txBox="1"/>
          <p:nvPr/>
        </p:nvSpPr>
        <p:spPr>
          <a:xfrm>
            <a:off x="7452360" y="3520440"/>
            <a:ext cx="4005072" cy="82296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Reference pressure 1000 mb (≈ surface)</a:t>
            </a:r>
            <a:endParaRPr lang="en-US" sz="1300" dirty="0"/>
          </a:p>
          <a:p>
            <a:pPr marL="177800" indent="-177800">
              <a:spcAft>
                <a:spcPts val="400"/>
              </a:spcAft>
              <a:buSzPct val="100000"/>
              <a:buChar char="•"/>
            </a:pPr>
            <a:r>
              <a:rPr lang="en-US" sz="1300" b="1" dirty="0">
                <a:solidFill>
                  <a:schemeClr val="tx1"/>
                </a:solidFill>
              </a:rPr>
              <a:t>Conserved</a:t>
            </a:r>
            <a:r>
              <a:rPr lang="en-US" sz="1300" dirty="0">
                <a:solidFill>
                  <a:schemeClr val="tx1"/>
                </a:solidFill>
              </a:rPr>
              <a:t> in dry adiabatic motion</a:t>
            </a:r>
            <a:endParaRPr lang="en-US" sz="1300" dirty="0"/>
          </a:p>
          <a:p>
            <a:pPr marL="177800" indent="-177800">
              <a:spcAft>
                <a:spcPts val="400"/>
              </a:spcAft>
              <a:buSzPct val="100000"/>
              <a:buChar char="•"/>
            </a:pPr>
            <a:r>
              <a:rPr lang="en-US" sz="1300" dirty="0">
                <a:solidFill>
                  <a:schemeClr val="tx1"/>
                </a:solidFill>
              </a:rPr>
              <a:t>Dry adiabats = lines of constant θ</a:t>
            </a:r>
            <a:endParaRPr lang="en-US" sz="1300" dirty="0"/>
          </a:p>
        </p:txBody>
      </p:sp>
      <p:sp>
        <p:nvSpPr>
          <p:cNvPr id="23" name="card"/>
          <p:cNvSpPr/>
          <p:nvPr/>
        </p:nvSpPr>
        <p:spPr>
          <a:xfrm>
            <a:off x="548640" y="4572000"/>
            <a:ext cx="11091672"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24" name="icon circle"/>
          <p:cNvSpPr/>
          <p:nvPr/>
        </p:nvSpPr>
        <p:spPr>
          <a:xfrm>
            <a:off x="731520" y="4727448"/>
            <a:ext cx="420624" cy="420624"/>
          </a:xfrm>
          <a:prstGeom prst="ellipse">
            <a:avLst/>
          </a:prstGeom>
          <a:solidFill>
            <a:schemeClr val="accent3"/>
          </a:solidFill>
          <a:ln/>
        </p:spPr>
      </p:sp>
      <p:pic>
        <p:nvPicPr>
          <p:cNvPr id="25" name="Image 1" descr="Calculator icon">    </p:cNvPr>
          <p:cNvPicPr>
            <a:picLocks noChangeAspect="1"/>
          </p:cNvPicPr>
          <p:nvPr/>
        </p:nvPicPr>
        <p:blipFill>
          <a:blip r:embed="rId2"/>
          <a:stretch>
            <a:fillRect/>
          </a:stretch>
        </p:blipFill>
        <p:spPr>
          <a:xfrm>
            <a:off x="840882" y="4836810"/>
            <a:ext cx="201900" cy="201900"/>
          </a:xfrm>
          <a:prstGeom prst="rect">
            <a:avLst/>
          </a:prstGeom>
        </p:spPr>
      </p:pic>
      <p:sp>
        <p:nvSpPr>
          <p:cNvPr id="26" name="Text 21"/>
          <p:cNvSpPr txBox="1"/>
          <p:nvPr/>
        </p:nvSpPr>
        <p:spPr>
          <a:xfrm>
            <a:off x="1261872" y="4709160"/>
            <a:ext cx="10241280" cy="457200"/>
          </a:xfrm>
          <a:prstGeom prst="rect">
            <a:avLst/>
          </a:prstGeom>
          <a:noFill/>
          <a:ln/>
        </p:spPr>
        <p:txBody>
          <a:bodyPr wrap="square" lIns="0" tIns="0" rIns="0" bIns="0" rtlCol="0" anchor="ctr"/>
          <a:lstStyle/>
          <a:p>
            <a:pPr indent="0" marL="0">
              <a:buNone/>
            </a:pPr>
            <a:r>
              <a:rPr lang="en-US" sz="1600" b="1" dirty="0">
                <a:solidFill>
                  <a:schemeClr val="tx2"/>
                </a:solidFill>
              </a:rPr>
              <a:t>Worked example</a:t>
            </a:r>
            <a:endParaRPr lang="en-US" sz="1600" dirty="0"/>
          </a:p>
        </p:txBody>
      </p:sp>
      <p:sp>
        <p:nvSpPr>
          <p:cNvPr id="27" name="Text 22"/>
          <p:cNvSpPr txBox="1"/>
          <p:nvPr/>
        </p:nvSpPr>
        <p:spPr>
          <a:xfrm>
            <a:off x="731520" y="5257800"/>
            <a:ext cx="10725912" cy="822960"/>
          </a:xfrm>
          <a:prstGeom prst="rect">
            <a:avLst/>
          </a:prstGeom>
          <a:noFill/>
          <a:ln/>
        </p:spPr>
        <p:txBody>
          <a:bodyPr wrap="square" lIns="508" tIns="508" rIns="508" bIns="508" rtlCol="0" anchor="t"/>
          <a:lstStyle/>
          <a:p>
            <a:pPr indent="0" marL="0">
              <a:spcAft>
                <a:spcPts val="400"/>
              </a:spcAft>
              <a:buNone/>
            </a:pPr>
            <a:r>
              <a:rPr lang="en-US" sz="1400" dirty="0">
                <a:solidFill>
                  <a:schemeClr val="tx1"/>
                </a:solidFill>
              </a:rPr>
              <a:t>Air at 700 mb with T = −10 °C = 263.15 K: θ = 263.15 × (1000/700)</a:t>
            </a:r>
            <a:r>
              <a:rPr lang="en-US" sz="1400" baseline="30000" dirty="0">
                <a:solidFill>
                  <a:schemeClr val="tx1"/>
                </a:solidFill>
              </a:rPr>
              <a:t>0.286</a:t>
            </a:r>
            <a:r>
              <a:rPr lang="en-US" sz="1400" dirty="0">
                <a:solidFill>
                  <a:schemeClr val="tx1"/>
                </a:solidFill>
              </a:rPr>
              <a:t> = 263.15 × 1.1074 = </a:t>
            </a:r>
            <a:r>
              <a:rPr lang="en-US" sz="1400" b="1" dirty="0">
                <a:solidFill>
                  <a:schemeClr val="tx1"/>
                </a:solidFill>
              </a:rPr>
              <a:t>291.4 K (≈ 18 °C)</a:t>
            </a:r>
            <a:r>
              <a:rPr lang="en-US" sz="1400" dirty="0">
                <a:solidFill>
                  <a:schemeClr val="tx1"/>
                </a:solidFill>
              </a:rPr>
              <a:t>. Brought down to 1000 mb without heat exchange, this cold-looking air would be 18 °C.</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θ profiles and stability (the three cases)</a:t>
            </a:r>
            <a:endParaRPr lang="en-US" sz="3200" dirty="0"/>
          </a:p>
        </p:txBody>
      </p:sp>
      <p:sp>
        <p:nvSpPr>
          <p:cNvPr id="4" name="card"/>
          <p:cNvSpPr/>
          <p:nvPr/>
        </p:nvSpPr>
        <p:spPr>
          <a:xfrm>
            <a:off x="548640" y="1371600"/>
            <a:ext cx="3566160" cy="4800600"/>
          </a:xfrm>
          <a:prstGeom prst="roundRect">
            <a:avLst>
              <a:gd name="adj" fmla="val 2051"/>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731520" y="1463040"/>
            <a:ext cx="3200400" cy="365760"/>
          </a:xfrm>
          <a:prstGeom prst="rect">
            <a:avLst/>
          </a:prstGeom>
          <a:noFill/>
          <a:ln/>
        </p:spPr>
        <p:txBody>
          <a:bodyPr wrap="square" lIns="0" tIns="0" rIns="0" bIns="0" rtlCol="0" anchor="ctr"/>
          <a:lstStyle/>
          <a:p>
            <a:pPr algn="l" indent="0" marL="0">
              <a:buNone/>
            </a:pPr>
            <a:r>
              <a:rPr lang="en-US" sz="1600" b="1" dirty="0">
                <a:solidFill>
                  <a:schemeClr val="tx2"/>
                </a:solidFill>
              </a:rPr>
              <a:t>Case 1: DLR &gt; ALR</a:t>
            </a:r>
            <a:endParaRPr lang="en-US" sz="1600" dirty="0"/>
          </a:p>
        </p:txBody>
      </p:sp>
      <p:sp>
        <p:nvSpPr>
          <p:cNvPr id="6" name="plot area"/>
          <p:cNvSpPr/>
          <p:nvPr/>
        </p:nvSpPr>
        <p:spPr>
          <a:xfrm>
            <a:off x="1143000" y="2148840"/>
            <a:ext cx="2651760" cy="2377440"/>
          </a:xfrm>
          <a:prstGeom prst="rect">
            <a:avLst/>
          </a:prstGeom>
          <a:solidFill>
            <a:schemeClr val="bg1"/>
          </a:solidFill>
          <a:ln w="9525">
            <a:solidFill>
              <a:srgbClr val="C9D2DC"/>
            </a:solidFill>
            <a:prstDash val="solid"/>
          </a:ln>
        </p:spPr>
      </p:sp>
      <p:sp>
        <p:nvSpPr>
          <p:cNvPr id="7" name="arrow"/>
          <p:cNvSpPr/>
          <p:nvPr/>
        </p:nvSpPr>
        <p:spPr>
          <a:xfrm>
            <a:off x="1805940" y="2148840"/>
            <a:ext cx="0" cy="2377440"/>
          </a:xfrm>
          <a:prstGeom prst="line">
            <a:avLst/>
          </a:prstGeom>
          <a:noFill/>
          <a:ln w="6350">
            <a:solidFill>
              <a:srgbClr val="E3E8EE"/>
            </a:solidFill>
            <a:prstDash val="solid"/>
          </a:ln>
        </p:spPr>
      </p:sp>
      <p:sp>
        <p:nvSpPr>
          <p:cNvPr id="8" name="Text 5"/>
          <p:cNvSpPr txBox="1"/>
          <p:nvPr/>
        </p:nvSpPr>
        <p:spPr>
          <a:xfrm>
            <a:off x="1531620" y="455371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300</a:t>
            </a:r>
            <a:endParaRPr lang="en-US" sz="1000" dirty="0"/>
          </a:p>
        </p:txBody>
      </p:sp>
      <p:sp>
        <p:nvSpPr>
          <p:cNvPr id="9" name="arrow"/>
          <p:cNvSpPr/>
          <p:nvPr/>
        </p:nvSpPr>
        <p:spPr>
          <a:xfrm>
            <a:off x="3131820" y="2148840"/>
            <a:ext cx="0" cy="2377440"/>
          </a:xfrm>
          <a:prstGeom prst="line">
            <a:avLst/>
          </a:prstGeom>
          <a:noFill/>
          <a:ln w="6350">
            <a:solidFill>
              <a:srgbClr val="E3E8EE"/>
            </a:solidFill>
            <a:prstDash val="solid"/>
          </a:ln>
        </p:spPr>
      </p:sp>
      <p:sp>
        <p:nvSpPr>
          <p:cNvPr id="10" name="Text 7"/>
          <p:cNvSpPr txBox="1"/>
          <p:nvPr/>
        </p:nvSpPr>
        <p:spPr>
          <a:xfrm>
            <a:off x="2857500" y="455371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310</a:t>
            </a:r>
            <a:endParaRPr lang="en-US" sz="1000" dirty="0"/>
          </a:p>
        </p:txBody>
      </p:sp>
      <p:sp>
        <p:nvSpPr>
          <p:cNvPr id="11" name="Text 8"/>
          <p:cNvSpPr txBox="1"/>
          <p:nvPr/>
        </p:nvSpPr>
        <p:spPr>
          <a:xfrm>
            <a:off x="731520" y="441655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0</a:t>
            </a:r>
            <a:endParaRPr lang="en-US" sz="1000" dirty="0"/>
          </a:p>
        </p:txBody>
      </p:sp>
      <p:sp>
        <p:nvSpPr>
          <p:cNvPr id="12" name="arrow"/>
          <p:cNvSpPr/>
          <p:nvPr/>
        </p:nvSpPr>
        <p:spPr>
          <a:xfrm>
            <a:off x="1143000" y="3733800"/>
            <a:ext cx="2651760" cy="0"/>
          </a:xfrm>
          <a:prstGeom prst="line">
            <a:avLst/>
          </a:prstGeom>
          <a:noFill/>
          <a:ln w="6350">
            <a:solidFill>
              <a:srgbClr val="E3E8EE"/>
            </a:solidFill>
            <a:prstDash val="solid"/>
          </a:ln>
        </p:spPr>
      </p:sp>
      <p:sp>
        <p:nvSpPr>
          <p:cNvPr id="13" name="Text 10"/>
          <p:cNvSpPr txBox="1"/>
          <p:nvPr/>
        </p:nvSpPr>
        <p:spPr>
          <a:xfrm>
            <a:off x="731520" y="362407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1</a:t>
            </a:r>
            <a:endParaRPr lang="en-US" sz="1000" dirty="0"/>
          </a:p>
        </p:txBody>
      </p:sp>
      <p:sp>
        <p:nvSpPr>
          <p:cNvPr id="14" name="arrow"/>
          <p:cNvSpPr/>
          <p:nvPr/>
        </p:nvSpPr>
        <p:spPr>
          <a:xfrm>
            <a:off x="1143000" y="2941320"/>
            <a:ext cx="2651760" cy="0"/>
          </a:xfrm>
          <a:prstGeom prst="line">
            <a:avLst/>
          </a:prstGeom>
          <a:noFill/>
          <a:ln w="6350">
            <a:solidFill>
              <a:srgbClr val="E3E8EE"/>
            </a:solidFill>
            <a:prstDash val="solid"/>
          </a:ln>
        </p:spPr>
      </p:sp>
      <p:sp>
        <p:nvSpPr>
          <p:cNvPr id="15" name="Text 12"/>
          <p:cNvSpPr txBox="1"/>
          <p:nvPr/>
        </p:nvSpPr>
        <p:spPr>
          <a:xfrm>
            <a:off x="731520" y="283159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2</a:t>
            </a:r>
            <a:endParaRPr lang="en-US" sz="1000" dirty="0"/>
          </a:p>
        </p:txBody>
      </p:sp>
      <p:sp>
        <p:nvSpPr>
          <p:cNvPr id="16" name="Text 13"/>
          <p:cNvSpPr txBox="1"/>
          <p:nvPr/>
        </p:nvSpPr>
        <p:spPr>
          <a:xfrm>
            <a:off x="731520" y="203911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3</a:t>
            </a:r>
            <a:endParaRPr lang="en-US" sz="1000" dirty="0"/>
          </a:p>
        </p:txBody>
      </p:sp>
      <p:sp>
        <p:nvSpPr>
          <p:cNvPr id="17" name="Text 14"/>
          <p:cNvSpPr txBox="1"/>
          <p:nvPr/>
        </p:nvSpPr>
        <p:spPr>
          <a:xfrm>
            <a:off x="1143000" y="4773168"/>
            <a:ext cx="2651760" cy="256032"/>
          </a:xfrm>
          <a:prstGeom prst="rect">
            <a:avLst/>
          </a:prstGeom>
          <a:noFill/>
          <a:ln/>
        </p:spPr>
        <p:txBody>
          <a:bodyPr wrap="square" lIns="0" tIns="0" rIns="0" bIns="0" rtlCol="0" anchor="ctr"/>
          <a:lstStyle/>
          <a:p>
            <a:pPr algn="ctr" indent="0" marL="0">
              <a:buNone/>
            </a:pPr>
            <a:r>
              <a:rPr lang="en-US" sz="1100" i="1" dirty="0">
                <a:solidFill>
                  <a:schemeClr val="accent6"/>
                </a:solidFill>
              </a:rPr>
              <a:t>θ (K)</a:t>
            </a:r>
            <a:endParaRPr lang="en-US" sz="1100" dirty="0"/>
          </a:p>
        </p:txBody>
      </p:sp>
      <p:sp>
        <p:nvSpPr>
          <p:cNvPr id="18" name="Text 15"/>
          <p:cNvSpPr txBox="1"/>
          <p:nvPr/>
        </p:nvSpPr>
        <p:spPr>
          <a:xfrm>
            <a:off x="576072" y="1856232"/>
            <a:ext cx="2286000" cy="256032"/>
          </a:xfrm>
          <a:prstGeom prst="rect">
            <a:avLst/>
          </a:prstGeom>
          <a:noFill/>
          <a:ln/>
        </p:spPr>
        <p:txBody>
          <a:bodyPr wrap="square" lIns="0" tIns="0" rIns="0" bIns="0" rtlCol="0" anchor="ctr"/>
          <a:lstStyle/>
          <a:p>
            <a:pPr algn="l" indent="0" marL="0">
              <a:buNone/>
            </a:pPr>
            <a:r>
              <a:rPr lang="en-US" sz="1100" i="1" dirty="0">
                <a:solidFill>
                  <a:schemeClr val="accent6"/>
                </a:solidFill>
              </a:rPr>
              <a:t>z (km)</a:t>
            </a:r>
            <a:endParaRPr lang="en-US" sz="1100" dirty="0"/>
          </a:p>
        </p:txBody>
      </p:sp>
      <p:sp>
        <p:nvSpPr>
          <p:cNvPr id="19" name="arrow"/>
          <p:cNvSpPr/>
          <p:nvPr/>
        </p:nvSpPr>
        <p:spPr>
          <a:xfrm flipV="1">
            <a:off x="1805940" y="2148840"/>
            <a:ext cx="1591056" cy="2377440"/>
          </a:xfrm>
          <a:prstGeom prst="line">
            <a:avLst/>
          </a:prstGeom>
          <a:noFill/>
          <a:ln w="44450">
            <a:solidFill>
              <a:srgbClr val="2E86AB"/>
            </a:solidFill>
            <a:prstDash val="solid"/>
          </a:ln>
        </p:spPr>
      </p:sp>
      <p:sp>
        <p:nvSpPr>
          <p:cNvPr id="20" name="point"/>
          <p:cNvSpPr/>
          <p:nvPr/>
        </p:nvSpPr>
        <p:spPr>
          <a:xfrm>
            <a:off x="1988820" y="4047744"/>
            <a:ext cx="164592" cy="164592"/>
          </a:xfrm>
          <a:prstGeom prst="ellipse">
            <a:avLst/>
          </a:prstGeom>
          <a:solidFill>
            <a:schemeClr val="tx2"/>
          </a:solidFill>
          <a:ln/>
        </p:spPr>
      </p:sp>
      <p:sp>
        <p:nvSpPr>
          <p:cNvPr id="21" name="Text 18"/>
          <p:cNvSpPr txBox="1"/>
          <p:nvPr/>
        </p:nvSpPr>
        <p:spPr>
          <a:xfrm>
            <a:off x="2162556" y="3992880"/>
            <a:ext cx="274320" cy="274320"/>
          </a:xfrm>
          <a:prstGeom prst="rect">
            <a:avLst/>
          </a:prstGeom>
          <a:noFill/>
          <a:ln/>
        </p:spPr>
        <p:txBody>
          <a:bodyPr wrap="square" lIns="0" tIns="0" rIns="0" bIns="0" rtlCol="0" anchor="ctr"/>
          <a:lstStyle/>
          <a:p>
            <a:pPr algn="l" indent="0" marL="0">
              <a:buNone/>
            </a:pPr>
            <a:r>
              <a:rPr lang="en-US" sz="1100" b="1" dirty="0">
                <a:solidFill>
                  <a:schemeClr val="tx2"/>
                </a:solidFill>
              </a:rPr>
              <a:t>P</a:t>
            </a:r>
            <a:endParaRPr lang="en-US" sz="1100" dirty="0"/>
          </a:p>
        </p:txBody>
      </p:sp>
      <p:sp>
        <p:nvSpPr>
          <p:cNvPr id="22" name="point"/>
          <p:cNvSpPr/>
          <p:nvPr/>
        </p:nvSpPr>
        <p:spPr>
          <a:xfrm>
            <a:off x="2519172" y="3255264"/>
            <a:ext cx="164592" cy="164592"/>
          </a:xfrm>
          <a:prstGeom prst="ellipse">
            <a:avLst/>
          </a:prstGeom>
          <a:solidFill>
            <a:schemeClr val="tx2"/>
          </a:solidFill>
          <a:ln/>
        </p:spPr>
      </p:sp>
      <p:sp>
        <p:nvSpPr>
          <p:cNvPr id="23" name="Text 20"/>
          <p:cNvSpPr txBox="1"/>
          <p:nvPr/>
        </p:nvSpPr>
        <p:spPr>
          <a:xfrm>
            <a:off x="2692908" y="3200400"/>
            <a:ext cx="274320" cy="274320"/>
          </a:xfrm>
          <a:prstGeom prst="rect">
            <a:avLst/>
          </a:prstGeom>
          <a:noFill/>
          <a:ln/>
        </p:spPr>
        <p:txBody>
          <a:bodyPr wrap="square" lIns="0" tIns="0" rIns="0" bIns="0" rtlCol="0" anchor="ctr"/>
          <a:lstStyle/>
          <a:p>
            <a:pPr algn="l" indent="0" marL="0">
              <a:buNone/>
            </a:pPr>
            <a:r>
              <a:rPr lang="en-US" sz="1100" b="1" dirty="0">
                <a:solidFill>
                  <a:schemeClr val="tx2"/>
                </a:solidFill>
              </a:rPr>
              <a:t>Q</a:t>
            </a:r>
            <a:endParaRPr lang="en-US" sz="1100" dirty="0"/>
          </a:p>
        </p:txBody>
      </p:sp>
      <p:sp>
        <p:nvSpPr>
          <p:cNvPr id="24" name="point"/>
          <p:cNvSpPr/>
          <p:nvPr/>
        </p:nvSpPr>
        <p:spPr>
          <a:xfrm>
            <a:off x="3049524" y="2462784"/>
            <a:ext cx="164592" cy="164592"/>
          </a:xfrm>
          <a:prstGeom prst="ellipse">
            <a:avLst/>
          </a:prstGeom>
          <a:solidFill>
            <a:schemeClr val="tx2"/>
          </a:solidFill>
          <a:ln/>
        </p:spPr>
      </p:sp>
      <p:sp>
        <p:nvSpPr>
          <p:cNvPr id="25" name="Text 22"/>
          <p:cNvSpPr txBox="1"/>
          <p:nvPr/>
        </p:nvSpPr>
        <p:spPr>
          <a:xfrm>
            <a:off x="3223260" y="2407920"/>
            <a:ext cx="274320" cy="274320"/>
          </a:xfrm>
          <a:prstGeom prst="rect">
            <a:avLst/>
          </a:prstGeom>
          <a:noFill/>
          <a:ln/>
        </p:spPr>
        <p:txBody>
          <a:bodyPr wrap="square" lIns="0" tIns="0" rIns="0" bIns="0" rtlCol="0" anchor="ctr"/>
          <a:lstStyle/>
          <a:p>
            <a:pPr algn="l" indent="0" marL="0">
              <a:buNone/>
            </a:pPr>
            <a:r>
              <a:rPr lang="en-US" sz="1100" b="1" dirty="0">
                <a:solidFill>
                  <a:schemeClr val="tx2"/>
                </a:solidFill>
              </a:rPr>
              <a:t>R</a:t>
            </a:r>
            <a:endParaRPr lang="en-US" sz="1100" dirty="0"/>
          </a:p>
        </p:txBody>
      </p:sp>
      <p:sp>
        <p:nvSpPr>
          <p:cNvPr id="26" name="Text 23"/>
          <p:cNvSpPr txBox="1"/>
          <p:nvPr/>
        </p:nvSpPr>
        <p:spPr>
          <a:xfrm>
            <a:off x="731520" y="5074920"/>
            <a:ext cx="3200400" cy="320040"/>
          </a:xfrm>
          <a:prstGeom prst="rect">
            <a:avLst/>
          </a:prstGeom>
          <a:noFill/>
          <a:ln/>
        </p:spPr>
        <p:txBody>
          <a:bodyPr wrap="square" lIns="0" tIns="0" rIns="0" bIns="0" rtlCol="0" anchor="ctr"/>
          <a:lstStyle/>
          <a:p>
            <a:pPr algn="ctr" indent="0" marL="0">
              <a:buNone/>
            </a:pPr>
            <a:r>
              <a:rPr lang="en-US" sz="1400" dirty="0">
                <a:solidFill>
                  <a:schemeClr val="tx1"/>
                </a:solidFill>
              </a:rPr>
              <a:t>θ increases upward</a:t>
            </a:r>
            <a:endParaRPr lang="en-US" sz="1400" dirty="0"/>
          </a:p>
        </p:txBody>
      </p:sp>
      <p:sp>
        <p:nvSpPr>
          <p:cNvPr id="27" name="tag"/>
          <p:cNvSpPr/>
          <p:nvPr/>
        </p:nvSpPr>
        <p:spPr>
          <a:xfrm>
            <a:off x="1600200" y="5486400"/>
            <a:ext cx="1463040" cy="292608"/>
          </a:xfrm>
          <a:prstGeom prst="roundRect">
            <a:avLst>
              <a:gd name="adj" fmla="val 50000"/>
            </a:avLst>
          </a:prstGeom>
          <a:solidFill>
            <a:schemeClr val="accent2"/>
          </a:solidFill>
          <a:ln/>
        </p:spPr>
      </p:sp>
      <p:sp>
        <p:nvSpPr>
          <p:cNvPr id="28" name="Text 25"/>
          <p:cNvSpPr txBox="1"/>
          <p:nvPr/>
        </p:nvSpPr>
        <p:spPr>
          <a:xfrm>
            <a:off x="1600200" y="5486400"/>
            <a:ext cx="1463040" cy="292608"/>
          </a:xfrm>
          <a:prstGeom prst="rect">
            <a:avLst/>
          </a:prstGeom>
          <a:noFill/>
          <a:ln/>
        </p:spPr>
        <p:txBody>
          <a:bodyPr wrap="square" lIns="0" tIns="0" rIns="0" bIns="0" rtlCol="0" anchor="ctr"/>
          <a:lstStyle/>
          <a:p>
            <a:pPr algn="ctr" indent="0" marL="0">
              <a:buNone/>
            </a:pPr>
            <a:r>
              <a:rPr lang="en-US" sz="1100" b="1" dirty="0">
                <a:solidFill>
                  <a:schemeClr val="bg1"/>
                </a:solidFill>
              </a:rPr>
              <a:t>STABLE</a:t>
            </a:r>
            <a:endParaRPr lang="en-US" sz="1100" dirty="0"/>
          </a:p>
        </p:txBody>
      </p:sp>
      <p:sp>
        <p:nvSpPr>
          <p:cNvPr id="29" name="Text 26"/>
          <p:cNvSpPr txBox="1"/>
          <p:nvPr/>
        </p:nvSpPr>
        <p:spPr>
          <a:xfrm>
            <a:off x="731520" y="5806440"/>
            <a:ext cx="3200400" cy="320040"/>
          </a:xfrm>
          <a:prstGeom prst="rect">
            <a:avLst/>
          </a:prstGeom>
          <a:noFill/>
          <a:ln/>
        </p:spPr>
        <p:txBody>
          <a:bodyPr wrap="square" lIns="0" tIns="0" rIns="0" bIns="0" rtlCol="0" anchor="ctr"/>
          <a:lstStyle/>
          <a:p>
            <a:pPr algn="ctr" indent="0" marL="0">
              <a:buNone/>
            </a:pPr>
            <a:r>
              <a:rPr lang="en-US" sz="1300" b="1" dirty="0">
                <a:solidFill>
                  <a:schemeClr val="accent2"/>
                </a:solidFill>
              </a:rPr>
              <a:t>θ</a:t>
            </a:r>
            <a:r>
              <a:rPr lang="en-US" sz="1300" b="1" baseline="-40000" dirty="0">
                <a:solidFill>
                  <a:schemeClr val="accent2"/>
                </a:solidFill>
              </a:rPr>
              <a:t>P</a:t>
            </a:r>
            <a:r>
              <a:rPr lang="en-US" sz="1300" b="1" dirty="0">
                <a:solidFill>
                  <a:schemeClr val="accent2"/>
                </a:solidFill>
              </a:rPr>
              <a:t> &lt; θ</a:t>
            </a:r>
            <a:r>
              <a:rPr lang="en-US" sz="1300" b="1" baseline="-40000" dirty="0">
                <a:solidFill>
                  <a:schemeClr val="accent2"/>
                </a:solidFill>
              </a:rPr>
              <a:t>Q</a:t>
            </a:r>
            <a:r>
              <a:rPr lang="en-US" sz="1300" b="1" dirty="0">
                <a:solidFill>
                  <a:schemeClr val="accent2"/>
                </a:solidFill>
              </a:rPr>
              <a:t> &lt; θ</a:t>
            </a:r>
            <a:r>
              <a:rPr lang="en-US" sz="1300" b="1" baseline="-40000" dirty="0">
                <a:solidFill>
                  <a:schemeClr val="accent2"/>
                </a:solidFill>
              </a:rPr>
              <a:t>R</a:t>
            </a:r>
            <a:endParaRPr lang="en-US" sz="1300" dirty="0"/>
          </a:p>
        </p:txBody>
      </p:sp>
      <p:sp>
        <p:nvSpPr>
          <p:cNvPr id="30" name="card"/>
          <p:cNvSpPr/>
          <p:nvPr/>
        </p:nvSpPr>
        <p:spPr>
          <a:xfrm>
            <a:off x="4297680" y="1371600"/>
            <a:ext cx="3566160" cy="4800600"/>
          </a:xfrm>
          <a:prstGeom prst="roundRect">
            <a:avLst>
              <a:gd name="adj" fmla="val 2051"/>
            </a:avLst>
          </a:prstGeom>
          <a:solidFill>
            <a:schemeClr val="bg2"/>
          </a:solidFill>
          <a:ln/>
          <a:effectLst>
            <a:outerShdw sx="100000" sy="100000" kx="0" ky="0" algn="bl" rotWithShape="0" blurRad="76200" dist="25400" dir="5400000">
              <a:srgbClr val="000000">
                <a:alpha val="14000"/>
              </a:srgbClr>
            </a:outerShdw>
          </a:effectLst>
        </p:spPr>
      </p:sp>
      <p:sp>
        <p:nvSpPr>
          <p:cNvPr id="31" name="Text 28"/>
          <p:cNvSpPr txBox="1"/>
          <p:nvPr/>
        </p:nvSpPr>
        <p:spPr>
          <a:xfrm>
            <a:off x="4480560" y="1463040"/>
            <a:ext cx="3200400" cy="365760"/>
          </a:xfrm>
          <a:prstGeom prst="rect">
            <a:avLst/>
          </a:prstGeom>
          <a:noFill/>
          <a:ln/>
        </p:spPr>
        <p:txBody>
          <a:bodyPr wrap="square" lIns="0" tIns="0" rIns="0" bIns="0" rtlCol="0" anchor="ctr"/>
          <a:lstStyle/>
          <a:p>
            <a:pPr algn="l" indent="0" marL="0">
              <a:buNone/>
            </a:pPr>
            <a:r>
              <a:rPr lang="en-US" sz="1600" b="1" dirty="0">
                <a:solidFill>
                  <a:schemeClr val="tx2"/>
                </a:solidFill>
              </a:rPr>
              <a:t>Case 2: DLR = ALR</a:t>
            </a:r>
            <a:endParaRPr lang="en-US" sz="1600" dirty="0"/>
          </a:p>
        </p:txBody>
      </p:sp>
      <p:sp>
        <p:nvSpPr>
          <p:cNvPr id="32" name="plot area"/>
          <p:cNvSpPr/>
          <p:nvPr/>
        </p:nvSpPr>
        <p:spPr>
          <a:xfrm>
            <a:off x="4892040" y="2148840"/>
            <a:ext cx="2651760" cy="2377440"/>
          </a:xfrm>
          <a:prstGeom prst="rect">
            <a:avLst/>
          </a:prstGeom>
          <a:solidFill>
            <a:schemeClr val="bg1"/>
          </a:solidFill>
          <a:ln w="9525">
            <a:solidFill>
              <a:srgbClr val="C9D2DC"/>
            </a:solidFill>
            <a:prstDash val="solid"/>
          </a:ln>
        </p:spPr>
      </p:sp>
      <p:sp>
        <p:nvSpPr>
          <p:cNvPr id="33" name="arrow"/>
          <p:cNvSpPr/>
          <p:nvPr/>
        </p:nvSpPr>
        <p:spPr>
          <a:xfrm>
            <a:off x="5554980" y="2148840"/>
            <a:ext cx="0" cy="2377440"/>
          </a:xfrm>
          <a:prstGeom prst="line">
            <a:avLst/>
          </a:prstGeom>
          <a:noFill/>
          <a:ln w="6350">
            <a:solidFill>
              <a:srgbClr val="E3E8EE"/>
            </a:solidFill>
            <a:prstDash val="solid"/>
          </a:ln>
        </p:spPr>
      </p:sp>
      <p:sp>
        <p:nvSpPr>
          <p:cNvPr id="34" name="Text 31"/>
          <p:cNvSpPr txBox="1"/>
          <p:nvPr/>
        </p:nvSpPr>
        <p:spPr>
          <a:xfrm>
            <a:off x="5280660" y="455371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300</a:t>
            </a:r>
            <a:endParaRPr lang="en-US" sz="1000" dirty="0"/>
          </a:p>
        </p:txBody>
      </p:sp>
      <p:sp>
        <p:nvSpPr>
          <p:cNvPr id="35" name="arrow"/>
          <p:cNvSpPr/>
          <p:nvPr/>
        </p:nvSpPr>
        <p:spPr>
          <a:xfrm>
            <a:off x="6880860" y="2148840"/>
            <a:ext cx="0" cy="2377440"/>
          </a:xfrm>
          <a:prstGeom prst="line">
            <a:avLst/>
          </a:prstGeom>
          <a:noFill/>
          <a:ln w="6350">
            <a:solidFill>
              <a:srgbClr val="E3E8EE"/>
            </a:solidFill>
            <a:prstDash val="solid"/>
          </a:ln>
        </p:spPr>
      </p:sp>
      <p:sp>
        <p:nvSpPr>
          <p:cNvPr id="36" name="Text 33"/>
          <p:cNvSpPr txBox="1"/>
          <p:nvPr/>
        </p:nvSpPr>
        <p:spPr>
          <a:xfrm>
            <a:off x="6606540" y="455371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310</a:t>
            </a:r>
            <a:endParaRPr lang="en-US" sz="1000" dirty="0"/>
          </a:p>
        </p:txBody>
      </p:sp>
      <p:sp>
        <p:nvSpPr>
          <p:cNvPr id="37" name="Text 34"/>
          <p:cNvSpPr txBox="1"/>
          <p:nvPr/>
        </p:nvSpPr>
        <p:spPr>
          <a:xfrm>
            <a:off x="4480560" y="441655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0</a:t>
            </a:r>
            <a:endParaRPr lang="en-US" sz="1000" dirty="0"/>
          </a:p>
        </p:txBody>
      </p:sp>
      <p:sp>
        <p:nvSpPr>
          <p:cNvPr id="38" name="arrow"/>
          <p:cNvSpPr/>
          <p:nvPr/>
        </p:nvSpPr>
        <p:spPr>
          <a:xfrm>
            <a:off x="4892040" y="3733800"/>
            <a:ext cx="2651760" cy="0"/>
          </a:xfrm>
          <a:prstGeom prst="line">
            <a:avLst/>
          </a:prstGeom>
          <a:noFill/>
          <a:ln w="6350">
            <a:solidFill>
              <a:srgbClr val="E3E8EE"/>
            </a:solidFill>
            <a:prstDash val="solid"/>
          </a:ln>
        </p:spPr>
      </p:sp>
      <p:sp>
        <p:nvSpPr>
          <p:cNvPr id="39" name="Text 36"/>
          <p:cNvSpPr txBox="1"/>
          <p:nvPr/>
        </p:nvSpPr>
        <p:spPr>
          <a:xfrm>
            <a:off x="4480560" y="362407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1</a:t>
            </a:r>
            <a:endParaRPr lang="en-US" sz="1000" dirty="0"/>
          </a:p>
        </p:txBody>
      </p:sp>
      <p:sp>
        <p:nvSpPr>
          <p:cNvPr id="40" name="arrow"/>
          <p:cNvSpPr/>
          <p:nvPr/>
        </p:nvSpPr>
        <p:spPr>
          <a:xfrm>
            <a:off x="4892040" y="2941320"/>
            <a:ext cx="2651760" cy="0"/>
          </a:xfrm>
          <a:prstGeom prst="line">
            <a:avLst/>
          </a:prstGeom>
          <a:noFill/>
          <a:ln w="6350">
            <a:solidFill>
              <a:srgbClr val="E3E8EE"/>
            </a:solidFill>
            <a:prstDash val="solid"/>
          </a:ln>
        </p:spPr>
      </p:sp>
      <p:sp>
        <p:nvSpPr>
          <p:cNvPr id="41" name="Text 38"/>
          <p:cNvSpPr txBox="1"/>
          <p:nvPr/>
        </p:nvSpPr>
        <p:spPr>
          <a:xfrm>
            <a:off x="4480560" y="283159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2</a:t>
            </a:r>
            <a:endParaRPr lang="en-US" sz="1000" dirty="0"/>
          </a:p>
        </p:txBody>
      </p:sp>
      <p:sp>
        <p:nvSpPr>
          <p:cNvPr id="42" name="Text 39"/>
          <p:cNvSpPr txBox="1"/>
          <p:nvPr/>
        </p:nvSpPr>
        <p:spPr>
          <a:xfrm>
            <a:off x="4480560" y="203911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3</a:t>
            </a:r>
            <a:endParaRPr lang="en-US" sz="1000" dirty="0"/>
          </a:p>
        </p:txBody>
      </p:sp>
      <p:sp>
        <p:nvSpPr>
          <p:cNvPr id="43" name="Text 40"/>
          <p:cNvSpPr txBox="1"/>
          <p:nvPr/>
        </p:nvSpPr>
        <p:spPr>
          <a:xfrm>
            <a:off x="4892040" y="4773168"/>
            <a:ext cx="2651760" cy="256032"/>
          </a:xfrm>
          <a:prstGeom prst="rect">
            <a:avLst/>
          </a:prstGeom>
          <a:noFill/>
          <a:ln/>
        </p:spPr>
        <p:txBody>
          <a:bodyPr wrap="square" lIns="0" tIns="0" rIns="0" bIns="0" rtlCol="0" anchor="ctr"/>
          <a:lstStyle/>
          <a:p>
            <a:pPr algn="ctr" indent="0" marL="0">
              <a:buNone/>
            </a:pPr>
            <a:r>
              <a:rPr lang="en-US" sz="1100" i="1" dirty="0">
                <a:solidFill>
                  <a:schemeClr val="accent6"/>
                </a:solidFill>
              </a:rPr>
              <a:t>θ (K)</a:t>
            </a:r>
            <a:endParaRPr lang="en-US" sz="1100" dirty="0"/>
          </a:p>
        </p:txBody>
      </p:sp>
      <p:sp>
        <p:nvSpPr>
          <p:cNvPr id="44" name="Text 41"/>
          <p:cNvSpPr txBox="1"/>
          <p:nvPr/>
        </p:nvSpPr>
        <p:spPr>
          <a:xfrm>
            <a:off x="4325112" y="1856232"/>
            <a:ext cx="2286000" cy="256032"/>
          </a:xfrm>
          <a:prstGeom prst="rect">
            <a:avLst/>
          </a:prstGeom>
          <a:noFill/>
          <a:ln/>
        </p:spPr>
        <p:txBody>
          <a:bodyPr wrap="square" lIns="0" tIns="0" rIns="0" bIns="0" rtlCol="0" anchor="ctr"/>
          <a:lstStyle/>
          <a:p>
            <a:pPr algn="l" indent="0" marL="0">
              <a:buNone/>
            </a:pPr>
            <a:r>
              <a:rPr lang="en-US" sz="1100" i="1" dirty="0">
                <a:solidFill>
                  <a:schemeClr val="accent6"/>
                </a:solidFill>
              </a:rPr>
              <a:t>z (km)</a:t>
            </a:r>
            <a:endParaRPr lang="en-US" sz="1100" dirty="0"/>
          </a:p>
        </p:txBody>
      </p:sp>
      <p:sp>
        <p:nvSpPr>
          <p:cNvPr id="45" name="arrow"/>
          <p:cNvSpPr/>
          <p:nvPr/>
        </p:nvSpPr>
        <p:spPr>
          <a:xfrm flipV="1">
            <a:off x="6217920" y="2148840"/>
            <a:ext cx="0" cy="2377440"/>
          </a:xfrm>
          <a:prstGeom prst="line">
            <a:avLst/>
          </a:prstGeom>
          <a:noFill/>
          <a:ln w="44450">
            <a:solidFill>
              <a:srgbClr val="5C6B73"/>
            </a:solidFill>
            <a:prstDash val="solid"/>
          </a:ln>
        </p:spPr>
      </p:sp>
      <p:sp>
        <p:nvSpPr>
          <p:cNvPr id="46" name="point"/>
          <p:cNvSpPr/>
          <p:nvPr/>
        </p:nvSpPr>
        <p:spPr>
          <a:xfrm>
            <a:off x="6135624" y="4047744"/>
            <a:ext cx="164592" cy="164592"/>
          </a:xfrm>
          <a:prstGeom prst="ellipse">
            <a:avLst/>
          </a:prstGeom>
          <a:solidFill>
            <a:schemeClr val="tx2"/>
          </a:solidFill>
          <a:ln/>
        </p:spPr>
      </p:sp>
      <p:sp>
        <p:nvSpPr>
          <p:cNvPr id="47" name="Text 44"/>
          <p:cNvSpPr txBox="1"/>
          <p:nvPr/>
        </p:nvSpPr>
        <p:spPr>
          <a:xfrm>
            <a:off x="6309360" y="3992880"/>
            <a:ext cx="274320" cy="274320"/>
          </a:xfrm>
          <a:prstGeom prst="rect">
            <a:avLst/>
          </a:prstGeom>
          <a:noFill/>
          <a:ln/>
        </p:spPr>
        <p:txBody>
          <a:bodyPr wrap="square" lIns="0" tIns="0" rIns="0" bIns="0" rtlCol="0" anchor="ctr"/>
          <a:lstStyle/>
          <a:p>
            <a:pPr algn="l" indent="0" marL="0">
              <a:buNone/>
            </a:pPr>
            <a:r>
              <a:rPr lang="en-US" sz="1100" b="1" dirty="0">
                <a:solidFill>
                  <a:schemeClr val="tx2"/>
                </a:solidFill>
              </a:rPr>
              <a:t>P</a:t>
            </a:r>
            <a:endParaRPr lang="en-US" sz="1100" dirty="0"/>
          </a:p>
        </p:txBody>
      </p:sp>
      <p:sp>
        <p:nvSpPr>
          <p:cNvPr id="48" name="point"/>
          <p:cNvSpPr/>
          <p:nvPr/>
        </p:nvSpPr>
        <p:spPr>
          <a:xfrm>
            <a:off x="6135624" y="3255264"/>
            <a:ext cx="164592" cy="164592"/>
          </a:xfrm>
          <a:prstGeom prst="ellipse">
            <a:avLst/>
          </a:prstGeom>
          <a:solidFill>
            <a:schemeClr val="tx2"/>
          </a:solidFill>
          <a:ln/>
        </p:spPr>
      </p:sp>
      <p:sp>
        <p:nvSpPr>
          <p:cNvPr id="49" name="Text 46"/>
          <p:cNvSpPr txBox="1"/>
          <p:nvPr/>
        </p:nvSpPr>
        <p:spPr>
          <a:xfrm>
            <a:off x="6309360" y="3200400"/>
            <a:ext cx="274320" cy="274320"/>
          </a:xfrm>
          <a:prstGeom prst="rect">
            <a:avLst/>
          </a:prstGeom>
          <a:noFill/>
          <a:ln/>
        </p:spPr>
        <p:txBody>
          <a:bodyPr wrap="square" lIns="0" tIns="0" rIns="0" bIns="0" rtlCol="0" anchor="ctr"/>
          <a:lstStyle/>
          <a:p>
            <a:pPr algn="l" indent="0" marL="0">
              <a:buNone/>
            </a:pPr>
            <a:r>
              <a:rPr lang="en-US" sz="1100" b="1" dirty="0">
                <a:solidFill>
                  <a:schemeClr val="tx2"/>
                </a:solidFill>
              </a:rPr>
              <a:t>Q</a:t>
            </a:r>
            <a:endParaRPr lang="en-US" sz="1100" dirty="0"/>
          </a:p>
        </p:txBody>
      </p:sp>
      <p:sp>
        <p:nvSpPr>
          <p:cNvPr id="50" name="point"/>
          <p:cNvSpPr/>
          <p:nvPr/>
        </p:nvSpPr>
        <p:spPr>
          <a:xfrm>
            <a:off x="6135624" y="2462784"/>
            <a:ext cx="164592" cy="164592"/>
          </a:xfrm>
          <a:prstGeom prst="ellipse">
            <a:avLst/>
          </a:prstGeom>
          <a:solidFill>
            <a:schemeClr val="tx2"/>
          </a:solidFill>
          <a:ln/>
        </p:spPr>
      </p:sp>
      <p:sp>
        <p:nvSpPr>
          <p:cNvPr id="51" name="Text 48"/>
          <p:cNvSpPr txBox="1"/>
          <p:nvPr/>
        </p:nvSpPr>
        <p:spPr>
          <a:xfrm>
            <a:off x="6309360" y="2407920"/>
            <a:ext cx="274320" cy="274320"/>
          </a:xfrm>
          <a:prstGeom prst="rect">
            <a:avLst/>
          </a:prstGeom>
          <a:noFill/>
          <a:ln/>
        </p:spPr>
        <p:txBody>
          <a:bodyPr wrap="square" lIns="0" tIns="0" rIns="0" bIns="0" rtlCol="0" anchor="ctr"/>
          <a:lstStyle/>
          <a:p>
            <a:pPr algn="l" indent="0" marL="0">
              <a:buNone/>
            </a:pPr>
            <a:r>
              <a:rPr lang="en-US" sz="1100" b="1" dirty="0">
                <a:solidFill>
                  <a:schemeClr val="tx2"/>
                </a:solidFill>
              </a:rPr>
              <a:t>R</a:t>
            </a:r>
            <a:endParaRPr lang="en-US" sz="1100" dirty="0"/>
          </a:p>
        </p:txBody>
      </p:sp>
      <p:sp>
        <p:nvSpPr>
          <p:cNvPr id="52" name="Text 49"/>
          <p:cNvSpPr txBox="1"/>
          <p:nvPr/>
        </p:nvSpPr>
        <p:spPr>
          <a:xfrm>
            <a:off x="4480560" y="5074920"/>
            <a:ext cx="3200400" cy="320040"/>
          </a:xfrm>
          <a:prstGeom prst="rect">
            <a:avLst/>
          </a:prstGeom>
          <a:noFill/>
          <a:ln/>
        </p:spPr>
        <p:txBody>
          <a:bodyPr wrap="square" lIns="0" tIns="0" rIns="0" bIns="0" rtlCol="0" anchor="ctr"/>
          <a:lstStyle/>
          <a:p>
            <a:pPr algn="ctr" indent="0" marL="0">
              <a:buNone/>
            </a:pPr>
            <a:r>
              <a:rPr lang="en-US" sz="1400" dirty="0">
                <a:solidFill>
                  <a:schemeClr val="tx1"/>
                </a:solidFill>
              </a:rPr>
              <a:t>θ constant with height</a:t>
            </a:r>
            <a:endParaRPr lang="en-US" sz="1400" dirty="0"/>
          </a:p>
        </p:txBody>
      </p:sp>
      <p:sp>
        <p:nvSpPr>
          <p:cNvPr id="53" name="tag"/>
          <p:cNvSpPr/>
          <p:nvPr/>
        </p:nvSpPr>
        <p:spPr>
          <a:xfrm>
            <a:off x="5349240" y="5486400"/>
            <a:ext cx="1463040" cy="292608"/>
          </a:xfrm>
          <a:prstGeom prst="roundRect">
            <a:avLst>
              <a:gd name="adj" fmla="val 50000"/>
            </a:avLst>
          </a:prstGeom>
          <a:solidFill>
            <a:schemeClr val="accent6"/>
          </a:solidFill>
          <a:ln/>
        </p:spPr>
      </p:sp>
      <p:sp>
        <p:nvSpPr>
          <p:cNvPr id="54" name="Text 51"/>
          <p:cNvSpPr txBox="1"/>
          <p:nvPr/>
        </p:nvSpPr>
        <p:spPr>
          <a:xfrm>
            <a:off x="5349240" y="5486400"/>
            <a:ext cx="1463040" cy="292608"/>
          </a:xfrm>
          <a:prstGeom prst="rect">
            <a:avLst/>
          </a:prstGeom>
          <a:noFill/>
          <a:ln/>
        </p:spPr>
        <p:txBody>
          <a:bodyPr wrap="square" lIns="0" tIns="0" rIns="0" bIns="0" rtlCol="0" anchor="ctr"/>
          <a:lstStyle/>
          <a:p>
            <a:pPr algn="ctr" indent="0" marL="0">
              <a:buNone/>
            </a:pPr>
            <a:r>
              <a:rPr lang="en-US" sz="1100" b="1" dirty="0">
                <a:solidFill>
                  <a:schemeClr val="bg1"/>
                </a:solidFill>
              </a:rPr>
              <a:t>NEUTRAL</a:t>
            </a:r>
            <a:endParaRPr lang="en-US" sz="1100" dirty="0"/>
          </a:p>
        </p:txBody>
      </p:sp>
      <p:sp>
        <p:nvSpPr>
          <p:cNvPr id="55" name="Text 52"/>
          <p:cNvSpPr txBox="1"/>
          <p:nvPr/>
        </p:nvSpPr>
        <p:spPr>
          <a:xfrm>
            <a:off x="4480560" y="5806440"/>
            <a:ext cx="3200400" cy="320040"/>
          </a:xfrm>
          <a:prstGeom prst="rect">
            <a:avLst/>
          </a:prstGeom>
          <a:noFill/>
          <a:ln/>
        </p:spPr>
        <p:txBody>
          <a:bodyPr wrap="square" lIns="0" tIns="0" rIns="0" bIns="0" rtlCol="0" anchor="ctr"/>
          <a:lstStyle/>
          <a:p>
            <a:pPr algn="ctr" indent="0" marL="0">
              <a:buNone/>
            </a:pPr>
            <a:r>
              <a:rPr lang="en-US" sz="1300" b="1" dirty="0">
                <a:solidFill>
                  <a:schemeClr val="accent6"/>
                </a:solidFill>
              </a:rPr>
              <a:t>θ</a:t>
            </a:r>
            <a:r>
              <a:rPr lang="en-US" sz="1300" b="1" baseline="-40000" dirty="0">
                <a:solidFill>
                  <a:schemeClr val="accent6"/>
                </a:solidFill>
              </a:rPr>
              <a:t>P</a:t>
            </a:r>
            <a:r>
              <a:rPr lang="en-US" sz="1300" b="1" dirty="0">
                <a:solidFill>
                  <a:schemeClr val="accent6"/>
                </a:solidFill>
              </a:rPr>
              <a:t> = θ</a:t>
            </a:r>
            <a:r>
              <a:rPr lang="en-US" sz="1300" b="1" baseline="-40000" dirty="0">
                <a:solidFill>
                  <a:schemeClr val="accent6"/>
                </a:solidFill>
              </a:rPr>
              <a:t>Q</a:t>
            </a:r>
            <a:r>
              <a:rPr lang="en-US" sz="1300" b="1" dirty="0">
                <a:solidFill>
                  <a:schemeClr val="accent6"/>
                </a:solidFill>
              </a:rPr>
              <a:t> = θ</a:t>
            </a:r>
            <a:r>
              <a:rPr lang="en-US" sz="1300" b="1" baseline="-40000" dirty="0">
                <a:solidFill>
                  <a:schemeClr val="accent6"/>
                </a:solidFill>
              </a:rPr>
              <a:t>R</a:t>
            </a:r>
            <a:endParaRPr lang="en-US" sz="1300" dirty="0"/>
          </a:p>
        </p:txBody>
      </p:sp>
      <p:sp>
        <p:nvSpPr>
          <p:cNvPr id="56" name="card"/>
          <p:cNvSpPr/>
          <p:nvPr/>
        </p:nvSpPr>
        <p:spPr>
          <a:xfrm>
            <a:off x="8046720" y="1371600"/>
            <a:ext cx="3566160" cy="4800600"/>
          </a:xfrm>
          <a:prstGeom prst="roundRect">
            <a:avLst>
              <a:gd name="adj" fmla="val 2051"/>
            </a:avLst>
          </a:prstGeom>
          <a:solidFill>
            <a:schemeClr val="bg2"/>
          </a:solidFill>
          <a:ln/>
          <a:effectLst>
            <a:outerShdw sx="100000" sy="100000" kx="0" ky="0" algn="bl" rotWithShape="0" blurRad="76200" dist="25400" dir="5400000">
              <a:srgbClr val="000000">
                <a:alpha val="14000"/>
              </a:srgbClr>
            </a:outerShdw>
          </a:effectLst>
        </p:spPr>
      </p:sp>
      <p:sp>
        <p:nvSpPr>
          <p:cNvPr id="57" name="Text 54"/>
          <p:cNvSpPr txBox="1"/>
          <p:nvPr/>
        </p:nvSpPr>
        <p:spPr>
          <a:xfrm>
            <a:off x="8229600" y="1463040"/>
            <a:ext cx="3200400" cy="365760"/>
          </a:xfrm>
          <a:prstGeom prst="rect">
            <a:avLst/>
          </a:prstGeom>
          <a:noFill/>
          <a:ln/>
        </p:spPr>
        <p:txBody>
          <a:bodyPr wrap="square" lIns="0" tIns="0" rIns="0" bIns="0" rtlCol="0" anchor="ctr"/>
          <a:lstStyle/>
          <a:p>
            <a:pPr algn="l" indent="0" marL="0">
              <a:buNone/>
            </a:pPr>
            <a:r>
              <a:rPr lang="en-US" sz="1600" b="1" dirty="0">
                <a:solidFill>
                  <a:schemeClr val="tx2"/>
                </a:solidFill>
              </a:rPr>
              <a:t>Case 3: DLR &lt; ALR</a:t>
            </a:r>
            <a:endParaRPr lang="en-US" sz="1600" dirty="0"/>
          </a:p>
        </p:txBody>
      </p:sp>
      <p:sp>
        <p:nvSpPr>
          <p:cNvPr id="58" name="plot area"/>
          <p:cNvSpPr/>
          <p:nvPr/>
        </p:nvSpPr>
        <p:spPr>
          <a:xfrm>
            <a:off x="8641080" y="2148840"/>
            <a:ext cx="2651760" cy="2377440"/>
          </a:xfrm>
          <a:prstGeom prst="rect">
            <a:avLst/>
          </a:prstGeom>
          <a:solidFill>
            <a:schemeClr val="bg1"/>
          </a:solidFill>
          <a:ln w="9525">
            <a:solidFill>
              <a:srgbClr val="C9D2DC"/>
            </a:solidFill>
            <a:prstDash val="solid"/>
          </a:ln>
        </p:spPr>
      </p:sp>
      <p:sp>
        <p:nvSpPr>
          <p:cNvPr id="59" name="arrow"/>
          <p:cNvSpPr/>
          <p:nvPr/>
        </p:nvSpPr>
        <p:spPr>
          <a:xfrm>
            <a:off x="9304020" y="2148840"/>
            <a:ext cx="0" cy="2377440"/>
          </a:xfrm>
          <a:prstGeom prst="line">
            <a:avLst/>
          </a:prstGeom>
          <a:noFill/>
          <a:ln w="6350">
            <a:solidFill>
              <a:srgbClr val="E3E8EE"/>
            </a:solidFill>
            <a:prstDash val="solid"/>
          </a:ln>
        </p:spPr>
      </p:sp>
      <p:sp>
        <p:nvSpPr>
          <p:cNvPr id="60" name="Text 57"/>
          <p:cNvSpPr txBox="1"/>
          <p:nvPr/>
        </p:nvSpPr>
        <p:spPr>
          <a:xfrm>
            <a:off x="9029700" y="455371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300</a:t>
            </a:r>
            <a:endParaRPr lang="en-US" sz="1000" dirty="0"/>
          </a:p>
        </p:txBody>
      </p:sp>
      <p:sp>
        <p:nvSpPr>
          <p:cNvPr id="61" name="arrow"/>
          <p:cNvSpPr/>
          <p:nvPr/>
        </p:nvSpPr>
        <p:spPr>
          <a:xfrm>
            <a:off x="10629900" y="2148840"/>
            <a:ext cx="0" cy="2377440"/>
          </a:xfrm>
          <a:prstGeom prst="line">
            <a:avLst/>
          </a:prstGeom>
          <a:noFill/>
          <a:ln w="6350">
            <a:solidFill>
              <a:srgbClr val="E3E8EE"/>
            </a:solidFill>
            <a:prstDash val="solid"/>
          </a:ln>
        </p:spPr>
      </p:sp>
      <p:sp>
        <p:nvSpPr>
          <p:cNvPr id="62" name="Text 59"/>
          <p:cNvSpPr txBox="1"/>
          <p:nvPr/>
        </p:nvSpPr>
        <p:spPr>
          <a:xfrm>
            <a:off x="10355580" y="455371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310</a:t>
            </a:r>
            <a:endParaRPr lang="en-US" sz="1000" dirty="0"/>
          </a:p>
        </p:txBody>
      </p:sp>
      <p:sp>
        <p:nvSpPr>
          <p:cNvPr id="63" name="Text 60"/>
          <p:cNvSpPr txBox="1"/>
          <p:nvPr/>
        </p:nvSpPr>
        <p:spPr>
          <a:xfrm>
            <a:off x="8229600" y="441655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0</a:t>
            </a:r>
            <a:endParaRPr lang="en-US" sz="1000" dirty="0"/>
          </a:p>
        </p:txBody>
      </p:sp>
      <p:sp>
        <p:nvSpPr>
          <p:cNvPr id="64" name="arrow"/>
          <p:cNvSpPr/>
          <p:nvPr/>
        </p:nvSpPr>
        <p:spPr>
          <a:xfrm>
            <a:off x="8641080" y="3733800"/>
            <a:ext cx="2651760" cy="0"/>
          </a:xfrm>
          <a:prstGeom prst="line">
            <a:avLst/>
          </a:prstGeom>
          <a:noFill/>
          <a:ln w="6350">
            <a:solidFill>
              <a:srgbClr val="E3E8EE"/>
            </a:solidFill>
            <a:prstDash val="solid"/>
          </a:ln>
        </p:spPr>
      </p:sp>
      <p:sp>
        <p:nvSpPr>
          <p:cNvPr id="65" name="Text 62"/>
          <p:cNvSpPr txBox="1"/>
          <p:nvPr/>
        </p:nvSpPr>
        <p:spPr>
          <a:xfrm>
            <a:off x="8229600" y="362407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1</a:t>
            </a:r>
            <a:endParaRPr lang="en-US" sz="1000" dirty="0"/>
          </a:p>
        </p:txBody>
      </p:sp>
      <p:sp>
        <p:nvSpPr>
          <p:cNvPr id="66" name="arrow"/>
          <p:cNvSpPr/>
          <p:nvPr/>
        </p:nvSpPr>
        <p:spPr>
          <a:xfrm>
            <a:off x="8641080" y="2941320"/>
            <a:ext cx="2651760" cy="0"/>
          </a:xfrm>
          <a:prstGeom prst="line">
            <a:avLst/>
          </a:prstGeom>
          <a:noFill/>
          <a:ln w="6350">
            <a:solidFill>
              <a:srgbClr val="E3E8EE"/>
            </a:solidFill>
            <a:prstDash val="solid"/>
          </a:ln>
        </p:spPr>
      </p:sp>
      <p:sp>
        <p:nvSpPr>
          <p:cNvPr id="67" name="Text 64"/>
          <p:cNvSpPr txBox="1"/>
          <p:nvPr/>
        </p:nvSpPr>
        <p:spPr>
          <a:xfrm>
            <a:off x="8229600" y="283159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2</a:t>
            </a:r>
            <a:endParaRPr lang="en-US" sz="1000" dirty="0"/>
          </a:p>
        </p:txBody>
      </p:sp>
      <p:sp>
        <p:nvSpPr>
          <p:cNvPr id="68" name="Text 65"/>
          <p:cNvSpPr txBox="1"/>
          <p:nvPr/>
        </p:nvSpPr>
        <p:spPr>
          <a:xfrm>
            <a:off x="8229600" y="203911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3</a:t>
            </a:r>
            <a:endParaRPr lang="en-US" sz="1000" dirty="0"/>
          </a:p>
        </p:txBody>
      </p:sp>
      <p:sp>
        <p:nvSpPr>
          <p:cNvPr id="69" name="Text 66"/>
          <p:cNvSpPr txBox="1"/>
          <p:nvPr/>
        </p:nvSpPr>
        <p:spPr>
          <a:xfrm>
            <a:off x="8641080" y="4773168"/>
            <a:ext cx="2651760" cy="256032"/>
          </a:xfrm>
          <a:prstGeom prst="rect">
            <a:avLst/>
          </a:prstGeom>
          <a:noFill/>
          <a:ln/>
        </p:spPr>
        <p:txBody>
          <a:bodyPr wrap="square" lIns="0" tIns="0" rIns="0" bIns="0" rtlCol="0" anchor="ctr"/>
          <a:lstStyle/>
          <a:p>
            <a:pPr algn="ctr" indent="0" marL="0">
              <a:buNone/>
            </a:pPr>
            <a:r>
              <a:rPr lang="en-US" sz="1100" i="1" dirty="0">
                <a:solidFill>
                  <a:schemeClr val="accent6"/>
                </a:solidFill>
              </a:rPr>
              <a:t>θ (K)</a:t>
            </a:r>
            <a:endParaRPr lang="en-US" sz="1100" dirty="0"/>
          </a:p>
        </p:txBody>
      </p:sp>
      <p:sp>
        <p:nvSpPr>
          <p:cNvPr id="70" name="Text 67"/>
          <p:cNvSpPr txBox="1"/>
          <p:nvPr/>
        </p:nvSpPr>
        <p:spPr>
          <a:xfrm>
            <a:off x="8074152" y="1856232"/>
            <a:ext cx="2286000" cy="256032"/>
          </a:xfrm>
          <a:prstGeom prst="rect">
            <a:avLst/>
          </a:prstGeom>
          <a:noFill/>
          <a:ln/>
        </p:spPr>
        <p:txBody>
          <a:bodyPr wrap="square" lIns="0" tIns="0" rIns="0" bIns="0" rtlCol="0" anchor="ctr"/>
          <a:lstStyle/>
          <a:p>
            <a:pPr algn="l" indent="0" marL="0">
              <a:buNone/>
            </a:pPr>
            <a:r>
              <a:rPr lang="en-US" sz="1100" i="1" dirty="0">
                <a:solidFill>
                  <a:schemeClr val="accent6"/>
                </a:solidFill>
              </a:rPr>
              <a:t>z (km)</a:t>
            </a:r>
            <a:endParaRPr lang="en-US" sz="1100" dirty="0"/>
          </a:p>
        </p:txBody>
      </p:sp>
      <p:sp>
        <p:nvSpPr>
          <p:cNvPr id="71" name="arrow"/>
          <p:cNvSpPr/>
          <p:nvPr/>
        </p:nvSpPr>
        <p:spPr>
          <a:xfrm flipH="1" flipV="1">
            <a:off x="9171432" y="2148840"/>
            <a:ext cx="1458468" cy="2377440"/>
          </a:xfrm>
          <a:prstGeom prst="line">
            <a:avLst/>
          </a:prstGeom>
          <a:noFill/>
          <a:ln w="44450">
            <a:solidFill>
              <a:srgbClr val="D1495B"/>
            </a:solidFill>
            <a:prstDash val="solid"/>
          </a:ln>
        </p:spPr>
      </p:sp>
      <p:sp>
        <p:nvSpPr>
          <p:cNvPr id="72" name="point"/>
          <p:cNvSpPr/>
          <p:nvPr/>
        </p:nvSpPr>
        <p:spPr>
          <a:xfrm>
            <a:off x="10304526" y="4047744"/>
            <a:ext cx="164592" cy="164592"/>
          </a:xfrm>
          <a:prstGeom prst="ellipse">
            <a:avLst/>
          </a:prstGeom>
          <a:solidFill>
            <a:schemeClr val="tx2"/>
          </a:solidFill>
          <a:ln/>
        </p:spPr>
      </p:sp>
      <p:sp>
        <p:nvSpPr>
          <p:cNvPr id="73" name="Text 70"/>
          <p:cNvSpPr txBox="1"/>
          <p:nvPr/>
        </p:nvSpPr>
        <p:spPr>
          <a:xfrm>
            <a:off x="10478262" y="3992880"/>
            <a:ext cx="274320" cy="274320"/>
          </a:xfrm>
          <a:prstGeom prst="rect">
            <a:avLst/>
          </a:prstGeom>
          <a:noFill/>
          <a:ln/>
        </p:spPr>
        <p:txBody>
          <a:bodyPr wrap="square" lIns="0" tIns="0" rIns="0" bIns="0" rtlCol="0" anchor="ctr"/>
          <a:lstStyle/>
          <a:p>
            <a:pPr algn="l" indent="0" marL="0">
              <a:buNone/>
            </a:pPr>
            <a:r>
              <a:rPr lang="en-US" sz="1100" b="1" dirty="0">
                <a:solidFill>
                  <a:schemeClr val="tx2"/>
                </a:solidFill>
              </a:rPr>
              <a:t>P</a:t>
            </a:r>
            <a:endParaRPr lang="en-US" sz="1100" dirty="0"/>
          </a:p>
        </p:txBody>
      </p:sp>
      <p:sp>
        <p:nvSpPr>
          <p:cNvPr id="74" name="point"/>
          <p:cNvSpPr/>
          <p:nvPr/>
        </p:nvSpPr>
        <p:spPr>
          <a:xfrm>
            <a:off x="9818370" y="3255264"/>
            <a:ext cx="164592" cy="164592"/>
          </a:xfrm>
          <a:prstGeom prst="ellipse">
            <a:avLst/>
          </a:prstGeom>
          <a:solidFill>
            <a:schemeClr val="tx2"/>
          </a:solidFill>
          <a:ln/>
        </p:spPr>
      </p:sp>
      <p:sp>
        <p:nvSpPr>
          <p:cNvPr id="75" name="Text 72"/>
          <p:cNvSpPr txBox="1"/>
          <p:nvPr/>
        </p:nvSpPr>
        <p:spPr>
          <a:xfrm>
            <a:off x="9992106" y="3200400"/>
            <a:ext cx="274320" cy="274320"/>
          </a:xfrm>
          <a:prstGeom prst="rect">
            <a:avLst/>
          </a:prstGeom>
          <a:noFill/>
          <a:ln/>
        </p:spPr>
        <p:txBody>
          <a:bodyPr wrap="square" lIns="0" tIns="0" rIns="0" bIns="0" rtlCol="0" anchor="ctr"/>
          <a:lstStyle/>
          <a:p>
            <a:pPr algn="l" indent="0" marL="0">
              <a:buNone/>
            </a:pPr>
            <a:r>
              <a:rPr lang="en-US" sz="1100" b="1" dirty="0">
                <a:solidFill>
                  <a:schemeClr val="tx2"/>
                </a:solidFill>
              </a:rPr>
              <a:t>Q</a:t>
            </a:r>
            <a:endParaRPr lang="en-US" sz="1100" dirty="0"/>
          </a:p>
        </p:txBody>
      </p:sp>
      <p:sp>
        <p:nvSpPr>
          <p:cNvPr id="76" name="point"/>
          <p:cNvSpPr/>
          <p:nvPr/>
        </p:nvSpPr>
        <p:spPr>
          <a:xfrm>
            <a:off x="9332214" y="2462784"/>
            <a:ext cx="164592" cy="164592"/>
          </a:xfrm>
          <a:prstGeom prst="ellipse">
            <a:avLst/>
          </a:prstGeom>
          <a:solidFill>
            <a:schemeClr val="tx2"/>
          </a:solidFill>
          <a:ln/>
        </p:spPr>
      </p:sp>
      <p:sp>
        <p:nvSpPr>
          <p:cNvPr id="77" name="Text 74"/>
          <p:cNvSpPr txBox="1"/>
          <p:nvPr/>
        </p:nvSpPr>
        <p:spPr>
          <a:xfrm>
            <a:off x="9505950" y="2407920"/>
            <a:ext cx="274320" cy="274320"/>
          </a:xfrm>
          <a:prstGeom prst="rect">
            <a:avLst/>
          </a:prstGeom>
          <a:noFill/>
          <a:ln/>
        </p:spPr>
        <p:txBody>
          <a:bodyPr wrap="square" lIns="0" tIns="0" rIns="0" bIns="0" rtlCol="0" anchor="ctr"/>
          <a:lstStyle/>
          <a:p>
            <a:pPr algn="l" indent="0" marL="0">
              <a:buNone/>
            </a:pPr>
            <a:r>
              <a:rPr lang="en-US" sz="1100" b="1" dirty="0">
                <a:solidFill>
                  <a:schemeClr val="tx2"/>
                </a:solidFill>
              </a:rPr>
              <a:t>R</a:t>
            </a:r>
            <a:endParaRPr lang="en-US" sz="1100" dirty="0"/>
          </a:p>
        </p:txBody>
      </p:sp>
      <p:sp>
        <p:nvSpPr>
          <p:cNvPr id="78" name="Text 75"/>
          <p:cNvSpPr txBox="1"/>
          <p:nvPr/>
        </p:nvSpPr>
        <p:spPr>
          <a:xfrm>
            <a:off x="8229600" y="5074920"/>
            <a:ext cx="3200400" cy="320040"/>
          </a:xfrm>
          <a:prstGeom prst="rect">
            <a:avLst/>
          </a:prstGeom>
          <a:noFill/>
          <a:ln/>
        </p:spPr>
        <p:txBody>
          <a:bodyPr wrap="square" lIns="0" tIns="0" rIns="0" bIns="0" rtlCol="0" anchor="ctr"/>
          <a:lstStyle/>
          <a:p>
            <a:pPr algn="ctr" indent="0" marL="0">
              <a:buNone/>
            </a:pPr>
            <a:r>
              <a:rPr lang="en-US" sz="1400" dirty="0">
                <a:solidFill>
                  <a:schemeClr val="tx1"/>
                </a:solidFill>
              </a:rPr>
              <a:t>θ decreases upward</a:t>
            </a:r>
            <a:endParaRPr lang="en-US" sz="1400" dirty="0"/>
          </a:p>
        </p:txBody>
      </p:sp>
      <p:sp>
        <p:nvSpPr>
          <p:cNvPr id="79" name="tag"/>
          <p:cNvSpPr/>
          <p:nvPr/>
        </p:nvSpPr>
        <p:spPr>
          <a:xfrm>
            <a:off x="9098280" y="5486400"/>
            <a:ext cx="1463040" cy="292608"/>
          </a:xfrm>
          <a:prstGeom prst="roundRect">
            <a:avLst>
              <a:gd name="adj" fmla="val 50000"/>
            </a:avLst>
          </a:prstGeom>
          <a:solidFill>
            <a:schemeClr val="accent1"/>
          </a:solidFill>
          <a:ln/>
        </p:spPr>
      </p:sp>
      <p:sp>
        <p:nvSpPr>
          <p:cNvPr id="80" name="Text 77"/>
          <p:cNvSpPr txBox="1"/>
          <p:nvPr/>
        </p:nvSpPr>
        <p:spPr>
          <a:xfrm>
            <a:off x="9098280" y="5486400"/>
            <a:ext cx="1463040" cy="292608"/>
          </a:xfrm>
          <a:prstGeom prst="rect">
            <a:avLst/>
          </a:prstGeom>
          <a:noFill/>
          <a:ln/>
        </p:spPr>
        <p:txBody>
          <a:bodyPr wrap="square" lIns="0" tIns="0" rIns="0" bIns="0" rtlCol="0" anchor="ctr"/>
          <a:lstStyle/>
          <a:p>
            <a:pPr algn="ctr" indent="0" marL="0">
              <a:buNone/>
            </a:pPr>
            <a:r>
              <a:rPr lang="en-US" sz="1100" b="1" dirty="0">
                <a:solidFill>
                  <a:schemeClr val="bg1"/>
                </a:solidFill>
              </a:rPr>
              <a:t>UNSTABLE</a:t>
            </a:r>
            <a:endParaRPr lang="en-US" sz="1100" dirty="0"/>
          </a:p>
        </p:txBody>
      </p:sp>
      <p:sp>
        <p:nvSpPr>
          <p:cNvPr id="81" name="Text 78"/>
          <p:cNvSpPr txBox="1"/>
          <p:nvPr/>
        </p:nvSpPr>
        <p:spPr>
          <a:xfrm>
            <a:off x="8229600" y="5806440"/>
            <a:ext cx="3200400" cy="320040"/>
          </a:xfrm>
          <a:prstGeom prst="rect">
            <a:avLst/>
          </a:prstGeom>
          <a:noFill/>
          <a:ln/>
        </p:spPr>
        <p:txBody>
          <a:bodyPr wrap="square" lIns="0" tIns="0" rIns="0" bIns="0" rtlCol="0" anchor="ctr"/>
          <a:lstStyle/>
          <a:p>
            <a:pPr algn="ctr" indent="0" marL="0">
              <a:buNone/>
            </a:pPr>
            <a:r>
              <a:rPr lang="en-US" sz="1300" b="1" dirty="0">
                <a:solidFill>
                  <a:schemeClr val="accent1"/>
                </a:solidFill>
              </a:rPr>
              <a:t>θ</a:t>
            </a:r>
            <a:r>
              <a:rPr lang="en-US" sz="1300" b="1" baseline="-40000" dirty="0">
                <a:solidFill>
                  <a:schemeClr val="accent1"/>
                </a:solidFill>
              </a:rPr>
              <a:t>P</a:t>
            </a:r>
            <a:r>
              <a:rPr lang="en-US" sz="1300" b="1" dirty="0">
                <a:solidFill>
                  <a:schemeClr val="accent1"/>
                </a:solidFill>
              </a:rPr>
              <a:t> &gt; θ</a:t>
            </a:r>
            <a:r>
              <a:rPr lang="en-US" sz="1300" b="1" baseline="-40000" dirty="0">
                <a:solidFill>
                  <a:schemeClr val="accent1"/>
                </a:solidFill>
              </a:rPr>
              <a:t>Q</a:t>
            </a:r>
            <a:r>
              <a:rPr lang="en-US" sz="1300" b="1" dirty="0">
                <a:solidFill>
                  <a:schemeClr val="accent1"/>
                </a:solidFill>
              </a:rPr>
              <a:t> &gt; θ</a:t>
            </a:r>
            <a:r>
              <a:rPr lang="en-US" sz="1300" b="1" baseline="-40000" dirty="0">
                <a:solidFill>
                  <a:schemeClr val="accent1"/>
                </a:solidFill>
              </a:rPr>
              <a:t>R</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Beyond θ: equivalent and wet-bulb potential temperature</a:t>
            </a:r>
            <a:endParaRPr lang="en-US" sz="3200" dirty="0"/>
          </a:p>
        </p:txBody>
      </p:sp>
      <p:sp>
        <p:nvSpPr>
          <p:cNvPr id="4" name="card"/>
          <p:cNvSpPr/>
          <p:nvPr/>
        </p:nvSpPr>
        <p:spPr>
          <a:xfrm>
            <a:off x="548640" y="1371600"/>
            <a:ext cx="5440680" cy="1188720"/>
          </a:xfrm>
          <a:prstGeom prst="roundRect">
            <a:avLst>
              <a:gd name="adj" fmla="val 6154"/>
            </a:avLst>
          </a:prstGeom>
          <a:solidFill>
            <a:schemeClr val="accent5"/>
          </a:solidFill>
          <a:ln/>
          <a:effectLst>
            <a:outerShdw sx="100000" sy="100000" kx="0" ky="0" algn="bl" rotWithShape="0" blurRad="76200" dist="25400" dir="5400000">
              <a:srgbClr val="000000">
                <a:alpha val="14000"/>
              </a:srgbClr>
            </a:outerShdw>
          </a:effectLst>
        </p:spPr>
      </p:sp>
      <p:sp>
        <p:nvSpPr>
          <p:cNvPr id="5" name="Text 2"/>
          <p:cNvSpPr txBox="1"/>
          <p:nvPr/>
        </p:nvSpPr>
        <p:spPr>
          <a:xfrm>
            <a:off x="685800" y="1371600"/>
            <a:ext cx="5166360" cy="1188720"/>
          </a:xfrm>
          <a:prstGeom prst="rect">
            <a:avLst/>
          </a:prstGeom>
          <a:noFill/>
          <a:ln/>
        </p:spPr>
        <p:txBody>
          <a:bodyPr wrap="square" lIns="0" tIns="0" rIns="0" bIns="0" rtlCol="0" anchor="ctr"/>
          <a:lstStyle/>
          <a:p>
            <a:pPr algn="ctr" indent="0" marL="0">
              <a:buNone/>
            </a:pPr>
            <a:r>
              <a:rPr lang="en-US" sz="2100" b="1" dirty="0">
                <a:solidFill>
                  <a:schemeClr val="bg1"/>
                </a:solidFill>
              </a:rPr>
              <a:t>θ</a:t>
            </a:r>
            <a:r>
              <a:rPr lang="en-US" sz="2100" b="1" baseline="-40000" dirty="0">
                <a:solidFill>
                  <a:schemeClr val="bg1"/>
                </a:solidFill>
              </a:rPr>
              <a:t>e</a:t>
            </a:r>
            <a:r>
              <a:rPr lang="en-US" sz="2100" b="1" dirty="0">
                <a:solidFill>
                  <a:schemeClr val="bg1"/>
                </a:solidFill>
              </a:rPr>
              <a:t> ≈ θ · exp( L</a:t>
            </a:r>
            <a:r>
              <a:rPr lang="en-US" sz="2100" b="1" baseline="-40000" dirty="0">
                <a:solidFill>
                  <a:schemeClr val="bg1"/>
                </a:solidFill>
              </a:rPr>
              <a:t>v</a:t>
            </a:r>
            <a:r>
              <a:rPr lang="en-US" sz="2100" b="1" dirty="0">
                <a:solidFill>
                  <a:schemeClr val="bg1"/>
                </a:solidFill>
              </a:rPr>
              <a:t> r / (c</a:t>
            </a:r>
            <a:r>
              <a:rPr lang="en-US" sz="2100" b="1" baseline="-40000" dirty="0">
                <a:solidFill>
                  <a:schemeClr val="bg1"/>
                </a:solidFill>
              </a:rPr>
              <a:t>p</a:t>
            </a:r>
            <a:r>
              <a:rPr lang="en-US" sz="2100" b="1" dirty="0">
                <a:solidFill>
                  <a:schemeClr val="bg1"/>
                </a:solidFill>
              </a:rPr>
              <a:t> T</a:t>
            </a:r>
            <a:r>
              <a:rPr lang="en-US" sz="2100" b="1" baseline="-40000" dirty="0">
                <a:solidFill>
                  <a:schemeClr val="bg1"/>
                </a:solidFill>
              </a:rPr>
              <a:t>LCL</a:t>
            </a:r>
            <a:r>
              <a:rPr lang="en-US" sz="2100" b="1" dirty="0">
                <a:solidFill>
                  <a:schemeClr val="bg1"/>
                </a:solidFill>
              </a:rPr>
              <a:t>) )</a:t>
            </a:r>
            <a:endParaRPr lang="en-US" sz="2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199632" y="1371600"/>
          <a:ext cx="5440680" cy="914400"/>
        </p:xfrm>
        <a:graphic>
          <a:graphicData uri="http://schemas.openxmlformats.org/drawingml/2006/table">
            <a:tbl>
              <a:tblPr/>
              <a:tblGrid>
                <a:gridCol w="1097280"/>
                <a:gridCol w="2011680"/>
                <a:gridCol w="2331720"/>
              </a:tblGrid>
              <a:tr h="502920">
                <a:tc>
                  <a:txBody>
                    <a:bodyPr/>
                    <a:lstStyle/>
                    <a:p>
                      <a:pPr indent="0" marL="0">
                        <a:buNone/>
                      </a:pPr>
                      <a:r>
                        <a:rPr lang="en-US" sz="1300" b="1" dirty="0">
                          <a:solidFill>
                            <a:schemeClr val="bg1"/>
                          </a:solidFill>
                        </a:rPr>
                        <a:t>Quantity</a:t>
                      </a:r>
                      <a:endParaRPr lang="en-US" sz="13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Conserved in</a:t>
                      </a:r>
                      <a:endParaRPr lang="en-US" sz="13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Main use</a:t>
                      </a:r>
                      <a:endParaRPr lang="en-US" sz="13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502920">
                <a:tc>
                  <a:txBody>
                    <a:bodyPr/>
                    <a:lstStyle/>
                    <a:p>
                      <a:pPr indent="0" marL="0">
                        <a:buNone/>
                      </a:pPr>
                      <a:r>
                        <a:rPr lang="en-US" sz="1300" b="1" dirty="0">
                          <a:solidFill>
                            <a:schemeClr val="accent5"/>
                          </a:solidFill>
                        </a:rPr>
                        <a:t>θ</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dry adiabatic only</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unsaturated air; dry stability</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accent5"/>
                          </a:solidFill>
                        </a:rPr>
                        <a:t>θ</a:t>
                      </a:r>
                      <a:r>
                        <a:rPr lang="en-US" sz="1300" b="1" baseline="-40000" dirty="0">
                          <a:solidFill>
                            <a:schemeClr val="accent5"/>
                          </a:solidFill>
                        </a:rPr>
                        <a:t>e</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dry and moist adiabatic</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air-mass label; convective instability</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accent5"/>
                          </a:solidFill>
                        </a:rPr>
                        <a:t>θ</a:t>
                      </a:r>
                      <a:r>
                        <a:rPr lang="en-US" sz="1300" b="1" baseline="-40000" dirty="0">
                          <a:solidFill>
                            <a:schemeClr val="accent5"/>
                          </a:solidFill>
                        </a:rPr>
                        <a:t>w</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dry and moist adiabatic</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air-mass label on tephigrams</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bl>
          </a:graphicData>
        </a:graphic>
      </p:graphicFrame>
      <p:sp>
        <p:nvSpPr>
          <p:cNvPr id="7" name="card"/>
          <p:cNvSpPr/>
          <p:nvPr/>
        </p:nvSpPr>
        <p:spPr>
          <a:xfrm>
            <a:off x="548640" y="2788920"/>
            <a:ext cx="5440680" cy="3383280"/>
          </a:xfrm>
          <a:prstGeom prst="roundRect">
            <a:avLst>
              <a:gd name="adj" fmla="val 2162"/>
            </a:avLst>
          </a:prstGeom>
          <a:solidFill>
            <a:schemeClr val="bg2"/>
          </a:solidFill>
          <a:ln/>
          <a:effectLst>
            <a:outerShdw sx="100000" sy="100000" kx="0" ky="0" algn="bl" rotWithShape="0" blurRad="76200" dist="25400" dir="5400000">
              <a:srgbClr val="000000">
                <a:alpha val="14000"/>
              </a:srgbClr>
            </a:outerShdw>
          </a:effectLst>
        </p:spPr>
      </p:sp>
      <p:sp>
        <p:nvSpPr>
          <p:cNvPr id="8" name="icon circle"/>
          <p:cNvSpPr/>
          <p:nvPr/>
        </p:nvSpPr>
        <p:spPr>
          <a:xfrm>
            <a:off x="731520" y="2944368"/>
            <a:ext cx="420624" cy="420624"/>
          </a:xfrm>
          <a:prstGeom prst="ellipse">
            <a:avLst/>
          </a:prstGeom>
          <a:solidFill>
            <a:schemeClr val="accent5"/>
          </a:solidFill>
          <a:ln/>
        </p:spPr>
      </p:sp>
      <p:pic>
        <p:nvPicPr>
          <p:cNvPr id="9" name="Image 0" descr="ChartLine icon">    </p:cNvPr>
          <p:cNvPicPr>
            <a:picLocks noChangeAspect="1"/>
          </p:cNvPicPr>
          <p:nvPr/>
        </p:nvPicPr>
        <p:blipFill>
          <a:blip r:embed="rId1"/>
          <a:stretch>
            <a:fillRect/>
          </a:stretch>
        </p:blipFill>
        <p:spPr>
          <a:xfrm>
            <a:off x="840882" y="3053730"/>
            <a:ext cx="201900" cy="201900"/>
          </a:xfrm>
          <a:prstGeom prst="rect">
            <a:avLst/>
          </a:prstGeom>
        </p:spPr>
      </p:pic>
      <p:sp>
        <p:nvSpPr>
          <p:cNvPr id="10" name="Text 5"/>
          <p:cNvSpPr txBox="1"/>
          <p:nvPr/>
        </p:nvSpPr>
        <p:spPr>
          <a:xfrm>
            <a:off x="1261872" y="292608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Reading θe profiles</a:t>
            </a:r>
            <a:endParaRPr lang="en-US" sz="1600" dirty="0"/>
          </a:p>
        </p:txBody>
      </p:sp>
      <p:sp>
        <p:nvSpPr>
          <p:cNvPr id="11" name="Text 6"/>
          <p:cNvSpPr txBox="1"/>
          <p:nvPr/>
        </p:nvSpPr>
        <p:spPr>
          <a:xfrm>
            <a:off x="731520" y="3474720"/>
            <a:ext cx="5074920" cy="260604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dθe/dz &lt; 0</a:t>
            </a:r>
            <a:r>
              <a:rPr lang="en-US" sz="1300" dirty="0">
                <a:solidFill>
                  <a:schemeClr val="tx1"/>
                </a:solidFill>
              </a:rPr>
              <a:t> in a layer → potentially (convectively) unstable: lifting the whole layer makes it unstable</a:t>
            </a:r>
            <a:endParaRPr lang="en-US" sz="1300" dirty="0"/>
          </a:p>
          <a:p>
            <a:pPr marL="177800" indent="-177800">
              <a:spcAft>
                <a:spcPts val="400"/>
              </a:spcAft>
              <a:buSzPct val="100000"/>
              <a:buChar char="•"/>
            </a:pPr>
            <a:r>
              <a:rPr lang="en-US" sz="1300" dirty="0">
                <a:solidFill>
                  <a:schemeClr val="tx1"/>
                </a:solidFill>
              </a:rPr>
              <a:t>Typical before thunderstorms: warm moist air below, dry air above</a:t>
            </a:r>
            <a:endParaRPr lang="en-US" sz="1300" dirty="0"/>
          </a:p>
          <a:p>
            <a:pPr marL="177800" indent="-177800">
              <a:spcAft>
                <a:spcPts val="400"/>
              </a:spcAft>
              <a:buSzPct val="100000"/>
              <a:buChar char="•"/>
            </a:pPr>
            <a:r>
              <a:rPr lang="en-US" sz="1300" dirty="0">
                <a:solidFill>
                  <a:schemeClr val="tx1"/>
                </a:solidFill>
              </a:rPr>
              <a:t>Monsoon onset: surface θe over India rises to ≈ 350 K (approx.)</a:t>
            </a:r>
            <a:endParaRPr lang="en-US" sz="1300" dirty="0"/>
          </a:p>
        </p:txBody>
      </p:sp>
      <p:sp>
        <p:nvSpPr>
          <p:cNvPr id="12" name="card"/>
          <p:cNvSpPr/>
          <p:nvPr/>
        </p:nvSpPr>
        <p:spPr>
          <a:xfrm>
            <a:off x="6199632" y="3611880"/>
            <a:ext cx="5440680" cy="2560320"/>
          </a:xfrm>
          <a:prstGeom prst="roundRect">
            <a:avLst>
              <a:gd name="adj" fmla="val 2857"/>
            </a:avLst>
          </a:prstGeom>
          <a:solidFill>
            <a:schemeClr val="bg2"/>
          </a:solidFill>
          <a:ln/>
          <a:effectLst>
            <a:outerShdw sx="100000" sy="100000" kx="0" ky="0" algn="bl" rotWithShape="0" blurRad="76200" dist="25400" dir="5400000">
              <a:srgbClr val="000000">
                <a:alpha val="14000"/>
              </a:srgbClr>
            </a:outerShdw>
          </a:effectLst>
        </p:spPr>
      </p:sp>
      <p:sp>
        <p:nvSpPr>
          <p:cNvPr id="13" name="icon circle"/>
          <p:cNvSpPr/>
          <p:nvPr/>
        </p:nvSpPr>
        <p:spPr>
          <a:xfrm>
            <a:off x="6382512" y="3767328"/>
            <a:ext cx="420624" cy="420624"/>
          </a:xfrm>
          <a:prstGeom prst="ellipse">
            <a:avLst/>
          </a:prstGeom>
          <a:solidFill>
            <a:schemeClr val="accent3"/>
          </a:solidFill>
          <a:ln/>
        </p:spPr>
      </p:sp>
      <p:pic>
        <p:nvPicPr>
          <p:cNvPr id="14" name="Image 1" descr="Lightbulb icon">    </p:cNvPr>
          <p:cNvPicPr>
            <a:picLocks noChangeAspect="1"/>
          </p:cNvPicPr>
          <p:nvPr/>
        </p:nvPicPr>
        <p:blipFill>
          <a:blip r:embed="rId2"/>
          <a:stretch>
            <a:fillRect/>
          </a:stretch>
        </p:blipFill>
        <p:spPr>
          <a:xfrm>
            <a:off x="6491874" y="3876690"/>
            <a:ext cx="201900" cy="201900"/>
          </a:xfrm>
          <a:prstGeom prst="rect">
            <a:avLst/>
          </a:prstGeom>
        </p:spPr>
      </p:pic>
      <p:sp>
        <p:nvSpPr>
          <p:cNvPr id="15" name="Text 9"/>
          <p:cNvSpPr txBox="1"/>
          <p:nvPr/>
        </p:nvSpPr>
        <p:spPr>
          <a:xfrm>
            <a:off x="6912864" y="374904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Remember</a:t>
            </a:r>
            <a:endParaRPr lang="en-US" sz="1600" dirty="0"/>
          </a:p>
        </p:txBody>
      </p:sp>
      <p:sp>
        <p:nvSpPr>
          <p:cNvPr id="16" name="Text 10"/>
          <p:cNvSpPr txBox="1"/>
          <p:nvPr/>
        </p:nvSpPr>
        <p:spPr>
          <a:xfrm>
            <a:off x="6382512" y="4297680"/>
            <a:ext cx="5074920" cy="17830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θ: conserved until condensation starts</a:t>
            </a:r>
            <a:endParaRPr lang="en-US" sz="1300" dirty="0"/>
          </a:p>
          <a:p>
            <a:pPr marL="177800" indent="-177800">
              <a:spcAft>
                <a:spcPts val="400"/>
              </a:spcAft>
              <a:buSzPct val="100000"/>
              <a:buChar char="•"/>
            </a:pPr>
            <a:r>
              <a:rPr lang="en-US" sz="1300" dirty="0">
                <a:solidFill>
                  <a:schemeClr val="tx1"/>
                </a:solidFill>
              </a:rPr>
              <a:t>θ</a:t>
            </a:r>
            <a:r>
              <a:rPr lang="en-US" sz="1300" baseline="-40000" dirty="0">
                <a:solidFill>
                  <a:schemeClr val="tx1"/>
                </a:solidFill>
              </a:rPr>
              <a:t>e</a:t>
            </a:r>
            <a:r>
              <a:rPr lang="en-US" sz="1300" dirty="0">
                <a:solidFill>
                  <a:schemeClr val="tx1"/>
                </a:solidFill>
              </a:rPr>
              <a:t>: conserved even through condensation (no mixing, no precipitation fallout assumed)</a:t>
            </a:r>
            <a:endParaRPr lang="en-US" sz="1300" dirty="0"/>
          </a:p>
          <a:p>
            <a:pPr marL="177800" indent="-177800">
              <a:spcAft>
                <a:spcPts val="400"/>
              </a:spcAft>
              <a:buSzPct val="100000"/>
              <a:buChar char="•"/>
            </a:pPr>
            <a:r>
              <a:rPr lang="en-US" sz="1300" dirty="0">
                <a:solidFill>
                  <a:schemeClr val="tx1"/>
                </a:solidFill>
              </a:rPr>
              <a:t>Saturated adiabats on the chart = lines of constant θ</a:t>
            </a:r>
            <a:r>
              <a:rPr lang="en-US" sz="1300" baseline="-40000" dirty="0">
                <a:solidFill>
                  <a:schemeClr val="tx1"/>
                </a:solidFill>
              </a:rPr>
              <a:t>e</a:t>
            </a:r>
            <a:r>
              <a:rPr lang="en-US" sz="1300" dirty="0">
                <a:solidFill>
                  <a:schemeClr val="tx1"/>
                </a:solidFill>
              </a:rPr>
              <a:t> / θ</a:t>
            </a:r>
            <a:r>
              <a:rPr lang="en-US" sz="1300" baseline="-40000" dirty="0">
                <a:solidFill>
                  <a:schemeClr val="tx1"/>
                </a:solidFill>
              </a:rPr>
              <a:t>w</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Atmospheric stability</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Will a displaced parcel return, keep going, or stay put? The parcel method, five stability cases and their criteria</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07</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What is atmospheric stability?</a:t>
            </a:r>
            <a:endParaRPr lang="en-US" sz="3200" dirty="0"/>
          </a:p>
        </p:txBody>
      </p:sp>
      <p:sp>
        <p:nvSpPr>
          <p:cNvPr id="4" name="card"/>
          <p:cNvSpPr/>
          <p:nvPr/>
        </p:nvSpPr>
        <p:spPr>
          <a:xfrm>
            <a:off x="548640" y="1371600"/>
            <a:ext cx="3566160" cy="3108960"/>
          </a:xfrm>
          <a:prstGeom prst="roundRect">
            <a:avLst>
              <a:gd name="adj" fmla="val 2353"/>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731520" y="1481328"/>
            <a:ext cx="3200400" cy="365760"/>
          </a:xfrm>
          <a:prstGeom prst="rect">
            <a:avLst/>
          </a:prstGeom>
          <a:noFill/>
          <a:ln/>
        </p:spPr>
        <p:txBody>
          <a:bodyPr wrap="square" lIns="0" tIns="0" rIns="0" bIns="0" rtlCol="0" anchor="ctr"/>
          <a:lstStyle/>
          <a:p>
            <a:pPr algn="l" indent="0" marL="0">
              <a:buNone/>
            </a:pPr>
            <a:r>
              <a:rPr lang="en-US" sz="1800" b="1" dirty="0">
                <a:solidFill>
                  <a:schemeClr val="accent2"/>
                </a:solidFill>
              </a:rPr>
              <a:t>STABLE</a:t>
            </a:r>
            <a:endParaRPr lang="en-US" sz="1800" dirty="0"/>
          </a:p>
        </p:txBody>
      </p:sp>
      <p:sp>
        <p:nvSpPr>
          <p:cNvPr id="6" name="shaded area"/>
          <p:cNvSpPr/>
          <p:nvPr/>
        </p:nvSpPr>
        <p:spPr>
          <a:xfrm>
            <a:off x="868680" y="2267712"/>
            <a:ext cx="2926080" cy="1664208"/>
          </a:xfrm>
          <a:custGeom>
            <a:avLst/>
            <a:gdLst/>
            <a:ahLst/>
            <a:cxnLst/>
            <a:rect l="l" t="t" r="r" b="b"/>
            <a:pathLst>
              <a:path w="2926080" h="1664208">
                <a:moveTo>
                  <a:pt x="0" y="0"/>
                </a:moveTo>
                <a:lnTo>
                  <a:pt x="146304" y="281452"/>
                </a:lnTo>
                <a:lnTo>
                  <a:pt x="292608" y="533278"/>
                </a:lnTo>
                <a:lnTo>
                  <a:pt x="438912" y="755477"/>
                </a:lnTo>
                <a:lnTo>
                  <a:pt x="585216" y="948050"/>
                </a:lnTo>
                <a:lnTo>
                  <a:pt x="731520" y="1110996"/>
                </a:lnTo>
                <a:lnTo>
                  <a:pt x="877824" y="1244316"/>
                </a:lnTo>
                <a:lnTo>
                  <a:pt x="1024128" y="1348008"/>
                </a:lnTo>
                <a:lnTo>
                  <a:pt x="1170432" y="1422075"/>
                </a:lnTo>
                <a:lnTo>
                  <a:pt x="1316736" y="1466515"/>
                </a:lnTo>
                <a:lnTo>
                  <a:pt x="1463040" y="1481328"/>
                </a:lnTo>
                <a:lnTo>
                  <a:pt x="1609344" y="1466515"/>
                </a:lnTo>
                <a:lnTo>
                  <a:pt x="1755648" y="1422075"/>
                </a:lnTo>
                <a:lnTo>
                  <a:pt x="1901952" y="1348008"/>
                </a:lnTo>
                <a:lnTo>
                  <a:pt x="2048256" y="1244316"/>
                </a:lnTo>
                <a:lnTo>
                  <a:pt x="2194560" y="1110996"/>
                </a:lnTo>
                <a:lnTo>
                  <a:pt x="2340864" y="948050"/>
                </a:lnTo>
                <a:lnTo>
                  <a:pt x="2487168" y="755477"/>
                </a:lnTo>
                <a:lnTo>
                  <a:pt x="2633472" y="533278"/>
                </a:lnTo>
                <a:lnTo>
                  <a:pt x="2779776" y="281452"/>
                </a:lnTo>
                <a:lnTo>
                  <a:pt x="2926080" y="0"/>
                </a:lnTo>
                <a:lnTo>
                  <a:pt x="2926080" y="1664208"/>
                </a:lnTo>
                <a:lnTo>
                  <a:pt x="0" y="1664208"/>
                </a:lnTo>
                <a:close/>
              </a:path>
            </a:pathLst>
          </a:custGeom>
          <a:solidFill>
            <a:srgbClr val="9CC5D9"/>
          </a:solidFill>
          <a:ln/>
        </p:spPr>
      </p:sp>
      <p:sp>
        <p:nvSpPr>
          <p:cNvPr id="7" name="ball"/>
          <p:cNvSpPr/>
          <p:nvPr/>
        </p:nvSpPr>
        <p:spPr>
          <a:xfrm>
            <a:off x="2130552" y="3346704"/>
            <a:ext cx="402336" cy="402336"/>
          </a:xfrm>
          <a:prstGeom prst="ellipse">
            <a:avLst/>
          </a:prstGeom>
          <a:solidFill>
            <a:schemeClr val="tx2"/>
          </a:solidFill>
          <a:ln/>
        </p:spPr>
      </p:sp>
      <p:sp>
        <p:nvSpPr>
          <p:cNvPr id="8" name="Text 5"/>
          <p:cNvSpPr txBox="1"/>
          <p:nvPr/>
        </p:nvSpPr>
        <p:spPr>
          <a:xfrm>
            <a:off x="731520" y="3977640"/>
            <a:ext cx="3200400" cy="365760"/>
          </a:xfrm>
          <a:prstGeom prst="rect">
            <a:avLst/>
          </a:prstGeom>
          <a:noFill/>
          <a:ln/>
        </p:spPr>
        <p:txBody>
          <a:bodyPr wrap="square" lIns="0" tIns="0" rIns="0" bIns="0" rtlCol="0" anchor="ctr"/>
          <a:lstStyle/>
          <a:p>
            <a:pPr algn="ctr" indent="0" marL="0">
              <a:buNone/>
            </a:pPr>
            <a:r>
              <a:rPr lang="en-US" sz="1300" dirty="0">
                <a:solidFill>
                  <a:schemeClr val="tx1"/>
                </a:solidFill>
              </a:rPr>
              <a:t>Ball in a valley returns</a:t>
            </a:r>
            <a:endParaRPr lang="en-US" sz="1300" dirty="0"/>
          </a:p>
        </p:txBody>
      </p:sp>
      <p:sp>
        <p:nvSpPr>
          <p:cNvPr id="9" name="card"/>
          <p:cNvSpPr/>
          <p:nvPr/>
        </p:nvSpPr>
        <p:spPr>
          <a:xfrm>
            <a:off x="4297680" y="1371600"/>
            <a:ext cx="3566160" cy="3108960"/>
          </a:xfrm>
          <a:prstGeom prst="roundRect">
            <a:avLst>
              <a:gd name="adj" fmla="val 2353"/>
            </a:avLst>
          </a:prstGeom>
          <a:solidFill>
            <a:schemeClr val="bg2"/>
          </a:solidFill>
          <a:ln/>
          <a:effectLst>
            <a:outerShdw sx="100000" sy="100000" kx="0" ky="0" algn="bl" rotWithShape="0" blurRad="76200" dist="25400" dir="5400000">
              <a:srgbClr val="000000">
                <a:alpha val="14000"/>
              </a:srgbClr>
            </a:outerShdw>
          </a:effectLst>
        </p:spPr>
      </p:sp>
      <p:sp>
        <p:nvSpPr>
          <p:cNvPr id="10" name="Text 7"/>
          <p:cNvSpPr txBox="1"/>
          <p:nvPr/>
        </p:nvSpPr>
        <p:spPr>
          <a:xfrm>
            <a:off x="4480560" y="1481328"/>
            <a:ext cx="3200400" cy="365760"/>
          </a:xfrm>
          <a:prstGeom prst="rect">
            <a:avLst/>
          </a:prstGeom>
          <a:noFill/>
          <a:ln/>
        </p:spPr>
        <p:txBody>
          <a:bodyPr wrap="square" lIns="0" tIns="0" rIns="0" bIns="0" rtlCol="0" anchor="ctr"/>
          <a:lstStyle/>
          <a:p>
            <a:pPr algn="l" indent="0" marL="0">
              <a:buNone/>
            </a:pPr>
            <a:r>
              <a:rPr lang="en-US" sz="1800" b="1" dirty="0">
                <a:solidFill>
                  <a:schemeClr val="accent6"/>
                </a:solidFill>
              </a:rPr>
              <a:t>NEUTRAL</a:t>
            </a:r>
            <a:endParaRPr lang="en-US" sz="1800" dirty="0"/>
          </a:p>
        </p:txBody>
      </p:sp>
      <p:sp>
        <p:nvSpPr>
          <p:cNvPr id="11" name="shaded area"/>
          <p:cNvSpPr/>
          <p:nvPr/>
        </p:nvSpPr>
        <p:spPr>
          <a:xfrm>
            <a:off x="4617720" y="3008376"/>
            <a:ext cx="2926080" cy="923544"/>
          </a:xfrm>
          <a:custGeom>
            <a:avLst/>
            <a:gdLst/>
            <a:ahLst/>
            <a:cxnLst/>
            <a:rect l="l" t="t" r="r" b="b"/>
            <a:pathLst>
              <a:path w="2926080" h="923544">
                <a:moveTo>
                  <a:pt x="0" y="0"/>
                </a:moveTo>
                <a:lnTo>
                  <a:pt x="146304" y="0"/>
                </a:lnTo>
                <a:lnTo>
                  <a:pt x="292608" y="0"/>
                </a:lnTo>
                <a:lnTo>
                  <a:pt x="438912" y="0"/>
                </a:lnTo>
                <a:lnTo>
                  <a:pt x="585216" y="0"/>
                </a:lnTo>
                <a:lnTo>
                  <a:pt x="731520" y="0"/>
                </a:lnTo>
                <a:lnTo>
                  <a:pt x="877824" y="0"/>
                </a:lnTo>
                <a:lnTo>
                  <a:pt x="1024128" y="0"/>
                </a:lnTo>
                <a:lnTo>
                  <a:pt x="1170432" y="0"/>
                </a:lnTo>
                <a:lnTo>
                  <a:pt x="1316736" y="0"/>
                </a:lnTo>
                <a:lnTo>
                  <a:pt x="1463040" y="0"/>
                </a:lnTo>
                <a:lnTo>
                  <a:pt x="1609344" y="0"/>
                </a:lnTo>
                <a:lnTo>
                  <a:pt x="1755648" y="0"/>
                </a:lnTo>
                <a:lnTo>
                  <a:pt x="1901952" y="0"/>
                </a:lnTo>
                <a:lnTo>
                  <a:pt x="2048256" y="0"/>
                </a:lnTo>
                <a:lnTo>
                  <a:pt x="2194560" y="0"/>
                </a:lnTo>
                <a:lnTo>
                  <a:pt x="2340864" y="0"/>
                </a:lnTo>
                <a:lnTo>
                  <a:pt x="2487168" y="0"/>
                </a:lnTo>
                <a:lnTo>
                  <a:pt x="2633472" y="0"/>
                </a:lnTo>
                <a:lnTo>
                  <a:pt x="2779776" y="0"/>
                </a:lnTo>
                <a:lnTo>
                  <a:pt x="2926080" y="0"/>
                </a:lnTo>
                <a:lnTo>
                  <a:pt x="2926080" y="923544"/>
                </a:lnTo>
                <a:lnTo>
                  <a:pt x="0" y="923544"/>
                </a:lnTo>
                <a:close/>
              </a:path>
            </a:pathLst>
          </a:custGeom>
          <a:solidFill>
            <a:srgbClr val="C3CBD0"/>
          </a:solidFill>
          <a:ln/>
        </p:spPr>
      </p:sp>
      <p:sp>
        <p:nvSpPr>
          <p:cNvPr id="12" name="ball"/>
          <p:cNvSpPr/>
          <p:nvPr/>
        </p:nvSpPr>
        <p:spPr>
          <a:xfrm>
            <a:off x="5879592" y="2606040"/>
            <a:ext cx="402336" cy="402336"/>
          </a:xfrm>
          <a:prstGeom prst="ellipse">
            <a:avLst/>
          </a:prstGeom>
          <a:solidFill>
            <a:schemeClr val="tx2"/>
          </a:solidFill>
          <a:ln/>
        </p:spPr>
      </p:sp>
      <p:sp>
        <p:nvSpPr>
          <p:cNvPr id="13" name="Text 10"/>
          <p:cNvSpPr txBox="1"/>
          <p:nvPr/>
        </p:nvSpPr>
        <p:spPr>
          <a:xfrm>
            <a:off x="4480560" y="3977640"/>
            <a:ext cx="3200400" cy="365760"/>
          </a:xfrm>
          <a:prstGeom prst="rect">
            <a:avLst/>
          </a:prstGeom>
          <a:noFill/>
          <a:ln/>
        </p:spPr>
        <p:txBody>
          <a:bodyPr wrap="square" lIns="0" tIns="0" rIns="0" bIns="0" rtlCol="0" anchor="ctr"/>
          <a:lstStyle/>
          <a:p>
            <a:pPr algn="ctr" indent="0" marL="0">
              <a:buNone/>
            </a:pPr>
            <a:r>
              <a:rPr lang="en-US" sz="1300" dirty="0">
                <a:solidFill>
                  <a:schemeClr val="tx1"/>
                </a:solidFill>
              </a:rPr>
              <a:t>Ball on flat ground stays</a:t>
            </a:r>
            <a:endParaRPr lang="en-US" sz="1300" dirty="0"/>
          </a:p>
        </p:txBody>
      </p:sp>
      <p:sp>
        <p:nvSpPr>
          <p:cNvPr id="14" name="card"/>
          <p:cNvSpPr/>
          <p:nvPr/>
        </p:nvSpPr>
        <p:spPr>
          <a:xfrm>
            <a:off x="8046720" y="1371600"/>
            <a:ext cx="3566160" cy="3108960"/>
          </a:xfrm>
          <a:prstGeom prst="roundRect">
            <a:avLst>
              <a:gd name="adj" fmla="val 2353"/>
            </a:avLst>
          </a:prstGeom>
          <a:solidFill>
            <a:schemeClr val="bg2"/>
          </a:solidFill>
          <a:ln/>
          <a:effectLst>
            <a:outerShdw sx="100000" sy="100000" kx="0" ky="0" algn="bl" rotWithShape="0" blurRad="76200" dist="25400" dir="5400000">
              <a:srgbClr val="000000">
                <a:alpha val="14000"/>
              </a:srgbClr>
            </a:outerShdw>
          </a:effectLst>
        </p:spPr>
      </p:sp>
      <p:sp>
        <p:nvSpPr>
          <p:cNvPr id="15" name="Text 12"/>
          <p:cNvSpPr txBox="1"/>
          <p:nvPr/>
        </p:nvSpPr>
        <p:spPr>
          <a:xfrm>
            <a:off x="8229600" y="1481328"/>
            <a:ext cx="3200400" cy="365760"/>
          </a:xfrm>
          <a:prstGeom prst="rect">
            <a:avLst/>
          </a:prstGeom>
          <a:noFill/>
          <a:ln/>
        </p:spPr>
        <p:txBody>
          <a:bodyPr wrap="square" lIns="0" tIns="0" rIns="0" bIns="0" rtlCol="0" anchor="ctr"/>
          <a:lstStyle/>
          <a:p>
            <a:pPr algn="l" indent="0" marL="0">
              <a:buNone/>
            </a:pPr>
            <a:r>
              <a:rPr lang="en-US" sz="1800" b="1" dirty="0">
                <a:solidFill>
                  <a:schemeClr val="accent1"/>
                </a:solidFill>
              </a:rPr>
              <a:t>UNSTABLE</a:t>
            </a:r>
            <a:endParaRPr lang="en-US" sz="1800" dirty="0"/>
          </a:p>
        </p:txBody>
      </p:sp>
      <p:sp>
        <p:nvSpPr>
          <p:cNvPr id="16" name="shaded area"/>
          <p:cNvSpPr/>
          <p:nvPr/>
        </p:nvSpPr>
        <p:spPr>
          <a:xfrm>
            <a:off x="8366760" y="2432304"/>
            <a:ext cx="2926080" cy="1499616"/>
          </a:xfrm>
          <a:custGeom>
            <a:avLst/>
            <a:gdLst/>
            <a:ahLst/>
            <a:cxnLst/>
            <a:rect l="l" t="t" r="r" b="b"/>
            <a:pathLst>
              <a:path w="2926080" h="1499616">
                <a:moveTo>
                  <a:pt x="0" y="1316736"/>
                </a:moveTo>
                <a:lnTo>
                  <a:pt x="146304" y="1066556"/>
                </a:lnTo>
                <a:lnTo>
                  <a:pt x="292608" y="842711"/>
                </a:lnTo>
                <a:lnTo>
                  <a:pt x="438912" y="645201"/>
                </a:lnTo>
                <a:lnTo>
                  <a:pt x="585216" y="474025"/>
                </a:lnTo>
                <a:lnTo>
                  <a:pt x="731520" y="329184"/>
                </a:lnTo>
                <a:lnTo>
                  <a:pt x="877824" y="210678"/>
                </a:lnTo>
                <a:lnTo>
                  <a:pt x="1024128" y="118506"/>
                </a:lnTo>
                <a:lnTo>
                  <a:pt x="1170432" y="52669"/>
                </a:lnTo>
                <a:lnTo>
                  <a:pt x="1316736" y="13167"/>
                </a:lnTo>
                <a:lnTo>
                  <a:pt x="1463040" y="0"/>
                </a:lnTo>
                <a:lnTo>
                  <a:pt x="1609344" y="13167"/>
                </a:lnTo>
                <a:lnTo>
                  <a:pt x="1755648" y="52669"/>
                </a:lnTo>
                <a:lnTo>
                  <a:pt x="1901952" y="118506"/>
                </a:lnTo>
                <a:lnTo>
                  <a:pt x="2048256" y="210678"/>
                </a:lnTo>
                <a:lnTo>
                  <a:pt x="2194560" y="329184"/>
                </a:lnTo>
                <a:lnTo>
                  <a:pt x="2340864" y="474025"/>
                </a:lnTo>
                <a:lnTo>
                  <a:pt x="2487168" y="645201"/>
                </a:lnTo>
                <a:lnTo>
                  <a:pt x="2633472" y="842711"/>
                </a:lnTo>
                <a:lnTo>
                  <a:pt x="2779776" y="1066556"/>
                </a:lnTo>
                <a:lnTo>
                  <a:pt x="2926080" y="1316736"/>
                </a:lnTo>
                <a:lnTo>
                  <a:pt x="2926080" y="1499616"/>
                </a:lnTo>
                <a:lnTo>
                  <a:pt x="0" y="1499616"/>
                </a:lnTo>
                <a:close/>
              </a:path>
            </a:pathLst>
          </a:custGeom>
          <a:solidFill>
            <a:srgbClr val="E8A8A0"/>
          </a:solidFill>
          <a:ln/>
        </p:spPr>
      </p:sp>
      <p:sp>
        <p:nvSpPr>
          <p:cNvPr id="17" name="ball"/>
          <p:cNvSpPr/>
          <p:nvPr/>
        </p:nvSpPr>
        <p:spPr>
          <a:xfrm>
            <a:off x="9628632" y="2029968"/>
            <a:ext cx="402336" cy="402336"/>
          </a:xfrm>
          <a:prstGeom prst="ellipse">
            <a:avLst/>
          </a:prstGeom>
          <a:solidFill>
            <a:schemeClr val="tx2"/>
          </a:solidFill>
          <a:ln/>
        </p:spPr>
      </p:sp>
      <p:sp>
        <p:nvSpPr>
          <p:cNvPr id="18" name="Text 15"/>
          <p:cNvSpPr txBox="1"/>
          <p:nvPr/>
        </p:nvSpPr>
        <p:spPr>
          <a:xfrm>
            <a:off x="8229600" y="3977640"/>
            <a:ext cx="3200400" cy="365760"/>
          </a:xfrm>
          <a:prstGeom prst="rect">
            <a:avLst/>
          </a:prstGeom>
          <a:noFill/>
          <a:ln/>
        </p:spPr>
        <p:txBody>
          <a:bodyPr wrap="square" lIns="0" tIns="0" rIns="0" bIns="0" rtlCol="0" anchor="ctr"/>
          <a:lstStyle/>
          <a:p>
            <a:pPr algn="ctr" indent="0" marL="0">
              <a:buNone/>
            </a:pPr>
            <a:r>
              <a:rPr lang="en-US" sz="1300" dirty="0">
                <a:solidFill>
                  <a:schemeClr val="tx1"/>
                </a:solidFill>
              </a:rPr>
              <a:t>Ball on a hill rolls away</a:t>
            </a:r>
            <a:endParaRPr lang="en-US" sz="1300" dirty="0"/>
          </a:p>
        </p:txBody>
      </p:sp>
      <p:sp>
        <p:nvSpPr>
          <p:cNvPr id="19" name="card"/>
          <p:cNvSpPr/>
          <p:nvPr/>
        </p:nvSpPr>
        <p:spPr>
          <a:xfrm>
            <a:off x="548640" y="4663440"/>
            <a:ext cx="3566160" cy="1508760"/>
          </a:xfrm>
          <a:prstGeom prst="roundRect">
            <a:avLst>
              <a:gd name="adj" fmla="val 4848"/>
            </a:avLst>
          </a:prstGeom>
          <a:solidFill>
            <a:schemeClr val="bg2"/>
          </a:solidFill>
          <a:ln/>
          <a:effectLst>
            <a:outerShdw sx="100000" sy="100000" kx="0" ky="0" algn="bl" rotWithShape="0" blurRad="76200" dist="25400" dir="5400000">
              <a:srgbClr val="000000">
                <a:alpha val="14000"/>
              </a:srgbClr>
            </a:outerShdw>
          </a:effectLst>
        </p:spPr>
      </p:sp>
      <p:sp>
        <p:nvSpPr>
          <p:cNvPr id="20" name="Text 17"/>
          <p:cNvSpPr txBox="1"/>
          <p:nvPr/>
        </p:nvSpPr>
        <p:spPr>
          <a:xfrm>
            <a:off x="731520" y="4800600"/>
            <a:ext cx="3246120" cy="365760"/>
          </a:xfrm>
          <a:prstGeom prst="rect">
            <a:avLst/>
          </a:prstGeom>
          <a:noFill/>
          <a:ln/>
        </p:spPr>
        <p:txBody>
          <a:bodyPr wrap="square" lIns="0" tIns="0" rIns="0" bIns="0" rtlCol="0" anchor="ctr"/>
          <a:lstStyle/>
          <a:p>
            <a:pPr indent="0" marL="0">
              <a:buNone/>
            </a:pPr>
            <a:r>
              <a:rPr lang="en-US" sz="1400" b="1" dirty="0">
                <a:solidFill>
                  <a:schemeClr val="tx2"/>
                </a:solidFill>
              </a:rPr>
              <a:t>Stable atmosphere</a:t>
            </a:r>
            <a:endParaRPr lang="en-US" sz="1400" dirty="0"/>
          </a:p>
        </p:txBody>
      </p:sp>
      <p:sp>
        <p:nvSpPr>
          <p:cNvPr id="21" name="Text 18"/>
          <p:cNvSpPr txBox="1"/>
          <p:nvPr/>
        </p:nvSpPr>
        <p:spPr>
          <a:xfrm>
            <a:off x="731520" y="5212080"/>
            <a:ext cx="3200400" cy="86868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Suppresses vertical motion: stratus, fog, haze, poor dispersion.</a:t>
            </a:r>
            <a:endParaRPr lang="en-US" sz="1200" dirty="0"/>
          </a:p>
        </p:txBody>
      </p:sp>
      <p:sp>
        <p:nvSpPr>
          <p:cNvPr id="22" name="card"/>
          <p:cNvSpPr/>
          <p:nvPr/>
        </p:nvSpPr>
        <p:spPr>
          <a:xfrm>
            <a:off x="4315968" y="4663440"/>
            <a:ext cx="3566160" cy="1508760"/>
          </a:xfrm>
          <a:prstGeom prst="roundRect">
            <a:avLst>
              <a:gd name="adj" fmla="val 4848"/>
            </a:avLst>
          </a:prstGeom>
          <a:solidFill>
            <a:schemeClr val="bg2"/>
          </a:solidFill>
          <a:ln/>
          <a:effectLst>
            <a:outerShdw sx="100000" sy="100000" kx="0" ky="0" algn="bl" rotWithShape="0" blurRad="76200" dist="25400" dir="5400000">
              <a:srgbClr val="000000">
                <a:alpha val="14000"/>
              </a:srgbClr>
            </a:outerShdw>
          </a:effectLst>
        </p:spPr>
      </p:sp>
      <p:sp>
        <p:nvSpPr>
          <p:cNvPr id="23" name="Text 20"/>
          <p:cNvSpPr txBox="1"/>
          <p:nvPr/>
        </p:nvSpPr>
        <p:spPr>
          <a:xfrm>
            <a:off x="4498848" y="4800600"/>
            <a:ext cx="3246120" cy="365760"/>
          </a:xfrm>
          <a:prstGeom prst="rect">
            <a:avLst/>
          </a:prstGeom>
          <a:noFill/>
          <a:ln/>
        </p:spPr>
        <p:txBody>
          <a:bodyPr wrap="square" lIns="0" tIns="0" rIns="0" bIns="0" rtlCol="0" anchor="ctr"/>
          <a:lstStyle/>
          <a:p>
            <a:pPr indent="0" marL="0">
              <a:buNone/>
            </a:pPr>
            <a:r>
              <a:rPr lang="en-US" sz="1400" b="1" dirty="0">
                <a:solidFill>
                  <a:schemeClr val="tx2"/>
                </a:solidFill>
              </a:rPr>
              <a:t>Neutral</a:t>
            </a:r>
            <a:endParaRPr lang="en-US" sz="1400" dirty="0"/>
          </a:p>
        </p:txBody>
      </p:sp>
      <p:sp>
        <p:nvSpPr>
          <p:cNvPr id="24" name="Text 21"/>
          <p:cNvSpPr txBox="1"/>
          <p:nvPr/>
        </p:nvSpPr>
        <p:spPr>
          <a:xfrm>
            <a:off x="4498848" y="5212080"/>
            <a:ext cx="3200400" cy="86868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Parcel motion neither helped nor hindered; well-mixed layers.</a:t>
            </a:r>
            <a:endParaRPr lang="en-US" sz="1200" dirty="0"/>
          </a:p>
        </p:txBody>
      </p:sp>
      <p:sp>
        <p:nvSpPr>
          <p:cNvPr id="25" name="card"/>
          <p:cNvSpPr/>
          <p:nvPr/>
        </p:nvSpPr>
        <p:spPr>
          <a:xfrm>
            <a:off x="8083296" y="4663440"/>
            <a:ext cx="3557016" cy="1508760"/>
          </a:xfrm>
          <a:prstGeom prst="roundRect">
            <a:avLst>
              <a:gd name="adj" fmla="val 4848"/>
            </a:avLst>
          </a:prstGeom>
          <a:solidFill>
            <a:schemeClr val="bg2"/>
          </a:solidFill>
          <a:ln/>
          <a:effectLst>
            <a:outerShdw sx="100000" sy="100000" kx="0" ky="0" algn="bl" rotWithShape="0" blurRad="76200" dist="25400" dir="5400000">
              <a:srgbClr val="000000">
                <a:alpha val="14000"/>
              </a:srgbClr>
            </a:outerShdw>
          </a:effectLst>
        </p:spPr>
      </p:sp>
      <p:sp>
        <p:nvSpPr>
          <p:cNvPr id="26" name="Text 23"/>
          <p:cNvSpPr txBox="1"/>
          <p:nvPr/>
        </p:nvSpPr>
        <p:spPr>
          <a:xfrm>
            <a:off x="8266176" y="4800600"/>
            <a:ext cx="3236976" cy="365760"/>
          </a:xfrm>
          <a:prstGeom prst="rect">
            <a:avLst/>
          </a:prstGeom>
          <a:noFill/>
          <a:ln/>
        </p:spPr>
        <p:txBody>
          <a:bodyPr wrap="square" lIns="0" tIns="0" rIns="0" bIns="0" rtlCol="0" anchor="ctr"/>
          <a:lstStyle/>
          <a:p>
            <a:pPr indent="0" marL="0">
              <a:buNone/>
            </a:pPr>
            <a:r>
              <a:rPr lang="en-US" sz="1400" b="1" dirty="0">
                <a:solidFill>
                  <a:schemeClr val="tx2"/>
                </a:solidFill>
              </a:rPr>
              <a:t>Unstable atmosphere</a:t>
            </a:r>
            <a:endParaRPr lang="en-US" sz="1400" dirty="0"/>
          </a:p>
        </p:txBody>
      </p:sp>
      <p:sp>
        <p:nvSpPr>
          <p:cNvPr id="27" name="Text 24"/>
          <p:cNvSpPr txBox="1"/>
          <p:nvPr/>
        </p:nvSpPr>
        <p:spPr>
          <a:xfrm>
            <a:off x="8266176" y="5212080"/>
            <a:ext cx="3191256" cy="86868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Enhances vertical motion: cumulus, thunderstorms, gusty winds.</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parcel method, step by step</a:t>
            </a:r>
            <a:endParaRPr lang="en-US" sz="3200" dirty="0"/>
          </a:p>
        </p:txBody>
      </p:sp>
      <p:sp>
        <p:nvSpPr>
          <p:cNvPr id="4" name="step number"/>
          <p:cNvSpPr/>
          <p:nvPr/>
        </p:nvSpPr>
        <p:spPr>
          <a:xfrm>
            <a:off x="548640" y="1408176"/>
            <a:ext cx="384048" cy="384048"/>
          </a:xfrm>
          <a:prstGeom prst="ellipse">
            <a:avLst/>
          </a:prstGeom>
          <a:solidFill>
            <a:schemeClr val="accent1"/>
          </a:solidFill>
          <a:ln/>
        </p:spPr>
      </p:sp>
      <p:sp>
        <p:nvSpPr>
          <p:cNvPr id="5" name="Text 2"/>
          <p:cNvSpPr txBox="1"/>
          <p:nvPr/>
        </p:nvSpPr>
        <p:spPr>
          <a:xfrm>
            <a:off x="548640" y="140817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3"/>
          <p:cNvSpPr txBox="1"/>
          <p:nvPr/>
        </p:nvSpPr>
        <p:spPr>
          <a:xfrm>
            <a:off x="1051560" y="1371600"/>
            <a:ext cx="6172200" cy="649224"/>
          </a:xfrm>
          <a:prstGeom prst="rect">
            <a:avLst/>
          </a:prstGeom>
          <a:noFill/>
          <a:ln/>
        </p:spPr>
        <p:txBody>
          <a:bodyPr wrap="square" lIns="0" tIns="0" rIns="0" bIns="0" rtlCol="0" anchor="ctr"/>
          <a:lstStyle/>
          <a:p>
            <a:pPr indent="0" marL="0">
              <a:buNone/>
            </a:pPr>
            <a:r>
              <a:rPr lang="en-US" sz="1400" dirty="0">
                <a:solidFill>
                  <a:schemeClr val="tx1"/>
                </a:solidFill>
              </a:rPr>
              <a:t>Pick a parcel at level z₀: same T and p as its surroundings</a:t>
            </a:r>
            <a:endParaRPr lang="en-US" sz="1400" dirty="0"/>
          </a:p>
        </p:txBody>
      </p:sp>
      <p:sp>
        <p:nvSpPr>
          <p:cNvPr id="7" name="step number"/>
          <p:cNvSpPr/>
          <p:nvPr/>
        </p:nvSpPr>
        <p:spPr>
          <a:xfrm>
            <a:off x="548640" y="2103120"/>
            <a:ext cx="384048" cy="384048"/>
          </a:xfrm>
          <a:prstGeom prst="ellipse">
            <a:avLst/>
          </a:prstGeom>
          <a:solidFill>
            <a:schemeClr val="accent1"/>
          </a:solidFill>
          <a:ln/>
        </p:spPr>
      </p:sp>
      <p:sp>
        <p:nvSpPr>
          <p:cNvPr id="8" name="Text 5"/>
          <p:cNvSpPr txBox="1"/>
          <p:nvPr/>
        </p:nvSpPr>
        <p:spPr>
          <a:xfrm>
            <a:off x="548640" y="210312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 6"/>
          <p:cNvSpPr txBox="1"/>
          <p:nvPr/>
        </p:nvSpPr>
        <p:spPr>
          <a:xfrm>
            <a:off x="1051560" y="2066544"/>
            <a:ext cx="6172200" cy="649224"/>
          </a:xfrm>
          <a:prstGeom prst="rect">
            <a:avLst/>
          </a:prstGeom>
          <a:noFill/>
          <a:ln/>
        </p:spPr>
        <p:txBody>
          <a:bodyPr wrap="square" lIns="0" tIns="0" rIns="0" bIns="0" rtlCol="0" anchor="ctr"/>
          <a:lstStyle/>
          <a:p>
            <a:pPr indent="0" marL="0">
              <a:buNone/>
            </a:pPr>
            <a:r>
              <a:rPr lang="en-US" sz="1400" dirty="0">
                <a:solidFill>
                  <a:schemeClr val="tx1"/>
                </a:solidFill>
              </a:rPr>
              <a:t>Displace it up by Δz; it cools at </a:t>
            </a:r>
            <a:r>
              <a:rPr lang="en-US" sz="1400" b="1" dirty="0">
                <a:solidFill>
                  <a:schemeClr val="tx1"/>
                </a:solidFill>
              </a:rPr>
              <a:t>Γd</a:t>
            </a:r>
            <a:r>
              <a:rPr lang="en-US" sz="1400" dirty="0">
                <a:solidFill>
                  <a:schemeClr val="tx1"/>
                </a:solidFill>
              </a:rPr>
              <a:t> (unsaturated) or </a:t>
            </a:r>
            <a:r>
              <a:rPr lang="en-US" sz="1400" b="1" dirty="0">
                <a:solidFill>
                  <a:schemeClr val="tx1"/>
                </a:solidFill>
              </a:rPr>
              <a:t>Γs</a:t>
            </a:r>
            <a:r>
              <a:rPr lang="en-US" sz="1400" dirty="0">
                <a:solidFill>
                  <a:schemeClr val="tx1"/>
                </a:solidFill>
              </a:rPr>
              <a:t> (saturated)</a:t>
            </a:r>
            <a:endParaRPr lang="en-US" sz="1400" dirty="0"/>
          </a:p>
        </p:txBody>
      </p:sp>
      <p:sp>
        <p:nvSpPr>
          <p:cNvPr id="10" name="step number"/>
          <p:cNvSpPr/>
          <p:nvPr/>
        </p:nvSpPr>
        <p:spPr>
          <a:xfrm>
            <a:off x="548640" y="2798064"/>
            <a:ext cx="384048" cy="384048"/>
          </a:xfrm>
          <a:prstGeom prst="ellipse">
            <a:avLst/>
          </a:prstGeom>
          <a:solidFill>
            <a:schemeClr val="accent1"/>
          </a:solidFill>
          <a:ln/>
        </p:spPr>
      </p:sp>
      <p:sp>
        <p:nvSpPr>
          <p:cNvPr id="11" name="Text 8"/>
          <p:cNvSpPr txBox="1"/>
          <p:nvPr/>
        </p:nvSpPr>
        <p:spPr>
          <a:xfrm>
            <a:off x="548640" y="279806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 9"/>
          <p:cNvSpPr txBox="1"/>
          <p:nvPr/>
        </p:nvSpPr>
        <p:spPr>
          <a:xfrm>
            <a:off x="1051560" y="2761488"/>
            <a:ext cx="6172200" cy="649224"/>
          </a:xfrm>
          <a:prstGeom prst="rect">
            <a:avLst/>
          </a:prstGeom>
          <a:noFill/>
          <a:ln/>
        </p:spPr>
        <p:txBody>
          <a:bodyPr wrap="square" lIns="0" tIns="0" rIns="0" bIns="0" rtlCol="0" anchor="ctr"/>
          <a:lstStyle/>
          <a:p>
            <a:pPr indent="0" marL="0">
              <a:buNone/>
            </a:pPr>
            <a:r>
              <a:rPr lang="en-US" sz="1400" dirty="0">
                <a:solidFill>
                  <a:schemeClr val="tx1"/>
                </a:solidFill>
              </a:rPr>
              <a:t>Its pressure adjusts to the environment; no mixing</a:t>
            </a:r>
            <a:endParaRPr lang="en-US" sz="1400" dirty="0"/>
          </a:p>
        </p:txBody>
      </p:sp>
      <p:sp>
        <p:nvSpPr>
          <p:cNvPr id="13" name="step number"/>
          <p:cNvSpPr/>
          <p:nvPr/>
        </p:nvSpPr>
        <p:spPr>
          <a:xfrm>
            <a:off x="548640" y="3493008"/>
            <a:ext cx="384048" cy="384048"/>
          </a:xfrm>
          <a:prstGeom prst="ellipse">
            <a:avLst/>
          </a:prstGeom>
          <a:solidFill>
            <a:schemeClr val="accent1"/>
          </a:solidFill>
          <a:ln/>
        </p:spPr>
      </p:sp>
      <p:sp>
        <p:nvSpPr>
          <p:cNvPr id="14" name="Text 11"/>
          <p:cNvSpPr txBox="1"/>
          <p:nvPr/>
        </p:nvSpPr>
        <p:spPr>
          <a:xfrm>
            <a:off x="548640" y="349300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Text 12"/>
          <p:cNvSpPr txBox="1"/>
          <p:nvPr/>
        </p:nvSpPr>
        <p:spPr>
          <a:xfrm>
            <a:off x="1051560" y="3456432"/>
            <a:ext cx="6172200" cy="649224"/>
          </a:xfrm>
          <a:prstGeom prst="rect">
            <a:avLst/>
          </a:prstGeom>
          <a:noFill/>
          <a:ln/>
        </p:spPr>
        <p:txBody>
          <a:bodyPr wrap="square" lIns="0" tIns="0" rIns="0" bIns="0" rtlCol="0" anchor="ctr"/>
          <a:lstStyle/>
          <a:p>
            <a:pPr indent="0" marL="0">
              <a:buNone/>
            </a:pPr>
            <a:r>
              <a:rPr lang="en-US" sz="1400" dirty="0">
                <a:solidFill>
                  <a:schemeClr val="tx1"/>
                </a:solidFill>
              </a:rPr>
              <a:t>Compare parcel T</a:t>
            </a:r>
            <a:r>
              <a:rPr lang="en-US" sz="1400" baseline="-40000" dirty="0">
                <a:solidFill>
                  <a:schemeClr val="tx1"/>
                </a:solidFill>
              </a:rPr>
              <a:t>p</a:t>
            </a:r>
            <a:r>
              <a:rPr lang="en-US" sz="1400" dirty="0">
                <a:solidFill>
                  <a:schemeClr val="tx1"/>
                </a:solidFill>
              </a:rPr>
              <a:t> with environment T</a:t>
            </a:r>
            <a:r>
              <a:rPr lang="en-US" sz="1400" baseline="-40000" dirty="0">
                <a:solidFill>
                  <a:schemeClr val="tx1"/>
                </a:solidFill>
              </a:rPr>
              <a:t>e</a:t>
            </a:r>
            <a:r>
              <a:rPr lang="en-US" sz="1400" dirty="0">
                <a:solidFill>
                  <a:schemeClr val="tx1"/>
                </a:solidFill>
              </a:rPr>
              <a:t> at the new level</a:t>
            </a:r>
            <a:endParaRPr lang="en-US" sz="1400" dirty="0"/>
          </a:p>
        </p:txBody>
      </p:sp>
      <p:sp>
        <p:nvSpPr>
          <p:cNvPr id="16" name="step number"/>
          <p:cNvSpPr/>
          <p:nvPr/>
        </p:nvSpPr>
        <p:spPr>
          <a:xfrm>
            <a:off x="548640" y="4187952"/>
            <a:ext cx="384048" cy="384048"/>
          </a:xfrm>
          <a:prstGeom prst="ellipse">
            <a:avLst/>
          </a:prstGeom>
          <a:solidFill>
            <a:schemeClr val="accent1"/>
          </a:solidFill>
          <a:ln/>
        </p:spPr>
      </p:sp>
      <p:sp>
        <p:nvSpPr>
          <p:cNvPr id="17" name="Text 14"/>
          <p:cNvSpPr txBox="1"/>
          <p:nvPr/>
        </p:nvSpPr>
        <p:spPr>
          <a:xfrm>
            <a:off x="548640" y="4187952"/>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8" name="Text 15"/>
          <p:cNvSpPr txBox="1"/>
          <p:nvPr/>
        </p:nvSpPr>
        <p:spPr>
          <a:xfrm>
            <a:off x="1051560" y="4151376"/>
            <a:ext cx="6172200" cy="649224"/>
          </a:xfrm>
          <a:prstGeom prst="rect">
            <a:avLst/>
          </a:prstGeom>
          <a:noFill/>
          <a:ln/>
        </p:spPr>
        <p:txBody>
          <a:bodyPr wrap="square" lIns="0" tIns="0" rIns="0" bIns="0" rtlCol="0" anchor="ctr"/>
          <a:lstStyle/>
          <a:p>
            <a:pPr indent="0" marL="0">
              <a:buNone/>
            </a:pPr>
            <a:r>
              <a:rPr lang="en-US" sz="1400" b="1" dirty="0">
                <a:solidFill>
                  <a:schemeClr val="tx1"/>
                </a:solidFill>
              </a:rPr>
              <a:t>T</a:t>
            </a:r>
            <a:r>
              <a:rPr lang="en-US" sz="1400" b="1" baseline="-40000" dirty="0">
                <a:solidFill>
                  <a:schemeClr val="tx1"/>
                </a:solidFill>
              </a:rPr>
              <a:t>p</a:t>
            </a:r>
            <a:r>
              <a:rPr lang="en-US" sz="1400" b="1" dirty="0">
                <a:solidFill>
                  <a:schemeClr val="tx1"/>
                </a:solidFill>
              </a:rPr>
              <a:t> &gt; T</a:t>
            </a:r>
            <a:r>
              <a:rPr lang="en-US" sz="1400" b="1" baseline="-40000" dirty="0">
                <a:solidFill>
                  <a:schemeClr val="tx1"/>
                </a:solidFill>
              </a:rPr>
              <a:t>e</a:t>
            </a:r>
            <a:r>
              <a:rPr lang="en-US" sz="1400" dirty="0">
                <a:solidFill>
                  <a:schemeClr val="tx1"/>
                </a:solidFill>
              </a:rPr>
              <a:t> → lighter → keeps rising → </a:t>
            </a:r>
            <a:r>
              <a:rPr lang="en-US" sz="1400" b="1" dirty="0">
                <a:solidFill>
                  <a:schemeClr val="tx1"/>
                </a:solidFill>
              </a:rPr>
              <a:t>unstable</a:t>
            </a:r>
            <a:endParaRPr lang="en-US" sz="1400" dirty="0"/>
          </a:p>
        </p:txBody>
      </p:sp>
      <p:sp>
        <p:nvSpPr>
          <p:cNvPr id="19" name="step number"/>
          <p:cNvSpPr/>
          <p:nvPr/>
        </p:nvSpPr>
        <p:spPr>
          <a:xfrm>
            <a:off x="548640" y="4882896"/>
            <a:ext cx="384048" cy="384048"/>
          </a:xfrm>
          <a:prstGeom prst="ellipse">
            <a:avLst/>
          </a:prstGeom>
          <a:solidFill>
            <a:schemeClr val="accent1"/>
          </a:solidFill>
          <a:ln/>
        </p:spPr>
      </p:sp>
      <p:sp>
        <p:nvSpPr>
          <p:cNvPr id="20" name="Text 17"/>
          <p:cNvSpPr txBox="1"/>
          <p:nvPr/>
        </p:nvSpPr>
        <p:spPr>
          <a:xfrm>
            <a:off x="548640" y="48828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1" name="Text 18"/>
          <p:cNvSpPr txBox="1"/>
          <p:nvPr/>
        </p:nvSpPr>
        <p:spPr>
          <a:xfrm>
            <a:off x="1051560" y="4846320"/>
            <a:ext cx="6172200" cy="649224"/>
          </a:xfrm>
          <a:prstGeom prst="rect">
            <a:avLst/>
          </a:prstGeom>
          <a:noFill/>
          <a:ln/>
        </p:spPr>
        <p:txBody>
          <a:bodyPr wrap="square" lIns="0" tIns="0" rIns="0" bIns="0" rtlCol="0" anchor="ctr"/>
          <a:lstStyle/>
          <a:p>
            <a:pPr indent="0" marL="0">
              <a:buNone/>
            </a:pPr>
            <a:r>
              <a:rPr lang="en-US" sz="1400" b="1" dirty="0">
                <a:solidFill>
                  <a:schemeClr val="tx1"/>
                </a:solidFill>
              </a:rPr>
              <a:t>T</a:t>
            </a:r>
            <a:r>
              <a:rPr lang="en-US" sz="1400" b="1" baseline="-40000" dirty="0">
                <a:solidFill>
                  <a:schemeClr val="tx1"/>
                </a:solidFill>
              </a:rPr>
              <a:t>p</a:t>
            </a:r>
            <a:r>
              <a:rPr lang="en-US" sz="1400" b="1" dirty="0">
                <a:solidFill>
                  <a:schemeClr val="tx1"/>
                </a:solidFill>
              </a:rPr>
              <a:t> &lt; T</a:t>
            </a:r>
            <a:r>
              <a:rPr lang="en-US" sz="1400" b="1" baseline="-40000" dirty="0">
                <a:solidFill>
                  <a:schemeClr val="tx1"/>
                </a:solidFill>
              </a:rPr>
              <a:t>e</a:t>
            </a:r>
            <a:r>
              <a:rPr lang="en-US" sz="1400" dirty="0">
                <a:solidFill>
                  <a:schemeClr val="tx1"/>
                </a:solidFill>
              </a:rPr>
              <a:t> → denser → sinks back → </a:t>
            </a:r>
            <a:r>
              <a:rPr lang="en-US" sz="1400" b="1" dirty="0">
                <a:solidFill>
                  <a:schemeClr val="tx1"/>
                </a:solidFill>
              </a:rPr>
              <a:t>stable</a:t>
            </a:r>
            <a:r>
              <a:rPr lang="en-US" sz="1400" dirty="0">
                <a:solidFill>
                  <a:schemeClr val="tx1"/>
                </a:solidFill>
              </a:rPr>
              <a:t>;  T</a:t>
            </a:r>
            <a:r>
              <a:rPr lang="en-US" sz="1400" baseline="-40000" dirty="0">
                <a:solidFill>
                  <a:schemeClr val="tx1"/>
                </a:solidFill>
              </a:rPr>
              <a:t>p</a:t>
            </a:r>
            <a:r>
              <a:rPr lang="en-US" sz="1400" dirty="0">
                <a:solidFill>
                  <a:schemeClr val="tx1"/>
                </a:solidFill>
              </a:rPr>
              <a:t> = T</a:t>
            </a:r>
            <a:r>
              <a:rPr lang="en-US" sz="1400" baseline="-40000" dirty="0">
                <a:solidFill>
                  <a:schemeClr val="tx1"/>
                </a:solidFill>
              </a:rPr>
              <a:t>e</a:t>
            </a:r>
            <a:r>
              <a:rPr lang="en-US" sz="1400" dirty="0">
                <a:solidFill>
                  <a:schemeClr val="tx1"/>
                </a:solidFill>
              </a:rPr>
              <a:t> → </a:t>
            </a:r>
            <a:r>
              <a:rPr lang="en-US" sz="1400" b="1" dirty="0">
                <a:solidFill>
                  <a:schemeClr val="tx1"/>
                </a:solidFill>
              </a:rPr>
              <a:t>neutral</a:t>
            </a:r>
            <a:endParaRPr lang="en-US" sz="1400" dirty="0"/>
          </a:p>
        </p:txBody>
      </p:sp>
      <p:sp>
        <p:nvSpPr>
          <p:cNvPr id="22" name="card"/>
          <p:cNvSpPr/>
          <p:nvPr/>
        </p:nvSpPr>
        <p:spPr>
          <a:xfrm>
            <a:off x="7589520" y="1371600"/>
            <a:ext cx="4050792" cy="1188720"/>
          </a:xfrm>
          <a:prstGeom prst="roundRect">
            <a:avLst>
              <a:gd name="adj" fmla="val 6154"/>
            </a:avLst>
          </a:prstGeom>
          <a:solidFill>
            <a:schemeClr val="accent1"/>
          </a:solidFill>
          <a:ln/>
          <a:effectLst>
            <a:outerShdw sx="100000" sy="100000" kx="0" ky="0" algn="bl" rotWithShape="0" blurRad="76200" dist="25400" dir="5400000">
              <a:srgbClr val="000000">
                <a:alpha val="14000"/>
              </a:srgbClr>
            </a:outerShdw>
          </a:effectLst>
        </p:spPr>
      </p:sp>
      <p:sp>
        <p:nvSpPr>
          <p:cNvPr id="23" name="Text 20"/>
          <p:cNvSpPr txBox="1"/>
          <p:nvPr/>
        </p:nvSpPr>
        <p:spPr>
          <a:xfrm>
            <a:off x="7726680" y="1371600"/>
            <a:ext cx="3776472" cy="1188720"/>
          </a:xfrm>
          <a:prstGeom prst="rect">
            <a:avLst/>
          </a:prstGeom>
          <a:noFill/>
          <a:ln/>
        </p:spPr>
        <p:txBody>
          <a:bodyPr wrap="square" lIns="0" tIns="0" rIns="0" bIns="0" rtlCol="0" anchor="ctr"/>
          <a:lstStyle/>
          <a:p>
            <a:pPr algn="ctr" indent="0" marL="0">
              <a:buNone/>
            </a:pPr>
            <a:r>
              <a:rPr lang="en-US" sz="2200" b="1" dirty="0">
                <a:solidFill>
                  <a:schemeClr val="bg1"/>
                </a:solidFill>
              </a:rPr>
              <a:t>a = g (T</a:t>
            </a:r>
            <a:r>
              <a:rPr lang="en-US" sz="2200" b="1" baseline="-40000" dirty="0">
                <a:solidFill>
                  <a:schemeClr val="bg1"/>
                </a:solidFill>
              </a:rPr>
              <a:t>vp</a:t>
            </a:r>
            <a:r>
              <a:rPr lang="en-US" sz="2200" b="1" dirty="0">
                <a:solidFill>
                  <a:schemeClr val="bg1"/>
                </a:solidFill>
              </a:rPr>
              <a:t> − T</a:t>
            </a:r>
            <a:r>
              <a:rPr lang="en-US" sz="2200" b="1" baseline="-40000" dirty="0">
                <a:solidFill>
                  <a:schemeClr val="bg1"/>
                </a:solidFill>
              </a:rPr>
              <a:t>ve</a:t>
            </a:r>
            <a:r>
              <a:rPr lang="en-US" sz="2200" b="1" dirty="0">
                <a:solidFill>
                  <a:schemeClr val="bg1"/>
                </a:solidFill>
              </a:rPr>
              <a:t>) / T</a:t>
            </a:r>
            <a:r>
              <a:rPr lang="en-US" sz="2200" b="1" baseline="-40000" dirty="0">
                <a:solidFill>
                  <a:schemeClr val="bg1"/>
                </a:solidFill>
              </a:rPr>
              <a:t>ve</a:t>
            </a:r>
            <a:endParaRPr lang="en-US" sz="2200" dirty="0"/>
          </a:p>
        </p:txBody>
      </p:sp>
      <p:sp>
        <p:nvSpPr>
          <p:cNvPr id="24" name="card"/>
          <p:cNvSpPr/>
          <p:nvPr/>
        </p:nvSpPr>
        <p:spPr>
          <a:xfrm>
            <a:off x="7589520" y="2743200"/>
            <a:ext cx="4050792" cy="1691640"/>
          </a:xfrm>
          <a:prstGeom prst="roundRect">
            <a:avLst>
              <a:gd name="adj" fmla="val 4324"/>
            </a:avLst>
          </a:prstGeom>
          <a:solidFill>
            <a:schemeClr val="bg2"/>
          </a:solidFill>
          <a:ln/>
          <a:effectLst>
            <a:outerShdw sx="100000" sy="100000" kx="0" ky="0" algn="bl" rotWithShape="0" blurRad="76200" dist="25400" dir="5400000">
              <a:srgbClr val="000000">
                <a:alpha val="14000"/>
              </a:srgbClr>
            </a:outerShdw>
          </a:effectLst>
        </p:spPr>
      </p:sp>
      <p:sp>
        <p:nvSpPr>
          <p:cNvPr id="25" name="icon circle"/>
          <p:cNvSpPr/>
          <p:nvPr/>
        </p:nvSpPr>
        <p:spPr>
          <a:xfrm>
            <a:off x="7772400" y="2898648"/>
            <a:ext cx="420624" cy="420624"/>
          </a:xfrm>
          <a:prstGeom prst="ellipse">
            <a:avLst/>
          </a:prstGeom>
          <a:solidFill>
            <a:schemeClr val="accent3"/>
          </a:solidFill>
          <a:ln/>
        </p:spPr>
      </p:sp>
      <p:pic>
        <p:nvPicPr>
          <p:cNvPr id="26" name="Image 0" descr="Calculator icon">    </p:cNvPr>
          <p:cNvPicPr>
            <a:picLocks noChangeAspect="1"/>
          </p:cNvPicPr>
          <p:nvPr/>
        </p:nvPicPr>
        <p:blipFill>
          <a:blip r:embed="rId1"/>
          <a:stretch>
            <a:fillRect/>
          </a:stretch>
        </p:blipFill>
        <p:spPr>
          <a:xfrm>
            <a:off x="7881762" y="3008010"/>
            <a:ext cx="201900" cy="201900"/>
          </a:xfrm>
          <a:prstGeom prst="rect">
            <a:avLst/>
          </a:prstGeom>
        </p:spPr>
      </p:pic>
      <p:sp>
        <p:nvSpPr>
          <p:cNvPr id="27" name="Text 23"/>
          <p:cNvSpPr txBox="1"/>
          <p:nvPr/>
        </p:nvSpPr>
        <p:spPr>
          <a:xfrm>
            <a:off x="8302752" y="2880360"/>
            <a:ext cx="3200400" cy="457200"/>
          </a:xfrm>
          <a:prstGeom prst="rect">
            <a:avLst/>
          </a:prstGeom>
          <a:noFill/>
          <a:ln/>
        </p:spPr>
        <p:txBody>
          <a:bodyPr wrap="square" lIns="0" tIns="0" rIns="0" bIns="0" rtlCol="0" anchor="ctr"/>
          <a:lstStyle/>
          <a:p>
            <a:pPr indent="0" marL="0">
              <a:buNone/>
            </a:pPr>
            <a:r>
              <a:rPr lang="en-US" sz="1600" b="1" dirty="0">
                <a:solidFill>
                  <a:schemeClr val="tx2"/>
                </a:solidFill>
              </a:rPr>
              <a:t>Example</a:t>
            </a:r>
            <a:endParaRPr lang="en-US" sz="1600" dirty="0"/>
          </a:p>
        </p:txBody>
      </p:sp>
      <p:sp>
        <p:nvSpPr>
          <p:cNvPr id="28" name="Text 24"/>
          <p:cNvSpPr txBox="1"/>
          <p:nvPr/>
        </p:nvSpPr>
        <p:spPr>
          <a:xfrm>
            <a:off x="7772400" y="3429000"/>
            <a:ext cx="3685032" cy="91440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T</a:t>
            </a:r>
            <a:r>
              <a:rPr lang="en-US" sz="1300" baseline="-40000" dirty="0">
                <a:solidFill>
                  <a:schemeClr val="tx1"/>
                </a:solidFill>
              </a:rPr>
              <a:t>p</a:t>
            </a:r>
            <a:r>
              <a:rPr lang="en-US" sz="1300" dirty="0">
                <a:solidFill>
                  <a:schemeClr val="tx1"/>
                </a:solidFill>
              </a:rPr>
              <a:t> − T</a:t>
            </a:r>
            <a:r>
              <a:rPr lang="en-US" sz="1300" baseline="-40000" dirty="0">
                <a:solidFill>
                  <a:schemeClr val="tx1"/>
                </a:solidFill>
              </a:rPr>
              <a:t>e</a:t>
            </a:r>
            <a:r>
              <a:rPr lang="en-US" sz="1300" dirty="0">
                <a:solidFill>
                  <a:schemeClr val="tx1"/>
                </a:solidFill>
              </a:rPr>
              <a:t> = +2 K, T</a:t>
            </a:r>
            <a:r>
              <a:rPr lang="en-US" sz="1300" baseline="-40000" dirty="0">
                <a:solidFill>
                  <a:schemeClr val="tx1"/>
                </a:solidFill>
              </a:rPr>
              <a:t>e</a:t>
            </a:r>
            <a:r>
              <a:rPr lang="en-US" sz="1300" dirty="0">
                <a:solidFill>
                  <a:schemeClr val="tx1"/>
                </a:solidFill>
              </a:rPr>
              <a:t> = 300 K</a:t>
            </a:r>
            <a:endParaRPr lang="en-US" sz="1300" dirty="0"/>
          </a:p>
          <a:p>
            <a:pPr marL="177800" indent="-177800">
              <a:spcAft>
                <a:spcPts val="400"/>
              </a:spcAft>
              <a:buSzPct val="100000"/>
              <a:buChar char="•"/>
            </a:pPr>
            <a:r>
              <a:rPr lang="en-US" sz="1300" dirty="0">
                <a:solidFill>
                  <a:schemeClr val="tx1"/>
                </a:solidFill>
              </a:rPr>
              <a:t>a = 9.81 × 2 / 300 ≈ </a:t>
            </a:r>
            <a:r>
              <a:rPr lang="en-US" sz="1300" b="1" dirty="0">
                <a:solidFill>
                  <a:schemeClr val="tx1"/>
                </a:solidFill>
              </a:rPr>
              <a:t>0.065 m/s² upward</a:t>
            </a:r>
            <a:endParaRPr lang="en-US" sz="1300" dirty="0"/>
          </a:p>
        </p:txBody>
      </p:sp>
      <p:sp>
        <p:nvSpPr>
          <p:cNvPr id="29" name="card"/>
          <p:cNvSpPr/>
          <p:nvPr/>
        </p:nvSpPr>
        <p:spPr>
          <a:xfrm>
            <a:off x="7589520" y="4572000"/>
            <a:ext cx="4050792" cy="1600200"/>
          </a:xfrm>
          <a:prstGeom prst="roundRect">
            <a:avLst>
              <a:gd name="adj" fmla="val 4571"/>
            </a:avLst>
          </a:prstGeom>
          <a:solidFill>
            <a:schemeClr val="bg2"/>
          </a:solidFill>
          <a:ln/>
          <a:effectLst>
            <a:outerShdw sx="100000" sy="100000" kx="0" ky="0" algn="bl" rotWithShape="0" blurRad="76200" dist="25400" dir="5400000">
              <a:srgbClr val="000000">
                <a:alpha val="14000"/>
              </a:srgbClr>
            </a:outerShdw>
          </a:effectLst>
        </p:spPr>
      </p:sp>
      <p:sp>
        <p:nvSpPr>
          <p:cNvPr id="30" name="icon circle"/>
          <p:cNvSpPr/>
          <p:nvPr/>
        </p:nvSpPr>
        <p:spPr>
          <a:xfrm>
            <a:off x="7772400" y="4727448"/>
            <a:ext cx="420624" cy="420624"/>
          </a:xfrm>
          <a:prstGeom prst="ellipse">
            <a:avLst/>
          </a:prstGeom>
          <a:solidFill>
            <a:schemeClr val="accent6"/>
          </a:solidFill>
          <a:ln/>
        </p:spPr>
      </p:sp>
      <p:pic>
        <p:nvPicPr>
          <p:cNvPr id="31" name="Image 1" descr="ExclamationTriangle icon">    </p:cNvPr>
          <p:cNvPicPr>
            <a:picLocks noChangeAspect="1"/>
          </p:cNvPicPr>
          <p:nvPr/>
        </p:nvPicPr>
        <p:blipFill>
          <a:blip r:embed="rId2"/>
          <a:stretch>
            <a:fillRect/>
          </a:stretch>
        </p:blipFill>
        <p:spPr>
          <a:xfrm>
            <a:off x="7881762" y="4836810"/>
            <a:ext cx="201900" cy="201900"/>
          </a:xfrm>
          <a:prstGeom prst="rect">
            <a:avLst/>
          </a:prstGeom>
        </p:spPr>
      </p:pic>
      <p:sp>
        <p:nvSpPr>
          <p:cNvPr id="32" name="Text 27"/>
          <p:cNvSpPr txBox="1"/>
          <p:nvPr/>
        </p:nvSpPr>
        <p:spPr>
          <a:xfrm>
            <a:off x="8302752" y="4709160"/>
            <a:ext cx="3200400" cy="457200"/>
          </a:xfrm>
          <a:prstGeom prst="rect">
            <a:avLst/>
          </a:prstGeom>
          <a:noFill/>
          <a:ln/>
        </p:spPr>
        <p:txBody>
          <a:bodyPr wrap="square" lIns="0" tIns="0" rIns="0" bIns="0" rtlCol="0" anchor="ctr"/>
          <a:lstStyle/>
          <a:p>
            <a:pPr indent="0" marL="0">
              <a:buNone/>
            </a:pPr>
            <a:r>
              <a:rPr lang="en-US" sz="1400" b="1" dirty="0">
                <a:solidFill>
                  <a:schemeClr val="tx2"/>
                </a:solidFill>
              </a:rPr>
              <a:t>Assumptions</a:t>
            </a:r>
            <a:endParaRPr lang="en-US" sz="1400" dirty="0"/>
          </a:p>
        </p:txBody>
      </p:sp>
      <p:sp>
        <p:nvSpPr>
          <p:cNvPr id="33" name="Text 28"/>
          <p:cNvSpPr txBox="1"/>
          <p:nvPr/>
        </p:nvSpPr>
        <p:spPr>
          <a:xfrm>
            <a:off x="7772400" y="5257800"/>
            <a:ext cx="3685032" cy="82296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No mixing (entrainment), adiabatic motion, pressure equals environment, environment at rest.</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five stability cases (compare γ with Γd and Γs)</a:t>
            </a:r>
            <a:endParaRPr lang="en-US" sz="3200" dirty="0"/>
          </a:p>
        </p:txBody>
      </p:sp>
      <p:sp>
        <p:nvSpPr>
          <p:cNvPr id="4" name="plot area"/>
          <p:cNvSpPr/>
          <p:nvPr/>
        </p:nvSpPr>
        <p:spPr>
          <a:xfrm>
            <a:off x="1051560" y="1600200"/>
            <a:ext cx="5760720" cy="4206240"/>
          </a:xfrm>
          <a:prstGeom prst="rect">
            <a:avLst/>
          </a:prstGeom>
          <a:solidFill>
            <a:schemeClr val="bg1"/>
          </a:solidFill>
          <a:ln w="9525">
            <a:solidFill>
              <a:srgbClr val="C9D2DC"/>
            </a:solidFill>
            <a:prstDash val="solid"/>
          </a:ln>
        </p:spPr>
      </p:sp>
      <p:sp>
        <p:nvSpPr>
          <p:cNvPr id="5" name="Text 2"/>
          <p:cNvSpPr txBox="1"/>
          <p:nvPr/>
        </p:nvSpPr>
        <p:spPr>
          <a:xfrm>
            <a:off x="77724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-40</a:t>
            </a:r>
            <a:endParaRPr lang="en-US" sz="1000" dirty="0"/>
          </a:p>
        </p:txBody>
      </p:sp>
      <p:sp>
        <p:nvSpPr>
          <p:cNvPr id="6" name="arrow"/>
          <p:cNvSpPr/>
          <p:nvPr/>
        </p:nvSpPr>
        <p:spPr>
          <a:xfrm>
            <a:off x="1874520" y="1600200"/>
            <a:ext cx="0" cy="4206240"/>
          </a:xfrm>
          <a:prstGeom prst="line">
            <a:avLst/>
          </a:prstGeom>
          <a:noFill/>
          <a:ln w="6350">
            <a:solidFill>
              <a:srgbClr val="E3E8EE"/>
            </a:solidFill>
            <a:prstDash val="solid"/>
          </a:ln>
        </p:spPr>
      </p:sp>
      <p:sp>
        <p:nvSpPr>
          <p:cNvPr id="7" name="Text 4"/>
          <p:cNvSpPr txBox="1"/>
          <p:nvPr/>
        </p:nvSpPr>
        <p:spPr>
          <a:xfrm>
            <a:off x="160020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-30</a:t>
            </a:r>
            <a:endParaRPr lang="en-US" sz="1000" dirty="0"/>
          </a:p>
        </p:txBody>
      </p:sp>
      <p:sp>
        <p:nvSpPr>
          <p:cNvPr id="8" name="arrow"/>
          <p:cNvSpPr/>
          <p:nvPr/>
        </p:nvSpPr>
        <p:spPr>
          <a:xfrm>
            <a:off x="2697480" y="1600200"/>
            <a:ext cx="0" cy="4206240"/>
          </a:xfrm>
          <a:prstGeom prst="line">
            <a:avLst/>
          </a:prstGeom>
          <a:noFill/>
          <a:ln w="6350">
            <a:solidFill>
              <a:srgbClr val="E3E8EE"/>
            </a:solidFill>
            <a:prstDash val="solid"/>
          </a:ln>
        </p:spPr>
      </p:sp>
      <p:sp>
        <p:nvSpPr>
          <p:cNvPr id="9" name="Text 6"/>
          <p:cNvSpPr txBox="1"/>
          <p:nvPr/>
        </p:nvSpPr>
        <p:spPr>
          <a:xfrm>
            <a:off x="242316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-20</a:t>
            </a:r>
            <a:endParaRPr lang="en-US" sz="1000" dirty="0"/>
          </a:p>
        </p:txBody>
      </p:sp>
      <p:sp>
        <p:nvSpPr>
          <p:cNvPr id="10" name="arrow"/>
          <p:cNvSpPr/>
          <p:nvPr/>
        </p:nvSpPr>
        <p:spPr>
          <a:xfrm>
            <a:off x="3520440" y="1600200"/>
            <a:ext cx="0" cy="4206240"/>
          </a:xfrm>
          <a:prstGeom prst="line">
            <a:avLst/>
          </a:prstGeom>
          <a:noFill/>
          <a:ln w="6350">
            <a:solidFill>
              <a:srgbClr val="E3E8EE"/>
            </a:solidFill>
            <a:prstDash val="solid"/>
          </a:ln>
        </p:spPr>
      </p:sp>
      <p:sp>
        <p:nvSpPr>
          <p:cNvPr id="11" name="Text 8"/>
          <p:cNvSpPr txBox="1"/>
          <p:nvPr/>
        </p:nvSpPr>
        <p:spPr>
          <a:xfrm>
            <a:off x="324612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-10</a:t>
            </a:r>
            <a:endParaRPr lang="en-US" sz="1000" dirty="0"/>
          </a:p>
        </p:txBody>
      </p:sp>
      <p:sp>
        <p:nvSpPr>
          <p:cNvPr id="12" name="arrow"/>
          <p:cNvSpPr/>
          <p:nvPr/>
        </p:nvSpPr>
        <p:spPr>
          <a:xfrm>
            <a:off x="4343400" y="1600200"/>
            <a:ext cx="0" cy="4206240"/>
          </a:xfrm>
          <a:prstGeom prst="line">
            <a:avLst/>
          </a:prstGeom>
          <a:noFill/>
          <a:ln w="6350">
            <a:solidFill>
              <a:srgbClr val="E3E8EE"/>
            </a:solidFill>
            <a:prstDash val="solid"/>
          </a:ln>
        </p:spPr>
      </p:sp>
      <p:sp>
        <p:nvSpPr>
          <p:cNvPr id="13" name="Text 10"/>
          <p:cNvSpPr txBox="1"/>
          <p:nvPr/>
        </p:nvSpPr>
        <p:spPr>
          <a:xfrm>
            <a:off x="406908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0</a:t>
            </a:r>
            <a:endParaRPr lang="en-US" sz="1000" dirty="0"/>
          </a:p>
        </p:txBody>
      </p:sp>
      <p:sp>
        <p:nvSpPr>
          <p:cNvPr id="14" name="arrow"/>
          <p:cNvSpPr/>
          <p:nvPr/>
        </p:nvSpPr>
        <p:spPr>
          <a:xfrm>
            <a:off x="5166360" y="1600200"/>
            <a:ext cx="0" cy="4206240"/>
          </a:xfrm>
          <a:prstGeom prst="line">
            <a:avLst/>
          </a:prstGeom>
          <a:noFill/>
          <a:ln w="6350">
            <a:solidFill>
              <a:srgbClr val="E3E8EE"/>
            </a:solidFill>
            <a:prstDash val="solid"/>
          </a:ln>
        </p:spPr>
      </p:sp>
      <p:sp>
        <p:nvSpPr>
          <p:cNvPr id="15" name="Text 12"/>
          <p:cNvSpPr txBox="1"/>
          <p:nvPr/>
        </p:nvSpPr>
        <p:spPr>
          <a:xfrm>
            <a:off x="489204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10</a:t>
            </a:r>
            <a:endParaRPr lang="en-US" sz="1000" dirty="0"/>
          </a:p>
        </p:txBody>
      </p:sp>
      <p:sp>
        <p:nvSpPr>
          <p:cNvPr id="16" name="arrow"/>
          <p:cNvSpPr/>
          <p:nvPr/>
        </p:nvSpPr>
        <p:spPr>
          <a:xfrm>
            <a:off x="5989320" y="1600200"/>
            <a:ext cx="0" cy="4206240"/>
          </a:xfrm>
          <a:prstGeom prst="line">
            <a:avLst/>
          </a:prstGeom>
          <a:noFill/>
          <a:ln w="6350">
            <a:solidFill>
              <a:srgbClr val="E3E8EE"/>
            </a:solidFill>
            <a:prstDash val="solid"/>
          </a:ln>
        </p:spPr>
      </p:sp>
      <p:sp>
        <p:nvSpPr>
          <p:cNvPr id="17" name="Text 14"/>
          <p:cNvSpPr txBox="1"/>
          <p:nvPr/>
        </p:nvSpPr>
        <p:spPr>
          <a:xfrm>
            <a:off x="571500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20</a:t>
            </a:r>
            <a:endParaRPr lang="en-US" sz="1000" dirty="0"/>
          </a:p>
        </p:txBody>
      </p:sp>
      <p:sp>
        <p:nvSpPr>
          <p:cNvPr id="18" name="Text 15"/>
          <p:cNvSpPr txBox="1"/>
          <p:nvPr/>
        </p:nvSpPr>
        <p:spPr>
          <a:xfrm>
            <a:off x="653796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30</a:t>
            </a:r>
            <a:endParaRPr lang="en-US" sz="1000" dirty="0"/>
          </a:p>
        </p:txBody>
      </p:sp>
      <p:sp>
        <p:nvSpPr>
          <p:cNvPr id="19" name="Text 16"/>
          <p:cNvSpPr txBox="1"/>
          <p:nvPr/>
        </p:nvSpPr>
        <p:spPr>
          <a:xfrm>
            <a:off x="640080" y="569671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0</a:t>
            </a:r>
            <a:endParaRPr lang="en-US" sz="1000" dirty="0"/>
          </a:p>
        </p:txBody>
      </p:sp>
      <p:sp>
        <p:nvSpPr>
          <p:cNvPr id="20" name="arrow"/>
          <p:cNvSpPr/>
          <p:nvPr/>
        </p:nvSpPr>
        <p:spPr>
          <a:xfrm>
            <a:off x="1051560" y="4754880"/>
            <a:ext cx="5760720" cy="0"/>
          </a:xfrm>
          <a:prstGeom prst="line">
            <a:avLst/>
          </a:prstGeom>
          <a:noFill/>
          <a:ln w="6350">
            <a:solidFill>
              <a:srgbClr val="E3E8EE"/>
            </a:solidFill>
            <a:prstDash val="solid"/>
          </a:ln>
        </p:spPr>
      </p:sp>
      <p:sp>
        <p:nvSpPr>
          <p:cNvPr id="21" name="Text 18"/>
          <p:cNvSpPr txBox="1"/>
          <p:nvPr/>
        </p:nvSpPr>
        <p:spPr>
          <a:xfrm>
            <a:off x="640080" y="464515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1</a:t>
            </a:r>
            <a:endParaRPr lang="en-US" sz="1000" dirty="0"/>
          </a:p>
        </p:txBody>
      </p:sp>
      <p:sp>
        <p:nvSpPr>
          <p:cNvPr id="22" name="arrow"/>
          <p:cNvSpPr/>
          <p:nvPr/>
        </p:nvSpPr>
        <p:spPr>
          <a:xfrm>
            <a:off x="1051560" y="3703320"/>
            <a:ext cx="5760720" cy="0"/>
          </a:xfrm>
          <a:prstGeom prst="line">
            <a:avLst/>
          </a:prstGeom>
          <a:noFill/>
          <a:ln w="6350">
            <a:solidFill>
              <a:srgbClr val="E3E8EE"/>
            </a:solidFill>
            <a:prstDash val="solid"/>
          </a:ln>
        </p:spPr>
      </p:sp>
      <p:sp>
        <p:nvSpPr>
          <p:cNvPr id="23" name="Text 20"/>
          <p:cNvSpPr txBox="1"/>
          <p:nvPr/>
        </p:nvSpPr>
        <p:spPr>
          <a:xfrm>
            <a:off x="640080" y="359359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2</a:t>
            </a:r>
            <a:endParaRPr lang="en-US" sz="1000" dirty="0"/>
          </a:p>
        </p:txBody>
      </p:sp>
      <p:sp>
        <p:nvSpPr>
          <p:cNvPr id="24" name="arrow"/>
          <p:cNvSpPr/>
          <p:nvPr/>
        </p:nvSpPr>
        <p:spPr>
          <a:xfrm>
            <a:off x="1051560" y="2651760"/>
            <a:ext cx="5760720" cy="0"/>
          </a:xfrm>
          <a:prstGeom prst="line">
            <a:avLst/>
          </a:prstGeom>
          <a:noFill/>
          <a:ln w="6350">
            <a:solidFill>
              <a:srgbClr val="E3E8EE"/>
            </a:solidFill>
            <a:prstDash val="solid"/>
          </a:ln>
        </p:spPr>
      </p:sp>
      <p:sp>
        <p:nvSpPr>
          <p:cNvPr id="25" name="Text 22"/>
          <p:cNvSpPr txBox="1"/>
          <p:nvPr/>
        </p:nvSpPr>
        <p:spPr>
          <a:xfrm>
            <a:off x="640080" y="254203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3</a:t>
            </a:r>
            <a:endParaRPr lang="en-US" sz="1000" dirty="0"/>
          </a:p>
        </p:txBody>
      </p:sp>
      <p:sp>
        <p:nvSpPr>
          <p:cNvPr id="26" name="Text 23"/>
          <p:cNvSpPr txBox="1"/>
          <p:nvPr/>
        </p:nvSpPr>
        <p:spPr>
          <a:xfrm>
            <a:off x="640080" y="149047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4</a:t>
            </a:r>
            <a:endParaRPr lang="en-US" sz="1000" dirty="0"/>
          </a:p>
        </p:txBody>
      </p:sp>
      <p:sp>
        <p:nvSpPr>
          <p:cNvPr id="27" name="Text 24"/>
          <p:cNvSpPr txBox="1"/>
          <p:nvPr/>
        </p:nvSpPr>
        <p:spPr>
          <a:xfrm>
            <a:off x="1051560" y="6053328"/>
            <a:ext cx="5760720" cy="256032"/>
          </a:xfrm>
          <a:prstGeom prst="rect">
            <a:avLst/>
          </a:prstGeom>
          <a:noFill/>
          <a:ln/>
        </p:spPr>
        <p:txBody>
          <a:bodyPr wrap="square" lIns="0" tIns="0" rIns="0" bIns="0" rtlCol="0" anchor="ctr"/>
          <a:lstStyle/>
          <a:p>
            <a:pPr algn="ctr" indent="0" marL="0">
              <a:buNone/>
            </a:pPr>
            <a:r>
              <a:rPr lang="en-US" sz="1100" i="1" dirty="0">
                <a:solidFill>
                  <a:schemeClr val="accent6"/>
                </a:solidFill>
              </a:rPr>
              <a:t>Temperature (°C)</a:t>
            </a:r>
            <a:endParaRPr lang="en-US" sz="1100" dirty="0"/>
          </a:p>
        </p:txBody>
      </p:sp>
      <p:sp>
        <p:nvSpPr>
          <p:cNvPr id="28" name="Text 25"/>
          <p:cNvSpPr txBox="1"/>
          <p:nvPr/>
        </p:nvSpPr>
        <p:spPr>
          <a:xfrm>
            <a:off x="484632" y="1307592"/>
            <a:ext cx="2286000" cy="256032"/>
          </a:xfrm>
          <a:prstGeom prst="rect">
            <a:avLst/>
          </a:prstGeom>
          <a:noFill/>
          <a:ln/>
        </p:spPr>
        <p:txBody>
          <a:bodyPr wrap="square" lIns="0" tIns="0" rIns="0" bIns="0" rtlCol="0" anchor="ctr"/>
          <a:lstStyle/>
          <a:p>
            <a:pPr algn="l" indent="0" marL="0">
              <a:buNone/>
            </a:pPr>
            <a:r>
              <a:rPr lang="en-US" sz="1100" i="1" dirty="0">
                <a:solidFill>
                  <a:schemeClr val="accent6"/>
                </a:solidFill>
              </a:rPr>
              <a:t>Height (km)</a:t>
            </a:r>
            <a:endParaRPr lang="en-US" sz="1100" dirty="0"/>
          </a:p>
        </p:txBody>
      </p:sp>
      <p:sp>
        <p:nvSpPr>
          <p:cNvPr id="29" name="arrow"/>
          <p:cNvSpPr/>
          <p:nvPr/>
        </p:nvSpPr>
        <p:spPr>
          <a:xfrm flipH="1" flipV="1">
            <a:off x="3174797" y="1600200"/>
            <a:ext cx="3226003" cy="4206240"/>
          </a:xfrm>
          <a:prstGeom prst="line">
            <a:avLst/>
          </a:prstGeom>
          <a:noFill/>
          <a:ln w="31750">
            <a:solidFill>
              <a:srgbClr val="3F8F5A"/>
            </a:solidFill>
            <a:prstDash val="dash"/>
          </a:ln>
        </p:spPr>
      </p:sp>
      <p:sp>
        <p:nvSpPr>
          <p:cNvPr id="30" name="arrow"/>
          <p:cNvSpPr/>
          <p:nvPr/>
        </p:nvSpPr>
        <p:spPr>
          <a:xfrm flipH="1" flipV="1">
            <a:off x="4425696" y="1600200"/>
            <a:ext cx="1975104" cy="4206240"/>
          </a:xfrm>
          <a:prstGeom prst="line">
            <a:avLst/>
          </a:prstGeom>
          <a:noFill/>
          <a:ln w="31750">
            <a:solidFill>
              <a:srgbClr val="6C4F9E"/>
            </a:solidFill>
            <a:prstDash val="dash"/>
          </a:ln>
        </p:spPr>
      </p:sp>
      <p:sp>
        <p:nvSpPr>
          <p:cNvPr id="31" name="arrow"/>
          <p:cNvSpPr/>
          <p:nvPr/>
        </p:nvSpPr>
        <p:spPr>
          <a:xfrm flipH="1" flipV="1">
            <a:off x="5413248" y="1600200"/>
            <a:ext cx="987552" cy="4206240"/>
          </a:xfrm>
          <a:prstGeom prst="line">
            <a:avLst/>
          </a:prstGeom>
          <a:noFill/>
          <a:ln w="44450">
            <a:solidFill>
              <a:srgbClr val="2E86AB"/>
            </a:solidFill>
            <a:prstDash val="solid"/>
          </a:ln>
        </p:spPr>
      </p:sp>
      <p:sp>
        <p:nvSpPr>
          <p:cNvPr id="32" name="arrow"/>
          <p:cNvSpPr/>
          <p:nvPr/>
        </p:nvSpPr>
        <p:spPr>
          <a:xfrm flipH="1" flipV="1">
            <a:off x="3767328" y="1600200"/>
            <a:ext cx="2633472" cy="4206240"/>
          </a:xfrm>
          <a:prstGeom prst="line">
            <a:avLst/>
          </a:prstGeom>
          <a:noFill/>
          <a:ln w="44450">
            <a:solidFill>
              <a:srgbClr val="EDAE49"/>
            </a:solidFill>
            <a:prstDash val="solid"/>
          </a:ln>
        </p:spPr>
      </p:sp>
      <p:sp>
        <p:nvSpPr>
          <p:cNvPr id="33" name="arrow"/>
          <p:cNvSpPr/>
          <p:nvPr/>
        </p:nvSpPr>
        <p:spPr>
          <a:xfrm flipH="1" flipV="1">
            <a:off x="2121408" y="1600200"/>
            <a:ext cx="4279392" cy="4206240"/>
          </a:xfrm>
          <a:prstGeom prst="line">
            <a:avLst/>
          </a:prstGeom>
          <a:noFill/>
          <a:ln w="44450">
            <a:solidFill>
              <a:srgbClr val="D1495B"/>
            </a:solidFill>
            <a:prstDash val="solid"/>
          </a:ln>
        </p:spPr>
      </p:sp>
      <p:sp>
        <p:nvSpPr>
          <p:cNvPr id="34" name="arrow"/>
          <p:cNvSpPr/>
          <p:nvPr/>
        </p:nvSpPr>
        <p:spPr>
          <a:xfrm>
            <a:off x="1133856" y="3989070"/>
            <a:ext cx="329184" cy="0"/>
          </a:xfrm>
          <a:prstGeom prst="line">
            <a:avLst/>
          </a:prstGeom>
          <a:noFill/>
          <a:ln w="38100">
            <a:solidFill>
              <a:srgbClr val="2E86AB"/>
            </a:solidFill>
            <a:prstDash val="solid"/>
          </a:ln>
        </p:spPr>
      </p:sp>
      <p:sp>
        <p:nvSpPr>
          <p:cNvPr id="35" name="Text 32"/>
          <p:cNvSpPr txBox="1"/>
          <p:nvPr/>
        </p:nvSpPr>
        <p:spPr>
          <a:xfrm>
            <a:off x="1504188" y="3861054"/>
            <a:ext cx="2468880" cy="256032"/>
          </a:xfrm>
          <a:prstGeom prst="rect">
            <a:avLst/>
          </a:prstGeom>
          <a:noFill/>
          <a:ln/>
        </p:spPr>
        <p:txBody>
          <a:bodyPr wrap="square" lIns="0" tIns="0" rIns="0" bIns="0" rtlCol="0" anchor="ctr"/>
          <a:lstStyle/>
          <a:p>
            <a:pPr algn="l" indent="0" marL="0">
              <a:buNone/>
            </a:pPr>
            <a:r>
              <a:rPr lang="en-US" sz="1000" b="1" dirty="0">
                <a:solidFill>
                  <a:schemeClr val="accent2"/>
                </a:solidFill>
              </a:rPr>
              <a:t>γ = 3 K/km · absolutely stable</a:t>
            </a:r>
            <a:endParaRPr lang="en-US" sz="1000" dirty="0"/>
          </a:p>
        </p:txBody>
      </p:sp>
      <p:sp>
        <p:nvSpPr>
          <p:cNvPr id="36" name="arrow"/>
          <p:cNvSpPr/>
          <p:nvPr/>
        </p:nvSpPr>
        <p:spPr>
          <a:xfrm>
            <a:off x="1133856" y="4263390"/>
            <a:ext cx="329184" cy="0"/>
          </a:xfrm>
          <a:prstGeom prst="line">
            <a:avLst/>
          </a:prstGeom>
          <a:noFill/>
          <a:ln w="38100">
            <a:solidFill>
              <a:srgbClr val="6C4F9E"/>
            </a:solidFill>
            <a:prstDash val="dash"/>
          </a:ln>
        </p:spPr>
      </p:sp>
      <p:sp>
        <p:nvSpPr>
          <p:cNvPr id="37" name="Text 34"/>
          <p:cNvSpPr txBox="1"/>
          <p:nvPr/>
        </p:nvSpPr>
        <p:spPr>
          <a:xfrm>
            <a:off x="1504188" y="4135374"/>
            <a:ext cx="2468880" cy="256032"/>
          </a:xfrm>
          <a:prstGeom prst="rect">
            <a:avLst/>
          </a:prstGeom>
          <a:noFill/>
          <a:ln/>
        </p:spPr>
        <p:txBody>
          <a:bodyPr wrap="square" lIns="0" tIns="0" rIns="0" bIns="0" rtlCol="0" anchor="ctr"/>
          <a:lstStyle/>
          <a:p>
            <a:pPr algn="l" indent="0" marL="0">
              <a:buNone/>
            </a:pPr>
            <a:r>
              <a:rPr lang="en-US" sz="1000" b="1" dirty="0">
                <a:solidFill>
                  <a:schemeClr val="accent5"/>
                </a:solidFill>
              </a:rPr>
              <a:t>Γs ≈ 6 K/km (reference)</a:t>
            </a:r>
            <a:endParaRPr lang="en-US" sz="1000" dirty="0"/>
          </a:p>
        </p:txBody>
      </p:sp>
      <p:sp>
        <p:nvSpPr>
          <p:cNvPr id="38" name="arrow"/>
          <p:cNvSpPr/>
          <p:nvPr/>
        </p:nvSpPr>
        <p:spPr>
          <a:xfrm>
            <a:off x="1133856" y="4537710"/>
            <a:ext cx="329184" cy="0"/>
          </a:xfrm>
          <a:prstGeom prst="line">
            <a:avLst/>
          </a:prstGeom>
          <a:noFill/>
          <a:ln w="38100">
            <a:solidFill>
              <a:srgbClr val="EDAE49"/>
            </a:solidFill>
            <a:prstDash val="solid"/>
          </a:ln>
        </p:spPr>
      </p:sp>
      <p:sp>
        <p:nvSpPr>
          <p:cNvPr id="39" name="Text 36"/>
          <p:cNvSpPr txBox="1"/>
          <p:nvPr/>
        </p:nvSpPr>
        <p:spPr>
          <a:xfrm>
            <a:off x="1504188" y="4409694"/>
            <a:ext cx="2468880" cy="256032"/>
          </a:xfrm>
          <a:prstGeom prst="rect">
            <a:avLst/>
          </a:prstGeom>
          <a:noFill/>
          <a:ln/>
        </p:spPr>
        <p:txBody>
          <a:bodyPr wrap="square" lIns="0" tIns="0" rIns="0" bIns="0" rtlCol="0" anchor="ctr"/>
          <a:lstStyle/>
          <a:p>
            <a:pPr algn="l" indent="0" marL="0">
              <a:buNone/>
            </a:pPr>
            <a:r>
              <a:rPr lang="en-US" sz="1000" b="1" dirty="0">
                <a:solidFill>
                  <a:srgbClr val="B87F0F"/>
                </a:solidFill>
              </a:rPr>
              <a:t>γ = 8 K/km · conditional</a:t>
            </a:r>
            <a:endParaRPr lang="en-US" sz="1000" dirty="0"/>
          </a:p>
        </p:txBody>
      </p:sp>
      <p:sp>
        <p:nvSpPr>
          <p:cNvPr id="40" name="arrow"/>
          <p:cNvSpPr/>
          <p:nvPr/>
        </p:nvSpPr>
        <p:spPr>
          <a:xfrm>
            <a:off x="1133856" y="4812030"/>
            <a:ext cx="329184" cy="0"/>
          </a:xfrm>
          <a:prstGeom prst="line">
            <a:avLst/>
          </a:prstGeom>
          <a:noFill/>
          <a:ln w="38100">
            <a:solidFill>
              <a:srgbClr val="3F8F5A"/>
            </a:solidFill>
            <a:prstDash val="dash"/>
          </a:ln>
        </p:spPr>
      </p:sp>
      <p:sp>
        <p:nvSpPr>
          <p:cNvPr id="41" name="Text 38"/>
          <p:cNvSpPr txBox="1"/>
          <p:nvPr/>
        </p:nvSpPr>
        <p:spPr>
          <a:xfrm>
            <a:off x="1504188" y="4684014"/>
            <a:ext cx="2468880" cy="256032"/>
          </a:xfrm>
          <a:prstGeom prst="rect">
            <a:avLst/>
          </a:prstGeom>
          <a:noFill/>
          <a:ln/>
        </p:spPr>
        <p:txBody>
          <a:bodyPr wrap="square" lIns="0" tIns="0" rIns="0" bIns="0" rtlCol="0" anchor="ctr"/>
          <a:lstStyle/>
          <a:p>
            <a:pPr algn="l" indent="0" marL="0">
              <a:buNone/>
            </a:pPr>
            <a:r>
              <a:rPr lang="en-US" sz="1000" b="1" dirty="0">
                <a:solidFill>
                  <a:schemeClr val="accent4"/>
                </a:solidFill>
              </a:rPr>
              <a:t>Γd = 9.8 K/km (reference)</a:t>
            </a:r>
            <a:endParaRPr lang="en-US" sz="1000" dirty="0"/>
          </a:p>
        </p:txBody>
      </p:sp>
      <p:sp>
        <p:nvSpPr>
          <p:cNvPr id="42" name="arrow"/>
          <p:cNvSpPr/>
          <p:nvPr/>
        </p:nvSpPr>
        <p:spPr>
          <a:xfrm>
            <a:off x="1133856" y="5086350"/>
            <a:ext cx="329184" cy="0"/>
          </a:xfrm>
          <a:prstGeom prst="line">
            <a:avLst/>
          </a:prstGeom>
          <a:noFill/>
          <a:ln w="38100">
            <a:solidFill>
              <a:srgbClr val="D1495B"/>
            </a:solidFill>
            <a:prstDash val="solid"/>
          </a:ln>
        </p:spPr>
      </p:sp>
      <p:sp>
        <p:nvSpPr>
          <p:cNvPr id="43" name="Text 40"/>
          <p:cNvSpPr txBox="1"/>
          <p:nvPr/>
        </p:nvSpPr>
        <p:spPr>
          <a:xfrm>
            <a:off x="1504188" y="4958334"/>
            <a:ext cx="2468880" cy="256032"/>
          </a:xfrm>
          <a:prstGeom prst="rect">
            <a:avLst/>
          </a:prstGeom>
          <a:noFill/>
          <a:ln/>
        </p:spPr>
        <p:txBody>
          <a:bodyPr wrap="square" lIns="0" tIns="0" rIns="0" bIns="0" rtlCol="0" anchor="ctr"/>
          <a:lstStyle/>
          <a:p>
            <a:pPr algn="l" indent="0" marL="0">
              <a:buNone/>
            </a:pPr>
            <a:r>
              <a:rPr lang="en-US" sz="1000" b="1" dirty="0">
                <a:solidFill>
                  <a:schemeClr val="accent1"/>
                </a:solidFill>
              </a:rPr>
              <a:t>γ = 13 K/km · absolutely unstable</a:t>
            </a:r>
            <a:endParaRPr lang="en-US" sz="1000" dirty="0"/>
          </a:p>
        </p:txBody>
      </p:sp>
      <p:sp>
        <p:nvSpPr>
          <p:cNvPr id="44" name="card"/>
          <p:cNvSpPr/>
          <p:nvPr/>
        </p:nvSpPr>
        <p:spPr>
          <a:xfrm>
            <a:off x="7040880" y="1371600"/>
            <a:ext cx="4599432" cy="841248"/>
          </a:xfrm>
          <a:prstGeom prst="roundRect">
            <a:avLst>
              <a:gd name="adj" fmla="val 8696"/>
            </a:avLst>
          </a:prstGeom>
          <a:solidFill>
            <a:schemeClr val="bg2"/>
          </a:solidFill>
          <a:ln/>
          <a:effectLst>
            <a:outerShdw sx="100000" sy="100000" kx="0" ky="0" algn="bl" rotWithShape="0" blurRad="76200" dist="25400" dir="5400000">
              <a:srgbClr val="000000">
                <a:alpha val="14000"/>
              </a:srgbClr>
            </a:outerShdw>
          </a:effectLst>
        </p:spPr>
      </p:sp>
      <p:sp>
        <p:nvSpPr>
          <p:cNvPr id="45" name="Text 42"/>
          <p:cNvSpPr txBox="1"/>
          <p:nvPr/>
        </p:nvSpPr>
        <p:spPr>
          <a:xfrm>
            <a:off x="7178040" y="1417320"/>
            <a:ext cx="1645920" cy="749808"/>
          </a:xfrm>
          <a:prstGeom prst="rect">
            <a:avLst/>
          </a:prstGeom>
          <a:noFill/>
          <a:ln/>
        </p:spPr>
        <p:txBody>
          <a:bodyPr wrap="square" lIns="0" tIns="0" rIns="0" bIns="0" rtlCol="0" anchor="ctr"/>
          <a:lstStyle/>
          <a:p>
            <a:pPr algn="l" indent="0" marL="0">
              <a:buNone/>
            </a:pPr>
            <a:r>
              <a:rPr lang="en-US" sz="1700" b="1" dirty="0">
                <a:solidFill>
                  <a:schemeClr val="accent2"/>
                </a:solidFill>
              </a:rPr>
              <a:t>γ &lt; Γs</a:t>
            </a:r>
            <a:endParaRPr lang="en-US" sz="1700" dirty="0"/>
          </a:p>
        </p:txBody>
      </p:sp>
      <p:sp>
        <p:nvSpPr>
          <p:cNvPr id="46" name="Text 43"/>
          <p:cNvSpPr txBox="1"/>
          <p:nvPr/>
        </p:nvSpPr>
        <p:spPr>
          <a:xfrm>
            <a:off x="8869680" y="1417320"/>
            <a:ext cx="2697480" cy="749808"/>
          </a:xfrm>
          <a:prstGeom prst="rect">
            <a:avLst/>
          </a:prstGeom>
          <a:noFill/>
          <a:ln/>
        </p:spPr>
        <p:txBody>
          <a:bodyPr wrap="square" lIns="0" tIns="0" rIns="0" bIns="0" rtlCol="0" anchor="ctr"/>
          <a:lstStyle/>
          <a:p>
            <a:pPr algn="l" indent="0" marL="0">
              <a:buNone/>
            </a:pPr>
            <a:r>
              <a:rPr lang="en-US" sz="1500" b="1" dirty="0">
                <a:solidFill>
                  <a:schemeClr val="tx2"/>
                </a:solidFill>
              </a:rPr>
              <a:t>Absolutely stable</a:t>
            </a:r>
            <a:endParaRPr lang="en-US" sz="1500" dirty="0"/>
          </a:p>
        </p:txBody>
      </p:sp>
      <p:sp>
        <p:nvSpPr>
          <p:cNvPr id="47" name="card"/>
          <p:cNvSpPr/>
          <p:nvPr/>
        </p:nvSpPr>
        <p:spPr>
          <a:xfrm>
            <a:off x="7040880" y="2340864"/>
            <a:ext cx="4599432" cy="841248"/>
          </a:xfrm>
          <a:prstGeom prst="roundRect">
            <a:avLst>
              <a:gd name="adj" fmla="val 8696"/>
            </a:avLst>
          </a:prstGeom>
          <a:solidFill>
            <a:schemeClr val="bg2"/>
          </a:solidFill>
          <a:ln/>
          <a:effectLst>
            <a:outerShdw sx="100000" sy="100000" kx="0" ky="0" algn="bl" rotWithShape="0" blurRad="76200" dist="25400" dir="5400000">
              <a:srgbClr val="000000">
                <a:alpha val="14000"/>
              </a:srgbClr>
            </a:outerShdw>
          </a:effectLst>
        </p:spPr>
      </p:sp>
      <p:sp>
        <p:nvSpPr>
          <p:cNvPr id="48" name="Text 45"/>
          <p:cNvSpPr txBox="1"/>
          <p:nvPr/>
        </p:nvSpPr>
        <p:spPr>
          <a:xfrm>
            <a:off x="7178040" y="2386584"/>
            <a:ext cx="1645920" cy="749808"/>
          </a:xfrm>
          <a:prstGeom prst="rect">
            <a:avLst/>
          </a:prstGeom>
          <a:noFill/>
          <a:ln/>
        </p:spPr>
        <p:txBody>
          <a:bodyPr wrap="square" lIns="0" tIns="0" rIns="0" bIns="0" rtlCol="0" anchor="ctr"/>
          <a:lstStyle/>
          <a:p>
            <a:pPr algn="l" indent="0" marL="0">
              <a:buNone/>
            </a:pPr>
            <a:r>
              <a:rPr lang="en-US" sz="1700" b="1" dirty="0">
                <a:solidFill>
                  <a:schemeClr val="accent6"/>
                </a:solidFill>
              </a:rPr>
              <a:t>γ = Γs</a:t>
            </a:r>
            <a:endParaRPr lang="en-US" sz="1700" dirty="0"/>
          </a:p>
        </p:txBody>
      </p:sp>
      <p:sp>
        <p:nvSpPr>
          <p:cNvPr id="49" name="Text 46"/>
          <p:cNvSpPr txBox="1"/>
          <p:nvPr/>
        </p:nvSpPr>
        <p:spPr>
          <a:xfrm>
            <a:off x="8869680" y="2386584"/>
            <a:ext cx="2697480" cy="749808"/>
          </a:xfrm>
          <a:prstGeom prst="rect">
            <a:avLst/>
          </a:prstGeom>
          <a:noFill/>
          <a:ln/>
        </p:spPr>
        <p:txBody>
          <a:bodyPr wrap="square" lIns="0" tIns="0" rIns="0" bIns="0" rtlCol="0" anchor="ctr"/>
          <a:lstStyle/>
          <a:p>
            <a:pPr algn="l" indent="0" marL="0">
              <a:buNone/>
            </a:pPr>
            <a:r>
              <a:rPr lang="en-US" sz="1500" b="1" dirty="0">
                <a:solidFill>
                  <a:schemeClr val="tx2"/>
                </a:solidFill>
              </a:rPr>
              <a:t>Saturated neutral</a:t>
            </a:r>
            <a:endParaRPr lang="en-US" sz="1500" dirty="0"/>
          </a:p>
        </p:txBody>
      </p:sp>
      <p:sp>
        <p:nvSpPr>
          <p:cNvPr id="50" name="card"/>
          <p:cNvSpPr/>
          <p:nvPr/>
        </p:nvSpPr>
        <p:spPr>
          <a:xfrm>
            <a:off x="7040880" y="3310128"/>
            <a:ext cx="4599432" cy="841248"/>
          </a:xfrm>
          <a:prstGeom prst="roundRect">
            <a:avLst>
              <a:gd name="adj" fmla="val 8696"/>
            </a:avLst>
          </a:prstGeom>
          <a:solidFill>
            <a:schemeClr val="bg2"/>
          </a:solidFill>
          <a:ln/>
          <a:effectLst>
            <a:outerShdw sx="100000" sy="100000" kx="0" ky="0" algn="bl" rotWithShape="0" blurRad="76200" dist="25400" dir="5400000">
              <a:srgbClr val="000000">
                <a:alpha val="14000"/>
              </a:srgbClr>
            </a:outerShdw>
          </a:effectLst>
        </p:spPr>
      </p:sp>
      <p:sp>
        <p:nvSpPr>
          <p:cNvPr id="51" name="Text 48"/>
          <p:cNvSpPr txBox="1"/>
          <p:nvPr/>
        </p:nvSpPr>
        <p:spPr>
          <a:xfrm>
            <a:off x="7178040" y="3355848"/>
            <a:ext cx="1645920" cy="749808"/>
          </a:xfrm>
          <a:prstGeom prst="rect">
            <a:avLst/>
          </a:prstGeom>
          <a:noFill/>
          <a:ln/>
        </p:spPr>
        <p:txBody>
          <a:bodyPr wrap="square" lIns="0" tIns="0" rIns="0" bIns="0" rtlCol="0" anchor="ctr"/>
          <a:lstStyle/>
          <a:p>
            <a:pPr algn="l" indent="0" marL="0">
              <a:buNone/>
            </a:pPr>
            <a:r>
              <a:rPr lang="en-US" sz="1700" b="1" dirty="0">
                <a:solidFill>
                  <a:srgbClr val="B87F0F"/>
                </a:solidFill>
              </a:rPr>
              <a:t>Γs &lt; γ &lt; Γd</a:t>
            </a:r>
            <a:endParaRPr lang="en-US" sz="1700" dirty="0"/>
          </a:p>
        </p:txBody>
      </p:sp>
      <p:sp>
        <p:nvSpPr>
          <p:cNvPr id="52" name="Text 49"/>
          <p:cNvSpPr txBox="1"/>
          <p:nvPr/>
        </p:nvSpPr>
        <p:spPr>
          <a:xfrm>
            <a:off x="8869680" y="3355848"/>
            <a:ext cx="2697480" cy="749808"/>
          </a:xfrm>
          <a:prstGeom prst="rect">
            <a:avLst/>
          </a:prstGeom>
          <a:noFill/>
          <a:ln/>
        </p:spPr>
        <p:txBody>
          <a:bodyPr wrap="square" lIns="0" tIns="0" rIns="0" bIns="0" rtlCol="0" anchor="ctr"/>
          <a:lstStyle/>
          <a:p>
            <a:pPr algn="l" indent="0" marL="0">
              <a:buNone/>
            </a:pPr>
            <a:r>
              <a:rPr lang="en-US" sz="1500" b="1" dirty="0">
                <a:solidFill>
                  <a:schemeClr val="tx2"/>
                </a:solidFill>
              </a:rPr>
              <a:t>Conditionally unstable</a:t>
            </a:r>
            <a:endParaRPr lang="en-US" sz="1500" dirty="0"/>
          </a:p>
        </p:txBody>
      </p:sp>
      <p:sp>
        <p:nvSpPr>
          <p:cNvPr id="53" name="card"/>
          <p:cNvSpPr/>
          <p:nvPr/>
        </p:nvSpPr>
        <p:spPr>
          <a:xfrm>
            <a:off x="7040880" y="4279392"/>
            <a:ext cx="4599432" cy="841248"/>
          </a:xfrm>
          <a:prstGeom prst="roundRect">
            <a:avLst>
              <a:gd name="adj" fmla="val 8696"/>
            </a:avLst>
          </a:prstGeom>
          <a:solidFill>
            <a:schemeClr val="bg2"/>
          </a:solidFill>
          <a:ln/>
          <a:effectLst>
            <a:outerShdw sx="100000" sy="100000" kx="0" ky="0" algn="bl" rotWithShape="0" blurRad="76200" dist="25400" dir="5400000">
              <a:srgbClr val="000000">
                <a:alpha val="14000"/>
              </a:srgbClr>
            </a:outerShdw>
          </a:effectLst>
        </p:spPr>
      </p:sp>
      <p:sp>
        <p:nvSpPr>
          <p:cNvPr id="54" name="Text 51"/>
          <p:cNvSpPr txBox="1"/>
          <p:nvPr/>
        </p:nvSpPr>
        <p:spPr>
          <a:xfrm>
            <a:off x="7178040" y="4325112"/>
            <a:ext cx="1645920" cy="749808"/>
          </a:xfrm>
          <a:prstGeom prst="rect">
            <a:avLst/>
          </a:prstGeom>
          <a:noFill/>
          <a:ln/>
        </p:spPr>
        <p:txBody>
          <a:bodyPr wrap="square" lIns="0" tIns="0" rIns="0" bIns="0" rtlCol="0" anchor="ctr"/>
          <a:lstStyle/>
          <a:p>
            <a:pPr algn="l" indent="0" marL="0">
              <a:buNone/>
            </a:pPr>
            <a:r>
              <a:rPr lang="en-US" sz="1700" b="1" dirty="0">
                <a:solidFill>
                  <a:schemeClr val="accent6"/>
                </a:solidFill>
              </a:rPr>
              <a:t>γ = Γd</a:t>
            </a:r>
            <a:endParaRPr lang="en-US" sz="1700" dirty="0"/>
          </a:p>
        </p:txBody>
      </p:sp>
      <p:sp>
        <p:nvSpPr>
          <p:cNvPr id="55" name="Text 52"/>
          <p:cNvSpPr txBox="1"/>
          <p:nvPr/>
        </p:nvSpPr>
        <p:spPr>
          <a:xfrm>
            <a:off x="8869680" y="4325112"/>
            <a:ext cx="2697480" cy="749808"/>
          </a:xfrm>
          <a:prstGeom prst="rect">
            <a:avLst/>
          </a:prstGeom>
          <a:noFill/>
          <a:ln/>
        </p:spPr>
        <p:txBody>
          <a:bodyPr wrap="square" lIns="0" tIns="0" rIns="0" bIns="0" rtlCol="0" anchor="ctr"/>
          <a:lstStyle/>
          <a:p>
            <a:pPr algn="l" indent="0" marL="0">
              <a:buNone/>
            </a:pPr>
            <a:r>
              <a:rPr lang="en-US" sz="1500" b="1" dirty="0">
                <a:solidFill>
                  <a:schemeClr val="tx2"/>
                </a:solidFill>
              </a:rPr>
              <a:t>Dry neutral</a:t>
            </a:r>
            <a:endParaRPr lang="en-US" sz="1500" dirty="0"/>
          </a:p>
        </p:txBody>
      </p:sp>
      <p:sp>
        <p:nvSpPr>
          <p:cNvPr id="56" name="card"/>
          <p:cNvSpPr/>
          <p:nvPr/>
        </p:nvSpPr>
        <p:spPr>
          <a:xfrm>
            <a:off x="7040880" y="5248656"/>
            <a:ext cx="4599432" cy="841248"/>
          </a:xfrm>
          <a:prstGeom prst="roundRect">
            <a:avLst>
              <a:gd name="adj" fmla="val 8696"/>
            </a:avLst>
          </a:prstGeom>
          <a:solidFill>
            <a:schemeClr val="bg2"/>
          </a:solidFill>
          <a:ln/>
          <a:effectLst>
            <a:outerShdw sx="100000" sy="100000" kx="0" ky="0" algn="bl" rotWithShape="0" blurRad="76200" dist="25400" dir="5400000">
              <a:srgbClr val="000000">
                <a:alpha val="14000"/>
              </a:srgbClr>
            </a:outerShdw>
          </a:effectLst>
        </p:spPr>
      </p:sp>
      <p:sp>
        <p:nvSpPr>
          <p:cNvPr id="57" name="Text 54"/>
          <p:cNvSpPr txBox="1"/>
          <p:nvPr/>
        </p:nvSpPr>
        <p:spPr>
          <a:xfrm>
            <a:off x="7178040" y="5294376"/>
            <a:ext cx="1645920" cy="749808"/>
          </a:xfrm>
          <a:prstGeom prst="rect">
            <a:avLst/>
          </a:prstGeom>
          <a:noFill/>
          <a:ln/>
        </p:spPr>
        <p:txBody>
          <a:bodyPr wrap="square" lIns="0" tIns="0" rIns="0" bIns="0" rtlCol="0" anchor="ctr"/>
          <a:lstStyle/>
          <a:p>
            <a:pPr algn="l" indent="0" marL="0">
              <a:buNone/>
            </a:pPr>
            <a:r>
              <a:rPr lang="en-US" sz="1700" b="1" dirty="0">
                <a:solidFill>
                  <a:schemeClr val="accent1"/>
                </a:solidFill>
              </a:rPr>
              <a:t>γ &gt; Γd</a:t>
            </a:r>
            <a:endParaRPr lang="en-US" sz="1700" dirty="0"/>
          </a:p>
        </p:txBody>
      </p:sp>
      <p:sp>
        <p:nvSpPr>
          <p:cNvPr id="58" name="Text 55"/>
          <p:cNvSpPr txBox="1"/>
          <p:nvPr/>
        </p:nvSpPr>
        <p:spPr>
          <a:xfrm>
            <a:off x="8869680" y="5294376"/>
            <a:ext cx="2697480" cy="749808"/>
          </a:xfrm>
          <a:prstGeom prst="rect">
            <a:avLst/>
          </a:prstGeom>
          <a:noFill/>
          <a:ln/>
        </p:spPr>
        <p:txBody>
          <a:bodyPr wrap="square" lIns="0" tIns="0" rIns="0" bIns="0" rtlCol="0" anchor="ctr"/>
          <a:lstStyle/>
          <a:p>
            <a:pPr algn="l" indent="0" marL="0">
              <a:buNone/>
            </a:pPr>
            <a:r>
              <a:rPr lang="en-US" sz="1500" b="1" dirty="0">
                <a:solidFill>
                  <a:schemeClr val="tx2"/>
                </a:solidFill>
              </a:rPr>
              <a:t>Absolutely unstable</a:t>
            </a:r>
            <a:endParaRPr lang="en-US" sz="15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Conditional instability explained</a:t>
            </a:r>
            <a:endParaRPr lang="en-US" sz="3200" dirty="0"/>
          </a:p>
        </p:txBody>
      </p:sp>
      <p:sp>
        <p:nvSpPr>
          <p:cNvPr id="4" name="card"/>
          <p:cNvSpPr/>
          <p:nvPr/>
        </p:nvSpPr>
        <p:spPr>
          <a:xfrm>
            <a:off x="548640" y="1371600"/>
            <a:ext cx="5440680" cy="3017520"/>
          </a:xfrm>
          <a:prstGeom prst="roundRect">
            <a:avLst>
              <a:gd name="adj" fmla="val 2424"/>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777240" y="1463040"/>
            <a:ext cx="4983480" cy="411480"/>
          </a:xfrm>
          <a:prstGeom prst="rect">
            <a:avLst/>
          </a:prstGeom>
          <a:noFill/>
          <a:ln/>
        </p:spPr>
        <p:txBody>
          <a:bodyPr wrap="square" lIns="0" tIns="0" rIns="0" bIns="0" rtlCol="0" anchor="ctr"/>
          <a:lstStyle/>
          <a:p>
            <a:pPr algn="l" indent="0" marL="0">
              <a:buNone/>
            </a:pPr>
            <a:r>
              <a:rPr lang="en-US" sz="1800" b="1" dirty="0">
                <a:solidFill>
                  <a:schemeClr val="accent2"/>
                </a:solidFill>
              </a:rPr>
              <a:t>Unsaturated parcel</a:t>
            </a:r>
            <a:endParaRPr lang="en-US" sz="1800" dirty="0"/>
          </a:p>
        </p:txBody>
      </p:sp>
      <p:sp>
        <p:nvSpPr>
          <p:cNvPr id="6" name="Text 3"/>
          <p:cNvSpPr txBox="1"/>
          <p:nvPr/>
        </p:nvSpPr>
        <p:spPr>
          <a:xfrm>
            <a:off x="777240" y="1965960"/>
            <a:ext cx="4983480" cy="1645920"/>
          </a:xfrm>
          <a:prstGeom prst="rect">
            <a:avLst/>
          </a:prstGeom>
          <a:noFill/>
          <a:ln/>
        </p:spPr>
        <p:txBody>
          <a:bodyPr wrap="square" lIns="508" tIns="508" rIns="508" bIns="508" rtlCol="0" anchor="t"/>
          <a:lstStyle/>
          <a:p>
            <a:pPr marL="177800" indent="-177800">
              <a:spcAft>
                <a:spcPts val="600"/>
              </a:spcAft>
              <a:buSzPct val="100000"/>
              <a:buChar char="•"/>
            </a:pPr>
            <a:r>
              <a:rPr lang="en-US" sz="1500" dirty="0">
                <a:solidFill>
                  <a:schemeClr val="tx1"/>
                </a:solidFill>
              </a:rPr>
              <a:t>Cools 9.8 K in 1 km</a:t>
            </a:r>
            <a:endParaRPr lang="en-US" sz="1500" dirty="0"/>
          </a:p>
          <a:p>
            <a:pPr marL="177800" indent="-177800">
              <a:spcAft>
                <a:spcPts val="600"/>
              </a:spcAft>
              <a:buSzPct val="100000"/>
              <a:buChar char="•"/>
            </a:pPr>
            <a:r>
              <a:rPr lang="en-US" sz="1500" dirty="0">
                <a:solidFill>
                  <a:schemeClr val="tx1"/>
                </a:solidFill>
              </a:rPr>
              <a:t>Environment cools 8 K</a:t>
            </a:r>
            <a:endParaRPr lang="en-US" sz="1500" dirty="0"/>
          </a:p>
          <a:p>
            <a:pPr marL="177800" indent="-177800">
              <a:spcAft>
                <a:spcPts val="600"/>
              </a:spcAft>
              <a:buSzPct val="100000"/>
              <a:buChar char="•"/>
            </a:pPr>
            <a:r>
              <a:rPr lang="en-US" sz="1500" b="1" dirty="0">
                <a:solidFill>
                  <a:schemeClr val="tx1"/>
                </a:solidFill>
              </a:rPr>
              <a:t>Parcel 1.8 K colder → sinks</a:t>
            </a:r>
            <a:endParaRPr lang="en-US" sz="1500" dirty="0"/>
          </a:p>
        </p:txBody>
      </p:sp>
      <p:sp>
        <p:nvSpPr>
          <p:cNvPr id="7" name="tag"/>
          <p:cNvSpPr/>
          <p:nvPr/>
        </p:nvSpPr>
        <p:spPr>
          <a:xfrm>
            <a:off x="2537460" y="3840480"/>
            <a:ext cx="1463040" cy="292608"/>
          </a:xfrm>
          <a:prstGeom prst="roundRect">
            <a:avLst>
              <a:gd name="adj" fmla="val 50000"/>
            </a:avLst>
          </a:prstGeom>
          <a:solidFill>
            <a:schemeClr val="accent2"/>
          </a:solidFill>
          <a:ln/>
        </p:spPr>
      </p:sp>
      <p:sp>
        <p:nvSpPr>
          <p:cNvPr id="8" name="Text 5"/>
          <p:cNvSpPr txBox="1"/>
          <p:nvPr/>
        </p:nvSpPr>
        <p:spPr>
          <a:xfrm>
            <a:off x="2537460" y="3840480"/>
            <a:ext cx="1463040" cy="292608"/>
          </a:xfrm>
          <a:prstGeom prst="rect">
            <a:avLst/>
          </a:prstGeom>
          <a:noFill/>
          <a:ln/>
        </p:spPr>
        <p:txBody>
          <a:bodyPr wrap="square" lIns="0" tIns="0" rIns="0" bIns="0" rtlCol="0" anchor="ctr"/>
          <a:lstStyle/>
          <a:p>
            <a:pPr algn="ctr" indent="0" marL="0">
              <a:buNone/>
            </a:pPr>
            <a:r>
              <a:rPr lang="en-US" sz="1100" b="1" dirty="0">
                <a:solidFill>
                  <a:schemeClr val="bg1"/>
                </a:solidFill>
              </a:rPr>
              <a:t>STABLE</a:t>
            </a:r>
            <a:endParaRPr lang="en-US" sz="1100" dirty="0"/>
          </a:p>
        </p:txBody>
      </p:sp>
      <p:sp>
        <p:nvSpPr>
          <p:cNvPr id="9" name="card"/>
          <p:cNvSpPr/>
          <p:nvPr/>
        </p:nvSpPr>
        <p:spPr>
          <a:xfrm>
            <a:off x="6199632" y="1371600"/>
            <a:ext cx="5440680" cy="3017520"/>
          </a:xfrm>
          <a:prstGeom prst="roundRect">
            <a:avLst>
              <a:gd name="adj" fmla="val 2424"/>
            </a:avLst>
          </a:prstGeom>
          <a:solidFill>
            <a:schemeClr val="bg2"/>
          </a:solidFill>
          <a:ln/>
          <a:effectLst>
            <a:outerShdw sx="100000" sy="100000" kx="0" ky="0" algn="bl" rotWithShape="0" blurRad="76200" dist="25400" dir="5400000">
              <a:srgbClr val="000000">
                <a:alpha val="14000"/>
              </a:srgbClr>
            </a:outerShdw>
          </a:effectLst>
        </p:spPr>
      </p:sp>
      <p:sp>
        <p:nvSpPr>
          <p:cNvPr id="10" name="Text 7"/>
          <p:cNvSpPr txBox="1"/>
          <p:nvPr/>
        </p:nvSpPr>
        <p:spPr>
          <a:xfrm>
            <a:off x="6428232" y="1463040"/>
            <a:ext cx="4983480" cy="411480"/>
          </a:xfrm>
          <a:prstGeom prst="rect">
            <a:avLst/>
          </a:prstGeom>
          <a:noFill/>
          <a:ln/>
        </p:spPr>
        <p:txBody>
          <a:bodyPr wrap="square" lIns="0" tIns="0" rIns="0" bIns="0" rtlCol="0" anchor="ctr"/>
          <a:lstStyle/>
          <a:p>
            <a:pPr algn="l" indent="0" marL="0">
              <a:buNone/>
            </a:pPr>
            <a:r>
              <a:rPr lang="en-US" sz="1800" b="1" dirty="0">
                <a:solidFill>
                  <a:schemeClr val="accent1"/>
                </a:solidFill>
              </a:rPr>
              <a:t>Saturated parcel</a:t>
            </a:r>
            <a:endParaRPr lang="en-US" sz="1800" dirty="0"/>
          </a:p>
        </p:txBody>
      </p:sp>
      <p:sp>
        <p:nvSpPr>
          <p:cNvPr id="11" name="Text 8"/>
          <p:cNvSpPr txBox="1"/>
          <p:nvPr/>
        </p:nvSpPr>
        <p:spPr>
          <a:xfrm>
            <a:off x="6428232" y="1965960"/>
            <a:ext cx="4983480" cy="1645920"/>
          </a:xfrm>
          <a:prstGeom prst="rect">
            <a:avLst/>
          </a:prstGeom>
          <a:noFill/>
          <a:ln/>
        </p:spPr>
        <p:txBody>
          <a:bodyPr wrap="square" lIns="508" tIns="508" rIns="508" bIns="508" rtlCol="0" anchor="t"/>
          <a:lstStyle/>
          <a:p>
            <a:pPr marL="177800" indent="-177800">
              <a:spcAft>
                <a:spcPts val="600"/>
              </a:spcAft>
              <a:buSzPct val="100000"/>
              <a:buChar char="•"/>
            </a:pPr>
            <a:r>
              <a:rPr lang="en-US" sz="1500" dirty="0">
                <a:solidFill>
                  <a:schemeClr val="tx1"/>
                </a:solidFill>
              </a:rPr>
              <a:t>Cools ≈ 6 K in 1 km</a:t>
            </a:r>
            <a:endParaRPr lang="en-US" sz="1500" dirty="0"/>
          </a:p>
          <a:p>
            <a:pPr marL="177800" indent="-177800">
              <a:spcAft>
                <a:spcPts val="600"/>
              </a:spcAft>
              <a:buSzPct val="100000"/>
              <a:buChar char="•"/>
            </a:pPr>
            <a:r>
              <a:rPr lang="en-US" sz="1500" dirty="0">
                <a:solidFill>
                  <a:schemeClr val="tx1"/>
                </a:solidFill>
              </a:rPr>
              <a:t>Environment cools 8 K</a:t>
            </a:r>
            <a:endParaRPr lang="en-US" sz="1500" dirty="0"/>
          </a:p>
          <a:p>
            <a:pPr marL="177800" indent="-177800">
              <a:spcAft>
                <a:spcPts val="600"/>
              </a:spcAft>
              <a:buSzPct val="100000"/>
              <a:buChar char="•"/>
            </a:pPr>
            <a:r>
              <a:rPr lang="en-US" sz="1500" b="1" dirty="0">
                <a:solidFill>
                  <a:schemeClr val="tx1"/>
                </a:solidFill>
              </a:rPr>
              <a:t>Parcel 2 K warmer → rises</a:t>
            </a:r>
            <a:endParaRPr lang="en-US" sz="1500" dirty="0"/>
          </a:p>
        </p:txBody>
      </p:sp>
      <p:sp>
        <p:nvSpPr>
          <p:cNvPr id="12" name="tag"/>
          <p:cNvSpPr/>
          <p:nvPr/>
        </p:nvSpPr>
        <p:spPr>
          <a:xfrm>
            <a:off x="8188452" y="3840480"/>
            <a:ext cx="1463040" cy="292608"/>
          </a:xfrm>
          <a:prstGeom prst="roundRect">
            <a:avLst>
              <a:gd name="adj" fmla="val 50000"/>
            </a:avLst>
          </a:prstGeom>
          <a:solidFill>
            <a:schemeClr val="accent1"/>
          </a:solidFill>
          <a:ln/>
        </p:spPr>
      </p:sp>
      <p:sp>
        <p:nvSpPr>
          <p:cNvPr id="13" name="Text 10"/>
          <p:cNvSpPr txBox="1"/>
          <p:nvPr/>
        </p:nvSpPr>
        <p:spPr>
          <a:xfrm>
            <a:off x="8188452" y="3840480"/>
            <a:ext cx="1463040" cy="292608"/>
          </a:xfrm>
          <a:prstGeom prst="rect">
            <a:avLst/>
          </a:prstGeom>
          <a:noFill/>
          <a:ln/>
        </p:spPr>
        <p:txBody>
          <a:bodyPr wrap="square" lIns="0" tIns="0" rIns="0" bIns="0" rtlCol="0" anchor="ctr"/>
          <a:lstStyle/>
          <a:p>
            <a:pPr algn="ctr" indent="0" marL="0">
              <a:buNone/>
            </a:pPr>
            <a:r>
              <a:rPr lang="en-US" sz="1100" b="1" dirty="0">
                <a:solidFill>
                  <a:schemeClr val="bg1"/>
                </a:solidFill>
              </a:rPr>
              <a:t>UNSTABLE</a:t>
            </a:r>
            <a:endParaRPr lang="en-US" sz="1100" dirty="0"/>
          </a:p>
        </p:txBody>
      </p:sp>
      <p:sp>
        <p:nvSpPr>
          <p:cNvPr id="14" name="insight"/>
          <p:cNvSpPr/>
          <p:nvPr/>
        </p:nvSpPr>
        <p:spPr>
          <a:xfrm>
            <a:off x="548640" y="4572000"/>
            <a:ext cx="11094415" cy="914400"/>
          </a:xfrm>
          <a:prstGeom prst="roundRect">
            <a:avLst>
              <a:gd name="adj" fmla="val 8000"/>
            </a:avLst>
          </a:prstGeom>
          <a:solidFill>
            <a:schemeClr val="bg2"/>
          </a:solidFill>
          <a:ln/>
        </p:spPr>
      </p:sp>
      <p:sp>
        <p:nvSpPr>
          <p:cNvPr id="15" name="icon circle"/>
          <p:cNvSpPr/>
          <p:nvPr/>
        </p:nvSpPr>
        <p:spPr>
          <a:xfrm>
            <a:off x="685800" y="4791456"/>
            <a:ext cx="475488" cy="475488"/>
          </a:xfrm>
          <a:prstGeom prst="ellipse">
            <a:avLst/>
          </a:prstGeom>
          <a:solidFill>
            <a:schemeClr val="accent3"/>
          </a:solidFill>
          <a:ln/>
        </p:spPr>
      </p:sp>
      <p:pic>
        <p:nvPicPr>
          <p:cNvPr id="16" name="Image 0" descr="Lightbulb icon">    </p:cNvPr>
          <p:cNvPicPr>
            <a:picLocks noChangeAspect="1"/>
          </p:cNvPicPr>
          <p:nvPr/>
        </p:nvPicPr>
        <p:blipFill>
          <a:blip r:embed="rId1"/>
          <a:stretch>
            <a:fillRect/>
          </a:stretch>
        </p:blipFill>
        <p:spPr>
          <a:xfrm>
            <a:off x="809427" y="4915083"/>
            <a:ext cx="228234" cy="228234"/>
          </a:xfrm>
          <a:prstGeom prst="rect">
            <a:avLst/>
          </a:prstGeom>
        </p:spPr>
      </p:pic>
      <p:sp>
        <p:nvSpPr>
          <p:cNvPr id="17" name="Text 13"/>
          <p:cNvSpPr txBox="1"/>
          <p:nvPr/>
        </p:nvSpPr>
        <p:spPr>
          <a:xfrm>
            <a:off x="1325880" y="4608576"/>
            <a:ext cx="10180015" cy="841248"/>
          </a:xfrm>
          <a:prstGeom prst="rect">
            <a:avLst/>
          </a:prstGeom>
          <a:noFill/>
          <a:ln/>
        </p:spPr>
        <p:txBody>
          <a:bodyPr wrap="square" lIns="508" tIns="508" rIns="508" bIns="508" rtlCol="0" anchor="ctr"/>
          <a:lstStyle/>
          <a:p>
            <a:pPr indent="0" marL="0">
              <a:spcAft>
                <a:spcPts val="600"/>
              </a:spcAft>
              <a:buNone/>
            </a:pPr>
            <a:r>
              <a:rPr lang="en-US" sz="1400" b="1" dirty="0">
                <a:solidFill>
                  <a:schemeClr val="tx1"/>
                </a:solidFill>
              </a:rPr>
              <a:t>γ = 8 K/km</a:t>
            </a:r>
            <a:r>
              <a:rPr lang="en-US" sz="1400" dirty="0">
                <a:solidFill>
                  <a:schemeClr val="tx1"/>
                </a:solidFill>
              </a:rPr>
              <a:t> sits between Γs ≈ 6 and Γd = 9.8 K/km: stable for dry air, unstable for cloudy air. Convection needs a </a:t>
            </a:r>
            <a:r>
              <a:rPr lang="en-US" sz="1400" b="1" dirty="0">
                <a:solidFill>
                  <a:schemeClr val="tx1"/>
                </a:solidFill>
              </a:rPr>
              <a:t>trigger</a:t>
            </a:r>
            <a:r>
              <a:rPr lang="en-US" sz="1400" dirty="0">
                <a:solidFill>
                  <a:schemeClr val="tx1"/>
                </a:solidFill>
              </a:rPr>
              <a:t> (heating, fronts, mountains, convergence) to lift air to saturation.</a:t>
            </a:r>
            <a:endParaRPr lang="en-US" sz="1400" dirty="0"/>
          </a:p>
        </p:txBody>
      </p:sp>
      <p:sp>
        <p:nvSpPr>
          <p:cNvPr id="18" name="Text 14"/>
          <p:cNvSpPr txBox="1"/>
          <p:nvPr/>
        </p:nvSpPr>
        <p:spPr>
          <a:xfrm>
            <a:off x="548640" y="5669280"/>
            <a:ext cx="11091672" cy="365760"/>
          </a:xfrm>
          <a:prstGeom prst="rect">
            <a:avLst/>
          </a:prstGeom>
          <a:noFill/>
          <a:ln/>
        </p:spPr>
        <p:txBody>
          <a:bodyPr wrap="square" lIns="508" tIns="508" rIns="508" bIns="508" rtlCol="0" anchor="t"/>
          <a:lstStyle/>
          <a:p>
            <a:pPr indent="0" marL="0">
              <a:spcAft>
                <a:spcPts val="600"/>
              </a:spcAft>
              <a:buNone/>
            </a:pPr>
            <a:r>
              <a:rPr lang="en-US" sz="1200" i="1" dirty="0">
                <a:solidFill>
                  <a:schemeClr val="accent6"/>
                </a:solidFill>
              </a:rPr>
              <a:t>Typical tropical troposphere: γ ≈ 6–7 K/km, i.e. conditionally unstable.</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Stability criteria: θ, θe and the Brunt–Väisälä frequency N</a:t>
            </a:r>
            <a:endParaRPr lang="en-US" sz="32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675120" cy="914400"/>
        </p:xfrm>
        <a:graphic>
          <a:graphicData uri="http://schemas.openxmlformats.org/drawingml/2006/table">
            <a:tbl>
              <a:tblPr/>
              <a:tblGrid>
                <a:gridCol w="1554480"/>
                <a:gridCol w="1645920"/>
                <a:gridCol w="1554480"/>
                <a:gridCol w="1920240"/>
              </a:tblGrid>
              <a:tr h="594360">
                <a:tc>
                  <a:txBody>
                    <a:bodyPr/>
                    <a:lstStyle/>
                    <a:p>
                      <a:pPr indent="0" marL="0">
                        <a:buNone/>
                      </a:pPr>
                      <a:r>
                        <a:rPr lang="en-US" sz="1300" b="1" dirty="0">
                          <a:solidFill>
                            <a:schemeClr val="bg1"/>
                          </a:solidFill>
                        </a:rPr>
                        <a:t>Dry stability</a:t>
                      </a:r>
                      <a:endParaRPr lang="en-US" sz="13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θ gradient</a:t>
                      </a:r>
                      <a:endParaRPr lang="en-US" sz="13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Lapse rate</a:t>
                      </a:r>
                      <a:endParaRPr lang="en-US" sz="13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Brunt–Väisälä</a:t>
                      </a:r>
                      <a:endParaRPr lang="en-US" sz="13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594360">
                <a:tc>
                  <a:txBody>
                    <a:bodyPr/>
                    <a:lstStyle/>
                    <a:p>
                      <a:pPr indent="0" marL="0">
                        <a:buNone/>
                      </a:pPr>
                      <a:r>
                        <a:rPr lang="en-US" sz="1400" b="1" dirty="0">
                          <a:solidFill>
                            <a:schemeClr val="accent2"/>
                          </a:solidFill>
                        </a:rPr>
                        <a:t>Stable</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dθ/dz &gt; 0</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γ &lt; Γd</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N² &gt; 0 (oscillates)</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94360">
                <a:tc>
                  <a:txBody>
                    <a:bodyPr/>
                    <a:lstStyle/>
                    <a:p>
                      <a:pPr indent="0" marL="0">
                        <a:buNone/>
                      </a:pPr>
                      <a:r>
                        <a:rPr lang="en-US" sz="1400" b="1" dirty="0">
                          <a:solidFill>
                            <a:schemeClr val="accent6"/>
                          </a:solidFill>
                        </a:rPr>
                        <a:t>Neutral</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dθ/dz = 0</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γ = Γd</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N² = 0</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94360">
                <a:tc>
                  <a:txBody>
                    <a:bodyPr/>
                    <a:lstStyle/>
                    <a:p>
                      <a:pPr indent="0" marL="0">
                        <a:buNone/>
                      </a:pPr>
                      <a:r>
                        <a:rPr lang="en-US" sz="1400" b="1" dirty="0">
                          <a:solidFill>
                            <a:schemeClr val="accent1"/>
                          </a:solidFill>
                        </a:rPr>
                        <a:t>Unstable</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dθ/dz &lt; 0</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γ &gt; Γd</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N² &lt; 0 (grows)</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bl>
          </a:graphicData>
        </a:graphic>
      </p:graphicFrame>
      <p:sp>
        <p:nvSpPr>
          <p:cNvPr id="5" name="card"/>
          <p:cNvSpPr/>
          <p:nvPr/>
        </p:nvSpPr>
        <p:spPr>
          <a:xfrm>
            <a:off x="7498080" y="1371600"/>
            <a:ext cx="4142232" cy="1143000"/>
          </a:xfrm>
          <a:prstGeom prst="roundRect">
            <a:avLst>
              <a:gd name="adj" fmla="val 6400"/>
            </a:avLst>
          </a:prstGeom>
          <a:solidFill>
            <a:schemeClr val="accent5"/>
          </a:solidFill>
          <a:ln/>
          <a:effectLst>
            <a:outerShdw sx="100000" sy="100000" kx="0" ky="0" algn="bl" rotWithShape="0" blurRad="76200" dist="25400" dir="5400000">
              <a:srgbClr val="000000">
                <a:alpha val="14000"/>
              </a:srgbClr>
            </a:outerShdw>
          </a:effectLst>
        </p:spPr>
      </p:sp>
      <p:sp>
        <p:nvSpPr>
          <p:cNvPr id="6" name="Text 2"/>
          <p:cNvSpPr txBox="1"/>
          <p:nvPr/>
        </p:nvSpPr>
        <p:spPr>
          <a:xfrm>
            <a:off x="7635240" y="1371600"/>
            <a:ext cx="3867912" cy="1143000"/>
          </a:xfrm>
          <a:prstGeom prst="rect">
            <a:avLst/>
          </a:prstGeom>
          <a:noFill/>
          <a:ln/>
        </p:spPr>
        <p:txBody>
          <a:bodyPr wrap="square" lIns="0" tIns="0" rIns="0" bIns="0" rtlCol="0" anchor="ctr"/>
          <a:lstStyle/>
          <a:p>
            <a:pPr algn="ctr" indent="0" marL="0">
              <a:buNone/>
            </a:pPr>
            <a:r>
              <a:rPr lang="en-US" sz="2600" b="1" dirty="0">
                <a:solidFill>
                  <a:schemeClr val="bg1"/>
                </a:solidFill>
              </a:rPr>
              <a:t>N² = (g/θ) dθ/dz</a:t>
            </a:r>
            <a:endParaRPr lang="en-US" sz="2600" dirty="0"/>
          </a:p>
        </p:txBody>
      </p:sp>
      <p:sp>
        <p:nvSpPr>
          <p:cNvPr id="7" name="card"/>
          <p:cNvSpPr/>
          <p:nvPr/>
        </p:nvSpPr>
        <p:spPr>
          <a:xfrm>
            <a:off x="7498080" y="2697480"/>
            <a:ext cx="4142232" cy="1554480"/>
          </a:xfrm>
          <a:prstGeom prst="roundRect">
            <a:avLst>
              <a:gd name="adj" fmla="val 4706"/>
            </a:avLst>
          </a:prstGeom>
          <a:solidFill>
            <a:schemeClr val="bg2"/>
          </a:solidFill>
          <a:ln/>
          <a:effectLst>
            <a:outerShdw sx="100000" sy="100000" kx="0" ky="0" algn="bl" rotWithShape="0" blurRad="76200" dist="25400" dir="5400000">
              <a:srgbClr val="000000">
                <a:alpha val="14000"/>
              </a:srgbClr>
            </a:outerShdw>
          </a:effectLst>
        </p:spPr>
      </p:sp>
      <p:sp>
        <p:nvSpPr>
          <p:cNvPr id="8" name="icon circle"/>
          <p:cNvSpPr/>
          <p:nvPr/>
        </p:nvSpPr>
        <p:spPr>
          <a:xfrm>
            <a:off x="7680960" y="2852928"/>
            <a:ext cx="420624" cy="420624"/>
          </a:xfrm>
          <a:prstGeom prst="ellipse">
            <a:avLst/>
          </a:prstGeom>
          <a:solidFill>
            <a:schemeClr val="accent5"/>
          </a:solidFill>
          <a:ln/>
        </p:spPr>
      </p:sp>
      <p:pic>
        <p:nvPicPr>
          <p:cNvPr id="9" name="Image 0" descr="WaveSquare icon">    </p:cNvPr>
          <p:cNvPicPr>
            <a:picLocks noChangeAspect="1"/>
          </p:cNvPicPr>
          <p:nvPr/>
        </p:nvPicPr>
        <p:blipFill>
          <a:blip r:embed="rId1"/>
          <a:stretch>
            <a:fillRect/>
          </a:stretch>
        </p:blipFill>
        <p:spPr>
          <a:xfrm>
            <a:off x="7790322" y="2962290"/>
            <a:ext cx="201900" cy="201900"/>
          </a:xfrm>
          <a:prstGeom prst="rect">
            <a:avLst/>
          </a:prstGeom>
        </p:spPr>
      </p:pic>
      <p:sp>
        <p:nvSpPr>
          <p:cNvPr id="10" name="Text 5"/>
          <p:cNvSpPr txBox="1"/>
          <p:nvPr/>
        </p:nvSpPr>
        <p:spPr>
          <a:xfrm>
            <a:off x="8211312" y="2834640"/>
            <a:ext cx="3291840" cy="457200"/>
          </a:xfrm>
          <a:prstGeom prst="rect">
            <a:avLst/>
          </a:prstGeom>
          <a:noFill/>
          <a:ln/>
        </p:spPr>
        <p:txBody>
          <a:bodyPr wrap="square" lIns="0" tIns="0" rIns="0" bIns="0" rtlCol="0" anchor="ctr"/>
          <a:lstStyle/>
          <a:p>
            <a:pPr indent="0" marL="0">
              <a:buNone/>
            </a:pPr>
            <a:r>
              <a:rPr lang="en-US" sz="1600" b="1" dirty="0">
                <a:solidFill>
                  <a:schemeClr val="tx2"/>
                </a:solidFill>
              </a:rPr>
              <a:t>Typical value</a:t>
            </a:r>
            <a:endParaRPr lang="en-US" sz="1600" dirty="0"/>
          </a:p>
        </p:txBody>
      </p:sp>
      <p:sp>
        <p:nvSpPr>
          <p:cNvPr id="11" name="Text 6"/>
          <p:cNvSpPr txBox="1"/>
          <p:nvPr/>
        </p:nvSpPr>
        <p:spPr>
          <a:xfrm>
            <a:off x="7680960" y="3383280"/>
            <a:ext cx="3776472" cy="77724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N ≈ 0.01 s⁻¹ → period 2π/N ≈ </a:t>
            </a:r>
            <a:r>
              <a:rPr lang="en-US" sz="1300" b="1" dirty="0">
                <a:solidFill>
                  <a:schemeClr val="tx1"/>
                </a:solidFill>
              </a:rPr>
              <a:t>10 min</a:t>
            </a:r>
            <a:endParaRPr lang="en-US" sz="1300" dirty="0"/>
          </a:p>
          <a:p>
            <a:pPr marL="177800" indent="-177800">
              <a:spcAft>
                <a:spcPts val="400"/>
              </a:spcAft>
              <a:buSzPct val="100000"/>
              <a:buChar char="•"/>
            </a:pPr>
            <a:r>
              <a:rPr lang="en-US" sz="1300" dirty="0">
                <a:solidFill>
                  <a:schemeClr val="tx1"/>
                </a:solidFill>
              </a:rPr>
              <a:t>Larger N = more stable (e.g. stratosphere)</a:t>
            </a:r>
            <a:endParaRPr lang="en-US" sz="1300" dirty="0"/>
          </a:p>
        </p:txBody>
      </p:sp>
      <p:sp>
        <p:nvSpPr>
          <p:cNvPr id="12" name="card"/>
          <p:cNvSpPr/>
          <p:nvPr/>
        </p:nvSpPr>
        <p:spPr>
          <a:xfrm>
            <a:off x="548640" y="3977640"/>
            <a:ext cx="6675120" cy="2194560"/>
          </a:xfrm>
          <a:prstGeom prst="roundRect">
            <a:avLst>
              <a:gd name="adj" fmla="val 3333"/>
            </a:avLst>
          </a:prstGeom>
          <a:solidFill>
            <a:schemeClr val="bg2"/>
          </a:solidFill>
          <a:ln/>
          <a:effectLst>
            <a:outerShdw sx="100000" sy="100000" kx="0" ky="0" algn="bl" rotWithShape="0" blurRad="76200" dist="25400" dir="5400000">
              <a:srgbClr val="000000">
                <a:alpha val="14000"/>
              </a:srgbClr>
            </a:outerShdw>
          </a:effectLst>
        </p:spPr>
      </p:sp>
      <p:sp>
        <p:nvSpPr>
          <p:cNvPr id="13" name="icon circle"/>
          <p:cNvSpPr/>
          <p:nvPr/>
        </p:nvSpPr>
        <p:spPr>
          <a:xfrm>
            <a:off x="731520" y="4133088"/>
            <a:ext cx="420624" cy="420624"/>
          </a:xfrm>
          <a:prstGeom prst="ellipse">
            <a:avLst/>
          </a:prstGeom>
          <a:solidFill>
            <a:schemeClr val="accent2"/>
          </a:solidFill>
          <a:ln/>
        </p:spPr>
      </p:sp>
      <p:pic>
        <p:nvPicPr>
          <p:cNvPr id="14" name="Image 1" descr="CloudShowersHeavy icon">    </p:cNvPr>
          <p:cNvPicPr>
            <a:picLocks noChangeAspect="1"/>
          </p:cNvPicPr>
          <p:nvPr/>
        </p:nvPicPr>
        <p:blipFill>
          <a:blip r:embed="rId2"/>
          <a:stretch>
            <a:fillRect/>
          </a:stretch>
        </p:blipFill>
        <p:spPr>
          <a:xfrm>
            <a:off x="840882" y="4242450"/>
            <a:ext cx="201900" cy="201900"/>
          </a:xfrm>
          <a:prstGeom prst="rect">
            <a:avLst/>
          </a:prstGeom>
        </p:spPr>
      </p:pic>
      <p:sp>
        <p:nvSpPr>
          <p:cNvPr id="15" name="Text 9"/>
          <p:cNvSpPr txBox="1"/>
          <p:nvPr/>
        </p:nvSpPr>
        <p:spPr>
          <a:xfrm>
            <a:off x="1261872" y="4114800"/>
            <a:ext cx="5824728" cy="457200"/>
          </a:xfrm>
          <a:prstGeom prst="rect">
            <a:avLst/>
          </a:prstGeom>
          <a:noFill/>
          <a:ln/>
        </p:spPr>
        <p:txBody>
          <a:bodyPr wrap="square" lIns="0" tIns="0" rIns="0" bIns="0" rtlCol="0" anchor="ctr"/>
          <a:lstStyle/>
          <a:p>
            <a:pPr indent="0" marL="0">
              <a:buNone/>
            </a:pPr>
            <a:r>
              <a:rPr lang="en-US" sz="1600" b="1" dirty="0">
                <a:solidFill>
                  <a:schemeClr val="tx2"/>
                </a:solidFill>
              </a:rPr>
              <a:t>Moist (convective) instability with θe</a:t>
            </a:r>
            <a:endParaRPr lang="en-US" sz="1600" dirty="0"/>
          </a:p>
        </p:txBody>
      </p:sp>
      <p:sp>
        <p:nvSpPr>
          <p:cNvPr id="16" name="Text 10"/>
          <p:cNvSpPr txBox="1"/>
          <p:nvPr/>
        </p:nvSpPr>
        <p:spPr>
          <a:xfrm>
            <a:off x="731520" y="4663440"/>
            <a:ext cx="6309360" cy="141732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dθe/dz &lt; 0</a:t>
            </a:r>
            <a:r>
              <a:rPr lang="en-US" sz="1300" dirty="0">
                <a:solidFill>
                  <a:schemeClr val="tx1"/>
                </a:solidFill>
              </a:rPr>
              <a:t> → potentially / convectively unstable: lifting the whole layer to saturation makes it unstable</a:t>
            </a:r>
            <a:endParaRPr lang="en-US" sz="1300" dirty="0"/>
          </a:p>
          <a:p>
            <a:pPr marL="177800" indent="-177800">
              <a:spcAft>
                <a:spcPts val="400"/>
              </a:spcAft>
              <a:buSzPct val="100000"/>
              <a:buChar char="•"/>
            </a:pPr>
            <a:r>
              <a:rPr lang="en-US" sz="1300" dirty="0">
                <a:solidFill>
                  <a:schemeClr val="tx1"/>
                </a:solidFill>
              </a:rPr>
              <a:t>Typical pre-monsoon and pre-thunderstorm profile: moist low levels, dry mid-levels</a:t>
            </a:r>
            <a:endParaRPr lang="en-US" sz="1300" dirty="0"/>
          </a:p>
        </p:txBody>
      </p:sp>
      <p:sp>
        <p:nvSpPr>
          <p:cNvPr id="17" name="card"/>
          <p:cNvSpPr/>
          <p:nvPr/>
        </p:nvSpPr>
        <p:spPr>
          <a:xfrm>
            <a:off x="7498080" y="4434840"/>
            <a:ext cx="4142232" cy="1737360"/>
          </a:xfrm>
          <a:prstGeom prst="roundRect">
            <a:avLst>
              <a:gd name="adj" fmla="val 4211"/>
            </a:avLst>
          </a:prstGeom>
          <a:solidFill>
            <a:schemeClr val="bg2"/>
          </a:solidFill>
          <a:ln/>
          <a:effectLst>
            <a:outerShdw sx="100000" sy="100000" kx="0" ky="0" algn="bl" rotWithShape="0" blurRad="76200" dist="25400" dir="5400000">
              <a:srgbClr val="000000">
                <a:alpha val="14000"/>
              </a:srgbClr>
            </a:outerShdw>
          </a:effectLst>
        </p:spPr>
      </p:sp>
      <p:sp>
        <p:nvSpPr>
          <p:cNvPr id="18" name="icon circle"/>
          <p:cNvSpPr/>
          <p:nvPr/>
        </p:nvSpPr>
        <p:spPr>
          <a:xfrm>
            <a:off x="7680960" y="4590288"/>
            <a:ext cx="420624" cy="420624"/>
          </a:xfrm>
          <a:prstGeom prst="ellipse">
            <a:avLst/>
          </a:prstGeom>
          <a:solidFill>
            <a:schemeClr val="accent4"/>
          </a:solidFill>
          <a:ln/>
        </p:spPr>
      </p:sp>
      <p:pic>
        <p:nvPicPr>
          <p:cNvPr id="19" name="Image 2" descr="Check icon">    </p:cNvPr>
          <p:cNvPicPr>
            <a:picLocks noChangeAspect="1"/>
          </p:cNvPicPr>
          <p:nvPr/>
        </p:nvPicPr>
        <p:blipFill>
          <a:blip r:embed="rId3"/>
          <a:stretch>
            <a:fillRect/>
          </a:stretch>
        </p:blipFill>
        <p:spPr>
          <a:xfrm>
            <a:off x="7790322" y="4699650"/>
            <a:ext cx="201900" cy="201900"/>
          </a:xfrm>
          <a:prstGeom prst="rect">
            <a:avLst/>
          </a:prstGeom>
        </p:spPr>
      </p:pic>
      <p:sp>
        <p:nvSpPr>
          <p:cNvPr id="20" name="Text 13"/>
          <p:cNvSpPr txBox="1"/>
          <p:nvPr/>
        </p:nvSpPr>
        <p:spPr>
          <a:xfrm>
            <a:off x="8211312" y="4572000"/>
            <a:ext cx="3291840" cy="457200"/>
          </a:xfrm>
          <a:prstGeom prst="rect">
            <a:avLst/>
          </a:prstGeom>
          <a:noFill/>
          <a:ln/>
        </p:spPr>
        <p:txBody>
          <a:bodyPr wrap="square" lIns="0" tIns="0" rIns="0" bIns="0" rtlCol="0" anchor="ctr"/>
          <a:lstStyle/>
          <a:p>
            <a:pPr indent="0" marL="0">
              <a:buNone/>
            </a:pPr>
            <a:r>
              <a:rPr lang="en-US" sz="1600" b="1" dirty="0">
                <a:solidFill>
                  <a:schemeClr val="tx2"/>
                </a:solidFill>
              </a:rPr>
              <a:t>Link to the notes</a:t>
            </a:r>
            <a:endParaRPr lang="en-US" sz="1600" dirty="0"/>
          </a:p>
        </p:txBody>
      </p:sp>
      <p:sp>
        <p:nvSpPr>
          <p:cNvPr id="21" name="Text 14"/>
          <p:cNvSpPr txBox="1"/>
          <p:nvPr/>
        </p:nvSpPr>
        <p:spPr>
          <a:xfrm>
            <a:off x="7680960" y="5120640"/>
            <a:ext cx="3776472" cy="96012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Case 1 (DLR &gt; ALR) = dθ/dz &gt; 0 = stable; Case 3 (DLR &lt; ALR) = dθ/dz &lt; 0 = unstable.</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Convection, CAPE &amp; inversions</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From parcel theory to thunderstorms: LCL, LFC, EL, CAPE, CIN, stability indices, inversions and plume behaviour</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08</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Parcel ascent on a sounding: LCL, LFC, EL, CAPE and CIN</a:t>
            </a:r>
            <a:endParaRPr lang="en-US" sz="3200" dirty="0"/>
          </a:p>
        </p:txBody>
      </p:sp>
      <p:sp>
        <p:nvSpPr>
          <p:cNvPr id="4" name="plot area"/>
          <p:cNvSpPr/>
          <p:nvPr/>
        </p:nvSpPr>
        <p:spPr>
          <a:xfrm>
            <a:off x="1051560" y="1600200"/>
            <a:ext cx="6035040" cy="4206240"/>
          </a:xfrm>
          <a:prstGeom prst="rect">
            <a:avLst/>
          </a:prstGeom>
          <a:solidFill>
            <a:schemeClr val="bg1"/>
          </a:solidFill>
          <a:ln w="9525">
            <a:solidFill>
              <a:srgbClr val="C9D2DC"/>
            </a:solidFill>
            <a:prstDash val="solid"/>
          </a:ln>
        </p:spPr>
      </p:sp>
      <p:sp>
        <p:nvSpPr>
          <p:cNvPr id="5" name="Text 2"/>
          <p:cNvSpPr txBox="1"/>
          <p:nvPr/>
        </p:nvSpPr>
        <p:spPr>
          <a:xfrm>
            <a:off x="77724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-70</a:t>
            </a:r>
            <a:endParaRPr lang="en-US" sz="1000" dirty="0"/>
          </a:p>
        </p:txBody>
      </p:sp>
      <p:sp>
        <p:nvSpPr>
          <p:cNvPr id="6" name="arrow"/>
          <p:cNvSpPr/>
          <p:nvPr/>
        </p:nvSpPr>
        <p:spPr>
          <a:xfrm>
            <a:off x="1600200" y="1600200"/>
            <a:ext cx="0" cy="4206240"/>
          </a:xfrm>
          <a:prstGeom prst="line">
            <a:avLst/>
          </a:prstGeom>
          <a:noFill/>
          <a:ln w="6350">
            <a:solidFill>
              <a:srgbClr val="E3E8EE"/>
            </a:solidFill>
            <a:prstDash val="solid"/>
          </a:ln>
        </p:spPr>
      </p:sp>
      <p:sp>
        <p:nvSpPr>
          <p:cNvPr id="7" name="Text 4"/>
          <p:cNvSpPr txBox="1"/>
          <p:nvPr/>
        </p:nvSpPr>
        <p:spPr>
          <a:xfrm>
            <a:off x="132588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-60</a:t>
            </a:r>
            <a:endParaRPr lang="en-US" sz="1000" dirty="0"/>
          </a:p>
        </p:txBody>
      </p:sp>
      <p:sp>
        <p:nvSpPr>
          <p:cNvPr id="8" name="arrow"/>
          <p:cNvSpPr/>
          <p:nvPr/>
        </p:nvSpPr>
        <p:spPr>
          <a:xfrm>
            <a:off x="2148840" y="1600200"/>
            <a:ext cx="0" cy="4206240"/>
          </a:xfrm>
          <a:prstGeom prst="line">
            <a:avLst/>
          </a:prstGeom>
          <a:noFill/>
          <a:ln w="6350">
            <a:solidFill>
              <a:srgbClr val="E3E8EE"/>
            </a:solidFill>
            <a:prstDash val="solid"/>
          </a:ln>
        </p:spPr>
      </p:sp>
      <p:sp>
        <p:nvSpPr>
          <p:cNvPr id="9" name="Text 6"/>
          <p:cNvSpPr txBox="1"/>
          <p:nvPr/>
        </p:nvSpPr>
        <p:spPr>
          <a:xfrm>
            <a:off x="187452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-50</a:t>
            </a:r>
            <a:endParaRPr lang="en-US" sz="1000" dirty="0"/>
          </a:p>
        </p:txBody>
      </p:sp>
      <p:sp>
        <p:nvSpPr>
          <p:cNvPr id="10" name="arrow"/>
          <p:cNvSpPr/>
          <p:nvPr/>
        </p:nvSpPr>
        <p:spPr>
          <a:xfrm>
            <a:off x="2697480" y="1600200"/>
            <a:ext cx="0" cy="4206240"/>
          </a:xfrm>
          <a:prstGeom prst="line">
            <a:avLst/>
          </a:prstGeom>
          <a:noFill/>
          <a:ln w="6350">
            <a:solidFill>
              <a:srgbClr val="E3E8EE"/>
            </a:solidFill>
            <a:prstDash val="solid"/>
          </a:ln>
        </p:spPr>
      </p:sp>
      <p:sp>
        <p:nvSpPr>
          <p:cNvPr id="11" name="Text 8"/>
          <p:cNvSpPr txBox="1"/>
          <p:nvPr/>
        </p:nvSpPr>
        <p:spPr>
          <a:xfrm>
            <a:off x="242316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-40</a:t>
            </a:r>
            <a:endParaRPr lang="en-US" sz="1000" dirty="0"/>
          </a:p>
        </p:txBody>
      </p:sp>
      <p:sp>
        <p:nvSpPr>
          <p:cNvPr id="12" name="arrow"/>
          <p:cNvSpPr/>
          <p:nvPr/>
        </p:nvSpPr>
        <p:spPr>
          <a:xfrm>
            <a:off x="3246120" y="1600200"/>
            <a:ext cx="0" cy="4206240"/>
          </a:xfrm>
          <a:prstGeom prst="line">
            <a:avLst/>
          </a:prstGeom>
          <a:noFill/>
          <a:ln w="6350">
            <a:solidFill>
              <a:srgbClr val="E3E8EE"/>
            </a:solidFill>
            <a:prstDash val="solid"/>
          </a:ln>
        </p:spPr>
      </p:sp>
      <p:sp>
        <p:nvSpPr>
          <p:cNvPr id="13" name="Text 10"/>
          <p:cNvSpPr txBox="1"/>
          <p:nvPr/>
        </p:nvSpPr>
        <p:spPr>
          <a:xfrm>
            <a:off x="297180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-30</a:t>
            </a:r>
            <a:endParaRPr lang="en-US" sz="1000" dirty="0"/>
          </a:p>
        </p:txBody>
      </p:sp>
      <p:sp>
        <p:nvSpPr>
          <p:cNvPr id="14" name="arrow"/>
          <p:cNvSpPr/>
          <p:nvPr/>
        </p:nvSpPr>
        <p:spPr>
          <a:xfrm>
            <a:off x="3794760" y="1600200"/>
            <a:ext cx="0" cy="4206240"/>
          </a:xfrm>
          <a:prstGeom prst="line">
            <a:avLst/>
          </a:prstGeom>
          <a:noFill/>
          <a:ln w="6350">
            <a:solidFill>
              <a:srgbClr val="E3E8EE"/>
            </a:solidFill>
            <a:prstDash val="solid"/>
          </a:ln>
        </p:spPr>
      </p:sp>
      <p:sp>
        <p:nvSpPr>
          <p:cNvPr id="15" name="Text 12"/>
          <p:cNvSpPr txBox="1"/>
          <p:nvPr/>
        </p:nvSpPr>
        <p:spPr>
          <a:xfrm>
            <a:off x="352044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-20</a:t>
            </a:r>
            <a:endParaRPr lang="en-US" sz="1000" dirty="0"/>
          </a:p>
        </p:txBody>
      </p:sp>
      <p:sp>
        <p:nvSpPr>
          <p:cNvPr id="16" name="arrow"/>
          <p:cNvSpPr/>
          <p:nvPr/>
        </p:nvSpPr>
        <p:spPr>
          <a:xfrm>
            <a:off x="4343400" y="1600200"/>
            <a:ext cx="0" cy="4206240"/>
          </a:xfrm>
          <a:prstGeom prst="line">
            <a:avLst/>
          </a:prstGeom>
          <a:noFill/>
          <a:ln w="6350">
            <a:solidFill>
              <a:srgbClr val="E3E8EE"/>
            </a:solidFill>
            <a:prstDash val="solid"/>
          </a:ln>
        </p:spPr>
      </p:sp>
      <p:sp>
        <p:nvSpPr>
          <p:cNvPr id="17" name="Text 14"/>
          <p:cNvSpPr txBox="1"/>
          <p:nvPr/>
        </p:nvSpPr>
        <p:spPr>
          <a:xfrm>
            <a:off x="406908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-10</a:t>
            </a:r>
            <a:endParaRPr lang="en-US" sz="1000" dirty="0"/>
          </a:p>
        </p:txBody>
      </p:sp>
      <p:sp>
        <p:nvSpPr>
          <p:cNvPr id="18" name="arrow"/>
          <p:cNvSpPr/>
          <p:nvPr/>
        </p:nvSpPr>
        <p:spPr>
          <a:xfrm>
            <a:off x="4892040" y="1600200"/>
            <a:ext cx="0" cy="4206240"/>
          </a:xfrm>
          <a:prstGeom prst="line">
            <a:avLst/>
          </a:prstGeom>
          <a:noFill/>
          <a:ln w="6350">
            <a:solidFill>
              <a:srgbClr val="E3E8EE"/>
            </a:solidFill>
            <a:prstDash val="solid"/>
          </a:ln>
        </p:spPr>
      </p:sp>
      <p:sp>
        <p:nvSpPr>
          <p:cNvPr id="19" name="Text 16"/>
          <p:cNvSpPr txBox="1"/>
          <p:nvPr/>
        </p:nvSpPr>
        <p:spPr>
          <a:xfrm>
            <a:off x="461772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0</a:t>
            </a:r>
            <a:endParaRPr lang="en-US" sz="1000" dirty="0"/>
          </a:p>
        </p:txBody>
      </p:sp>
      <p:sp>
        <p:nvSpPr>
          <p:cNvPr id="20" name="arrow"/>
          <p:cNvSpPr/>
          <p:nvPr/>
        </p:nvSpPr>
        <p:spPr>
          <a:xfrm>
            <a:off x="5440680" y="1600200"/>
            <a:ext cx="0" cy="4206240"/>
          </a:xfrm>
          <a:prstGeom prst="line">
            <a:avLst/>
          </a:prstGeom>
          <a:noFill/>
          <a:ln w="6350">
            <a:solidFill>
              <a:srgbClr val="E3E8EE"/>
            </a:solidFill>
            <a:prstDash val="solid"/>
          </a:ln>
        </p:spPr>
      </p:sp>
      <p:sp>
        <p:nvSpPr>
          <p:cNvPr id="21" name="Text 18"/>
          <p:cNvSpPr txBox="1"/>
          <p:nvPr/>
        </p:nvSpPr>
        <p:spPr>
          <a:xfrm>
            <a:off x="516636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10</a:t>
            </a:r>
            <a:endParaRPr lang="en-US" sz="1000" dirty="0"/>
          </a:p>
        </p:txBody>
      </p:sp>
      <p:sp>
        <p:nvSpPr>
          <p:cNvPr id="22" name="arrow"/>
          <p:cNvSpPr/>
          <p:nvPr/>
        </p:nvSpPr>
        <p:spPr>
          <a:xfrm>
            <a:off x="5989320" y="1600200"/>
            <a:ext cx="0" cy="4206240"/>
          </a:xfrm>
          <a:prstGeom prst="line">
            <a:avLst/>
          </a:prstGeom>
          <a:noFill/>
          <a:ln w="6350">
            <a:solidFill>
              <a:srgbClr val="E3E8EE"/>
            </a:solidFill>
            <a:prstDash val="solid"/>
          </a:ln>
        </p:spPr>
      </p:sp>
      <p:sp>
        <p:nvSpPr>
          <p:cNvPr id="23" name="Text 20"/>
          <p:cNvSpPr txBox="1"/>
          <p:nvPr/>
        </p:nvSpPr>
        <p:spPr>
          <a:xfrm>
            <a:off x="571500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20</a:t>
            </a:r>
            <a:endParaRPr lang="en-US" sz="1000" dirty="0"/>
          </a:p>
        </p:txBody>
      </p:sp>
      <p:sp>
        <p:nvSpPr>
          <p:cNvPr id="24" name="arrow"/>
          <p:cNvSpPr/>
          <p:nvPr/>
        </p:nvSpPr>
        <p:spPr>
          <a:xfrm>
            <a:off x="6537960" y="1600200"/>
            <a:ext cx="0" cy="4206240"/>
          </a:xfrm>
          <a:prstGeom prst="line">
            <a:avLst/>
          </a:prstGeom>
          <a:noFill/>
          <a:ln w="6350">
            <a:solidFill>
              <a:srgbClr val="E3E8EE"/>
            </a:solidFill>
            <a:prstDash val="solid"/>
          </a:ln>
        </p:spPr>
      </p:sp>
      <p:sp>
        <p:nvSpPr>
          <p:cNvPr id="25" name="Text 22"/>
          <p:cNvSpPr txBox="1"/>
          <p:nvPr/>
        </p:nvSpPr>
        <p:spPr>
          <a:xfrm>
            <a:off x="626364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30</a:t>
            </a:r>
            <a:endParaRPr lang="en-US" sz="1000" dirty="0"/>
          </a:p>
        </p:txBody>
      </p:sp>
      <p:sp>
        <p:nvSpPr>
          <p:cNvPr id="26" name="Text 23"/>
          <p:cNvSpPr txBox="1"/>
          <p:nvPr/>
        </p:nvSpPr>
        <p:spPr>
          <a:xfrm>
            <a:off x="681228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40</a:t>
            </a:r>
            <a:endParaRPr lang="en-US" sz="1000" dirty="0"/>
          </a:p>
        </p:txBody>
      </p:sp>
      <p:sp>
        <p:nvSpPr>
          <p:cNvPr id="27" name="Text 24"/>
          <p:cNvSpPr txBox="1"/>
          <p:nvPr/>
        </p:nvSpPr>
        <p:spPr>
          <a:xfrm>
            <a:off x="640080" y="569671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0</a:t>
            </a:r>
            <a:endParaRPr lang="en-US" sz="1000" dirty="0"/>
          </a:p>
        </p:txBody>
      </p:sp>
      <p:sp>
        <p:nvSpPr>
          <p:cNvPr id="28" name="arrow"/>
          <p:cNvSpPr/>
          <p:nvPr/>
        </p:nvSpPr>
        <p:spPr>
          <a:xfrm>
            <a:off x="1051560" y="4965192"/>
            <a:ext cx="6035040" cy="0"/>
          </a:xfrm>
          <a:prstGeom prst="line">
            <a:avLst/>
          </a:prstGeom>
          <a:noFill/>
          <a:ln w="6350">
            <a:solidFill>
              <a:srgbClr val="E3E8EE"/>
            </a:solidFill>
            <a:prstDash val="solid"/>
          </a:ln>
        </p:spPr>
      </p:sp>
      <p:sp>
        <p:nvSpPr>
          <p:cNvPr id="29" name="Text 26"/>
          <p:cNvSpPr txBox="1"/>
          <p:nvPr/>
        </p:nvSpPr>
        <p:spPr>
          <a:xfrm>
            <a:off x="640080" y="4855464"/>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3</a:t>
            </a:r>
            <a:endParaRPr lang="en-US" sz="1000" dirty="0"/>
          </a:p>
        </p:txBody>
      </p:sp>
      <p:sp>
        <p:nvSpPr>
          <p:cNvPr id="30" name="arrow"/>
          <p:cNvSpPr/>
          <p:nvPr/>
        </p:nvSpPr>
        <p:spPr>
          <a:xfrm>
            <a:off x="1051560" y="4123944"/>
            <a:ext cx="6035040" cy="0"/>
          </a:xfrm>
          <a:prstGeom prst="line">
            <a:avLst/>
          </a:prstGeom>
          <a:noFill/>
          <a:ln w="6350">
            <a:solidFill>
              <a:srgbClr val="E3E8EE"/>
            </a:solidFill>
            <a:prstDash val="solid"/>
          </a:ln>
        </p:spPr>
      </p:sp>
      <p:sp>
        <p:nvSpPr>
          <p:cNvPr id="31" name="Text 28"/>
          <p:cNvSpPr txBox="1"/>
          <p:nvPr/>
        </p:nvSpPr>
        <p:spPr>
          <a:xfrm>
            <a:off x="640080" y="4014216"/>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6</a:t>
            </a:r>
            <a:endParaRPr lang="en-US" sz="1000" dirty="0"/>
          </a:p>
        </p:txBody>
      </p:sp>
      <p:sp>
        <p:nvSpPr>
          <p:cNvPr id="32" name="arrow"/>
          <p:cNvSpPr/>
          <p:nvPr/>
        </p:nvSpPr>
        <p:spPr>
          <a:xfrm>
            <a:off x="1051560" y="3282696"/>
            <a:ext cx="6035040" cy="0"/>
          </a:xfrm>
          <a:prstGeom prst="line">
            <a:avLst/>
          </a:prstGeom>
          <a:noFill/>
          <a:ln w="6350">
            <a:solidFill>
              <a:srgbClr val="E3E8EE"/>
            </a:solidFill>
            <a:prstDash val="solid"/>
          </a:ln>
        </p:spPr>
      </p:sp>
      <p:sp>
        <p:nvSpPr>
          <p:cNvPr id="33" name="Text 30"/>
          <p:cNvSpPr txBox="1"/>
          <p:nvPr/>
        </p:nvSpPr>
        <p:spPr>
          <a:xfrm>
            <a:off x="640080" y="3172968"/>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9</a:t>
            </a:r>
            <a:endParaRPr lang="en-US" sz="1000" dirty="0"/>
          </a:p>
        </p:txBody>
      </p:sp>
      <p:sp>
        <p:nvSpPr>
          <p:cNvPr id="34" name="arrow"/>
          <p:cNvSpPr/>
          <p:nvPr/>
        </p:nvSpPr>
        <p:spPr>
          <a:xfrm>
            <a:off x="1051560" y="2441448"/>
            <a:ext cx="6035040" cy="0"/>
          </a:xfrm>
          <a:prstGeom prst="line">
            <a:avLst/>
          </a:prstGeom>
          <a:noFill/>
          <a:ln w="6350">
            <a:solidFill>
              <a:srgbClr val="E3E8EE"/>
            </a:solidFill>
            <a:prstDash val="solid"/>
          </a:ln>
        </p:spPr>
      </p:sp>
      <p:sp>
        <p:nvSpPr>
          <p:cNvPr id="35" name="Text 32"/>
          <p:cNvSpPr txBox="1"/>
          <p:nvPr/>
        </p:nvSpPr>
        <p:spPr>
          <a:xfrm>
            <a:off x="640080" y="2331720"/>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12</a:t>
            </a:r>
            <a:endParaRPr lang="en-US" sz="1000" dirty="0"/>
          </a:p>
        </p:txBody>
      </p:sp>
      <p:sp>
        <p:nvSpPr>
          <p:cNvPr id="36" name="Text 33"/>
          <p:cNvSpPr txBox="1"/>
          <p:nvPr/>
        </p:nvSpPr>
        <p:spPr>
          <a:xfrm>
            <a:off x="640080" y="149047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15</a:t>
            </a:r>
            <a:endParaRPr lang="en-US" sz="1000" dirty="0"/>
          </a:p>
        </p:txBody>
      </p:sp>
      <p:sp>
        <p:nvSpPr>
          <p:cNvPr id="37" name="Text 34"/>
          <p:cNvSpPr txBox="1"/>
          <p:nvPr/>
        </p:nvSpPr>
        <p:spPr>
          <a:xfrm>
            <a:off x="1051560" y="6053328"/>
            <a:ext cx="6035040" cy="256032"/>
          </a:xfrm>
          <a:prstGeom prst="rect">
            <a:avLst/>
          </a:prstGeom>
          <a:noFill/>
          <a:ln/>
        </p:spPr>
        <p:txBody>
          <a:bodyPr wrap="square" lIns="0" tIns="0" rIns="0" bIns="0" rtlCol="0" anchor="ctr"/>
          <a:lstStyle/>
          <a:p>
            <a:pPr algn="ctr" indent="0" marL="0">
              <a:buNone/>
            </a:pPr>
            <a:r>
              <a:rPr lang="en-US" sz="1100" i="1" dirty="0">
                <a:solidFill>
                  <a:schemeClr val="accent6"/>
                </a:solidFill>
              </a:rPr>
              <a:t>Temperature (°C)</a:t>
            </a:r>
            <a:endParaRPr lang="en-US" sz="1100" dirty="0"/>
          </a:p>
        </p:txBody>
      </p:sp>
      <p:sp>
        <p:nvSpPr>
          <p:cNvPr id="38" name="Text 35"/>
          <p:cNvSpPr txBox="1"/>
          <p:nvPr/>
        </p:nvSpPr>
        <p:spPr>
          <a:xfrm>
            <a:off x="484632" y="1307592"/>
            <a:ext cx="2286000" cy="256032"/>
          </a:xfrm>
          <a:prstGeom prst="rect">
            <a:avLst/>
          </a:prstGeom>
          <a:noFill/>
          <a:ln/>
        </p:spPr>
        <p:txBody>
          <a:bodyPr wrap="square" lIns="0" tIns="0" rIns="0" bIns="0" rtlCol="0" anchor="ctr"/>
          <a:lstStyle/>
          <a:p>
            <a:pPr algn="l" indent="0" marL="0">
              <a:buNone/>
            </a:pPr>
            <a:r>
              <a:rPr lang="en-US" sz="1100" i="1" dirty="0">
                <a:solidFill>
                  <a:schemeClr val="accent6"/>
                </a:solidFill>
              </a:rPr>
              <a:t>Height (km)</a:t>
            </a:r>
            <a:endParaRPr lang="en-US" sz="1100" dirty="0"/>
          </a:p>
        </p:txBody>
      </p:sp>
      <p:sp>
        <p:nvSpPr>
          <p:cNvPr id="39" name="shaded area"/>
          <p:cNvSpPr/>
          <p:nvPr/>
        </p:nvSpPr>
        <p:spPr>
          <a:xfrm>
            <a:off x="5228905" y="4740859"/>
            <a:ext cx="1309055" cy="1065581"/>
          </a:xfrm>
          <a:custGeom>
            <a:avLst/>
            <a:gdLst/>
            <a:ahLst/>
            <a:cxnLst/>
            <a:rect l="l" t="t" r="r" b="b"/>
            <a:pathLst>
              <a:path w="1309055" h="1065581">
                <a:moveTo>
                  <a:pt x="1309055" y="1065581"/>
                </a:moveTo>
                <a:lnTo>
                  <a:pt x="1255288" y="1037539"/>
                </a:lnTo>
                <a:lnTo>
                  <a:pt x="1201522" y="1009498"/>
                </a:lnTo>
                <a:lnTo>
                  <a:pt x="1147755" y="981456"/>
                </a:lnTo>
                <a:lnTo>
                  <a:pt x="1093988" y="953414"/>
                </a:lnTo>
                <a:lnTo>
                  <a:pt x="1040221" y="925373"/>
                </a:lnTo>
                <a:lnTo>
                  <a:pt x="986455" y="897331"/>
                </a:lnTo>
                <a:lnTo>
                  <a:pt x="932688" y="869290"/>
                </a:lnTo>
                <a:lnTo>
                  <a:pt x="878921" y="841248"/>
                </a:lnTo>
                <a:lnTo>
                  <a:pt x="825155" y="813206"/>
                </a:lnTo>
                <a:lnTo>
                  <a:pt x="771388" y="785165"/>
                </a:lnTo>
                <a:lnTo>
                  <a:pt x="717621" y="757123"/>
                </a:lnTo>
                <a:lnTo>
                  <a:pt x="663854" y="729082"/>
                </a:lnTo>
                <a:lnTo>
                  <a:pt x="639166" y="701040"/>
                </a:lnTo>
                <a:lnTo>
                  <a:pt x="614477" y="672998"/>
                </a:lnTo>
                <a:lnTo>
                  <a:pt x="589788" y="644957"/>
                </a:lnTo>
                <a:lnTo>
                  <a:pt x="565099" y="616915"/>
                </a:lnTo>
                <a:lnTo>
                  <a:pt x="540410" y="588874"/>
                </a:lnTo>
                <a:lnTo>
                  <a:pt x="515722" y="560832"/>
                </a:lnTo>
                <a:lnTo>
                  <a:pt x="491033" y="532790"/>
                </a:lnTo>
                <a:lnTo>
                  <a:pt x="466344" y="504749"/>
                </a:lnTo>
                <a:lnTo>
                  <a:pt x="441655" y="476707"/>
                </a:lnTo>
                <a:lnTo>
                  <a:pt x="416966" y="448666"/>
                </a:lnTo>
                <a:lnTo>
                  <a:pt x="392278" y="420624"/>
                </a:lnTo>
                <a:lnTo>
                  <a:pt x="367589" y="392582"/>
                </a:lnTo>
                <a:lnTo>
                  <a:pt x="342900" y="364541"/>
                </a:lnTo>
                <a:lnTo>
                  <a:pt x="318211" y="336499"/>
                </a:lnTo>
                <a:lnTo>
                  <a:pt x="293522" y="308458"/>
                </a:lnTo>
                <a:lnTo>
                  <a:pt x="268834" y="280416"/>
                </a:lnTo>
                <a:lnTo>
                  <a:pt x="244145" y="252374"/>
                </a:lnTo>
                <a:lnTo>
                  <a:pt x="219456" y="224333"/>
                </a:lnTo>
                <a:lnTo>
                  <a:pt x="192024" y="196291"/>
                </a:lnTo>
                <a:lnTo>
                  <a:pt x="164592" y="168250"/>
                </a:lnTo>
                <a:lnTo>
                  <a:pt x="137160" y="140208"/>
                </a:lnTo>
                <a:lnTo>
                  <a:pt x="109728" y="112166"/>
                </a:lnTo>
                <a:lnTo>
                  <a:pt x="82296" y="84125"/>
                </a:lnTo>
                <a:lnTo>
                  <a:pt x="54864" y="56083"/>
                </a:lnTo>
                <a:lnTo>
                  <a:pt x="27432" y="28042"/>
                </a:lnTo>
                <a:lnTo>
                  <a:pt x="0" y="0"/>
                </a:lnTo>
                <a:lnTo>
                  <a:pt x="3292" y="0"/>
                </a:lnTo>
                <a:lnTo>
                  <a:pt x="36210" y="28042"/>
                </a:lnTo>
                <a:lnTo>
                  <a:pt x="69129" y="56083"/>
                </a:lnTo>
                <a:lnTo>
                  <a:pt x="102047" y="84125"/>
                </a:lnTo>
                <a:lnTo>
                  <a:pt x="134965" y="112166"/>
                </a:lnTo>
                <a:lnTo>
                  <a:pt x="167884" y="140208"/>
                </a:lnTo>
                <a:lnTo>
                  <a:pt x="200802" y="168250"/>
                </a:lnTo>
                <a:lnTo>
                  <a:pt x="233721" y="196291"/>
                </a:lnTo>
                <a:lnTo>
                  <a:pt x="266639" y="224333"/>
                </a:lnTo>
                <a:lnTo>
                  <a:pt x="294071" y="252374"/>
                </a:lnTo>
                <a:lnTo>
                  <a:pt x="321503" y="280416"/>
                </a:lnTo>
                <a:lnTo>
                  <a:pt x="348935" y="308458"/>
                </a:lnTo>
                <a:lnTo>
                  <a:pt x="376367" y="336499"/>
                </a:lnTo>
                <a:lnTo>
                  <a:pt x="403799" y="364541"/>
                </a:lnTo>
                <a:lnTo>
                  <a:pt x="431231" y="392582"/>
                </a:lnTo>
                <a:lnTo>
                  <a:pt x="458663" y="420624"/>
                </a:lnTo>
                <a:lnTo>
                  <a:pt x="486095" y="448666"/>
                </a:lnTo>
                <a:lnTo>
                  <a:pt x="513527" y="476707"/>
                </a:lnTo>
                <a:lnTo>
                  <a:pt x="540959" y="504749"/>
                </a:lnTo>
                <a:lnTo>
                  <a:pt x="573877" y="532790"/>
                </a:lnTo>
                <a:lnTo>
                  <a:pt x="606796" y="560832"/>
                </a:lnTo>
                <a:lnTo>
                  <a:pt x="639714" y="588874"/>
                </a:lnTo>
                <a:lnTo>
                  <a:pt x="672633" y="616915"/>
                </a:lnTo>
                <a:lnTo>
                  <a:pt x="705551" y="644957"/>
                </a:lnTo>
                <a:lnTo>
                  <a:pt x="738469" y="672998"/>
                </a:lnTo>
                <a:lnTo>
                  <a:pt x="771388" y="701040"/>
                </a:lnTo>
                <a:lnTo>
                  <a:pt x="804306" y="729082"/>
                </a:lnTo>
                <a:lnTo>
                  <a:pt x="837225" y="757123"/>
                </a:lnTo>
                <a:lnTo>
                  <a:pt x="870143" y="785165"/>
                </a:lnTo>
                <a:lnTo>
                  <a:pt x="914034" y="813206"/>
                </a:lnTo>
                <a:lnTo>
                  <a:pt x="957925" y="841248"/>
                </a:lnTo>
                <a:lnTo>
                  <a:pt x="1001817" y="869290"/>
                </a:lnTo>
                <a:lnTo>
                  <a:pt x="1045708" y="897331"/>
                </a:lnTo>
                <a:lnTo>
                  <a:pt x="1089599" y="925373"/>
                </a:lnTo>
                <a:lnTo>
                  <a:pt x="1133490" y="953414"/>
                </a:lnTo>
                <a:lnTo>
                  <a:pt x="1177381" y="981456"/>
                </a:lnTo>
                <a:lnTo>
                  <a:pt x="1221273" y="1009498"/>
                </a:lnTo>
                <a:lnTo>
                  <a:pt x="1265164" y="1037539"/>
                </a:lnTo>
                <a:lnTo>
                  <a:pt x="1309055" y="1065581"/>
                </a:lnTo>
                <a:close/>
              </a:path>
            </a:pathLst>
          </a:custGeom>
          <a:solidFill>
            <a:srgbClr val="2E86AB">
              <a:alpha val="45000"/>
            </a:srgbClr>
          </a:solidFill>
          <a:ln/>
        </p:spPr>
      </p:sp>
      <p:sp>
        <p:nvSpPr>
          <p:cNvPr id="40" name="shaded area"/>
          <p:cNvSpPr/>
          <p:nvPr/>
        </p:nvSpPr>
        <p:spPr>
          <a:xfrm>
            <a:off x="1912376" y="2225528"/>
            <a:ext cx="3297326" cy="2495702"/>
          </a:xfrm>
          <a:custGeom>
            <a:avLst/>
            <a:gdLst/>
            <a:ahLst/>
            <a:cxnLst/>
            <a:rect l="l" t="t" r="r" b="b"/>
            <a:pathLst>
              <a:path w="3297326" h="2495702">
                <a:moveTo>
                  <a:pt x="3297326" y="2495702"/>
                </a:moveTo>
                <a:lnTo>
                  <a:pt x="3269894" y="2467661"/>
                </a:lnTo>
                <a:lnTo>
                  <a:pt x="3242462" y="2439619"/>
                </a:lnTo>
                <a:lnTo>
                  <a:pt x="3215030" y="2411578"/>
                </a:lnTo>
                <a:lnTo>
                  <a:pt x="3187598" y="2383536"/>
                </a:lnTo>
                <a:lnTo>
                  <a:pt x="3160166" y="2355494"/>
                </a:lnTo>
                <a:lnTo>
                  <a:pt x="3132734" y="2327453"/>
                </a:lnTo>
                <a:lnTo>
                  <a:pt x="3105302" y="2299411"/>
                </a:lnTo>
                <a:lnTo>
                  <a:pt x="3077870" y="2271370"/>
                </a:lnTo>
                <a:lnTo>
                  <a:pt x="3050438" y="2243328"/>
                </a:lnTo>
                <a:lnTo>
                  <a:pt x="3023006" y="2215286"/>
                </a:lnTo>
                <a:lnTo>
                  <a:pt x="2995574" y="2187245"/>
                </a:lnTo>
                <a:lnTo>
                  <a:pt x="2968142" y="2159203"/>
                </a:lnTo>
                <a:lnTo>
                  <a:pt x="2940710" y="2131162"/>
                </a:lnTo>
                <a:lnTo>
                  <a:pt x="2913278" y="2103120"/>
                </a:lnTo>
                <a:lnTo>
                  <a:pt x="2885846" y="2075078"/>
                </a:lnTo>
                <a:lnTo>
                  <a:pt x="2858414" y="2047037"/>
                </a:lnTo>
                <a:lnTo>
                  <a:pt x="2830982" y="2018995"/>
                </a:lnTo>
                <a:lnTo>
                  <a:pt x="2803550" y="1990954"/>
                </a:lnTo>
                <a:lnTo>
                  <a:pt x="2776118" y="1962912"/>
                </a:lnTo>
                <a:lnTo>
                  <a:pt x="2748686" y="1934870"/>
                </a:lnTo>
                <a:lnTo>
                  <a:pt x="2721254" y="1906829"/>
                </a:lnTo>
                <a:lnTo>
                  <a:pt x="2688062" y="1878787"/>
                </a:lnTo>
                <a:lnTo>
                  <a:pt x="2652400" y="1850746"/>
                </a:lnTo>
                <a:lnTo>
                  <a:pt x="2616738" y="1822704"/>
                </a:lnTo>
                <a:lnTo>
                  <a:pt x="2581077" y="1794662"/>
                </a:lnTo>
                <a:lnTo>
                  <a:pt x="2545415" y="1766621"/>
                </a:lnTo>
                <a:lnTo>
                  <a:pt x="2509754" y="1738579"/>
                </a:lnTo>
                <a:lnTo>
                  <a:pt x="2474092" y="1710538"/>
                </a:lnTo>
                <a:lnTo>
                  <a:pt x="2438430" y="1682496"/>
                </a:lnTo>
                <a:lnTo>
                  <a:pt x="2402769" y="1654454"/>
                </a:lnTo>
                <a:lnTo>
                  <a:pt x="2367107" y="1626413"/>
                </a:lnTo>
                <a:lnTo>
                  <a:pt x="2331446" y="1598371"/>
                </a:lnTo>
                <a:lnTo>
                  <a:pt x="2295784" y="1570330"/>
                </a:lnTo>
                <a:lnTo>
                  <a:pt x="2260122" y="1542288"/>
                </a:lnTo>
                <a:lnTo>
                  <a:pt x="2224461" y="1514246"/>
                </a:lnTo>
                <a:lnTo>
                  <a:pt x="2188799" y="1486205"/>
                </a:lnTo>
                <a:lnTo>
                  <a:pt x="2153138" y="1458163"/>
                </a:lnTo>
                <a:lnTo>
                  <a:pt x="2117476" y="1430122"/>
                </a:lnTo>
                <a:lnTo>
                  <a:pt x="2081814" y="1402080"/>
                </a:lnTo>
                <a:lnTo>
                  <a:pt x="2046153" y="1374038"/>
                </a:lnTo>
                <a:lnTo>
                  <a:pt x="2010491" y="1345997"/>
                </a:lnTo>
                <a:lnTo>
                  <a:pt x="1974830" y="1317955"/>
                </a:lnTo>
                <a:lnTo>
                  <a:pt x="1939168" y="1289914"/>
                </a:lnTo>
                <a:lnTo>
                  <a:pt x="1903506" y="1261872"/>
                </a:lnTo>
                <a:lnTo>
                  <a:pt x="1867845" y="1233830"/>
                </a:lnTo>
                <a:lnTo>
                  <a:pt x="1832183" y="1205789"/>
                </a:lnTo>
                <a:lnTo>
                  <a:pt x="1796522" y="1177747"/>
                </a:lnTo>
                <a:lnTo>
                  <a:pt x="1760860" y="1149706"/>
                </a:lnTo>
                <a:lnTo>
                  <a:pt x="1725198" y="1121664"/>
                </a:lnTo>
                <a:lnTo>
                  <a:pt x="1689537" y="1093622"/>
                </a:lnTo>
                <a:lnTo>
                  <a:pt x="1653875" y="1065581"/>
                </a:lnTo>
                <a:lnTo>
                  <a:pt x="1618214" y="1037539"/>
                </a:lnTo>
                <a:lnTo>
                  <a:pt x="1582552" y="1009498"/>
                </a:lnTo>
                <a:lnTo>
                  <a:pt x="1546890" y="981456"/>
                </a:lnTo>
                <a:lnTo>
                  <a:pt x="1511229" y="953414"/>
                </a:lnTo>
                <a:lnTo>
                  <a:pt x="1475567" y="925373"/>
                </a:lnTo>
                <a:lnTo>
                  <a:pt x="1439906" y="897331"/>
                </a:lnTo>
                <a:lnTo>
                  <a:pt x="1404244" y="869290"/>
                </a:lnTo>
                <a:lnTo>
                  <a:pt x="1368582" y="841248"/>
                </a:lnTo>
                <a:lnTo>
                  <a:pt x="1332921" y="813206"/>
                </a:lnTo>
                <a:lnTo>
                  <a:pt x="1297259" y="785165"/>
                </a:lnTo>
                <a:lnTo>
                  <a:pt x="1255837" y="757123"/>
                </a:lnTo>
                <a:lnTo>
                  <a:pt x="1211946" y="729082"/>
                </a:lnTo>
                <a:lnTo>
                  <a:pt x="1168055" y="701040"/>
                </a:lnTo>
                <a:lnTo>
                  <a:pt x="1124163" y="672998"/>
                </a:lnTo>
                <a:lnTo>
                  <a:pt x="1080272" y="644957"/>
                </a:lnTo>
                <a:lnTo>
                  <a:pt x="1036381" y="616915"/>
                </a:lnTo>
                <a:lnTo>
                  <a:pt x="992490" y="588874"/>
                </a:lnTo>
                <a:lnTo>
                  <a:pt x="948599" y="560832"/>
                </a:lnTo>
                <a:lnTo>
                  <a:pt x="904707" y="532790"/>
                </a:lnTo>
                <a:lnTo>
                  <a:pt x="860816" y="504749"/>
                </a:lnTo>
                <a:lnTo>
                  <a:pt x="816925" y="476707"/>
                </a:lnTo>
                <a:lnTo>
                  <a:pt x="773034" y="448666"/>
                </a:lnTo>
                <a:lnTo>
                  <a:pt x="729143" y="420624"/>
                </a:lnTo>
                <a:lnTo>
                  <a:pt x="685251" y="392582"/>
                </a:lnTo>
                <a:lnTo>
                  <a:pt x="641360" y="364541"/>
                </a:lnTo>
                <a:lnTo>
                  <a:pt x="597469" y="336499"/>
                </a:lnTo>
                <a:lnTo>
                  <a:pt x="553578" y="308458"/>
                </a:lnTo>
                <a:lnTo>
                  <a:pt x="509687" y="280416"/>
                </a:lnTo>
                <a:lnTo>
                  <a:pt x="465795" y="252374"/>
                </a:lnTo>
                <a:lnTo>
                  <a:pt x="421904" y="224333"/>
                </a:lnTo>
                <a:lnTo>
                  <a:pt x="372252" y="196291"/>
                </a:lnTo>
                <a:lnTo>
                  <a:pt x="320131" y="168250"/>
                </a:lnTo>
                <a:lnTo>
                  <a:pt x="268011" y="140208"/>
                </a:lnTo>
                <a:lnTo>
                  <a:pt x="215890" y="112166"/>
                </a:lnTo>
                <a:lnTo>
                  <a:pt x="163769" y="84125"/>
                </a:lnTo>
                <a:lnTo>
                  <a:pt x="111648" y="56083"/>
                </a:lnTo>
                <a:lnTo>
                  <a:pt x="59527" y="28042"/>
                </a:lnTo>
                <a:lnTo>
                  <a:pt x="7407" y="0"/>
                </a:lnTo>
                <a:lnTo>
                  <a:pt x="0" y="0"/>
                </a:lnTo>
                <a:lnTo>
                  <a:pt x="16459" y="28042"/>
                </a:lnTo>
                <a:lnTo>
                  <a:pt x="32918" y="56083"/>
                </a:lnTo>
                <a:lnTo>
                  <a:pt x="49378" y="84125"/>
                </a:lnTo>
                <a:lnTo>
                  <a:pt x="65837" y="112166"/>
                </a:lnTo>
                <a:lnTo>
                  <a:pt x="82296" y="140208"/>
                </a:lnTo>
                <a:lnTo>
                  <a:pt x="98755" y="168250"/>
                </a:lnTo>
                <a:lnTo>
                  <a:pt x="115214" y="196291"/>
                </a:lnTo>
                <a:lnTo>
                  <a:pt x="138257" y="224333"/>
                </a:lnTo>
                <a:lnTo>
                  <a:pt x="176662" y="252374"/>
                </a:lnTo>
                <a:lnTo>
                  <a:pt x="215067" y="280416"/>
                </a:lnTo>
                <a:lnTo>
                  <a:pt x="253472" y="308458"/>
                </a:lnTo>
                <a:lnTo>
                  <a:pt x="291876" y="336499"/>
                </a:lnTo>
                <a:lnTo>
                  <a:pt x="330281" y="364541"/>
                </a:lnTo>
                <a:lnTo>
                  <a:pt x="368686" y="392582"/>
                </a:lnTo>
                <a:lnTo>
                  <a:pt x="407091" y="420624"/>
                </a:lnTo>
                <a:lnTo>
                  <a:pt x="445496" y="448666"/>
                </a:lnTo>
                <a:lnTo>
                  <a:pt x="483900" y="476707"/>
                </a:lnTo>
                <a:lnTo>
                  <a:pt x="522305" y="504749"/>
                </a:lnTo>
                <a:lnTo>
                  <a:pt x="560710" y="532790"/>
                </a:lnTo>
                <a:lnTo>
                  <a:pt x="599115" y="560832"/>
                </a:lnTo>
                <a:lnTo>
                  <a:pt x="637520" y="588874"/>
                </a:lnTo>
                <a:lnTo>
                  <a:pt x="675924" y="616915"/>
                </a:lnTo>
                <a:lnTo>
                  <a:pt x="714329" y="644957"/>
                </a:lnTo>
                <a:lnTo>
                  <a:pt x="752734" y="672998"/>
                </a:lnTo>
                <a:lnTo>
                  <a:pt x="791139" y="701040"/>
                </a:lnTo>
                <a:lnTo>
                  <a:pt x="829544" y="729082"/>
                </a:lnTo>
                <a:lnTo>
                  <a:pt x="867948" y="757123"/>
                </a:lnTo>
                <a:lnTo>
                  <a:pt x="907999" y="785165"/>
                </a:lnTo>
                <a:lnTo>
                  <a:pt x="951890" y="813206"/>
                </a:lnTo>
                <a:lnTo>
                  <a:pt x="995782" y="841248"/>
                </a:lnTo>
                <a:lnTo>
                  <a:pt x="1039673" y="869290"/>
                </a:lnTo>
                <a:lnTo>
                  <a:pt x="1083564" y="897331"/>
                </a:lnTo>
                <a:lnTo>
                  <a:pt x="1127455" y="925373"/>
                </a:lnTo>
                <a:lnTo>
                  <a:pt x="1171346" y="953414"/>
                </a:lnTo>
                <a:lnTo>
                  <a:pt x="1215238" y="981456"/>
                </a:lnTo>
                <a:lnTo>
                  <a:pt x="1259129" y="1009498"/>
                </a:lnTo>
                <a:lnTo>
                  <a:pt x="1303020" y="1037539"/>
                </a:lnTo>
                <a:lnTo>
                  <a:pt x="1346911" y="1065581"/>
                </a:lnTo>
                <a:lnTo>
                  <a:pt x="1390802" y="1093622"/>
                </a:lnTo>
                <a:lnTo>
                  <a:pt x="1434694" y="1121664"/>
                </a:lnTo>
                <a:lnTo>
                  <a:pt x="1478585" y="1149706"/>
                </a:lnTo>
                <a:lnTo>
                  <a:pt x="1522476" y="1177747"/>
                </a:lnTo>
                <a:lnTo>
                  <a:pt x="1566367" y="1205789"/>
                </a:lnTo>
                <a:lnTo>
                  <a:pt x="1610258" y="1233830"/>
                </a:lnTo>
                <a:lnTo>
                  <a:pt x="1654150" y="1261872"/>
                </a:lnTo>
                <a:lnTo>
                  <a:pt x="1698041" y="1289914"/>
                </a:lnTo>
                <a:lnTo>
                  <a:pt x="1741932" y="1317955"/>
                </a:lnTo>
                <a:lnTo>
                  <a:pt x="1784177" y="1345997"/>
                </a:lnTo>
                <a:lnTo>
                  <a:pt x="1822582" y="1374038"/>
                </a:lnTo>
                <a:lnTo>
                  <a:pt x="1860987" y="1402080"/>
                </a:lnTo>
                <a:lnTo>
                  <a:pt x="1899392" y="1430122"/>
                </a:lnTo>
                <a:lnTo>
                  <a:pt x="1937796" y="1458163"/>
                </a:lnTo>
                <a:lnTo>
                  <a:pt x="1976201" y="1486205"/>
                </a:lnTo>
                <a:lnTo>
                  <a:pt x="2014606" y="1514246"/>
                </a:lnTo>
                <a:lnTo>
                  <a:pt x="2053011" y="1542288"/>
                </a:lnTo>
                <a:lnTo>
                  <a:pt x="2091416" y="1570330"/>
                </a:lnTo>
                <a:lnTo>
                  <a:pt x="2129820" y="1598371"/>
                </a:lnTo>
                <a:lnTo>
                  <a:pt x="2168225" y="1626413"/>
                </a:lnTo>
                <a:lnTo>
                  <a:pt x="2206630" y="1654454"/>
                </a:lnTo>
                <a:lnTo>
                  <a:pt x="2245035" y="1682496"/>
                </a:lnTo>
                <a:lnTo>
                  <a:pt x="2283440" y="1710538"/>
                </a:lnTo>
                <a:lnTo>
                  <a:pt x="2321844" y="1738579"/>
                </a:lnTo>
                <a:lnTo>
                  <a:pt x="2360249" y="1766621"/>
                </a:lnTo>
                <a:lnTo>
                  <a:pt x="2398654" y="1794662"/>
                </a:lnTo>
                <a:lnTo>
                  <a:pt x="2437059" y="1822704"/>
                </a:lnTo>
                <a:lnTo>
                  <a:pt x="2475464" y="1850746"/>
                </a:lnTo>
                <a:lnTo>
                  <a:pt x="2513868" y="1878787"/>
                </a:lnTo>
                <a:lnTo>
                  <a:pt x="2551450" y="1906829"/>
                </a:lnTo>
                <a:lnTo>
                  <a:pt x="2587112" y="1934870"/>
                </a:lnTo>
                <a:lnTo>
                  <a:pt x="2622774" y="1962912"/>
                </a:lnTo>
                <a:lnTo>
                  <a:pt x="2658435" y="1990954"/>
                </a:lnTo>
                <a:lnTo>
                  <a:pt x="2694097" y="2018995"/>
                </a:lnTo>
                <a:lnTo>
                  <a:pt x="2729758" y="2047037"/>
                </a:lnTo>
                <a:lnTo>
                  <a:pt x="2765420" y="2075078"/>
                </a:lnTo>
                <a:lnTo>
                  <a:pt x="2801082" y="2103120"/>
                </a:lnTo>
                <a:lnTo>
                  <a:pt x="2836743" y="2131162"/>
                </a:lnTo>
                <a:lnTo>
                  <a:pt x="2872405" y="2159203"/>
                </a:lnTo>
                <a:lnTo>
                  <a:pt x="2908066" y="2187245"/>
                </a:lnTo>
                <a:lnTo>
                  <a:pt x="2943728" y="2215286"/>
                </a:lnTo>
                <a:lnTo>
                  <a:pt x="2979390" y="2243328"/>
                </a:lnTo>
                <a:lnTo>
                  <a:pt x="3015051" y="2271370"/>
                </a:lnTo>
                <a:lnTo>
                  <a:pt x="3050713" y="2299411"/>
                </a:lnTo>
                <a:lnTo>
                  <a:pt x="3086374" y="2327453"/>
                </a:lnTo>
                <a:lnTo>
                  <a:pt x="3122036" y="2355494"/>
                </a:lnTo>
                <a:lnTo>
                  <a:pt x="3157698" y="2383536"/>
                </a:lnTo>
                <a:lnTo>
                  <a:pt x="3193359" y="2411578"/>
                </a:lnTo>
                <a:lnTo>
                  <a:pt x="3229021" y="2439619"/>
                </a:lnTo>
                <a:lnTo>
                  <a:pt x="3263859" y="2467661"/>
                </a:lnTo>
                <a:lnTo>
                  <a:pt x="3296778" y="2495702"/>
                </a:lnTo>
                <a:close/>
              </a:path>
            </a:pathLst>
          </a:custGeom>
          <a:solidFill>
            <a:srgbClr val="D1495B">
              <a:alpha val="50000"/>
            </a:srgbClr>
          </a:solidFill>
          <a:ln/>
        </p:spPr>
      </p:sp>
      <p:sp>
        <p:nvSpPr>
          <p:cNvPr id="41" name="arrow"/>
          <p:cNvSpPr/>
          <p:nvPr/>
        </p:nvSpPr>
        <p:spPr>
          <a:xfrm flipH="1" flipV="1">
            <a:off x="6099048" y="5526024"/>
            <a:ext cx="438912" cy="280416"/>
          </a:xfrm>
          <a:prstGeom prst="line">
            <a:avLst/>
          </a:prstGeom>
          <a:noFill/>
          <a:ln w="44450">
            <a:solidFill>
              <a:srgbClr val="2E86AB"/>
            </a:solidFill>
            <a:prstDash val="solid"/>
          </a:ln>
        </p:spPr>
      </p:sp>
      <p:sp>
        <p:nvSpPr>
          <p:cNvPr id="42" name="arrow"/>
          <p:cNvSpPr/>
          <p:nvPr/>
        </p:nvSpPr>
        <p:spPr>
          <a:xfrm flipH="1" flipV="1">
            <a:off x="5769864" y="5245608"/>
            <a:ext cx="329184" cy="280416"/>
          </a:xfrm>
          <a:prstGeom prst="line">
            <a:avLst/>
          </a:prstGeom>
          <a:noFill/>
          <a:ln w="44450">
            <a:solidFill>
              <a:srgbClr val="2E86AB"/>
            </a:solidFill>
            <a:prstDash val="solid"/>
          </a:ln>
        </p:spPr>
      </p:sp>
      <p:sp>
        <p:nvSpPr>
          <p:cNvPr id="43" name="arrow"/>
          <p:cNvSpPr/>
          <p:nvPr/>
        </p:nvSpPr>
        <p:spPr>
          <a:xfrm flipH="1" flipV="1">
            <a:off x="5495544" y="4965192"/>
            <a:ext cx="274320" cy="280416"/>
          </a:xfrm>
          <a:prstGeom prst="line">
            <a:avLst/>
          </a:prstGeom>
          <a:noFill/>
          <a:ln w="44450">
            <a:solidFill>
              <a:srgbClr val="2E86AB"/>
            </a:solidFill>
            <a:prstDash val="solid"/>
          </a:ln>
        </p:spPr>
      </p:sp>
      <p:sp>
        <p:nvSpPr>
          <p:cNvPr id="44" name="arrow"/>
          <p:cNvSpPr/>
          <p:nvPr/>
        </p:nvSpPr>
        <p:spPr>
          <a:xfrm flipH="1" flipV="1">
            <a:off x="5166360" y="4684776"/>
            <a:ext cx="329184" cy="280416"/>
          </a:xfrm>
          <a:prstGeom prst="line">
            <a:avLst/>
          </a:prstGeom>
          <a:noFill/>
          <a:ln w="44450">
            <a:solidFill>
              <a:srgbClr val="2E86AB"/>
            </a:solidFill>
            <a:prstDash val="solid"/>
          </a:ln>
        </p:spPr>
      </p:sp>
      <p:sp>
        <p:nvSpPr>
          <p:cNvPr id="45" name="arrow"/>
          <p:cNvSpPr/>
          <p:nvPr/>
        </p:nvSpPr>
        <p:spPr>
          <a:xfrm flipH="1" flipV="1">
            <a:off x="4453128" y="4123944"/>
            <a:ext cx="713232" cy="560832"/>
          </a:xfrm>
          <a:prstGeom prst="line">
            <a:avLst/>
          </a:prstGeom>
          <a:noFill/>
          <a:ln w="44450">
            <a:solidFill>
              <a:srgbClr val="2E86AB"/>
            </a:solidFill>
            <a:prstDash val="solid"/>
          </a:ln>
        </p:spPr>
      </p:sp>
      <p:sp>
        <p:nvSpPr>
          <p:cNvPr id="46" name="arrow"/>
          <p:cNvSpPr/>
          <p:nvPr/>
        </p:nvSpPr>
        <p:spPr>
          <a:xfrm flipH="1" flipV="1">
            <a:off x="3685032" y="3563112"/>
            <a:ext cx="768096" cy="560832"/>
          </a:xfrm>
          <a:prstGeom prst="line">
            <a:avLst/>
          </a:prstGeom>
          <a:noFill/>
          <a:ln w="44450">
            <a:solidFill>
              <a:srgbClr val="2E86AB"/>
            </a:solidFill>
            <a:prstDash val="solid"/>
          </a:ln>
        </p:spPr>
      </p:sp>
      <p:sp>
        <p:nvSpPr>
          <p:cNvPr id="47" name="arrow"/>
          <p:cNvSpPr/>
          <p:nvPr/>
        </p:nvSpPr>
        <p:spPr>
          <a:xfrm flipH="1" flipV="1">
            <a:off x="2807208" y="3002280"/>
            <a:ext cx="877824" cy="560832"/>
          </a:xfrm>
          <a:prstGeom prst="line">
            <a:avLst/>
          </a:prstGeom>
          <a:noFill/>
          <a:ln w="44450">
            <a:solidFill>
              <a:srgbClr val="2E86AB"/>
            </a:solidFill>
            <a:prstDash val="solid"/>
          </a:ln>
        </p:spPr>
      </p:sp>
      <p:sp>
        <p:nvSpPr>
          <p:cNvPr id="48" name="arrow"/>
          <p:cNvSpPr/>
          <p:nvPr/>
        </p:nvSpPr>
        <p:spPr>
          <a:xfrm flipH="1" flipV="1">
            <a:off x="2039112" y="2441448"/>
            <a:ext cx="768096" cy="560832"/>
          </a:xfrm>
          <a:prstGeom prst="line">
            <a:avLst/>
          </a:prstGeom>
          <a:noFill/>
          <a:ln w="44450">
            <a:solidFill>
              <a:srgbClr val="2E86AB"/>
            </a:solidFill>
            <a:prstDash val="solid"/>
          </a:ln>
        </p:spPr>
      </p:sp>
      <p:sp>
        <p:nvSpPr>
          <p:cNvPr id="49" name="arrow"/>
          <p:cNvSpPr/>
          <p:nvPr/>
        </p:nvSpPr>
        <p:spPr>
          <a:xfrm flipH="1" flipV="1">
            <a:off x="1709928" y="1880616"/>
            <a:ext cx="329184" cy="560832"/>
          </a:xfrm>
          <a:prstGeom prst="line">
            <a:avLst/>
          </a:prstGeom>
          <a:noFill/>
          <a:ln w="44450">
            <a:solidFill>
              <a:srgbClr val="2E86AB"/>
            </a:solidFill>
            <a:prstDash val="solid"/>
          </a:ln>
        </p:spPr>
      </p:sp>
      <p:sp>
        <p:nvSpPr>
          <p:cNvPr id="50" name="arrow"/>
          <p:cNvSpPr/>
          <p:nvPr/>
        </p:nvSpPr>
        <p:spPr>
          <a:xfrm flipV="1">
            <a:off x="1709928" y="1600200"/>
            <a:ext cx="0" cy="280416"/>
          </a:xfrm>
          <a:prstGeom prst="line">
            <a:avLst/>
          </a:prstGeom>
          <a:noFill/>
          <a:ln w="44450">
            <a:solidFill>
              <a:srgbClr val="2E86AB"/>
            </a:solidFill>
            <a:prstDash val="solid"/>
          </a:ln>
        </p:spPr>
      </p:sp>
      <p:sp>
        <p:nvSpPr>
          <p:cNvPr id="51" name="arrow"/>
          <p:cNvSpPr/>
          <p:nvPr/>
        </p:nvSpPr>
        <p:spPr>
          <a:xfrm flipH="1" flipV="1">
            <a:off x="5892759" y="5469941"/>
            <a:ext cx="645201" cy="336499"/>
          </a:xfrm>
          <a:prstGeom prst="line">
            <a:avLst/>
          </a:prstGeom>
          <a:noFill/>
          <a:ln w="44450">
            <a:solidFill>
              <a:srgbClr val="D1495B"/>
            </a:solidFill>
            <a:prstDash val="dash"/>
          </a:ln>
        </p:spPr>
      </p:sp>
      <p:sp>
        <p:nvSpPr>
          <p:cNvPr id="52" name="arrow"/>
          <p:cNvSpPr/>
          <p:nvPr/>
        </p:nvSpPr>
        <p:spPr>
          <a:xfrm flipH="1" flipV="1">
            <a:off x="5448361" y="4965192"/>
            <a:ext cx="444398" cy="504749"/>
          </a:xfrm>
          <a:prstGeom prst="line">
            <a:avLst/>
          </a:prstGeom>
          <a:noFill/>
          <a:ln w="44450">
            <a:solidFill>
              <a:srgbClr val="D1495B"/>
            </a:solidFill>
            <a:prstDash val="dash"/>
          </a:ln>
        </p:spPr>
      </p:sp>
      <p:sp>
        <p:nvSpPr>
          <p:cNvPr id="53" name="arrow"/>
          <p:cNvSpPr/>
          <p:nvPr/>
        </p:nvSpPr>
        <p:spPr>
          <a:xfrm flipH="1" flipV="1">
            <a:off x="4625401" y="4123944"/>
            <a:ext cx="822960" cy="841248"/>
          </a:xfrm>
          <a:prstGeom prst="line">
            <a:avLst/>
          </a:prstGeom>
          <a:noFill/>
          <a:ln w="44450">
            <a:solidFill>
              <a:srgbClr val="D1495B"/>
            </a:solidFill>
            <a:prstDash val="dash"/>
          </a:ln>
        </p:spPr>
      </p:sp>
      <p:sp>
        <p:nvSpPr>
          <p:cNvPr id="54" name="arrow"/>
          <p:cNvSpPr/>
          <p:nvPr/>
        </p:nvSpPr>
        <p:spPr>
          <a:xfrm flipH="1" flipV="1">
            <a:off x="3198937" y="3002280"/>
            <a:ext cx="1426464" cy="1121664"/>
          </a:xfrm>
          <a:prstGeom prst="line">
            <a:avLst/>
          </a:prstGeom>
          <a:noFill/>
          <a:ln w="44450">
            <a:solidFill>
              <a:srgbClr val="D1495B"/>
            </a:solidFill>
            <a:prstDash val="dash"/>
          </a:ln>
        </p:spPr>
      </p:sp>
      <p:sp>
        <p:nvSpPr>
          <p:cNvPr id="55" name="arrow"/>
          <p:cNvSpPr/>
          <p:nvPr/>
        </p:nvSpPr>
        <p:spPr>
          <a:xfrm flipH="1" flipV="1">
            <a:off x="2321113" y="2441448"/>
            <a:ext cx="877824" cy="560832"/>
          </a:xfrm>
          <a:prstGeom prst="line">
            <a:avLst/>
          </a:prstGeom>
          <a:noFill/>
          <a:ln w="44450">
            <a:solidFill>
              <a:srgbClr val="D1495B"/>
            </a:solidFill>
            <a:prstDash val="dash"/>
          </a:ln>
        </p:spPr>
      </p:sp>
      <p:sp>
        <p:nvSpPr>
          <p:cNvPr id="56" name="arrow"/>
          <p:cNvSpPr/>
          <p:nvPr/>
        </p:nvSpPr>
        <p:spPr>
          <a:xfrm flipH="1" flipV="1">
            <a:off x="1051560" y="1758414"/>
            <a:ext cx="1269553" cy="683034"/>
          </a:xfrm>
          <a:prstGeom prst="line">
            <a:avLst/>
          </a:prstGeom>
          <a:noFill/>
          <a:ln w="44450">
            <a:solidFill>
              <a:srgbClr val="D1495B"/>
            </a:solidFill>
            <a:prstDash val="dash"/>
          </a:ln>
        </p:spPr>
      </p:sp>
      <p:sp>
        <p:nvSpPr>
          <p:cNvPr id="57" name="arrow"/>
          <p:cNvSpPr/>
          <p:nvPr/>
        </p:nvSpPr>
        <p:spPr>
          <a:xfrm>
            <a:off x="1051560" y="5469941"/>
            <a:ext cx="6035040" cy="0"/>
          </a:xfrm>
          <a:prstGeom prst="line">
            <a:avLst/>
          </a:prstGeom>
          <a:noFill/>
          <a:ln w="12700">
            <a:solidFill>
              <a:srgbClr val="1D2B4F"/>
            </a:solidFill>
            <a:prstDash val="dash"/>
          </a:ln>
        </p:spPr>
      </p:sp>
      <p:sp>
        <p:nvSpPr>
          <p:cNvPr id="58" name="Text 55"/>
          <p:cNvSpPr txBox="1"/>
          <p:nvPr/>
        </p:nvSpPr>
        <p:spPr>
          <a:xfrm>
            <a:off x="1161288" y="5195621"/>
            <a:ext cx="1463040" cy="256032"/>
          </a:xfrm>
          <a:prstGeom prst="rect">
            <a:avLst/>
          </a:prstGeom>
          <a:noFill/>
          <a:ln/>
        </p:spPr>
        <p:txBody>
          <a:bodyPr wrap="square" lIns="0" tIns="0" rIns="0" bIns="0" rtlCol="0" anchor="ctr"/>
          <a:lstStyle/>
          <a:p>
            <a:pPr algn="l" indent="0" marL="0">
              <a:buNone/>
            </a:pPr>
            <a:r>
              <a:rPr lang="en-US" sz="1100" b="1" dirty="0">
                <a:solidFill>
                  <a:schemeClr val="tx2"/>
                </a:solidFill>
              </a:rPr>
              <a:t>LCL ≈ 1.2 km</a:t>
            </a:r>
            <a:endParaRPr lang="en-US" sz="1100" dirty="0"/>
          </a:p>
        </p:txBody>
      </p:sp>
      <p:sp>
        <p:nvSpPr>
          <p:cNvPr id="59" name="arrow"/>
          <p:cNvSpPr/>
          <p:nvPr/>
        </p:nvSpPr>
        <p:spPr>
          <a:xfrm>
            <a:off x="1051560" y="4721230"/>
            <a:ext cx="6035040" cy="0"/>
          </a:xfrm>
          <a:prstGeom prst="line">
            <a:avLst/>
          </a:prstGeom>
          <a:noFill/>
          <a:ln w="12700">
            <a:solidFill>
              <a:srgbClr val="1D2B4F"/>
            </a:solidFill>
            <a:prstDash val="dash"/>
          </a:ln>
        </p:spPr>
      </p:sp>
      <p:sp>
        <p:nvSpPr>
          <p:cNvPr id="60" name="Text 57"/>
          <p:cNvSpPr txBox="1"/>
          <p:nvPr/>
        </p:nvSpPr>
        <p:spPr>
          <a:xfrm>
            <a:off x="1161288" y="4446910"/>
            <a:ext cx="1463040" cy="256032"/>
          </a:xfrm>
          <a:prstGeom prst="rect">
            <a:avLst/>
          </a:prstGeom>
          <a:noFill/>
          <a:ln/>
        </p:spPr>
        <p:txBody>
          <a:bodyPr wrap="square" lIns="0" tIns="0" rIns="0" bIns="0" rtlCol="0" anchor="ctr"/>
          <a:lstStyle/>
          <a:p>
            <a:pPr algn="l" indent="0" marL="0">
              <a:buNone/>
            </a:pPr>
            <a:r>
              <a:rPr lang="en-US" sz="1100" b="1" dirty="0">
                <a:solidFill>
                  <a:schemeClr val="tx2"/>
                </a:solidFill>
              </a:rPr>
              <a:t>LFC ≈ 3.9 km</a:t>
            </a:r>
            <a:endParaRPr lang="en-US" sz="1100" dirty="0"/>
          </a:p>
        </p:txBody>
      </p:sp>
      <p:sp>
        <p:nvSpPr>
          <p:cNvPr id="61" name="arrow"/>
          <p:cNvSpPr/>
          <p:nvPr/>
        </p:nvSpPr>
        <p:spPr>
          <a:xfrm>
            <a:off x="1051560" y="2217115"/>
            <a:ext cx="6035040" cy="0"/>
          </a:xfrm>
          <a:prstGeom prst="line">
            <a:avLst/>
          </a:prstGeom>
          <a:noFill/>
          <a:ln w="12700">
            <a:solidFill>
              <a:srgbClr val="1D2B4F"/>
            </a:solidFill>
            <a:prstDash val="dash"/>
          </a:ln>
        </p:spPr>
      </p:sp>
      <p:sp>
        <p:nvSpPr>
          <p:cNvPr id="62" name="Text 59"/>
          <p:cNvSpPr txBox="1"/>
          <p:nvPr/>
        </p:nvSpPr>
        <p:spPr>
          <a:xfrm>
            <a:off x="4617720" y="1942795"/>
            <a:ext cx="1463040" cy="256032"/>
          </a:xfrm>
          <a:prstGeom prst="rect">
            <a:avLst/>
          </a:prstGeom>
          <a:noFill/>
          <a:ln/>
        </p:spPr>
        <p:txBody>
          <a:bodyPr wrap="square" lIns="0" tIns="0" rIns="0" bIns="0" rtlCol="0" anchor="ctr"/>
          <a:lstStyle/>
          <a:p>
            <a:pPr algn="l" indent="0" marL="0">
              <a:buNone/>
            </a:pPr>
            <a:r>
              <a:rPr lang="en-US" sz="1100" b="1" dirty="0">
                <a:solidFill>
                  <a:schemeClr val="tx2"/>
                </a:solidFill>
              </a:rPr>
              <a:t>EL ≈ 12.8 km</a:t>
            </a:r>
            <a:endParaRPr lang="en-US" sz="1100" dirty="0"/>
          </a:p>
        </p:txBody>
      </p:sp>
      <p:sp>
        <p:nvSpPr>
          <p:cNvPr id="63" name="Text 60"/>
          <p:cNvSpPr txBox="1"/>
          <p:nvPr/>
        </p:nvSpPr>
        <p:spPr>
          <a:xfrm>
            <a:off x="3575304" y="3675278"/>
            <a:ext cx="822960" cy="274320"/>
          </a:xfrm>
          <a:prstGeom prst="rect">
            <a:avLst/>
          </a:prstGeom>
          <a:noFill/>
          <a:ln/>
        </p:spPr>
        <p:txBody>
          <a:bodyPr wrap="square" lIns="0" tIns="0" rIns="0" bIns="0" rtlCol="0" anchor="ctr"/>
          <a:lstStyle/>
          <a:p>
            <a:pPr algn="l" indent="0" marL="0">
              <a:buNone/>
            </a:pPr>
            <a:r>
              <a:rPr lang="en-US" sz="1400" b="1" dirty="0">
                <a:solidFill>
                  <a:schemeClr val="accent1"/>
                </a:solidFill>
              </a:rPr>
              <a:t>CAPE</a:t>
            </a:r>
            <a:endParaRPr lang="en-US" sz="1400" dirty="0"/>
          </a:p>
        </p:txBody>
      </p:sp>
      <p:sp>
        <p:nvSpPr>
          <p:cNvPr id="64" name="Text 61"/>
          <p:cNvSpPr txBox="1"/>
          <p:nvPr/>
        </p:nvSpPr>
        <p:spPr>
          <a:xfrm>
            <a:off x="4837176" y="5413858"/>
            <a:ext cx="640080" cy="274320"/>
          </a:xfrm>
          <a:prstGeom prst="rect">
            <a:avLst/>
          </a:prstGeom>
          <a:noFill/>
          <a:ln/>
        </p:spPr>
        <p:txBody>
          <a:bodyPr wrap="square" lIns="0" tIns="0" rIns="0" bIns="0" rtlCol="0" anchor="ctr"/>
          <a:lstStyle/>
          <a:p>
            <a:pPr algn="l" indent="0" marL="0">
              <a:buNone/>
            </a:pPr>
            <a:r>
              <a:rPr lang="en-US" sz="1300" b="1" dirty="0">
                <a:solidFill>
                  <a:schemeClr val="accent2"/>
                </a:solidFill>
              </a:rPr>
              <a:t>CIN</a:t>
            </a:r>
            <a:endParaRPr lang="en-US" sz="1300" dirty="0"/>
          </a:p>
        </p:txBody>
      </p:sp>
      <p:sp>
        <p:nvSpPr>
          <p:cNvPr id="65" name="Text 62"/>
          <p:cNvSpPr txBox="1"/>
          <p:nvPr/>
        </p:nvSpPr>
        <p:spPr>
          <a:xfrm>
            <a:off x="2148840" y="1768450"/>
            <a:ext cx="1280160" cy="256032"/>
          </a:xfrm>
          <a:prstGeom prst="rect">
            <a:avLst/>
          </a:prstGeom>
          <a:noFill/>
          <a:ln/>
        </p:spPr>
        <p:txBody>
          <a:bodyPr wrap="square" lIns="0" tIns="0" rIns="0" bIns="0" rtlCol="0" anchor="ctr"/>
          <a:lstStyle/>
          <a:p>
            <a:pPr algn="l" indent="0" marL="0">
              <a:buNone/>
            </a:pPr>
            <a:r>
              <a:rPr lang="en-US" sz="1100" b="1" dirty="0">
                <a:solidFill>
                  <a:schemeClr val="accent2"/>
                </a:solidFill>
              </a:rPr>
              <a:t>environment</a:t>
            </a:r>
            <a:endParaRPr lang="en-US" sz="1100" dirty="0"/>
          </a:p>
        </p:txBody>
      </p:sp>
      <p:sp>
        <p:nvSpPr>
          <p:cNvPr id="66" name="Text 63"/>
          <p:cNvSpPr txBox="1"/>
          <p:nvPr/>
        </p:nvSpPr>
        <p:spPr>
          <a:xfrm>
            <a:off x="3520440" y="2834030"/>
            <a:ext cx="731520" cy="256032"/>
          </a:xfrm>
          <a:prstGeom prst="rect">
            <a:avLst/>
          </a:prstGeom>
          <a:noFill/>
          <a:ln/>
        </p:spPr>
        <p:txBody>
          <a:bodyPr wrap="square" lIns="0" tIns="0" rIns="0" bIns="0" rtlCol="0" anchor="ctr"/>
          <a:lstStyle/>
          <a:p>
            <a:pPr algn="l" indent="0" marL="0">
              <a:buNone/>
            </a:pPr>
            <a:r>
              <a:rPr lang="en-US" sz="1100" b="1" dirty="0">
                <a:solidFill>
                  <a:schemeClr val="accent1"/>
                </a:solidFill>
              </a:rPr>
              <a:t>parcel</a:t>
            </a:r>
            <a:endParaRPr lang="en-US" sz="1100" dirty="0"/>
          </a:p>
        </p:txBody>
      </p:sp>
      <p:sp>
        <p:nvSpPr>
          <p:cNvPr id="67" name="card"/>
          <p:cNvSpPr/>
          <p:nvPr/>
        </p:nvSpPr>
        <p:spPr>
          <a:xfrm>
            <a:off x="7315200" y="1371600"/>
            <a:ext cx="4325112" cy="1097280"/>
          </a:xfrm>
          <a:prstGeom prst="roundRect">
            <a:avLst>
              <a:gd name="adj" fmla="val 6667"/>
            </a:avLst>
          </a:prstGeom>
          <a:solidFill>
            <a:schemeClr val="accent1"/>
          </a:solidFill>
          <a:ln/>
          <a:effectLst>
            <a:outerShdw sx="100000" sy="100000" kx="0" ky="0" algn="bl" rotWithShape="0" blurRad="76200" dist="25400" dir="5400000">
              <a:srgbClr val="000000">
                <a:alpha val="14000"/>
              </a:srgbClr>
            </a:outerShdw>
          </a:effectLst>
        </p:spPr>
      </p:sp>
      <p:sp>
        <p:nvSpPr>
          <p:cNvPr id="68" name="Text 65"/>
          <p:cNvSpPr txBox="1"/>
          <p:nvPr/>
        </p:nvSpPr>
        <p:spPr>
          <a:xfrm>
            <a:off x="7452360" y="1371600"/>
            <a:ext cx="4050792" cy="1097280"/>
          </a:xfrm>
          <a:prstGeom prst="rect">
            <a:avLst/>
          </a:prstGeom>
          <a:noFill/>
          <a:ln/>
        </p:spPr>
        <p:txBody>
          <a:bodyPr wrap="square" lIns="0" tIns="0" rIns="0" bIns="0" rtlCol="0" anchor="ctr"/>
          <a:lstStyle/>
          <a:p>
            <a:pPr algn="ctr" indent="0" marL="0">
              <a:buNone/>
            </a:pPr>
            <a:r>
              <a:rPr lang="en-US" sz="1700" b="1" dirty="0">
                <a:solidFill>
                  <a:schemeClr val="bg1"/>
                </a:solidFill>
              </a:rPr>
              <a:t>CAPE = g ∫</a:t>
            </a:r>
            <a:r>
              <a:rPr lang="en-US" sz="1700" b="1" baseline="-40000" dirty="0">
                <a:solidFill>
                  <a:schemeClr val="bg1"/>
                </a:solidFill>
              </a:rPr>
              <a:t>LFC</a:t>
            </a:r>
            <a:r>
              <a:rPr lang="en-US" sz="1700" b="1" baseline="30000" dirty="0">
                <a:solidFill>
                  <a:schemeClr val="bg1"/>
                </a:solidFill>
              </a:rPr>
              <a:t>EL</a:t>
            </a:r>
            <a:r>
              <a:rPr lang="en-US" sz="1700" b="1" dirty="0">
                <a:solidFill>
                  <a:schemeClr val="bg1"/>
                </a:solidFill>
              </a:rPr>
              <a:t> (T</a:t>
            </a:r>
            <a:r>
              <a:rPr lang="en-US" sz="1700" b="1" baseline="-40000" dirty="0">
                <a:solidFill>
                  <a:schemeClr val="bg1"/>
                </a:solidFill>
              </a:rPr>
              <a:t>vp</a:t>
            </a:r>
            <a:r>
              <a:rPr lang="en-US" sz="1700" b="1" dirty="0">
                <a:solidFill>
                  <a:schemeClr val="bg1"/>
                </a:solidFill>
              </a:rPr>
              <a:t> − T</a:t>
            </a:r>
            <a:r>
              <a:rPr lang="en-US" sz="1700" b="1" baseline="-40000" dirty="0">
                <a:solidFill>
                  <a:schemeClr val="bg1"/>
                </a:solidFill>
              </a:rPr>
              <a:t>ve</a:t>
            </a:r>
            <a:r>
              <a:rPr lang="en-US" sz="1700" b="1" dirty="0">
                <a:solidFill>
                  <a:schemeClr val="bg1"/>
                </a:solidFill>
              </a:rPr>
              <a:t>) / T</a:t>
            </a:r>
            <a:r>
              <a:rPr lang="en-US" sz="1700" b="1" baseline="-40000" dirty="0">
                <a:solidFill>
                  <a:schemeClr val="bg1"/>
                </a:solidFill>
              </a:rPr>
              <a:t>ve</a:t>
            </a:r>
            <a:r>
              <a:rPr lang="en-US" sz="1700" b="1" dirty="0">
                <a:solidFill>
                  <a:schemeClr val="bg1"/>
                </a:solidFill>
              </a:rPr>
              <a:t> dz</a:t>
            </a:r>
            <a:endParaRPr lang="en-US" sz="1700" dirty="0"/>
          </a:p>
        </p:txBody>
      </p:sp>
      <p:sp>
        <p:nvSpPr>
          <p:cNvPr id="69" name="card"/>
          <p:cNvSpPr/>
          <p:nvPr/>
        </p:nvSpPr>
        <p:spPr>
          <a:xfrm>
            <a:off x="7315200" y="2651760"/>
            <a:ext cx="4325112" cy="621792"/>
          </a:xfrm>
          <a:prstGeom prst="roundRect">
            <a:avLst>
              <a:gd name="adj" fmla="val 11765"/>
            </a:avLst>
          </a:prstGeom>
          <a:solidFill>
            <a:schemeClr val="bg2"/>
          </a:solidFill>
          <a:ln/>
          <a:effectLst>
            <a:outerShdw sx="100000" sy="100000" kx="0" ky="0" algn="bl" rotWithShape="0" blurRad="76200" dist="25400" dir="5400000">
              <a:srgbClr val="000000">
                <a:alpha val="14000"/>
              </a:srgbClr>
            </a:outerShdw>
          </a:effectLst>
        </p:spPr>
      </p:sp>
      <p:sp>
        <p:nvSpPr>
          <p:cNvPr id="70" name="Text 67"/>
          <p:cNvSpPr txBox="1"/>
          <p:nvPr/>
        </p:nvSpPr>
        <p:spPr>
          <a:xfrm>
            <a:off x="7424928" y="2688336"/>
            <a:ext cx="777240" cy="548640"/>
          </a:xfrm>
          <a:prstGeom prst="rect">
            <a:avLst/>
          </a:prstGeom>
          <a:noFill/>
          <a:ln/>
        </p:spPr>
        <p:txBody>
          <a:bodyPr wrap="square" lIns="0" tIns="0" rIns="0" bIns="0" rtlCol="0" anchor="ctr"/>
          <a:lstStyle/>
          <a:p>
            <a:pPr algn="l" indent="0" marL="0">
              <a:buNone/>
            </a:pPr>
            <a:r>
              <a:rPr lang="en-US" sz="1400" b="1" dirty="0">
                <a:solidFill>
                  <a:schemeClr val="tx2"/>
                </a:solidFill>
              </a:rPr>
              <a:t>LCL</a:t>
            </a:r>
            <a:endParaRPr lang="en-US" sz="1400" dirty="0"/>
          </a:p>
        </p:txBody>
      </p:sp>
      <p:sp>
        <p:nvSpPr>
          <p:cNvPr id="71" name="Text 68"/>
          <p:cNvSpPr txBox="1"/>
          <p:nvPr/>
        </p:nvSpPr>
        <p:spPr>
          <a:xfrm>
            <a:off x="8229600" y="2688336"/>
            <a:ext cx="3337560" cy="548640"/>
          </a:xfrm>
          <a:prstGeom prst="rect">
            <a:avLst/>
          </a:prstGeom>
          <a:noFill/>
          <a:ln/>
        </p:spPr>
        <p:txBody>
          <a:bodyPr wrap="square" lIns="0" tIns="0" rIns="0" bIns="0" rtlCol="0" anchor="ctr"/>
          <a:lstStyle/>
          <a:p>
            <a:pPr indent="0" marL="0">
              <a:buNone/>
            </a:pPr>
            <a:r>
              <a:rPr lang="en-US" sz="1200" dirty="0">
                <a:solidFill>
                  <a:schemeClr val="tx1"/>
                </a:solidFill>
              </a:rPr>
              <a:t>cloud base; parcel saturates</a:t>
            </a:r>
            <a:endParaRPr lang="en-US" sz="1200" dirty="0"/>
          </a:p>
        </p:txBody>
      </p:sp>
      <p:sp>
        <p:nvSpPr>
          <p:cNvPr id="72" name="card"/>
          <p:cNvSpPr/>
          <p:nvPr/>
        </p:nvSpPr>
        <p:spPr>
          <a:xfrm>
            <a:off x="7315200" y="3355848"/>
            <a:ext cx="4325112" cy="621792"/>
          </a:xfrm>
          <a:prstGeom prst="roundRect">
            <a:avLst>
              <a:gd name="adj" fmla="val 11765"/>
            </a:avLst>
          </a:prstGeom>
          <a:solidFill>
            <a:schemeClr val="bg2"/>
          </a:solidFill>
          <a:ln/>
          <a:effectLst>
            <a:outerShdw sx="100000" sy="100000" kx="0" ky="0" algn="bl" rotWithShape="0" blurRad="76200" dist="25400" dir="5400000">
              <a:srgbClr val="000000">
                <a:alpha val="14000"/>
              </a:srgbClr>
            </a:outerShdw>
          </a:effectLst>
        </p:spPr>
      </p:sp>
      <p:sp>
        <p:nvSpPr>
          <p:cNvPr id="73" name="Text 70"/>
          <p:cNvSpPr txBox="1"/>
          <p:nvPr/>
        </p:nvSpPr>
        <p:spPr>
          <a:xfrm>
            <a:off x="7424928" y="3392424"/>
            <a:ext cx="777240" cy="548640"/>
          </a:xfrm>
          <a:prstGeom prst="rect">
            <a:avLst/>
          </a:prstGeom>
          <a:noFill/>
          <a:ln/>
        </p:spPr>
        <p:txBody>
          <a:bodyPr wrap="square" lIns="0" tIns="0" rIns="0" bIns="0" rtlCol="0" anchor="ctr"/>
          <a:lstStyle/>
          <a:p>
            <a:pPr algn="l" indent="0" marL="0">
              <a:buNone/>
            </a:pPr>
            <a:r>
              <a:rPr lang="en-US" sz="1400" b="1" dirty="0">
                <a:solidFill>
                  <a:schemeClr val="tx2"/>
                </a:solidFill>
              </a:rPr>
              <a:t>LFC</a:t>
            </a:r>
            <a:endParaRPr lang="en-US" sz="1400" dirty="0"/>
          </a:p>
        </p:txBody>
      </p:sp>
      <p:sp>
        <p:nvSpPr>
          <p:cNvPr id="74" name="Text 71"/>
          <p:cNvSpPr txBox="1"/>
          <p:nvPr/>
        </p:nvSpPr>
        <p:spPr>
          <a:xfrm>
            <a:off x="8229600" y="3392424"/>
            <a:ext cx="3337560" cy="548640"/>
          </a:xfrm>
          <a:prstGeom prst="rect">
            <a:avLst/>
          </a:prstGeom>
          <a:noFill/>
          <a:ln/>
        </p:spPr>
        <p:txBody>
          <a:bodyPr wrap="square" lIns="0" tIns="0" rIns="0" bIns="0" rtlCol="0" anchor="ctr"/>
          <a:lstStyle/>
          <a:p>
            <a:pPr indent="0" marL="0">
              <a:buNone/>
            </a:pPr>
            <a:r>
              <a:rPr lang="en-US" sz="1200" dirty="0">
                <a:solidFill>
                  <a:schemeClr val="tx1"/>
                </a:solidFill>
              </a:rPr>
              <a:t>parcel becomes warmer than environment</a:t>
            </a:r>
            <a:endParaRPr lang="en-US" sz="1200" dirty="0"/>
          </a:p>
        </p:txBody>
      </p:sp>
      <p:sp>
        <p:nvSpPr>
          <p:cNvPr id="75" name="card"/>
          <p:cNvSpPr/>
          <p:nvPr/>
        </p:nvSpPr>
        <p:spPr>
          <a:xfrm>
            <a:off x="7315200" y="4059936"/>
            <a:ext cx="4325112" cy="621792"/>
          </a:xfrm>
          <a:prstGeom prst="roundRect">
            <a:avLst>
              <a:gd name="adj" fmla="val 11765"/>
            </a:avLst>
          </a:prstGeom>
          <a:solidFill>
            <a:schemeClr val="bg2"/>
          </a:solidFill>
          <a:ln/>
          <a:effectLst>
            <a:outerShdw sx="100000" sy="100000" kx="0" ky="0" algn="bl" rotWithShape="0" blurRad="76200" dist="25400" dir="5400000">
              <a:srgbClr val="000000">
                <a:alpha val="14000"/>
              </a:srgbClr>
            </a:outerShdw>
          </a:effectLst>
        </p:spPr>
      </p:sp>
      <p:sp>
        <p:nvSpPr>
          <p:cNvPr id="76" name="Text 73"/>
          <p:cNvSpPr txBox="1"/>
          <p:nvPr/>
        </p:nvSpPr>
        <p:spPr>
          <a:xfrm>
            <a:off x="7424928" y="4096512"/>
            <a:ext cx="777240" cy="548640"/>
          </a:xfrm>
          <a:prstGeom prst="rect">
            <a:avLst/>
          </a:prstGeom>
          <a:noFill/>
          <a:ln/>
        </p:spPr>
        <p:txBody>
          <a:bodyPr wrap="square" lIns="0" tIns="0" rIns="0" bIns="0" rtlCol="0" anchor="ctr"/>
          <a:lstStyle/>
          <a:p>
            <a:pPr algn="l" indent="0" marL="0">
              <a:buNone/>
            </a:pPr>
            <a:r>
              <a:rPr lang="en-US" sz="1400" b="1" dirty="0">
                <a:solidFill>
                  <a:schemeClr val="tx2"/>
                </a:solidFill>
              </a:rPr>
              <a:t>EL</a:t>
            </a:r>
            <a:endParaRPr lang="en-US" sz="1400" dirty="0"/>
          </a:p>
        </p:txBody>
      </p:sp>
      <p:sp>
        <p:nvSpPr>
          <p:cNvPr id="77" name="Text 74"/>
          <p:cNvSpPr txBox="1"/>
          <p:nvPr/>
        </p:nvSpPr>
        <p:spPr>
          <a:xfrm>
            <a:off x="8229600" y="4096512"/>
            <a:ext cx="3337560" cy="548640"/>
          </a:xfrm>
          <a:prstGeom prst="rect">
            <a:avLst/>
          </a:prstGeom>
          <a:noFill/>
          <a:ln/>
        </p:spPr>
        <p:txBody>
          <a:bodyPr wrap="square" lIns="0" tIns="0" rIns="0" bIns="0" rtlCol="0" anchor="ctr"/>
          <a:lstStyle/>
          <a:p>
            <a:pPr indent="0" marL="0">
              <a:buNone/>
            </a:pPr>
            <a:r>
              <a:rPr lang="en-US" sz="1200" dirty="0">
                <a:solidFill>
                  <a:schemeClr val="tx1"/>
                </a:solidFill>
              </a:rPr>
              <a:t>parcel cools to environment temperature; anvil top</a:t>
            </a:r>
            <a:endParaRPr lang="en-US" sz="1200" dirty="0"/>
          </a:p>
        </p:txBody>
      </p:sp>
      <p:sp>
        <p:nvSpPr>
          <p:cNvPr id="78" name="card"/>
          <p:cNvSpPr/>
          <p:nvPr/>
        </p:nvSpPr>
        <p:spPr>
          <a:xfrm>
            <a:off x="7315200" y="4764024"/>
            <a:ext cx="4325112" cy="621792"/>
          </a:xfrm>
          <a:prstGeom prst="roundRect">
            <a:avLst>
              <a:gd name="adj" fmla="val 11765"/>
            </a:avLst>
          </a:prstGeom>
          <a:solidFill>
            <a:schemeClr val="bg2"/>
          </a:solidFill>
          <a:ln/>
          <a:effectLst>
            <a:outerShdw sx="100000" sy="100000" kx="0" ky="0" algn="bl" rotWithShape="0" blurRad="76200" dist="25400" dir="5400000">
              <a:srgbClr val="000000">
                <a:alpha val="14000"/>
              </a:srgbClr>
            </a:outerShdw>
          </a:effectLst>
        </p:spPr>
      </p:sp>
      <p:sp>
        <p:nvSpPr>
          <p:cNvPr id="79" name="Text 76"/>
          <p:cNvSpPr txBox="1"/>
          <p:nvPr/>
        </p:nvSpPr>
        <p:spPr>
          <a:xfrm>
            <a:off x="7424928" y="4800600"/>
            <a:ext cx="777240" cy="548640"/>
          </a:xfrm>
          <a:prstGeom prst="rect">
            <a:avLst/>
          </a:prstGeom>
          <a:noFill/>
          <a:ln/>
        </p:spPr>
        <p:txBody>
          <a:bodyPr wrap="square" lIns="0" tIns="0" rIns="0" bIns="0" rtlCol="0" anchor="ctr"/>
          <a:lstStyle/>
          <a:p>
            <a:pPr algn="l" indent="0" marL="0">
              <a:buNone/>
            </a:pPr>
            <a:r>
              <a:rPr lang="en-US" sz="1400" b="1" dirty="0">
                <a:solidFill>
                  <a:schemeClr val="accent2"/>
                </a:solidFill>
              </a:rPr>
              <a:t>CIN</a:t>
            </a:r>
            <a:endParaRPr lang="en-US" sz="1400" dirty="0"/>
          </a:p>
        </p:txBody>
      </p:sp>
      <p:sp>
        <p:nvSpPr>
          <p:cNvPr id="80" name="Text 77"/>
          <p:cNvSpPr txBox="1"/>
          <p:nvPr/>
        </p:nvSpPr>
        <p:spPr>
          <a:xfrm>
            <a:off x="8229600" y="4800600"/>
            <a:ext cx="3337560" cy="548640"/>
          </a:xfrm>
          <a:prstGeom prst="rect">
            <a:avLst/>
          </a:prstGeom>
          <a:noFill/>
          <a:ln/>
        </p:spPr>
        <p:txBody>
          <a:bodyPr wrap="square" lIns="0" tIns="0" rIns="0" bIns="0" rtlCol="0" anchor="ctr"/>
          <a:lstStyle/>
          <a:p>
            <a:pPr indent="0" marL="0">
              <a:buNone/>
            </a:pPr>
            <a:r>
              <a:rPr lang="en-US" sz="1200" dirty="0">
                <a:solidFill>
                  <a:schemeClr val="tx1"/>
                </a:solidFill>
              </a:rPr>
              <a:t>energy barrier below LFC (J/kg)</a:t>
            </a:r>
            <a:endParaRPr lang="en-US" sz="1200" dirty="0"/>
          </a:p>
        </p:txBody>
      </p:sp>
      <p:sp>
        <p:nvSpPr>
          <p:cNvPr id="81" name="card"/>
          <p:cNvSpPr/>
          <p:nvPr/>
        </p:nvSpPr>
        <p:spPr>
          <a:xfrm>
            <a:off x="7315200" y="5468112"/>
            <a:ext cx="4325112" cy="621792"/>
          </a:xfrm>
          <a:prstGeom prst="roundRect">
            <a:avLst>
              <a:gd name="adj" fmla="val 11765"/>
            </a:avLst>
          </a:prstGeom>
          <a:solidFill>
            <a:schemeClr val="bg2"/>
          </a:solidFill>
          <a:ln/>
          <a:effectLst>
            <a:outerShdw sx="100000" sy="100000" kx="0" ky="0" algn="bl" rotWithShape="0" blurRad="76200" dist="25400" dir="5400000">
              <a:srgbClr val="000000">
                <a:alpha val="14000"/>
              </a:srgbClr>
            </a:outerShdw>
          </a:effectLst>
        </p:spPr>
      </p:sp>
      <p:sp>
        <p:nvSpPr>
          <p:cNvPr id="82" name="Text 79"/>
          <p:cNvSpPr txBox="1"/>
          <p:nvPr/>
        </p:nvSpPr>
        <p:spPr>
          <a:xfrm>
            <a:off x="7424928" y="5504688"/>
            <a:ext cx="777240" cy="548640"/>
          </a:xfrm>
          <a:prstGeom prst="rect">
            <a:avLst/>
          </a:prstGeom>
          <a:noFill/>
          <a:ln/>
        </p:spPr>
        <p:txBody>
          <a:bodyPr wrap="square" lIns="0" tIns="0" rIns="0" bIns="0" rtlCol="0" anchor="ctr"/>
          <a:lstStyle/>
          <a:p>
            <a:pPr algn="l" indent="0" marL="0">
              <a:buNone/>
            </a:pPr>
            <a:r>
              <a:rPr lang="en-US" sz="1400" b="1" dirty="0">
                <a:solidFill>
                  <a:schemeClr val="accent1"/>
                </a:solidFill>
              </a:rPr>
              <a:t>CAPE</a:t>
            </a:r>
            <a:endParaRPr lang="en-US" sz="1400" dirty="0"/>
          </a:p>
        </p:txBody>
      </p:sp>
      <p:sp>
        <p:nvSpPr>
          <p:cNvPr id="83" name="Text 80"/>
          <p:cNvSpPr txBox="1"/>
          <p:nvPr/>
        </p:nvSpPr>
        <p:spPr>
          <a:xfrm>
            <a:off x="8229600" y="5504688"/>
            <a:ext cx="3337560" cy="548640"/>
          </a:xfrm>
          <a:prstGeom prst="rect">
            <a:avLst/>
          </a:prstGeom>
          <a:noFill/>
          <a:ln/>
        </p:spPr>
        <p:txBody>
          <a:bodyPr wrap="square" lIns="0" tIns="0" rIns="0" bIns="0" rtlCol="0" anchor="ctr"/>
          <a:lstStyle/>
          <a:p>
            <a:pPr indent="0" marL="0">
              <a:buNone/>
            </a:pPr>
            <a:r>
              <a:rPr lang="en-US" sz="1200" dirty="0">
                <a:solidFill>
                  <a:schemeClr val="tx1"/>
                </a:solidFill>
              </a:rPr>
              <a:t>energy available above LFC (J/kg); w</a:t>
            </a:r>
            <a:r>
              <a:rPr lang="en-US" sz="1200" baseline="-40000" dirty="0">
                <a:solidFill>
                  <a:schemeClr val="tx1"/>
                </a:solidFill>
              </a:rPr>
              <a:t>max</a:t>
            </a:r>
            <a:r>
              <a:rPr lang="en-US" sz="1200" dirty="0">
                <a:solidFill>
                  <a:schemeClr val="tx1"/>
                </a:solidFill>
              </a:rPr>
              <a:t> ≈ √(2 CAPE)</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Stability indices used by forecasters</a:t>
            </a:r>
            <a:endParaRPr lang="en-US" sz="32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2194560"/>
                <a:gridCol w="3840480"/>
                <a:gridCol w="5056632"/>
              </a:tblGrid>
              <a:tr h="713232">
                <a:tc>
                  <a:txBody>
                    <a:bodyPr/>
                    <a:lstStyle/>
                    <a:p>
                      <a:pPr indent="0" marL="0">
                        <a:buNone/>
                      </a:pPr>
                      <a:r>
                        <a:rPr lang="en-US" sz="1300" b="1" dirty="0">
                          <a:solidFill>
                            <a:schemeClr val="bg1"/>
                          </a:solidFill>
                        </a:rPr>
                        <a:t>Index</a:t>
                      </a:r>
                      <a:endParaRPr lang="en-US" sz="13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Formula</a:t>
                      </a:r>
                      <a:endParaRPr lang="en-US" sz="13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Typical interpretation</a:t>
                      </a:r>
                      <a:endParaRPr lang="en-US" sz="13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713232">
                <a:tc>
                  <a:txBody>
                    <a:bodyPr/>
                    <a:lstStyle/>
                    <a:p>
                      <a:pPr indent="0" marL="0">
                        <a:buNone/>
                      </a:pPr>
                      <a:r>
                        <a:rPr lang="en-US" sz="1300" b="1" dirty="0">
                          <a:solidFill>
                            <a:schemeClr val="tx2"/>
                          </a:solidFill>
                        </a:rPr>
                        <a:t>Lifted Index (LI)</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a:t>
                      </a:r>
                      <a:r>
                        <a:rPr lang="en-US" sz="1300" baseline="-40000" dirty="0">
                          <a:solidFill>
                            <a:schemeClr val="tx1"/>
                          </a:solidFill>
                        </a:rPr>
                        <a:t>e,500</a:t>
                      </a:r>
                      <a:r>
                        <a:rPr lang="en-US" sz="1300" dirty="0">
                          <a:solidFill>
                            <a:schemeClr val="tx1"/>
                          </a:solidFill>
                        </a:rPr>
                        <a:t> − T</a:t>
                      </a:r>
                      <a:r>
                        <a:rPr lang="en-US" sz="1300" baseline="-40000" dirty="0">
                          <a:solidFill>
                            <a:schemeClr val="tx1"/>
                          </a:solidFill>
                        </a:rPr>
                        <a:t>p,500</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&gt; 0 stable · 0 to −3 marginal · −3 to −6 moderate · &lt; −6 very unstable</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713232">
                <a:tc>
                  <a:txBody>
                    <a:bodyPr/>
                    <a:lstStyle/>
                    <a:p>
                      <a:pPr indent="0" marL="0">
                        <a:buNone/>
                      </a:pPr>
                      <a:r>
                        <a:rPr lang="en-US" sz="1300" b="1" dirty="0">
                          <a:solidFill>
                            <a:schemeClr val="tx2"/>
                          </a:solidFill>
                        </a:rPr>
                        <a:t>K Index</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(T</a:t>
                      </a:r>
                      <a:r>
                        <a:rPr lang="en-US" sz="1300" baseline="-40000" dirty="0">
                          <a:solidFill>
                            <a:schemeClr val="tx1"/>
                          </a:solidFill>
                        </a:rPr>
                        <a:t>850</a:t>
                      </a:r>
                      <a:r>
                        <a:rPr lang="en-US" sz="1300" dirty="0">
                          <a:solidFill>
                            <a:schemeClr val="tx1"/>
                          </a:solidFill>
                        </a:rPr>
                        <a:t> − T</a:t>
                      </a:r>
                      <a:r>
                        <a:rPr lang="en-US" sz="1300" baseline="-40000" dirty="0">
                          <a:solidFill>
                            <a:schemeClr val="tx1"/>
                          </a:solidFill>
                        </a:rPr>
                        <a:t>500</a:t>
                      </a:r>
                      <a:r>
                        <a:rPr lang="en-US" sz="1300" dirty="0">
                          <a:solidFill>
                            <a:schemeClr val="tx1"/>
                          </a:solidFill>
                        </a:rPr>
                        <a:t>) + T</a:t>
                      </a:r>
                      <a:r>
                        <a:rPr lang="en-US" sz="1300" baseline="-40000" dirty="0">
                          <a:solidFill>
                            <a:schemeClr val="tx1"/>
                          </a:solidFill>
                        </a:rPr>
                        <a:t>d850</a:t>
                      </a:r>
                      <a:r>
                        <a:rPr lang="en-US" sz="1300" dirty="0">
                          <a:solidFill>
                            <a:schemeClr val="tx1"/>
                          </a:solidFill>
                        </a:rPr>
                        <a:t> − (T</a:t>
                      </a:r>
                      <a:r>
                        <a:rPr lang="en-US" sz="1300" baseline="-40000" dirty="0">
                          <a:solidFill>
                            <a:schemeClr val="tx1"/>
                          </a:solidFill>
                        </a:rPr>
                        <a:t>700</a:t>
                      </a:r>
                      <a:r>
                        <a:rPr lang="en-US" sz="1300" dirty="0">
                          <a:solidFill>
                            <a:schemeClr val="tx1"/>
                          </a:solidFill>
                        </a:rPr>
                        <a:t> − T</a:t>
                      </a:r>
                      <a:r>
                        <a:rPr lang="en-US" sz="1300" baseline="-40000" dirty="0">
                          <a:solidFill>
                            <a:schemeClr val="tx1"/>
                          </a:solidFill>
                        </a:rPr>
                        <a:t>d700</a:t>
                      </a:r>
                      <a:r>
                        <a:rPr lang="en-US" sz="1300" dirty="0">
                          <a:solidFill>
                            <a:schemeClr val="tx1"/>
                          </a:solidFill>
                        </a:rPr>
                        <a:t>)</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&lt; 20 unlikely · 20–30 scattered · 30–35 likely · &gt; 35 numerous storms</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713232">
                <a:tc>
                  <a:txBody>
                    <a:bodyPr/>
                    <a:lstStyle/>
                    <a:p>
                      <a:pPr indent="0" marL="0">
                        <a:buNone/>
                      </a:pPr>
                      <a:r>
                        <a:rPr lang="en-US" sz="1300" b="1" dirty="0">
                          <a:solidFill>
                            <a:schemeClr val="tx2"/>
                          </a:solidFill>
                        </a:rPr>
                        <a:t>Total Totals (TT)</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a:t>
                      </a:r>
                      <a:r>
                        <a:rPr lang="en-US" sz="1300" baseline="-40000" dirty="0">
                          <a:solidFill>
                            <a:schemeClr val="tx1"/>
                          </a:solidFill>
                        </a:rPr>
                        <a:t>850</a:t>
                      </a:r>
                      <a:r>
                        <a:rPr lang="en-US" sz="1300" dirty="0">
                          <a:solidFill>
                            <a:schemeClr val="tx1"/>
                          </a:solidFill>
                        </a:rPr>
                        <a:t> + T</a:t>
                      </a:r>
                      <a:r>
                        <a:rPr lang="en-US" sz="1300" baseline="-40000" dirty="0">
                          <a:solidFill>
                            <a:schemeClr val="tx1"/>
                          </a:solidFill>
                        </a:rPr>
                        <a:t>d850</a:t>
                      </a:r>
                      <a:r>
                        <a:rPr lang="en-US" sz="1300" dirty="0">
                          <a:solidFill>
                            <a:schemeClr val="tx1"/>
                          </a:solidFill>
                        </a:rPr>
                        <a:t> − 2 T</a:t>
                      </a:r>
                      <a:r>
                        <a:rPr lang="en-US" sz="1300" baseline="-40000" dirty="0">
                          <a:solidFill>
                            <a:schemeClr val="tx1"/>
                          </a:solidFill>
                        </a:rPr>
                        <a:t>500</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&gt; 44 storms possible · &gt; 50 severe possible</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713232">
                <a:tc>
                  <a:txBody>
                    <a:bodyPr/>
                    <a:lstStyle/>
                    <a:p>
                      <a:pPr indent="0" marL="0">
                        <a:buNone/>
                      </a:pPr>
                      <a:r>
                        <a:rPr lang="en-US" sz="1300" b="1" dirty="0">
                          <a:solidFill>
                            <a:schemeClr val="tx2"/>
                          </a:solidFill>
                        </a:rPr>
                        <a:t>Showalter Index (SI)</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like LI, parcel lifted from 850 hPa</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&lt; 0 showers/thunder possible · &lt; −3 severe possible</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713232">
                <a:tc>
                  <a:txBody>
                    <a:bodyPr/>
                    <a:lstStyle/>
                    <a:p>
                      <a:pPr indent="0" marL="0">
                        <a:buNone/>
                      </a:pPr>
                      <a:r>
                        <a:rPr lang="en-US" sz="1300" b="1" dirty="0">
                          <a:solidFill>
                            <a:schemeClr val="tx2"/>
                          </a:solidFill>
                        </a:rPr>
                        <a:t>CAPE (J/kg)</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g ∫ (T</a:t>
                      </a:r>
                      <a:r>
                        <a:rPr lang="en-US" sz="1300" baseline="-40000" dirty="0">
                          <a:solidFill>
                            <a:schemeClr val="tx1"/>
                          </a:solidFill>
                        </a:rPr>
                        <a:t>vp</a:t>
                      </a:r>
                      <a:r>
                        <a:rPr lang="en-US" sz="1300" dirty="0">
                          <a:solidFill>
                            <a:schemeClr val="tx1"/>
                          </a:solidFill>
                        </a:rPr>
                        <a:t> − T</a:t>
                      </a:r>
                      <a:r>
                        <a:rPr lang="en-US" sz="1300" baseline="-40000" dirty="0">
                          <a:solidFill>
                            <a:schemeClr val="tx1"/>
                          </a:solidFill>
                        </a:rPr>
                        <a:t>ve</a:t>
                      </a:r>
                      <a:r>
                        <a:rPr lang="en-US" sz="1300" dirty="0">
                          <a:solidFill>
                            <a:schemeClr val="tx1"/>
                          </a:solidFill>
                        </a:rPr>
                        <a:t>)/T</a:t>
                      </a:r>
                      <a:r>
                        <a:rPr lang="en-US" sz="1300" baseline="-40000" dirty="0">
                          <a:solidFill>
                            <a:schemeClr val="tx1"/>
                          </a:solidFill>
                        </a:rPr>
                        <a:t>ve</a:t>
                      </a:r>
                      <a:r>
                        <a:rPr lang="en-US" sz="1300" dirty="0">
                          <a:solidFill>
                            <a:schemeClr val="tx1"/>
                          </a:solidFill>
                        </a:rPr>
                        <a:t> dz</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&lt; 1000 weak · 1000–2500 moderate · 2500–4000 strong · &gt; 4000 extreme</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5760720"/>
            <a:ext cx="10972800" cy="274320"/>
          </a:xfrm>
          <a:prstGeom prst="rect">
            <a:avLst/>
          </a:prstGeom>
          <a:noFill/>
          <a:ln/>
        </p:spPr>
        <p:txBody>
          <a:bodyPr wrap="square" lIns="508" tIns="508" rIns="508" bIns="508" rtlCol="0" anchor="t"/>
          <a:lstStyle/>
          <a:p>
            <a:pPr indent="0" marL="0">
              <a:spcAft>
                <a:spcPts val="600"/>
              </a:spcAft>
              <a:buNone/>
            </a:pPr>
            <a:r>
              <a:rPr lang="en-US" sz="1100" i="1" dirty="0">
                <a:solidFill>
                  <a:schemeClr val="accent6"/>
                </a:solidFill>
              </a:rPr>
              <a:t>Thresholds are approximate guides and vary with region and season. Temperatures in °C.</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Temperature inversions</a:t>
            </a:r>
            <a:endParaRPr lang="en-US" sz="3200" dirty="0"/>
          </a:p>
        </p:txBody>
      </p:sp>
      <p:sp>
        <p:nvSpPr>
          <p:cNvPr id="4" name="plot area"/>
          <p:cNvSpPr/>
          <p:nvPr/>
        </p:nvSpPr>
        <p:spPr>
          <a:xfrm>
            <a:off x="1051560" y="1600200"/>
            <a:ext cx="5120640" cy="4206240"/>
          </a:xfrm>
          <a:prstGeom prst="rect">
            <a:avLst/>
          </a:prstGeom>
          <a:solidFill>
            <a:schemeClr val="bg1"/>
          </a:solidFill>
          <a:ln w="9525">
            <a:solidFill>
              <a:srgbClr val="C9D2DC"/>
            </a:solidFill>
            <a:prstDash val="solid"/>
          </a:ln>
        </p:spPr>
      </p:sp>
      <p:sp>
        <p:nvSpPr>
          <p:cNvPr id="5" name="Text 2"/>
          <p:cNvSpPr txBox="1"/>
          <p:nvPr/>
        </p:nvSpPr>
        <p:spPr>
          <a:xfrm>
            <a:off x="77724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0</a:t>
            </a:r>
            <a:endParaRPr lang="en-US" sz="1000" dirty="0"/>
          </a:p>
        </p:txBody>
      </p:sp>
      <p:sp>
        <p:nvSpPr>
          <p:cNvPr id="6" name="arrow"/>
          <p:cNvSpPr/>
          <p:nvPr/>
        </p:nvSpPr>
        <p:spPr>
          <a:xfrm>
            <a:off x="1905000" y="1600200"/>
            <a:ext cx="0" cy="4206240"/>
          </a:xfrm>
          <a:prstGeom prst="line">
            <a:avLst/>
          </a:prstGeom>
          <a:noFill/>
          <a:ln w="6350">
            <a:solidFill>
              <a:srgbClr val="E3E8EE"/>
            </a:solidFill>
            <a:prstDash val="solid"/>
          </a:ln>
        </p:spPr>
      </p:sp>
      <p:sp>
        <p:nvSpPr>
          <p:cNvPr id="7" name="Text 4"/>
          <p:cNvSpPr txBox="1"/>
          <p:nvPr/>
        </p:nvSpPr>
        <p:spPr>
          <a:xfrm>
            <a:off x="163068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5</a:t>
            </a:r>
            <a:endParaRPr lang="en-US" sz="1000" dirty="0"/>
          </a:p>
        </p:txBody>
      </p:sp>
      <p:sp>
        <p:nvSpPr>
          <p:cNvPr id="8" name="arrow"/>
          <p:cNvSpPr/>
          <p:nvPr/>
        </p:nvSpPr>
        <p:spPr>
          <a:xfrm>
            <a:off x="2758440" y="1600200"/>
            <a:ext cx="0" cy="4206240"/>
          </a:xfrm>
          <a:prstGeom prst="line">
            <a:avLst/>
          </a:prstGeom>
          <a:noFill/>
          <a:ln w="6350">
            <a:solidFill>
              <a:srgbClr val="E3E8EE"/>
            </a:solidFill>
            <a:prstDash val="solid"/>
          </a:ln>
        </p:spPr>
      </p:sp>
      <p:sp>
        <p:nvSpPr>
          <p:cNvPr id="9" name="Text 6"/>
          <p:cNvSpPr txBox="1"/>
          <p:nvPr/>
        </p:nvSpPr>
        <p:spPr>
          <a:xfrm>
            <a:off x="248412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10</a:t>
            </a:r>
            <a:endParaRPr lang="en-US" sz="1000" dirty="0"/>
          </a:p>
        </p:txBody>
      </p:sp>
      <p:sp>
        <p:nvSpPr>
          <p:cNvPr id="10" name="arrow"/>
          <p:cNvSpPr/>
          <p:nvPr/>
        </p:nvSpPr>
        <p:spPr>
          <a:xfrm>
            <a:off x="3611880" y="1600200"/>
            <a:ext cx="0" cy="4206240"/>
          </a:xfrm>
          <a:prstGeom prst="line">
            <a:avLst/>
          </a:prstGeom>
          <a:noFill/>
          <a:ln w="6350">
            <a:solidFill>
              <a:srgbClr val="E3E8EE"/>
            </a:solidFill>
            <a:prstDash val="solid"/>
          </a:ln>
        </p:spPr>
      </p:sp>
      <p:sp>
        <p:nvSpPr>
          <p:cNvPr id="11" name="Text 8"/>
          <p:cNvSpPr txBox="1"/>
          <p:nvPr/>
        </p:nvSpPr>
        <p:spPr>
          <a:xfrm>
            <a:off x="333756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15</a:t>
            </a:r>
            <a:endParaRPr lang="en-US" sz="1000" dirty="0"/>
          </a:p>
        </p:txBody>
      </p:sp>
      <p:sp>
        <p:nvSpPr>
          <p:cNvPr id="12" name="arrow"/>
          <p:cNvSpPr/>
          <p:nvPr/>
        </p:nvSpPr>
        <p:spPr>
          <a:xfrm>
            <a:off x="4465320" y="1600200"/>
            <a:ext cx="0" cy="4206240"/>
          </a:xfrm>
          <a:prstGeom prst="line">
            <a:avLst/>
          </a:prstGeom>
          <a:noFill/>
          <a:ln w="6350">
            <a:solidFill>
              <a:srgbClr val="E3E8EE"/>
            </a:solidFill>
            <a:prstDash val="solid"/>
          </a:ln>
        </p:spPr>
      </p:sp>
      <p:sp>
        <p:nvSpPr>
          <p:cNvPr id="13" name="Text 10"/>
          <p:cNvSpPr txBox="1"/>
          <p:nvPr/>
        </p:nvSpPr>
        <p:spPr>
          <a:xfrm>
            <a:off x="419100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20</a:t>
            </a:r>
            <a:endParaRPr lang="en-US" sz="1000" dirty="0"/>
          </a:p>
        </p:txBody>
      </p:sp>
      <p:sp>
        <p:nvSpPr>
          <p:cNvPr id="14" name="arrow"/>
          <p:cNvSpPr/>
          <p:nvPr/>
        </p:nvSpPr>
        <p:spPr>
          <a:xfrm>
            <a:off x="5318760" y="1600200"/>
            <a:ext cx="0" cy="4206240"/>
          </a:xfrm>
          <a:prstGeom prst="line">
            <a:avLst/>
          </a:prstGeom>
          <a:noFill/>
          <a:ln w="6350">
            <a:solidFill>
              <a:srgbClr val="E3E8EE"/>
            </a:solidFill>
            <a:prstDash val="solid"/>
          </a:ln>
        </p:spPr>
      </p:sp>
      <p:sp>
        <p:nvSpPr>
          <p:cNvPr id="15" name="Text 12"/>
          <p:cNvSpPr txBox="1"/>
          <p:nvPr/>
        </p:nvSpPr>
        <p:spPr>
          <a:xfrm>
            <a:off x="504444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25</a:t>
            </a:r>
            <a:endParaRPr lang="en-US" sz="1000" dirty="0"/>
          </a:p>
        </p:txBody>
      </p:sp>
      <p:sp>
        <p:nvSpPr>
          <p:cNvPr id="16" name="Text 13"/>
          <p:cNvSpPr txBox="1"/>
          <p:nvPr/>
        </p:nvSpPr>
        <p:spPr>
          <a:xfrm>
            <a:off x="5897880" y="5833872"/>
            <a:ext cx="548640" cy="228600"/>
          </a:xfrm>
          <a:prstGeom prst="rect">
            <a:avLst/>
          </a:prstGeom>
          <a:noFill/>
          <a:ln/>
        </p:spPr>
        <p:txBody>
          <a:bodyPr wrap="square" lIns="0" tIns="0" rIns="0" bIns="0" rtlCol="0" anchor="ctr"/>
          <a:lstStyle/>
          <a:p>
            <a:pPr algn="ctr" indent="0" marL="0">
              <a:buNone/>
            </a:pPr>
            <a:r>
              <a:rPr lang="en-US" sz="1000" dirty="0">
                <a:solidFill>
                  <a:schemeClr val="accent6"/>
                </a:solidFill>
              </a:rPr>
              <a:t>30</a:t>
            </a:r>
            <a:endParaRPr lang="en-US" sz="1000" dirty="0"/>
          </a:p>
        </p:txBody>
      </p:sp>
      <p:sp>
        <p:nvSpPr>
          <p:cNvPr id="17" name="Text 14"/>
          <p:cNvSpPr txBox="1"/>
          <p:nvPr/>
        </p:nvSpPr>
        <p:spPr>
          <a:xfrm>
            <a:off x="640080" y="569671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0</a:t>
            </a:r>
            <a:endParaRPr lang="en-US" sz="1000" dirty="0"/>
          </a:p>
        </p:txBody>
      </p:sp>
      <p:sp>
        <p:nvSpPr>
          <p:cNvPr id="18" name="arrow"/>
          <p:cNvSpPr/>
          <p:nvPr/>
        </p:nvSpPr>
        <p:spPr>
          <a:xfrm>
            <a:off x="1051560" y="5105400"/>
            <a:ext cx="5120640" cy="0"/>
          </a:xfrm>
          <a:prstGeom prst="line">
            <a:avLst/>
          </a:prstGeom>
          <a:noFill/>
          <a:ln w="6350">
            <a:solidFill>
              <a:srgbClr val="E3E8EE"/>
            </a:solidFill>
            <a:prstDash val="solid"/>
          </a:ln>
        </p:spPr>
      </p:sp>
      <p:sp>
        <p:nvSpPr>
          <p:cNvPr id="19" name="Text 16"/>
          <p:cNvSpPr txBox="1"/>
          <p:nvPr/>
        </p:nvSpPr>
        <p:spPr>
          <a:xfrm>
            <a:off x="640080" y="499567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0.5</a:t>
            </a:r>
            <a:endParaRPr lang="en-US" sz="1000" dirty="0"/>
          </a:p>
        </p:txBody>
      </p:sp>
      <p:sp>
        <p:nvSpPr>
          <p:cNvPr id="20" name="arrow"/>
          <p:cNvSpPr/>
          <p:nvPr/>
        </p:nvSpPr>
        <p:spPr>
          <a:xfrm>
            <a:off x="1051560" y="4404360"/>
            <a:ext cx="5120640" cy="0"/>
          </a:xfrm>
          <a:prstGeom prst="line">
            <a:avLst/>
          </a:prstGeom>
          <a:noFill/>
          <a:ln w="6350">
            <a:solidFill>
              <a:srgbClr val="E3E8EE"/>
            </a:solidFill>
            <a:prstDash val="solid"/>
          </a:ln>
        </p:spPr>
      </p:sp>
      <p:sp>
        <p:nvSpPr>
          <p:cNvPr id="21" name="Text 18"/>
          <p:cNvSpPr txBox="1"/>
          <p:nvPr/>
        </p:nvSpPr>
        <p:spPr>
          <a:xfrm>
            <a:off x="640080" y="429463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1</a:t>
            </a:r>
            <a:endParaRPr lang="en-US" sz="1000" dirty="0"/>
          </a:p>
        </p:txBody>
      </p:sp>
      <p:sp>
        <p:nvSpPr>
          <p:cNvPr id="22" name="arrow"/>
          <p:cNvSpPr/>
          <p:nvPr/>
        </p:nvSpPr>
        <p:spPr>
          <a:xfrm>
            <a:off x="1051560" y="3703320"/>
            <a:ext cx="5120640" cy="0"/>
          </a:xfrm>
          <a:prstGeom prst="line">
            <a:avLst/>
          </a:prstGeom>
          <a:noFill/>
          <a:ln w="6350">
            <a:solidFill>
              <a:srgbClr val="E3E8EE"/>
            </a:solidFill>
            <a:prstDash val="solid"/>
          </a:ln>
        </p:spPr>
      </p:sp>
      <p:sp>
        <p:nvSpPr>
          <p:cNvPr id="23" name="Text 20"/>
          <p:cNvSpPr txBox="1"/>
          <p:nvPr/>
        </p:nvSpPr>
        <p:spPr>
          <a:xfrm>
            <a:off x="640080" y="359359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1.5</a:t>
            </a:r>
            <a:endParaRPr lang="en-US" sz="1000" dirty="0"/>
          </a:p>
        </p:txBody>
      </p:sp>
      <p:sp>
        <p:nvSpPr>
          <p:cNvPr id="24" name="arrow"/>
          <p:cNvSpPr/>
          <p:nvPr/>
        </p:nvSpPr>
        <p:spPr>
          <a:xfrm>
            <a:off x="1051560" y="3002280"/>
            <a:ext cx="5120640" cy="0"/>
          </a:xfrm>
          <a:prstGeom prst="line">
            <a:avLst/>
          </a:prstGeom>
          <a:noFill/>
          <a:ln w="6350">
            <a:solidFill>
              <a:srgbClr val="E3E8EE"/>
            </a:solidFill>
            <a:prstDash val="solid"/>
          </a:ln>
        </p:spPr>
      </p:sp>
      <p:sp>
        <p:nvSpPr>
          <p:cNvPr id="25" name="Text 22"/>
          <p:cNvSpPr txBox="1"/>
          <p:nvPr/>
        </p:nvSpPr>
        <p:spPr>
          <a:xfrm>
            <a:off x="640080" y="289255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2</a:t>
            </a:r>
            <a:endParaRPr lang="en-US" sz="1000" dirty="0"/>
          </a:p>
        </p:txBody>
      </p:sp>
      <p:sp>
        <p:nvSpPr>
          <p:cNvPr id="26" name="arrow"/>
          <p:cNvSpPr/>
          <p:nvPr/>
        </p:nvSpPr>
        <p:spPr>
          <a:xfrm>
            <a:off x="1051560" y="2301240"/>
            <a:ext cx="5120640" cy="0"/>
          </a:xfrm>
          <a:prstGeom prst="line">
            <a:avLst/>
          </a:prstGeom>
          <a:noFill/>
          <a:ln w="6350">
            <a:solidFill>
              <a:srgbClr val="E3E8EE"/>
            </a:solidFill>
            <a:prstDash val="solid"/>
          </a:ln>
        </p:spPr>
      </p:sp>
      <p:sp>
        <p:nvSpPr>
          <p:cNvPr id="27" name="Text 24"/>
          <p:cNvSpPr txBox="1"/>
          <p:nvPr/>
        </p:nvSpPr>
        <p:spPr>
          <a:xfrm>
            <a:off x="640080" y="219151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2.5</a:t>
            </a:r>
            <a:endParaRPr lang="en-US" sz="1000" dirty="0"/>
          </a:p>
        </p:txBody>
      </p:sp>
      <p:sp>
        <p:nvSpPr>
          <p:cNvPr id="28" name="Text 25"/>
          <p:cNvSpPr txBox="1"/>
          <p:nvPr/>
        </p:nvSpPr>
        <p:spPr>
          <a:xfrm>
            <a:off x="640080" y="1490472"/>
            <a:ext cx="365760" cy="228600"/>
          </a:xfrm>
          <a:prstGeom prst="rect">
            <a:avLst/>
          </a:prstGeom>
          <a:noFill/>
          <a:ln/>
        </p:spPr>
        <p:txBody>
          <a:bodyPr wrap="square" lIns="0" tIns="0" rIns="0" bIns="0" rtlCol="0" anchor="ctr"/>
          <a:lstStyle/>
          <a:p>
            <a:pPr algn="r" indent="0" marL="0">
              <a:buNone/>
            </a:pPr>
            <a:r>
              <a:rPr lang="en-US" sz="1000" dirty="0">
                <a:solidFill>
                  <a:schemeClr val="accent6"/>
                </a:solidFill>
              </a:rPr>
              <a:t>3</a:t>
            </a:r>
            <a:endParaRPr lang="en-US" sz="1000" dirty="0"/>
          </a:p>
        </p:txBody>
      </p:sp>
      <p:sp>
        <p:nvSpPr>
          <p:cNvPr id="29" name="Text 26"/>
          <p:cNvSpPr txBox="1"/>
          <p:nvPr/>
        </p:nvSpPr>
        <p:spPr>
          <a:xfrm>
            <a:off x="1051560" y="6053328"/>
            <a:ext cx="5120640" cy="256032"/>
          </a:xfrm>
          <a:prstGeom prst="rect">
            <a:avLst/>
          </a:prstGeom>
          <a:noFill/>
          <a:ln/>
        </p:spPr>
        <p:txBody>
          <a:bodyPr wrap="square" lIns="0" tIns="0" rIns="0" bIns="0" rtlCol="0" anchor="ctr"/>
          <a:lstStyle/>
          <a:p>
            <a:pPr algn="ctr" indent="0" marL="0">
              <a:buNone/>
            </a:pPr>
            <a:r>
              <a:rPr lang="en-US" sz="1100" i="1" dirty="0">
                <a:solidFill>
                  <a:schemeClr val="accent6"/>
                </a:solidFill>
              </a:rPr>
              <a:t>Temperature (°C)</a:t>
            </a:r>
            <a:endParaRPr lang="en-US" sz="1100" dirty="0"/>
          </a:p>
        </p:txBody>
      </p:sp>
      <p:sp>
        <p:nvSpPr>
          <p:cNvPr id="30" name="Text 27"/>
          <p:cNvSpPr txBox="1"/>
          <p:nvPr/>
        </p:nvSpPr>
        <p:spPr>
          <a:xfrm>
            <a:off x="484632" y="1307592"/>
            <a:ext cx="2286000" cy="256032"/>
          </a:xfrm>
          <a:prstGeom prst="rect">
            <a:avLst/>
          </a:prstGeom>
          <a:noFill/>
          <a:ln/>
        </p:spPr>
        <p:txBody>
          <a:bodyPr wrap="square" lIns="0" tIns="0" rIns="0" bIns="0" rtlCol="0" anchor="ctr"/>
          <a:lstStyle/>
          <a:p>
            <a:pPr algn="l" indent="0" marL="0">
              <a:buNone/>
            </a:pPr>
            <a:r>
              <a:rPr lang="en-US" sz="1100" i="1" dirty="0">
                <a:solidFill>
                  <a:schemeClr val="accent6"/>
                </a:solidFill>
              </a:rPr>
              <a:t>Height (km)</a:t>
            </a:r>
            <a:endParaRPr lang="en-US" sz="1100" dirty="0"/>
          </a:p>
        </p:txBody>
      </p:sp>
      <p:sp>
        <p:nvSpPr>
          <p:cNvPr id="31" name="shaded area"/>
          <p:cNvSpPr/>
          <p:nvPr/>
        </p:nvSpPr>
        <p:spPr>
          <a:xfrm>
            <a:off x="1051560" y="5385816"/>
            <a:ext cx="5120640" cy="420624"/>
          </a:xfrm>
          <a:custGeom>
            <a:avLst/>
            <a:gdLst/>
            <a:ahLst/>
            <a:cxnLst/>
            <a:rect l="l" t="t" r="r" b="b"/>
            <a:pathLst>
              <a:path w="5120640" h="420624">
                <a:moveTo>
                  <a:pt x="0" y="0"/>
                </a:moveTo>
                <a:lnTo>
                  <a:pt x="5120640" y="0"/>
                </a:lnTo>
                <a:lnTo>
                  <a:pt x="5120640" y="420624"/>
                </a:lnTo>
                <a:lnTo>
                  <a:pt x="0" y="420624"/>
                </a:lnTo>
                <a:close/>
              </a:path>
            </a:pathLst>
          </a:custGeom>
          <a:solidFill>
            <a:srgbClr val="9CC5D9">
              <a:alpha val="40000"/>
            </a:srgbClr>
          </a:solidFill>
          <a:ln/>
        </p:spPr>
      </p:sp>
      <p:sp>
        <p:nvSpPr>
          <p:cNvPr id="32" name="shaded area"/>
          <p:cNvSpPr/>
          <p:nvPr/>
        </p:nvSpPr>
        <p:spPr>
          <a:xfrm>
            <a:off x="1051560" y="3563112"/>
            <a:ext cx="5120640" cy="420624"/>
          </a:xfrm>
          <a:custGeom>
            <a:avLst/>
            <a:gdLst/>
            <a:ahLst/>
            <a:cxnLst/>
            <a:rect l="l" t="t" r="r" b="b"/>
            <a:pathLst>
              <a:path w="5120640" h="420624">
                <a:moveTo>
                  <a:pt x="0" y="0"/>
                </a:moveTo>
                <a:lnTo>
                  <a:pt x="5120640" y="0"/>
                </a:lnTo>
                <a:lnTo>
                  <a:pt x="5120640" y="420624"/>
                </a:lnTo>
                <a:lnTo>
                  <a:pt x="0" y="420624"/>
                </a:lnTo>
                <a:close/>
              </a:path>
            </a:pathLst>
          </a:custGeom>
          <a:solidFill>
            <a:srgbClr val="EDAE49">
              <a:alpha val="45000"/>
            </a:srgbClr>
          </a:solidFill>
          <a:ln/>
        </p:spPr>
      </p:sp>
      <p:sp>
        <p:nvSpPr>
          <p:cNvPr id="33" name="arrow"/>
          <p:cNvSpPr/>
          <p:nvPr/>
        </p:nvSpPr>
        <p:spPr>
          <a:xfrm flipV="1">
            <a:off x="2417064" y="5385816"/>
            <a:ext cx="1024128" cy="420624"/>
          </a:xfrm>
          <a:prstGeom prst="line">
            <a:avLst/>
          </a:prstGeom>
          <a:noFill/>
          <a:ln w="44450">
            <a:solidFill>
              <a:srgbClr val="2E86AB"/>
            </a:solidFill>
            <a:prstDash val="solid"/>
          </a:ln>
        </p:spPr>
      </p:sp>
      <p:sp>
        <p:nvSpPr>
          <p:cNvPr id="34" name="arrow"/>
          <p:cNvSpPr/>
          <p:nvPr/>
        </p:nvSpPr>
        <p:spPr>
          <a:xfrm flipH="1" flipV="1">
            <a:off x="2929128" y="4684776"/>
            <a:ext cx="512064" cy="701040"/>
          </a:xfrm>
          <a:prstGeom prst="line">
            <a:avLst/>
          </a:prstGeom>
          <a:noFill/>
          <a:ln w="44450">
            <a:solidFill>
              <a:srgbClr val="2E86AB"/>
            </a:solidFill>
            <a:prstDash val="solid"/>
          </a:ln>
        </p:spPr>
      </p:sp>
      <p:sp>
        <p:nvSpPr>
          <p:cNvPr id="35" name="arrow"/>
          <p:cNvSpPr/>
          <p:nvPr/>
        </p:nvSpPr>
        <p:spPr>
          <a:xfrm flipH="1" flipV="1">
            <a:off x="2331720" y="3983736"/>
            <a:ext cx="597408" cy="701040"/>
          </a:xfrm>
          <a:prstGeom prst="line">
            <a:avLst/>
          </a:prstGeom>
          <a:noFill/>
          <a:ln w="44450">
            <a:solidFill>
              <a:srgbClr val="2E86AB"/>
            </a:solidFill>
            <a:prstDash val="solid"/>
          </a:ln>
        </p:spPr>
      </p:sp>
      <p:sp>
        <p:nvSpPr>
          <p:cNvPr id="36" name="arrow"/>
          <p:cNvSpPr/>
          <p:nvPr/>
        </p:nvSpPr>
        <p:spPr>
          <a:xfrm flipV="1">
            <a:off x="2331720" y="3563112"/>
            <a:ext cx="768096" cy="420624"/>
          </a:xfrm>
          <a:prstGeom prst="line">
            <a:avLst/>
          </a:prstGeom>
          <a:noFill/>
          <a:ln w="44450">
            <a:solidFill>
              <a:srgbClr val="2E86AB"/>
            </a:solidFill>
            <a:prstDash val="solid"/>
          </a:ln>
        </p:spPr>
      </p:sp>
      <p:sp>
        <p:nvSpPr>
          <p:cNvPr id="37" name="arrow"/>
          <p:cNvSpPr/>
          <p:nvPr/>
        </p:nvSpPr>
        <p:spPr>
          <a:xfrm flipH="1" flipV="1">
            <a:off x="2587752" y="2721864"/>
            <a:ext cx="512064" cy="841248"/>
          </a:xfrm>
          <a:prstGeom prst="line">
            <a:avLst/>
          </a:prstGeom>
          <a:noFill/>
          <a:ln w="44450">
            <a:solidFill>
              <a:srgbClr val="2E86AB"/>
            </a:solidFill>
            <a:prstDash val="solid"/>
          </a:ln>
        </p:spPr>
      </p:sp>
      <p:sp>
        <p:nvSpPr>
          <p:cNvPr id="38" name="arrow"/>
          <p:cNvSpPr/>
          <p:nvPr/>
        </p:nvSpPr>
        <p:spPr>
          <a:xfrm flipH="1" flipV="1">
            <a:off x="1819656" y="1600200"/>
            <a:ext cx="768096" cy="1121664"/>
          </a:xfrm>
          <a:prstGeom prst="line">
            <a:avLst/>
          </a:prstGeom>
          <a:noFill/>
          <a:ln w="44450">
            <a:solidFill>
              <a:srgbClr val="2E86AB"/>
            </a:solidFill>
            <a:prstDash val="solid"/>
          </a:ln>
        </p:spPr>
      </p:sp>
      <p:sp>
        <p:nvSpPr>
          <p:cNvPr id="39" name="Text 36"/>
          <p:cNvSpPr txBox="1"/>
          <p:nvPr/>
        </p:nvSpPr>
        <p:spPr>
          <a:xfrm>
            <a:off x="3611880" y="5455920"/>
            <a:ext cx="2377440" cy="256032"/>
          </a:xfrm>
          <a:prstGeom prst="rect">
            <a:avLst/>
          </a:prstGeom>
          <a:noFill/>
          <a:ln/>
        </p:spPr>
        <p:txBody>
          <a:bodyPr wrap="square" lIns="0" tIns="0" rIns="0" bIns="0" rtlCol="0" anchor="ctr"/>
          <a:lstStyle/>
          <a:p>
            <a:pPr algn="l" indent="0" marL="0">
              <a:buNone/>
            </a:pPr>
            <a:r>
              <a:rPr lang="en-US" sz="1100" b="1" dirty="0">
                <a:solidFill>
                  <a:schemeClr val="accent2"/>
                </a:solidFill>
              </a:rPr>
              <a:t>surface (radiation) inversion</a:t>
            </a:r>
            <a:endParaRPr lang="en-US" sz="1100" dirty="0"/>
          </a:p>
        </p:txBody>
      </p:sp>
      <p:sp>
        <p:nvSpPr>
          <p:cNvPr id="40" name="Text 37"/>
          <p:cNvSpPr txBox="1"/>
          <p:nvPr/>
        </p:nvSpPr>
        <p:spPr>
          <a:xfrm>
            <a:off x="3355848" y="3633216"/>
            <a:ext cx="2377440" cy="256032"/>
          </a:xfrm>
          <a:prstGeom prst="rect">
            <a:avLst/>
          </a:prstGeom>
          <a:noFill/>
          <a:ln/>
        </p:spPr>
        <p:txBody>
          <a:bodyPr wrap="square" lIns="0" tIns="0" rIns="0" bIns="0" rtlCol="0" anchor="ctr"/>
          <a:lstStyle/>
          <a:p>
            <a:pPr algn="l" indent="0" marL="0">
              <a:buNone/>
            </a:pPr>
            <a:r>
              <a:rPr lang="en-US" sz="1100" b="1" dirty="0">
                <a:solidFill>
                  <a:srgbClr val="B87F0F"/>
                </a:solidFill>
              </a:rPr>
              <a:t>subsidence inversion aloft</a:t>
            </a:r>
            <a:endParaRPr lang="en-US" sz="1100" dirty="0"/>
          </a:p>
        </p:txBody>
      </p:sp>
      <p:sp>
        <p:nvSpPr>
          <p:cNvPr id="41" name="card"/>
          <p:cNvSpPr/>
          <p:nvPr/>
        </p:nvSpPr>
        <p:spPr>
          <a:xfrm>
            <a:off x="6446520" y="1371600"/>
            <a:ext cx="5193792" cy="1097280"/>
          </a:xfrm>
          <a:prstGeom prst="roundRect">
            <a:avLst>
              <a:gd name="adj" fmla="val 6667"/>
            </a:avLst>
          </a:prstGeom>
          <a:solidFill>
            <a:schemeClr val="bg2"/>
          </a:solidFill>
          <a:ln/>
          <a:effectLst>
            <a:outerShdw sx="100000" sy="100000" kx="0" ky="0" algn="bl" rotWithShape="0" blurRad="76200" dist="25400" dir="5400000">
              <a:srgbClr val="000000">
                <a:alpha val="14000"/>
              </a:srgbClr>
            </a:outerShdw>
          </a:effectLst>
        </p:spPr>
      </p:sp>
      <p:sp>
        <p:nvSpPr>
          <p:cNvPr id="42" name="icon circle"/>
          <p:cNvSpPr/>
          <p:nvPr/>
        </p:nvSpPr>
        <p:spPr>
          <a:xfrm>
            <a:off x="6629400" y="1527048"/>
            <a:ext cx="420624" cy="420624"/>
          </a:xfrm>
          <a:prstGeom prst="ellipse">
            <a:avLst/>
          </a:prstGeom>
          <a:solidFill>
            <a:schemeClr val="accent2"/>
          </a:solidFill>
          <a:ln/>
        </p:spPr>
      </p:sp>
      <p:pic>
        <p:nvPicPr>
          <p:cNvPr id="43" name="Image 0" descr="Moon icon">    </p:cNvPr>
          <p:cNvPicPr>
            <a:picLocks noChangeAspect="1"/>
          </p:cNvPicPr>
          <p:nvPr/>
        </p:nvPicPr>
        <p:blipFill>
          <a:blip r:embed="rId1"/>
          <a:stretch>
            <a:fillRect/>
          </a:stretch>
        </p:blipFill>
        <p:spPr>
          <a:xfrm>
            <a:off x="6738762" y="1636410"/>
            <a:ext cx="201900" cy="201900"/>
          </a:xfrm>
          <a:prstGeom prst="rect">
            <a:avLst/>
          </a:prstGeom>
        </p:spPr>
      </p:pic>
      <p:sp>
        <p:nvSpPr>
          <p:cNvPr id="44" name="Text 40"/>
          <p:cNvSpPr txBox="1"/>
          <p:nvPr/>
        </p:nvSpPr>
        <p:spPr>
          <a:xfrm>
            <a:off x="7159752" y="1508760"/>
            <a:ext cx="4343400" cy="457200"/>
          </a:xfrm>
          <a:prstGeom prst="rect">
            <a:avLst/>
          </a:prstGeom>
          <a:noFill/>
          <a:ln/>
        </p:spPr>
        <p:txBody>
          <a:bodyPr wrap="square" lIns="0" tIns="0" rIns="0" bIns="0" rtlCol="0" anchor="ctr"/>
          <a:lstStyle/>
          <a:p>
            <a:pPr indent="0" marL="0">
              <a:buNone/>
            </a:pPr>
            <a:r>
              <a:rPr lang="en-US" sz="1400" b="1" dirty="0">
                <a:solidFill>
                  <a:schemeClr val="tx2"/>
                </a:solidFill>
              </a:rPr>
              <a:t>Radiation</a:t>
            </a:r>
            <a:endParaRPr lang="en-US" sz="1400" dirty="0"/>
          </a:p>
        </p:txBody>
      </p:sp>
      <p:sp>
        <p:nvSpPr>
          <p:cNvPr id="45" name="Text 41"/>
          <p:cNvSpPr txBox="1"/>
          <p:nvPr/>
        </p:nvSpPr>
        <p:spPr>
          <a:xfrm>
            <a:off x="6629400" y="2057400"/>
            <a:ext cx="4828032" cy="32004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Clear calm nights, surface cools → fog, smog (e.g. Delhi winter)</a:t>
            </a:r>
            <a:endParaRPr lang="en-US" sz="1200" dirty="0"/>
          </a:p>
        </p:txBody>
      </p:sp>
      <p:sp>
        <p:nvSpPr>
          <p:cNvPr id="46" name="card"/>
          <p:cNvSpPr/>
          <p:nvPr/>
        </p:nvSpPr>
        <p:spPr>
          <a:xfrm>
            <a:off x="6446520" y="2587752"/>
            <a:ext cx="5193792" cy="1097280"/>
          </a:xfrm>
          <a:prstGeom prst="roundRect">
            <a:avLst>
              <a:gd name="adj" fmla="val 6667"/>
            </a:avLst>
          </a:prstGeom>
          <a:solidFill>
            <a:schemeClr val="bg2"/>
          </a:solidFill>
          <a:ln/>
          <a:effectLst>
            <a:outerShdw sx="100000" sy="100000" kx="0" ky="0" algn="bl" rotWithShape="0" blurRad="76200" dist="25400" dir="5400000">
              <a:srgbClr val="000000">
                <a:alpha val="14000"/>
              </a:srgbClr>
            </a:outerShdw>
          </a:effectLst>
        </p:spPr>
      </p:sp>
      <p:sp>
        <p:nvSpPr>
          <p:cNvPr id="47" name="icon circle"/>
          <p:cNvSpPr/>
          <p:nvPr/>
        </p:nvSpPr>
        <p:spPr>
          <a:xfrm>
            <a:off x="6629400" y="2743200"/>
            <a:ext cx="420624" cy="420624"/>
          </a:xfrm>
          <a:prstGeom prst="ellipse">
            <a:avLst/>
          </a:prstGeom>
          <a:solidFill>
            <a:schemeClr val="accent3"/>
          </a:solidFill>
          <a:ln/>
        </p:spPr>
      </p:sp>
      <p:pic>
        <p:nvPicPr>
          <p:cNvPr id="48" name="Image 1" descr="ArrowDown icon">    </p:cNvPr>
          <p:cNvPicPr>
            <a:picLocks noChangeAspect="1"/>
          </p:cNvPicPr>
          <p:nvPr/>
        </p:nvPicPr>
        <p:blipFill>
          <a:blip r:embed="rId2"/>
          <a:stretch>
            <a:fillRect/>
          </a:stretch>
        </p:blipFill>
        <p:spPr>
          <a:xfrm>
            <a:off x="6738762" y="2852562"/>
            <a:ext cx="201900" cy="201900"/>
          </a:xfrm>
          <a:prstGeom prst="rect">
            <a:avLst/>
          </a:prstGeom>
        </p:spPr>
      </p:pic>
      <p:sp>
        <p:nvSpPr>
          <p:cNvPr id="49" name="Text 44"/>
          <p:cNvSpPr txBox="1"/>
          <p:nvPr/>
        </p:nvSpPr>
        <p:spPr>
          <a:xfrm>
            <a:off x="7159752" y="2724912"/>
            <a:ext cx="4343400" cy="457200"/>
          </a:xfrm>
          <a:prstGeom prst="rect">
            <a:avLst/>
          </a:prstGeom>
          <a:noFill/>
          <a:ln/>
        </p:spPr>
        <p:txBody>
          <a:bodyPr wrap="square" lIns="0" tIns="0" rIns="0" bIns="0" rtlCol="0" anchor="ctr"/>
          <a:lstStyle/>
          <a:p>
            <a:pPr indent="0" marL="0">
              <a:buNone/>
            </a:pPr>
            <a:r>
              <a:rPr lang="en-US" sz="1400" b="1" dirty="0">
                <a:solidFill>
                  <a:schemeClr val="tx2"/>
                </a:solidFill>
              </a:rPr>
              <a:t>Subsidence</a:t>
            </a:r>
            <a:endParaRPr lang="en-US" sz="1400" dirty="0"/>
          </a:p>
        </p:txBody>
      </p:sp>
      <p:sp>
        <p:nvSpPr>
          <p:cNvPr id="50" name="Text 45"/>
          <p:cNvSpPr txBox="1"/>
          <p:nvPr/>
        </p:nvSpPr>
        <p:spPr>
          <a:xfrm>
            <a:off x="6629400" y="3273552"/>
            <a:ext cx="4828032" cy="32004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Sinking air in highs warms adiabatically → caps clouds and pollution</a:t>
            </a:r>
            <a:endParaRPr lang="en-US" sz="1200" dirty="0"/>
          </a:p>
        </p:txBody>
      </p:sp>
      <p:sp>
        <p:nvSpPr>
          <p:cNvPr id="51" name="card"/>
          <p:cNvSpPr/>
          <p:nvPr/>
        </p:nvSpPr>
        <p:spPr>
          <a:xfrm>
            <a:off x="6446520" y="3803904"/>
            <a:ext cx="5193792" cy="1097280"/>
          </a:xfrm>
          <a:prstGeom prst="roundRect">
            <a:avLst>
              <a:gd name="adj" fmla="val 6667"/>
            </a:avLst>
          </a:prstGeom>
          <a:solidFill>
            <a:schemeClr val="bg2"/>
          </a:solidFill>
          <a:ln/>
          <a:effectLst>
            <a:outerShdw sx="100000" sy="100000" kx="0" ky="0" algn="bl" rotWithShape="0" blurRad="76200" dist="25400" dir="5400000">
              <a:srgbClr val="000000">
                <a:alpha val="14000"/>
              </a:srgbClr>
            </a:outerShdw>
          </a:effectLst>
        </p:spPr>
      </p:sp>
      <p:sp>
        <p:nvSpPr>
          <p:cNvPr id="52" name="icon circle"/>
          <p:cNvSpPr/>
          <p:nvPr/>
        </p:nvSpPr>
        <p:spPr>
          <a:xfrm>
            <a:off x="6629400" y="3959352"/>
            <a:ext cx="420624" cy="420624"/>
          </a:xfrm>
          <a:prstGeom prst="ellipse">
            <a:avLst/>
          </a:prstGeom>
          <a:solidFill>
            <a:schemeClr val="accent5"/>
          </a:solidFill>
          <a:ln/>
        </p:spPr>
      </p:sp>
      <p:pic>
        <p:nvPicPr>
          <p:cNvPr id="53" name="Image 2" descr="LayerGroup icon">    </p:cNvPr>
          <p:cNvPicPr>
            <a:picLocks noChangeAspect="1"/>
          </p:cNvPicPr>
          <p:nvPr/>
        </p:nvPicPr>
        <p:blipFill>
          <a:blip r:embed="rId3"/>
          <a:stretch>
            <a:fillRect/>
          </a:stretch>
        </p:blipFill>
        <p:spPr>
          <a:xfrm>
            <a:off x="6738762" y="4068714"/>
            <a:ext cx="201900" cy="201900"/>
          </a:xfrm>
          <a:prstGeom prst="rect">
            <a:avLst/>
          </a:prstGeom>
        </p:spPr>
      </p:pic>
      <p:sp>
        <p:nvSpPr>
          <p:cNvPr id="54" name="Text 48"/>
          <p:cNvSpPr txBox="1"/>
          <p:nvPr/>
        </p:nvSpPr>
        <p:spPr>
          <a:xfrm>
            <a:off x="7159752" y="3941064"/>
            <a:ext cx="4343400" cy="457200"/>
          </a:xfrm>
          <a:prstGeom prst="rect">
            <a:avLst/>
          </a:prstGeom>
          <a:noFill/>
          <a:ln/>
        </p:spPr>
        <p:txBody>
          <a:bodyPr wrap="square" lIns="0" tIns="0" rIns="0" bIns="0" rtlCol="0" anchor="ctr"/>
          <a:lstStyle/>
          <a:p>
            <a:pPr indent="0" marL="0">
              <a:buNone/>
            </a:pPr>
            <a:r>
              <a:rPr lang="en-US" sz="1400" b="1" dirty="0">
                <a:solidFill>
                  <a:schemeClr val="tx2"/>
                </a:solidFill>
              </a:rPr>
              <a:t>Frontal</a:t>
            </a:r>
            <a:endParaRPr lang="en-US" sz="1400" dirty="0"/>
          </a:p>
        </p:txBody>
      </p:sp>
      <p:sp>
        <p:nvSpPr>
          <p:cNvPr id="55" name="Text 49"/>
          <p:cNvSpPr txBox="1"/>
          <p:nvPr/>
        </p:nvSpPr>
        <p:spPr>
          <a:xfrm>
            <a:off x="6629400" y="4489704"/>
            <a:ext cx="4828032" cy="32004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Warm air overrides cold air at a front</a:t>
            </a:r>
            <a:endParaRPr lang="en-US" sz="1200" dirty="0"/>
          </a:p>
        </p:txBody>
      </p:sp>
      <p:sp>
        <p:nvSpPr>
          <p:cNvPr id="56" name="card"/>
          <p:cNvSpPr/>
          <p:nvPr/>
        </p:nvSpPr>
        <p:spPr>
          <a:xfrm>
            <a:off x="6446520" y="5020056"/>
            <a:ext cx="5193792" cy="1097280"/>
          </a:xfrm>
          <a:prstGeom prst="roundRect">
            <a:avLst>
              <a:gd name="adj" fmla="val 6667"/>
            </a:avLst>
          </a:prstGeom>
          <a:solidFill>
            <a:schemeClr val="bg2"/>
          </a:solidFill>
          <a:ln/>
          <a:effectLst>
            <a:outerShdw sx="100000" sy="100000" kx="0" ky="0" algn="bl" rotWithShape="0" blurRad="76200" dist="25400" dir="5400000">
              <a:srgbClr val="000000">
                <a:alpha val="14000"/>
              </a:srgbClr>
            </a:outerShdw>
          </a:effectLst>
        </p:spPr>
      </p:sp>
      <p:sp>
        <p:nvSpPr>
          <p:cNvPr id="57" name="icon circle"/>
          <p:cNvSpPr/>
          <p:nvPr/>
        </p:nvSpPr>
        <p:spPr>
          <a:xfrm>
            <a:off x="6629400" y="5175504"/>
            <a:ext cx="420624" cy="420624"/>
          </a:xfrm>
          <a:prstGeom prst="ellipse">
            <a:avLst/>
          </a:prstGeom>
          <a:solidFill>
            <a:schemeClr val="accent6"/>
          </a:solidFill>
          <a:ln/>
        </p:spPr>
      </p:sp>
      <p:pic>
        <p:nvPicPr>
          <p:cNvPr id="58" name="Image 3" descr="Wind icon">    </p:cNvPr>
          <p:cNvPicPr>
            <a:picLocks noChangeAspect="1"/>
          </p:cNvPicPr>
          <p:nvPr/>
        </p:nvPicPr>
        <p:blipFill>
          <a:blip r:embed="rId4"/>
          <a:stretch>
            <a:fillRect/>
          </a:stretch>
        </p:blipFill>
        <p:spPr>
          <a:xfrm>
            <a:off x="6738762" y="5284866"/>
            <a:ext cx="201900" cy="201900"/>
          </a:xfrm>
          <a:prstGeom prst="rect">
            <a:avLst/>
          </a:prstGeom>
        </p:spPr>
      </p:pic>
      <p:sp>
        <p:nvSpPr>
          <p:cNvPr id="59" name="Text 52"/>
          <p:cNvSpPr txBox="1"/>
          <p:nvPr/>
        </p:nvSpPr>
        <p:spPr>
          <a:xfrm>
            <a:off x="7159752" y="5157216"/>
            <a:ext cx="4343400" cy="457200"/>
          </a:xfrm>
          <a:prstGeom prst="rect">
            <a:avLst/>
          </a:prstGeom>
          <a:noFill/>
          <a:ln/>
        </p:spPr>
        <p:txBody>
          <a:bodyPr wrap="square" lIns="0" tIns="0" rIns="0" bIns="0" rtlCol="0" anchor="ctr"/>
          <a:lstStyle/>
          <a:p>
            <a:pPr indent="0" marL="0">
              <a:buNone/>
            </a:pPr>
            <a:r>
              <a:rPr lang="en-US" sz="1400" b="1" dirty="0">
                <a:solidFill>
                  <a:schemeClr val="tx2"/>
                </a:solidFill>
              </a:rPr>
              <a:t>Advection</a:t>
            </a:r>
            <a:endParaRPr lang="en-US" sz="1400" dirty="0"/>
          </a:p>
        </p:txBody>
      </p:sp>
      <p:sp>
        <p:nvSpPr>
          <p:cNvPr id="60" name="Text 53"/>
          <p:cNvSpPr txBox="1"/>
          <p:nvPr/>
        </p:nvSpPr>
        <p:spPr>
          <a:xfrm>
            <a:off x="6629400" y="5705856"/>
            <a:ext cx="4828032" cy="32004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Warm air flows over a cold surface (e.g. cold sea, snow)</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Stability in action: clouds, weather and smoke plumes</a:t>
            </a:r>
            <a:endParaRPr lang="en-US" sz="3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40680" cy="914400"/>
        </p:xfrm>
        <a:graphic>
          <a:graphicData uri="http://schemas.openxmlformats.org/drawingml/2006/table">
            <a:tbl>
              <a:tblPr/>
              <a:tblGrid>
                <a:gridCol w="1554480"/>
                <a:gridCol w="3886200"/>
              </a:tblGrid>
              <a:tr h="502920">
                <a:tc>
                  <a:txBody>
                    <a:bodyPr/>
                    <a:lstStyle/>
                    <a:p>
                      <a:pPr indent="0" marL="0">
                        <a:buNone/>
                      </a:pPr>
                      <a:r>
                        <a:rPr lang="en-US" sz="1300" b="1" dirty="0">
                          <a:solidFill>
                            <a:schemeClr val="bg1"/>
                          </a:solidFill>
                        </a:rPr>
                        <a:t>Plume</a:t>
                      </a:r>
                      <a:endParaRPr lang="en-US" sz="13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Stability</a:t>
                      </a:r>
                      <a:endParaRPr lang="en-US" sz="13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502920">
                <a:tc>
                  <a:txBody>
                    <a:bodyPr/>
                    <a:lstStyle/>
                    <a:p>
                      <a:pPr indent="0" marL="0">
                        <a:buNone/>
                      </a:pPr>
                      <a:r>
                        <a:rPr lang="en-US" sz="1300" b="1" dirty="0">
                          <a:solidFill>
                            <a:schemeClr val="accent1"/>
                          </a:solidFill>
                        </a:rPr>
                        <a:t>Looping</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strong instability (sunny afternoon)</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accent6"/>
                          </a:solidFill>
                        </a:rPr>
                        <a:t>Coning</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neutral (cloudy, windy)</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accent2"/>
                          </a:solidFill>
                        </a:rPr>
                        <a:t>Fanning</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stable / inversion (night)</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02920">
                <a:tc>
                  <a:txBody>
                    <a:bodyPr/>
                    <a:lstStyle/>
                    <a:p>
                      <a:pPr indent="0" marL="0">
                        <a:buNone/>
                      </a:pPr>
                      <a:r>
                        <a:rPr lang="en-US" sz="1300" b="1" dirty="0">
                          <a:solidFill>
                            <a:schemeClr val="accent5"/>
                          </a:solidFill>
                        </a:rPr>
                        <a:t>Lofting</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inversion below, unstable above (evening)</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02920">
                <a:tc>
                  <a:txBody>
                    <a:bodyPr/>
                    <a:lstStyle/>
                    <a:p>
                      <a:pPr indent="0" marL="0">
                        <a:buNone/>
                      </a:pPr>
                      <a:r>
                        <a:rPr lang="en-US" sz="1300" b="1" dirty="0">
                          <a:solidFill>
                            <a:schemeClr val="accent3"/>
                          </a:solidFill>
                        </a:rPr>
                        <a:t>Fumigation</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unstable below, inversion above (morning)</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bl>
          </a:graphicData>
        </a:graphic>
      </p:graphicFrame>
      <p:sp>
        <p:nvSpPr>
          <p:cNvPr id="5" name="card"/>
          <p:cNvSpPr/>
          <p:nvPr/>
        </p:nvSpPr>
        <p:spPr>
          <a:xfrm>
            <a:off x="548640" y="4617720"/>
            <a:ext cx="5440680" cy="1554480"/>
          </a:xfrm>
          <a:prstGeom prst="roundRect">
            <a:avLst>
              <a:gd name="adj" fmla="val 4706"/>
            </a:avLst>
          </a:prstGeom>
          <a:solidFill>
            <a:schemeClr val="bg2"/>
          </a:solidFill>
          <a:ln/>
          <a:effectLst>
            <a:outerShdw sx="100000" sy="100000" kx="0" ky="0" algn="bl" rotWithShape="0" blurRad="76200" dist="25400" dir="5400000">
              <a:srgbClr val="000000">
                <a:alpha val="14000"/>
              </a:srgbClr>
            </a:outerShdw>
          </a:effectLst>
        </p:spPr>
      </p:sp>
      <p:sp>
        <p:nvSpPr>
          <p:cNvPr id="6" name="icon circle"/>
          <p:cNvSpPr/>
          <p:nvPr/>
        </p:nvSpPr>
        <p:spPr>
          <a:xfrm>
            <a:off x="731520" y="4773168"/>
            <a:ext cx="420624" cy="420624"/>
          </a:xfrm>
          <a:prstGeom prst="ellipse">
            <a:avLst/>
          </a:prstGeom>
          <a:solidFill>
            <a:schemeClr val="accent3"/>
          </a:solidFill>
          <a:ln/>
        </p:spPr>
      </p:sp>
      <p:pic>
        <p:nvPicPr>
          <p:cNvPr id="7" name="Image 0" descr="SyncAlt icon">    </p:cNvPr>
          <p:cNvPicPr>
            <a:picLocks noChangeAspect="1"/>
          </p:cNvPicPr>
          <p:nvPr/>
        </p:nvPicPr>
        <p:blipFill>
          <a:blip r:embed="rId1"/>
          <a:stretch>
            <a:fillRect/>
          </a:stretch>
        </p:blipFill>
        <p:spPr>
          <a:xfrm>
            <a:off x="840882" y="4882530"/>
            <a:ext cx="201900" cy="201900"/>
          </a:xfrm>
          <a:prstGeom prst="rect">
            <a:avLst/>
          </a:prstGeom>
        </p:spPr>
      </p:pic>
      <p:sp>
        <p:nvSpPr>
          <p:cNvPr id="8" name="Text 3"/>
          <p:cNvSpPr txBox="1"/>
          <p:nvPr/>
        </p:nvSpPr>
        <p:spPr>
          <a:xfrm>
            <a:off x="1261872" y="475488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Diurnal cycle</a:t>
            </a:r>
            <a:endParaRPr lang="en-US" sz="1600" dirty="0"/>
          </a:p>
        </p:txBody>
      </p:sp>
      <p:sp>
        <p:nvSpPr>
          <p:cNvPr id="9" name="Text 4"/>
          <p:cNvSpPr txBox="1"/>
          <p:nvPr/>
        </p:nvSpPr>
        <p:spPr>
          <a:xfrm>
            <a:off x="731520" y="5303520"/>
            <a:ext cx="5074920" cy="77724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Night: surface inversion, calm, fog. Afternoon: superadiabatic surface layer, cumulus and thunderstorms.</a:t>
            </a:r>
            <a:endParaRPr lang="en-US" sz="1300" dirty="0"/>
          </a:p>
        </p:txBody>
      </p:sp>
      <p:sp>
        <p:nvSpPr>
          <p:cNvPr id="10" name="card"/>
          <p:cNvSpPr/>
          <p:nvPr/>
        </p:nvSpPr>
        <p:spPr>
          <a:xfrm>
            <a:off x="6199632" y="1371600"/>
            <a:ext cx="2633472"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11" name="icon circle"/>
          <p:cNvSpPr/>
          <p:nvPr/>
        </p:nvSpPr>
        <p:spPr>
          <a:xfrm>
            <a:off x="6382512" y="1527048"/>
            <a:ext cx="420624" cy="420624"/>
          </a:xfrm>
          <a:prstGeom prst="ellipse">
            <a:avLst/>
          </a:prstGeom>
          <a:solidFill>
            <a:schemeClr val="accent2"/>
          </a:solidFill>
          <a:ln/>
        </p:spPr>
      </p:sp>
      <p:pic>
        <p:nvPicPr>
          <p:cNvPr id="12" name="Image 1" descr="Smog icon">    </p:cNvPr>
          <p:cNvPicPr>
            <a:picLocks noChangeAspect="1"/>
          </p:cNvPicPr>
          <p:nvPr/>
        </p:nvPicPr>
        <p:blipFill>
          <a:blip r:embed="rId2"/>
          <a:stretch>
            <a:fillRect/>
          </a:stretch>
        </p:blipFill>
        <p:spPr>
          <a:xfrm>
            <a:off x="6491874" y="1636410"/>
            <a:ext cx="201900" cy="201900"/>
          </a:xfrm>
          <a:prstGeom prst="rect">
            <a:avLst/>
          </a:prstGeom>
        </p:spPr>
      </p:pic>
      <p:sp>
        <p:nvSpPr>
          <p:cNvPr id="13" name="Text 7"/>
          <p:cNvSpPr txBox="1"/>
          <p:nvPr/>
        </p:nvSpPr>
        <p:spPr>
          <a:xfrm>
            <a:off x="6912864" y="1508760"/>
            <a:ext cx="1783080" cy="457200"/>
          </a:xfrm>
          <a:prstGeom prst="rect">
            <a:avLst/>
          </a:prstGeom>
          <a:noFill/>
          <a:ln/>
        </p:spPr>
        <p:txBody>
          <a:bodyPr wrap="square" lIns="0" tIns="0" rIns="0" bIns="0" rtlCol="0" anchor="ctr"/>
          <a:lstStyle/>
          <a:p>
            <a:pPr indent="0" marL="0">
              <a:buNone/>
            </a:pPr>
            <a:r>
              <a:rPr lang="en-US" sz="1500" b="1" dirty="0">
                <a:solidFill>
                  <a:schemeClr val="tx2"/>
                </a:solidFill>
              </a:rPr>
              <a:t>Stable air</a:t>
            </a:r>
            <a:endParaRPr lang="en-US" sz="1500" dirty="0"/>
          </a:p>
        </p:txBody>
      </p:sp>
      <p:sp>
        <p:nvSpPr>
          <p:cNvPr id="14" name="Text 8"/>
          <p:cNvSpPr txBox="1"/>
          <p:nvPr/>
        </p:nvSpPr>
        <p:spPr>
          <a:xfrm>
            <a:off x="6382512" y="2057400"/>
            <a:ext cx="2267712"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Stratus, fog, haze</a:t>
            </a:r>
            <a:endParaRPr lang="en-US" sz="1300" dirty="0"/>
          </a:p>
          <a:p>
            <a:pPr marL="177800" indent="-177800">
              <a:spcAft>
                <a:spcPts val="400"/>
              </a:spcAft>
              <a:buSzPct val="100000"/>
              <a:buChar char="•"/>
            </a:pPr>
            <a:r>
              <a:rPr lang="en-US" sz="1300" dirty="0">
                <a:solidFill>
                  <a:schemeClr val="tx1"/>
                </a:solidFill>
              </a:rPr>
              <a:t>Steady drizzle / rain</a:t>
            </a:r>
            <a:endParaRPr lang="en-US" sz="1300" dirty="0"/>
          </a:p>
          <a:p>
            <a:pPr marL="177800" indent="-177800">
              <a:spcAft>
                <a:spcPts val="400"/>
              </a:spcAft>
              <a:buSzPct val="100000"/>
              <a:buChar char="•"/>
            </a:pPr>
            <a:r>
              <a:rPr lang="en-US" sz="1300" dirty="0">
                <a:solidFill>
                  <a:schemeClr val="tx1"/>
                </a:solidFill>
              </a:rPr>
              <a:t>Poor dispersion</a:t>
            </a:r>
            <a:endParaRPr lang="en-US" sz="1300" dirty="0"/>
          </a:p>
        </p:txBody>
      </p:sp>
      <p:sp>
        <p:nvSpPr>
          <p:cNvPr id="15" name="card"/>
          <p:cNvSpPr/>
          <p:nvPr/>
        </p:nvSpPr>
        <p:spPr>
          <a:xfrm>
            <a:off x="9006840" y="1371600"/>
            <a:ext cx="2633472" cy="2331720"/>
          </a:xfrm>
          <a:prstGeom prst="roundRect">
            <a:avLst>
              <a:gd name="adj" fmla="val 3137"/>
            </a:avLst>
          </a:prstGeom>
          <a:solidFill>
            <a:schemeClr val="bg2"/>
          </a:solidFill>
          <a:ln/>
          <a:effectLst>
            <a:outerShdw sx="100000" sy="100000" kx="0" ky="0" algn="bl" rotWithShape="0" blurRad="76200" dist="25400" dir="5400000">
              <a:srgbClr val="000000">
                <a:alpha val="14000"/>
              </a:srgbClr>
            </a:outerShdw>
          </a:effectLst>
        </p:spPr>
      </p:sp>
      <p:sp>
        <p:nvSpPr>
          <p:cNvPr id="16" name="icon circle"/>
          <p:cNvSpPr/>
          <p:nvPr/>
        </p:nvSpPr>
        <p:spPr>
          <a:xfrm>
            <a:off x="9189720" y="1527048"/>
            <a:ext cx="420624" cy="420624"/>
          </a:xfrm>
          <a:prstGeom prst="ellipse">
            <a:avLst/>
          </a:prstGeom>
          <a:solidFill>
            <a:schemeClr val="accent1"/>
          </a:solidFill>
          <a:ln/>
        </p:spPr>
      </p:sp>
      <p:pic>
        <p:nvPicPr>
          <p:cNvPr id="17" name="Image 2" descr="Bolt icon">    </p:cNvPr>
          <p:cNvPicPr>
            <a:picLocks noChangeAspect="1"/>
          </p:cNvPicPr>
          <p:nvPr/>
        </p:nvPicPr>
        <p:blipFill>
          <a:blip r:embed="rId3"/>
          <a:stretch>
            <a:fillRect/>
          </a:stretch>
        </p:blipFill>
        <p:spPr>
          <a:xfrm>
            <a:off x="9299082" y="1636410"/>
            <a:ext cx="201900" cy="201900"/>
          </a:xfrm>
          <a:prstGeom prst="rect">
            <a:avLst/>
          </a:prstGeom>
        </p:spPr>
      </p:pic>
      <p:sp>
        <p:nvSpPr>
          <p:cNvPr id="18" name="Text 11"/>
          <p:cNvSpPr txBox="1"/>
          <p:nvPr/>
        </p:nvSpPr>
        <p:spPr>
          <a:xfrm>
            <a:off x="9720072" y="1508760"/>
            <a:ext cx="1783080" cy="457200"/>
          </a:xfrm>
          <a:prstGeom prst="rect">
            <a:avLst/>
          </a:prstGeom>
          <a:noFill/>
          <a:ln/>
        </p:spPr>
        <p:txBody>
          <a:bodyPr wrap="square" lIns="0" tIns="0" rIns="0" bIns="0" rtlCol="0" anchor="ctr"/>
          <a:lstStyle/>
          <a:p>
            <a:pPr indent="0" marL="0">
              <a:buNone/>
            </a:pPr>
            <a:r>
              <a:rPr lang="en-US" sz="1500" b="1" dirty="0">
                <a:solidFill>
                  <a:schemeClr val="tx2"/>
                </a:solidFill>
              </a:rPr>
              <a:t>Unstable air</a:t>
            </a:r>
            <a:endParaRPr lang="en-US" sz="1500" dirty="0"/>
          </a:p>
        </p:txBody>
      </p:sp>
      <p:sp>
        <p:nvSpPr>
          <p:cNvPr id="19" name="Text 12"/>
          <p:cNvSpPr txBox="1"/>
          <p:nvPr/>
        </p:nvSpPr>
        <p:spPr>
          <a:xfrm>
            <a:off x="9189720" y="2057400"/>
            <a:ext cx="2267712" cy="155448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Cumulus, cumulonimbus</a:t>
            </a:r>
            <a:endParaRPr lang="en-US" sz="1300" dirty="0"/>
          </a:p>
          <a:p>
            <a:pPr marL="177800" indent="-177800">
              <a:spcAft>
                <a:spcPts val="400"/>
              </a:spcAft>
              <a:buSzPct val="100000"/>
              <a:buChar char="•"/>
            </a:pPr>
            <a:r>
              <a:rPr lang="en-US" sz="1300" dirty="0">
                <a:solidFill>
                  <a:schemeClr val="tx1"/>
                </a:solidFill>
              </a:rPr>
              <a:t>Showers, thunder, hail</a:t>
            </a:r>
            <a:endParaRPr lang="en-US" sz="1300" dirty="0"/>
          </a:p>
          <a:p>
            <a:pPr marL="177800" indent="-177800">
              <a:spcAft>
                <a:spcPts val="400"/>
              </a:spcAft>
              <a:buSzPct val="100000"/>
              <a:buChar char="•"/>
            </a:pPr>
            <a:r>
              <a:rPr lang="en-US" sz="1300" dirty="0">
                <a:solidFill>
                  <a:schemeClr val="tx1"/>
                </a:solidFill>
              </a:rPr>
              <a:t>Good dispersion, gusts</a:t>
            </a:r>
            <a:endParaRPr lang="en-US" sz="1300" dirty="0"/>
          </a:p>
        </p:txBody>
      </p:sp>
      <p:sp>
        <p:nvSpPr>
          <p:cNvPr id="20" name="card"/>
          <p:cNvSpPr/>
          <p:nvPr/>
        </p:nvSpPr>
        <p:spPr>
          <a:xfrm>
            <a:off x="6199632" y="3886200"/>
            <a:ext cx="5440680" cy="2286000"/>
          </a:xfrm>
          <a:prstGeom prst="roundRect">
            <a:avLst>
              <a:gd name="adj" fmla="val 3200"/>
            </a:avLst>
          </a:prstGeom>
          <a:solidFill>
            <a:schemeClr val="bg2"/>
          </a:solidFill>
          <a:ln/>
          <a:effectLst>
            <a:outerShdw sx="100000" sy="100000" kx="0" ky="0" algn="bl" rotWithShape="0" blurRad="76200" dist="25400" dir="5400000">
              <a:srgbClr val="000000">
                <a:alpha val="14000"/>
              </a:srgbClr>
            </a:outerShdw>
          </a:effectLst>
        </p:spPr>
      </p:sp>
      <p:sp>
        <p:nvSpPr>
          <p:cNvPr id="21" name="icon circle"/>
          <p:cNvSpPr/>
          <p:nvPr/>
        </p:nvSpPr>
        <p:spPr>
          <a:xfrm>
            <a:off x="6382512" y="4041648"/>
            <a:ext cx="420624" cy="420624"/>
          </a:xfrm>
          <a:prstGeom prst="ellipse">
            <a:avLst/>
          </a:prstGeom>
          <a:solidFill>
            <a:schemeClr val="accent4"/>
          </a:solidFill>
          <a:ln/>
        </p:spPr>
      </p:sp>
      <p:pic>
        <p:nvPicPr>
          <p:cNvPr id="22" name="Image 3" descr="GlobeAsia icon">    </p:cNvPr>
          <p:cNvPicPr>
            <a:picLocks noChangeAspect="1"/>
          </p:cNvPicPr>
          <p:nvPr/>
        </p:nvPicPr>
        <p:blipFill>
          <a:blip r:embed="rId4"/>
          <a:stretch>
            <a:fillRect/>
          </a:stretch>
        </p:blipFill>
        <p:spPr>
          <a:xfrm>
            <a:off x="6491874" y="4151010"/>
            <a:ext cx="201900" cy="201900"/>
          </a:xfrm>
          <a:prstGeom prst="rect">
            <a:avLst/>
          </a:prstGeom>
        </p:spPr>
      </p:pic>
      <p:sp>
        <p:nvSpPr>
          <p:cNvPr id="23" name="Text 15"/>
          <p:cNvSpPr txBox="1"/>
          <p:nvPr/>
        </p:nvSpPr>
        <p:spPr>
          <a:xfrm>
            <a:off x="6912864" y="402336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India examples</a:t>
            </a:r>
            <a:endParaRPr lang="en-US" sz="1600" dirty="0"/>
          </a:p>
        </p:txBody>
      </p:sp>
      <p:sp>
        <p:nvSpPr>
          <p:cNvPr id="24" name="Text 16"/>
          <p:cNvSpPr txBox="1"/>
          <p:nvPr/>
        </p:nvSpPr>
        <p:spPr>
          <a:xfrm>
            <a:off x="6382512" y="4572000"/>
            <a:ext cx="5074920" cy="150876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Pre-monsoon nor'westers (Kalbaisakhi) in east India: high CAPE</a:t>
            </a:r>
            <a:endParaRPr lang="en-US" sz="1300" dirty="0"/>
          </a:p>
          <a:p>
            <a:pPr marL="177800" indent="-177800">
              <a:spcAft>
                <a:spcPts val="400"/>
              </a:spcAft>
              <a:buSzPct val="100000"/>
              <a:buChar char="•"/>
            </a:pPr>
            <a:r>
              <a:rPr lang="en-US" sz="1300" dirty="0">
                <a:solidFill>
                  <a:schemeClr val="tx1"/>
                </a:solidFill>
              </a:rPr>
              <a:t>Monsoon onset: deep moist, conditionally unstable troposphere</a:t>
            </a:r>
            <a:endParaRPr lang="en-US" sz="1300" dirty="0"/>
          </a:p>
          <a:p>
            <a:pPr marL="177800" indent="-177800">
              <a:spcAft>
                <a:spcPts val="400"/>
              </a:spcAft>
              <a:buSzPct val="100000"/>
              <a:buChar char="•"/>
            </a:pPr>
            <a:r>
              <a:rPr lang="en-US" sz="1300" dirty="0">
                <a:solidFill>
                  <a:schemeClr val="tx1"/>
                </a:solidFill>
              </a:rPr>
              <a:t>North India winter: night inversions → fog and smog</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Air masses &amp; fronts</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Large bodies of uniform air, where they come from, and the weather at their boundaries</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09</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What is an air mass?</a:t>
            </a:r>
            <a:endParaRPr lang="en-US" sz="3200" dirty="0"/>
          </a:p>
        </p:txBody>
      </p:sp>
      <p:sp>
        <p:nvSpPr>
          <p:cNvPr id="4" name="card"/>
          <p:cNvSpPr/>
          <p:nvPr/>
        </p:nvSpPr>
        <p:spPr>
          <a:xfrm>
            <a:off x="548640" y="1371600"/>
            <a:ext cx="544068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527048"/>
            <a:ext cx="420624" cy="420624"/>
          </a:xfrm>
          <a:prstGeom prst="ellipse">
            <a:avLst/>
          </a:prstGeom>
          <a:solidFill>
            <a:schemeClr val="accent3"/>
          </a:solidFill>
          <a:ln/>
        </p:spPr>
      </p:sp>
      <p:pic>
        <p:nvPicPr>
          <p:cNvPr id="6" name="Image 0" descr="Sun icon">    </p:cNvPr>
          <p:cNvPicPr>
            <a:picLocks noChangeAspect="1"/>
          </p:cNvPicPr>
          <p:nvPr/>
        </p:nvPicPr>
        <p:blipFill>
          <a:blip r:embed="rId1"/>
          <a:stretch>
            <a:fillRect/>
          </a:stretch>
        </p:blipFill>
        <p:spPr>
          <a:xfrm>
            <a:off x="840882" y="1636410"/>
            <a:ext cx="201900" cy="201900"/>
          </a:xfrm>
          <a:prstGeom prst="rect">
            <a:avLst/>
          </a:prstGeom>
        </p:spPr>
      </p:pic>
      <p:sp>
        <p:nvSpPr>
          <p:cNvPr id="7" name="Text 3"/>
          <p:cNvSpPr txBox="1"/>
          <p:nvPr/>
        </p:nvSpPr>
        <p:spPr>
          <a:xfrm>
            <a:off x="1261872" y="150876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Differential heating</a:t>
            </a:r>
            <a:endParaRPr lang="en-US" sz="1600" dirty="0"/>
          </a:p>
        </p:txBody>
      </p:sp>
      <p:sp>
        <p:nvSpPr>
          <p:cNvPr id="8" name="Text 4"/>
          <p:cNvSpPr txBox="1"/>
          <p:nvPr/>
        </p:nvSpPr>
        <p:spPr>
          <a:xfrm>
            <a:off x="731520" y="2057400"/>
            <a:ext cx="5074920" cy="64008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The earth's surface is heated unequally (latitude, land vs sea)</a:t>
            </a:r>
            <a:endParaRPr lang="en-US" sz="1300" dirty="0"/>
          </a:p>
        </p:txBody>
      </p:sp>
      <p:sp>
        <p:nvSpPr>
          <p:cNvPr id="9" name="card"/>
          <p:cNvSpPr/>
          <p:nvPr/>
        </p:nvSpPr>
        <p:spPr>
          <a:xfrm>
            <a:off x="6199632" y="1371600"/>
            <a:ext cx="5440680" cy="1417320"/>
          </a:xfrm>
          <a:prstGeom prst="roundRect">
            <a:avLst>
              <a:gd name="adj" fmla="val 5161"/>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6382512" y="1527048"/>
            <a:ext cx="420624" cy="420624"/>
          </a:xfrm>
          <a:prstGeom prst="ellipse">
            <a:avLst/>
          </a:prstGeom>
          <a:solidFill>
            <a:schemeClr val="accent1"/>
          </a:solidFill>
          <a:ln/>
        </p:spPr>
      </p:sp>
      <p:pic>
        <p:nvPicPr>
          <p:cNvPr id="11" name="Image 1" descr="Fire icon">    </p:cNvPr>
          <p:cNvPicPr>
            <a:picLocks noChangeAspect="1"/>
          </p:cNvPicPr>
          <p:nvPr/>
        </p:nvPicPr>
        <p:blipFill>
          <a:blip r:embed="rId2"/>
          <a:stretch>
            <a:fillRect/>
          </a:stretch>
        </p:blipFill>
        <p:spPr>
          <a:xfrm>
            <a:off x="6491874" y="1636410"/>
            <a:ext cx="201900" cy="201900"/>
          </a:xfrm>
          <a:prstGeom prst="rect">
            <a:avLst/>
          </a:prstGeom>
        </p:spPr>
      </p:pic>
      <p:sp>
        <p:nvSpPr>
          <p:cNvPr id="12" name="Text 7"/>
          <p:cNvSpPr txBox="1"/>
          <p:nvPr/>
        </p:nvSpPr>
        <p:spPr>
          <a:xfrm>
            <a:off x="6912864" y="150876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Heating from below</a:t>
            </a:r>
            <a:endParaRPr lang="en-US" sz="1600" dirty="0"/>
          </a:p>
        </p:txBody>
      </p:sp>
      <p:sp>
        <p:nvSpPr>
          <p:cNvPr id="13" name="Text 8"/>
          <p:cNvSpPr txBox="1"/>
          <p:nvPr/>
        </p:nvSpPr>
        <p:spPr>
          <a:xfrm>
            <a:off x="6382512" y="2057400"/>
            <a:ext cx="5074920" cy="64008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The lower atmosphere is heated by energy transfer from the surface</a:t>
            </a:r>
            <a:endParaRPr lang="en-US" sz="1300" dirty="0"/>
          </a:p>
        </p:txBody>
      </p:sp>
      <p:sp>
        <p:nvSpPr>
          <p:cNvPr id="14" name="card"/>
          <p:cNvSpPr/>
          <p:nvPr/>
        </p:nvSpPr>
        <p:spPr>
          <a:xfrm>
            <a:off x="548640" y="2971800"/>
            <a:ext cx="5440680" cy="3200400"/>
          </a:xfrm>
          <a:prstGeom prst="roundRect">
            <a:avLst>
              <a:gd name="adj" fmla="val 2286"/>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731520" y="3127248"/>
            <a:ext cx="420624" cy="420624"/>
          </a:xfrm>
          <a:prstGeom prst="ellipse">
            <a:avLst/>
          </a:prstGeom>
          <a:solidFill>
            <a:schemeClr val="accent2"/>
          </a:solidFill>
          <a:ln/>
        </p:spPr>
      </p:sp>
      <p:pic>
        <p:nvPicPr>
          <p:cNvPr id="16" name="Image 2" descr="GlobeAsia icon">    </p:cNvPr>
          <p:cNvPicPr>
            <a:picLocks noChangeAspect="1"/>
          </p:cNvPicPr>
          <p:nvPr/>
        </p:nvPicPr>
        <p:blipFill>
          <a:blip r:embed="rId3"/>
          <a:stretch>
            <a:fillRect/>
          </a:stretch>
        </p:blipFill>
        <p:spPr>
          <a:xfrm>
            <a:off x="840882" y="3236610"/>
            <a:ext cx="201900" cy="201900"/>
          </a:xfrm>
          <a:prstGeom prst="rect">
            <a:avLst/>
          </a:prstGeom>
        </p:spPr>
      </p:pic>
      <p:sp>
        <p:nvSpPr>
          <p:cNvPr id="17" name="Text 11"/>
          <p:cNvSpPr txBox="1"/>
          <p:nvPr/>
        </p:nvSpPr>
        <p:spPr>
          <a:xfrm>
            <a:off x="1261872" y="310896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Ideal source region</a:t>
            </a:r>
            <a:endParaRPr lang="en-US" sz="1600" dirty="0"/>
          </a:p>
        </p:txBody>
      </p:sp>
      <p:sp>
        <p:nvSpPr>
          <p:cNvPr id="18" name="Text 12"/>
          <p:cNvSpPr txBox="1"/>
          <p:nvPr/>
        </p:nvSpPr>
        <p:spPr>
          <a:xfrm>
            <a:off x="731520" y="3657600"/>
            <a:ext cx="5074920" cy="2423160"/>
          </a:xfrm>
          <a:prstGeom prst="rect">
            <a:avLst/>
          </a:prstGeom>
          <a:noFill/>
          <a:ln/>
        </p:spPr>
        <p:txBody>
          <a:bodyPr wrap="square" lIns="508" tIns="508" rIns="508" bIns="508" rtlCol="0" anchor="t"/>
          <a:lstStyle/>
          <a:p>
            <a:pPr marL="177800" indent="-177800">
              <a:spcAft>
                <a:spcPts val="400"/>
              </a:spcAft>
              <a:buSzPct val="100000"/>
              <a:buChar char="•"/>
            </a:pPr>
            <a:r>
              <a:rPr lang="en-US" sz="1300" b="1" dirty="0">
                <a:solidFill>
                  <a:schemeClr val="tx1"/>
                </a:solidFill>
              </a:rPr>
              <a:t>Uniform surface</a:t>
            </a:r>
            <a:r>
              <a:rPr lang="en-US" sz="1300" dirty="0">
                <a:solidFill>
                  <a:schemeClr val="tx1"/>
                </a:solidFill>
              </a:rPr>
              <a:t> (flat land, ice or ocean)</a:t>
            </a:r>
            <a:endParaRPr lang="en-US" sz="1300" dirty="0"/>
          </a:p>
          <a:p>
            <a:pPr marL="177800" indent="-177800">
              <a:spcAft>
                <a:spcPts val="400"/>
              </a:spcAft>
              <a:buSzPct val="100000"/>
              <a:buChar char="•"/>
            </a:pPr>
            <a:r>
              <a:rPr lang="en-US" sz="1300" b="1" dirty="0">
                <a:solidFill>
                  <a:schemeClr val="tx1"/>
                </a:solidFill>
              </a:rPr>
              <a:t>Light surface winds</a:t>
            </a:r>
            <a:r>
              <a:rPr lang="en-US" sz="1300" dirty="0">
                <a:solidFill>
                  <a:schemeClr val="tx1"/>
                </a:solidFill>
              </a:rPr>
              <a:t> so air stays put</a:t>
            </a:r>
            <a:endParaRPr lang="en-US" sz="1300" dirty="0"/>
          </a:p>
          <a:p>
            <a:pPr marL="177800" indent="-177800">
              <a:spcAft>
                <a:spcPts val="400"/>
              </a:spcAft>
              <a:buSzPct val="100000"/>
              <a:buChar char="•"/>
            </a:pPr>
            <a:r>
              <a:rPr lang="en-US" sz="1300" dirty="0">
                <a:solidFill>
                  <a:schemeClr val="tx1"/>
                </a:solidFill>
              </a:rPr>
              <a:t>Long residence → air takes on surface T and humidity</a:t>
            </a:r>
            <a:endParaRPr lang="en-US" sz="1300" dirty="0"/>
          </a:p>
          <a:p>
            <a:pPr marL="177800" indent="-177800">
              <a:spcAft>
                <a:spcPts val="400"/>
              </a:spcAft>
              <a:buSzPct val="100000"/>
              <a:buChar char="•"/>
            </a:pPr>
            <a:r>
              <a:rPr lang="en-US" sz="1300" dirty="0">
                <a:solidFill>
                  <a:schemeClr val="tx1"/>
                </a:solidFill>
              </a:rPr>
              <a:t>Examples: Siberia and Arctic (cold, dry); tropical oceans (warm, moist); deserts (hot, dry)</a:t>
            </a:r>
            <a:endParaRPr lang="en-US" sz="1300" dirty="0"/>
          </a:p>
        </p:txBody>
      </p:sp>
      <p:sp>
        <p:nvSpPr>
          <p:cNvPr id="19" name="card"/>
          <p:cNvSpPr/>
          <p:nvPr/>
        </p:nvSpPr>
        <p:spPr>
          <a:xfrm>
            <a:off x="6199632" y="2971800"/>
            <a:ext cx="5440680" cy="3200400"/>
          </a:xfrm>
          <a:prstGeom prst="roundRect">
            <a:avLst>
              <a:gd name="adj" fmla="val 2286"/>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6382512" y="3127248"/>
            <a:ext cx="420624" cy="420624"/>
          </a:xfrm>
          <a:prstGeom prst="ellipse">
            <a:avLst/>
          </a:prstGeom>
          <a:solidFill>
            <a:schemeClr val="accent5"/>
          </a:solidFill>
          <a:ln/>
        </p:spPr>
      </p:sp>
      <p:pic>
        <p:nvPicPr>
          <p:cNvPr id="21" name="Image 3" descr="LayerGroup icon">    </p:cNvPr>
          <p:cNvPicPr>
            <a:picLocks noChangeAspect="1"/>
          </p:cNvPicPr>
          <p:nvPr/>
        </p:nvPicPr>
        <p:blipFill>
          <a:blip r:embed="rId4"/>
          <a:stretch>
            <a:fillRect/>
          </a:stretch>
        </p:blipFill>
        <p:spPr>
          <a:xfrm>
            <a:off x="6491874" y="3236610"/>
            <a:ext cx="201900" cy="201900"/>
          </a:xfrm>
          <a:prstGeom prst="rect">
            <a:avLst/>
          </a:prstGeom>
        </p:spPr>
      </p:pic>
      <p:sp>
        <p:nvSpPr>
          <p:cNvPr id="22" name="Text 15"/>
          <p:cNvSpPr txBox="1"/>
          <p:nvPr/>
        </p:nvSpPr>
        <p:spPr>
          <a:xfrm>
            <a:off x="6912864" y="3108960"/>
            <a:ext cx="4590288" cy="457200"/>
          </a:xfrm>
          <a:prstGeom prst="rect">
            <a:avLst/>
          </a:prstGeom>
          <a:noFill/>
          <a:ln/>
        </p:spPr>
        <p:txBody>
          <a:bodyPr wrap="square" lIns="0" tIns="0" rIns="0" bIns="0" rtlCol="0" anchor="ctr"/>
          <a:lstStyle/>
          <a:p>
            <a:pPr indent="0" marL="0">
              <a:buNone/>
            </a:pPr>
            <a:r>
              <a:rPr lang="en-US" sz="1600" b="1" dirty="0">
                <a:solidFill>
                  <a:schemeClr val="tx2"/>
                </a:solidFill>
              </a:rPr>
              <a:t>Key facts</a:t>
            </a:r>
            <a:endParaRPr lang="en-US" sz="1600" dirty="0"/>
          </a:p>
        </p:txBody>
      </p:sp>
      <p:sp>
        <p:nvSpPr>
          <p:cNvPr id="23" name="Text 16"/>
          <p:cNvSpPr txBox="1"/>
          <p:nvPr/>
        </p:nvSpPr>
        <p:spPr>
          <a:xfrm>
            <a:off x="6382512" y="3657600"/>
            <a:ext cx="5074920" cy="242316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Horizontal size: hundreds to thousands of km</a:t>
            </a:r>
            <a:endParaRPr lang="en-US" sz="1300" dirty="0"/>
          </a:p>
          <a:p>
            <a:pPr marL="177800" indent="-177800">
              <a:spcAft>
                <a:spcPts val="400"/>
              </a:spcAft>
              <a:buSzPct val="100000"/>
              <a:buChar char="•"/>
            </a:pPr>
            <a:r>
              <a:rPr lang="en-US" sz="1300" dirty="0">
                <a:solidFill>
                  <a:schemeClr val="tx1"/>
                </a:solidFill>
              </a:rPr>
              <a:t>Small variations exist, but properties are similar at a given height</a:t>
            </a:r>
            <a:endParaRPr lang="en-US" sz="1300" dirty="0"/>
          </a:p>
          <a:p>
            <a:pPr marL="177800" indent="-177800">
              <a:spcAft>
                <a:spcPts val="400"/>
              </a:spcAft>
              <a:buSzPct val="100000"/>
              <a:buChar char="•"/>
            </a:pPr>
            <a:r>
              <a:rPr lang="en-US" sz="1300" dirty="0">
                <a:solidFill>
                  <a:schemeClr val="tx1"/>
                </a:solidFill>
              </a:rPr>
              <a:t>Controls weather for </a:t>
            </a:r>
            <a:r>
              <a:rPr lang="en-US" sz="1300" b="1" dirty="0">
                <a:solidFill>
                  <a:schemeClr val="tx1"/>
                </a:solidFill>
              </a:rPr>
              <a:t>days to months</a:t>
            </a:r>
            <a:endParaRPr lang="en-US" sz="1300" dirty="0"/>
          </a:p>
          <a:p>
            <a:pPr marL="177800" indent="-177800">
              <a:spcAft>
                <a:spcPts val="400"/>
              </a:spcAft>
              <a:buSzPct val="100000"/>
              <a:buChar char="•"/>
            </a:pPr>
            <a:r>
              <a:rPr lang="en-US" sz="1300" dirty="0">
                <a:solidFill>
                  <a:schemeClr val="tx1"/>
                </a:solidFill>
              </a:rPr>
              <a:t>As it moves it is modified by the new surface (heating, cooling, moistening)</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Classifying air masses: cP, cT, mP, mT</a:t>
            </a:r>
            <a:endParaRPr lang="en-US" sz="3200" dirty="0"/>
          </a:p>
        </p:txBody>
      </p:sp>
      <p:sp>
        <p:nvSpPr>
          <p:cNvPr id="4" name="Text 1"/>
          <p:cNvSpPr txBox="1"/>
          <p:nvPr/>
        </p:nvSpPr>
        <p:spPr>
          <a:xfrm>
            <a:off x="2560320" y="1325880"/>
            <a:ext cx="4114800" cy="320040"/>
          </a:xfrm>
          <a:prstGeom prst="rect">
            <a:avLst/>
          </a:prstGeom>
          <a:noFill/>
          <a:ln/>
        </p:spPr>
        <p:txBody>
          <a:bodyPr wrap="square" lIns="0" tIns="0" rIns="0" bIns="0" rtlCol="0" anchor="ctr"/>
          <a:lstStyle/>
          <a:p>
            <a:pPr algn="ctr" indent="0" marL="0">
              <a:buNone/>
            </a:pPr>
            <a:r>
              <a:rPr lang="en-US" sz="1300" b="1" dirty="0">
                <a:solidFill>
                  <a:schemeClr val="accent6"/>
                </a:solidFill>
              </a:rPr>
              <a:t>CONTINENTAL (c) · dry</a:t>
            </a:r>
            <a:endParaRPr lang="en-US" sz="1300" dirty="0"/>
          </a:p>
        </p:txBody>
      </p:sp>
      <p:sp>
        <p:nvSpPr>
          <p:cNvPr id="5" name="Text 2"/>
          <p:cNvSpPr txBox="1"/>
          <p:nvPr/>
        </p:nvSpPr>
        <p:spPr>
          <a:xfrm>
            <a:off x="7132320" y="1325880"/>
            <a:ext cx="4114800" cy="320040"/>
          </a:xfrm>
          <a:prstGeom prst="rect">
            <a:avLst/>
          </a:prstGeom>
          <a:noFill/>
          <a:ln/>
        </p:spPr>
        <p:txBody>
          <a:bodyPr wrap="square" lIns="0" tIns="0" rIns="0" bIns="0" rtlCol="0" anchor="ctr"/>
          <a:lstStyle/>
          <a:p>
            <a:pPr algn="ctr" indent="0" marL="0">
              <a:buNone/>
            </a:pPr>
            <a:r>
              <a:rPr lang="en-US" sz="1300" b="1" dirty="0">
                <a:solidFill>
                  <a:schemeClr val="accent6"/>
                </a:solidFill>
              </a:rPr>
              <a:t>MARITIME (m) · moist</a:t>
            </a:r>
            <a:endParaRPr lang="en-US" sz="1300" dirty="0"/>
          </a:p>
        </p:txBody>
      </p:sp>
      <p:sp>
        <p:nvSpPr>
          <p:cNvPr id="6" name="Text 3"/>
          <p:cNvSpPr txBox="1"/>
          <p:nvPr/>
        </p:nvSpPr>
        <p:spPr>
          <a:xfrm>
            <a:off x="548640" y="2011680"/>
            <a:ext cx="1828800" cy="1463040"/>
          </a:xfrm>
          <a:prstGeom prst="rect">
            <a:avLst/>
          </a:prstGeom>
          <a:noFill/>
          <a:ln/>
        </p:spPr>
        <p:txBody>
          <a:bodyPr wrap="square" lIns="0" tIns="0" rIns="0" bIns="0" rtlCol="0" anchor="ctr"/>
          <a:lstStyle/>
          <a:p>
            <a:pPr algn="ctr" indent="0" marL="0">
              <a:buNone/>
            </a:pPr>
            <a:r>
              <a:rPr lang="en-US" sz="1300" b="1" dirty="0">
                <a:solidFill>
                  <a:schemeClr val="accent6"/>
                </a:solidFill>
              </a:rPr>
              <a:t>POLAR (P)</a:t>
            </a:r>
            <a:endParaRPr lang="en-US" sz="1300" dirty="0"/>
          </a:p>
          <a:p>
            <a:pPr algn="ctr" indent="0" marL="0">
              <a:buNone/>
            </a:pPr>
            <a:r>
              <a:rPr lang="en-US" sz="1300" b="1" dirty="0">
                <a:solidFill>
                  <a:schemeClr val="accent6"/>
                </a:solidFill>
              </a:rPr>
              <a:t>&gt; 60°</a:t>
            </a:r>
            <a:endParaRPr lang="en-US" sz="1300" dirty="0"/>
          </a:p>
        </p:txBody>
      </p:sp>
      <p:sp>
        <p:nvSpPr>
          <p:cNvPr id="7" name="Text 4"/>
          <p:cNvSpPr txBox="1"/>
          <p:nvPr/>
        </p:nvSpPr>
        <p:spPr>
          <a:xfrm>
            <a:off x="548640" y="4069080"/>
            <a:ext cx="1828800" cy="1463040"/>
          </a:xfrm>
          <a:prstGeom prst="rect">
            <a:avLst/>
          </a:prstGeom>
          <a:noFill/>
          <a:ln/>
        </p:spPr>
        <p:txBody>
          <a:bodyPr wrap="square" lIns="0" tIns="0" rIns="0" bIns="0" rtlCol="0" anchor="ctr"/>
          <a:lstStyle/>
          <a:p>
            <a:pPr algn="ctr" indent="0" marL="0">
              <a:buNone/>
            </a:pPr>
            <a:r>
              <a:rPr lang="en-US" sz="1300" b="1" dirty="0">
                <a:solidFill>
                  <a:schemeClr val="accent6"/>
                </a:solidFill>
              </a:rPr>
              <a:t>TROPICAL (T)</a:t>
            </a:r>
            <a:endParaRPr lang="en-US" sz="1300" dirty="0"/>
          </a:p>
          <a:p>
            <a:pPr algn="ctr" indent="0" marL="0">
              <a:buNone/>
            </a:pPr>
            <a:r>
              <a:rPr lang="en-US" sz="1300" b="1" dirty="0">
                <a:solidFill>
                  <a:schemeClr val="accent6"/>
                </a:solidFill>
              </a:rPr>
              <a:t>&lt; 25°</a:t>
            </a:r>
            <a:endParaRPr lang="en-US" sz="1300" dirty="0"/>
          </a:p>
        </p:txBody>
      </p:sp>
      <p:sp>
        <p:nvSpPr>
          <p:cNvPr id="8" name="card"/>
          <p:cNvSpPr/>
          <p:nvPr/>
        </p:nvSpPr>
        <p:spPr>
          <a:xfrm>
            <a:off x="2560320" y="1691640"/>
            <a:ext cx="4389120" cy="2103120"/>
          </a:xfrm>
          <a:prstGeom prst="roundRect">
            <a:avLst>
              <a:gd name="adj" fmla="val 3478"/>
            </a:avLst>
          </a:prstGeom>
          <a:solidFill>
            <a:schemeClr val="accent2"/>
          </a:solidFill>
          <a:ln/>
          <a:effectLst>
            <a:outerShdw sx="100000" sy="100000" kx="0" ky="0" algn="bl" rotWithShape="0" blurRad="76200" dist="25400" dir="5400000">
              <a:srgbClr val="000000">
                <a:alpha val="14000"/>
              </a:srgbClr>
            </a:outerShdw>
          </a:effectLst>
        </p:spPr>
      </p:sp>
      <p:sp>
        <p:nvSpPr>
          <p:cNvPr id="9" name="Text 6"/>
          <p:cNvSpPr txBox="1"/>
          <p:nvPr/>
        </p:nvSpPr>
        <p:spPr>
          <a:xfrm>
            <a:off x="2743200" y="1783080"/>
            <a:ext cx="1188720" cy="822960"/>
          </a:xfrm>
          <a:prstGeom prst="rect">
            <a:avLst/>
          </a:prstGeom>
          <a:noFill/>
          <a:ln/>
        </p:spPr>
        <p:txBody>
          <a:bodyPr wrap="square" lIns="0" tIns="0" rIns="0" bIns="0" rtlCol="0" anchor="ctr"/>
          <a:lstStyle/>
          <a:p>
            <a:pPr algn="l" indent="0" marL="0">
              <a:buNone/>
            </a:pPr>
            <a:r>
              <a:rPr lang="en-US" sz="3600" b="1" dirty="0">
                <a:solidFill>
                  <a:schemeClr val="bg1"/>
                </a:solidFill>
              </a:rPr>
              <a:t>cP</a:t>
            </a:r>
            <a:endParaRPr lang="en-US" sz="3600" dirty="0"/>
          </a:p>
        </p:txBody>
      </p:sp>
      <p:sp>
        <p:nvSpPr>
          <p:cNvPr id="10" name="Text 7"/>
          <p:cNvSpPr txBox="1"/>
          <p:nvPr/>
        </p:nvSpPr>
        <p:spPr>
          <a:xfrm>
            <a:off x="3931920" y="1828800"/>
            <a:ext cx="2834640" cy="365760"/>
          </a:xfrm>
          <a:prstGeom prst="rect">
            <a:avLst/>
          </a:prstGeom>
          <a:noFill/>
          <a:ln/>
        </p:spPr>
        <p:txBody>
          <a:bodyPr wrap="square" lIns="0" tIns="0" rIns="0" bIns="0" rtlCol="0" anchor="ctr"/>
          <a:lstStyle/>
          <a:p>
            <a:pPr algn="l" indent="0" marL="0">
              <a:buNone/>
            </a:pPr>
            <a:r>
              <a:rPr lang="en-US" sz="1500" b="1" dirty="0">
                <a:solidFill>
                  <a:schemeClr val="bg1"/>
                </a:solidFill>
              </a:rPr>
              <a:t>continental polar</a:t>
            </a:r>
            <a:endParaRPr lang="en-US" sz="1500" dirty="0"/>
          </a:p>
        </p:txBody>
      </p:sp>
      <p:sp>
        <p:nvSpPr>
          <p:cNvPr id="11" name="Text 8"/>
          <p:cNvSpPr txBox="1"/>
          <p:nvPr/>
        </p:nvSpPr>
        <p:spPr>
          <a:xfrm>
            <a:off x="3931920" y="2194560"/>
            <a:ext cx="2834640" cy="502920"/>
          </a:xfrm>
          <a:prstGeom prst="rect">
            <a:avLst/>
          </a:prstGeom>
          <a:noFill/>
          <a:ln/>
        </p:spPr>
        <p:txBody>
          <a:bodyPr wrap="square" lIns="0" tIns="0" rIns="0" bIns="0" rtlCol="0" anchor="t"/>
          <a:lstStyle/>
          <a:p>
            <a:pPr algn="l" indent="0" marL="0">
              <a:buNone/>
            </a:pPr>
            <a:r>
              <a:rPr lang="en-US" sz="1300" dirty="0">
                <a:solidFill>
                  <a:schemeClr val="bg1"/>
                </a:solidFill>
              </a:rPr>
              <a:t>cold, dry, stable</a:t>
            </a:r>
            <a:endParaRPr lang="en-US" sz="1300" dirty="0"/>
          </a:p>
        </p:txBody>
      </p:sp>
      <p:sp>
        <p:nvSpPr>
          <p:cNvPr id="12" name="Text 9"/>
          <p:cNvSpPr txBox="1"/>
          <p:nvPr/>
        </p:nvSpPr>
        <p:spPr>
          <a:xfrm>
            <a:off x="2743200" y="2834640"/>
            <a:ext cx="4023360" cy="868680"/>
          </a:xfrm>
          <a:prstGeom prst="rect">
            <a:avLst/>
          </a:prstGeom>
          <a:noFill/>
          <a:ln/>
        </p:spPr>
        <p:txBody>
          <a:bodyPr wrap="square" lIns="0" tIns="0" rIns="0" bIns="0" rtlCol="0" anchor="t"/>
          <a:lstStyle/>
          <a:p>
            <a:pPr indent="0" marL="0">
              <a:buNone/>
            </a:pPr>
            <a:r>
              <a:rPr lang="en-US" sz="1200" i="1" dirty="0">
                <a:solidFill>
                  <a:schemeClr val="bg1"/>
                </a:solidFill>
              </a:rPr>
              <a:t>India: Siberian / Central Asian winter air; north-west India cold waves</a:t>
            </a:r>
            <a:endParaRPr lang="en-US" sz="1200" dirty="0"/>
          </a:p>
        </p:txBody>
      </p:sp>
      <p:sp>
        <p:nvSpPr>
          <p:cNvPr id="13" name="card"/>
          <p:cNvSpPr/>
          <p:nvPr/>
        </p:nvSpPr>
        <p:spPr>
          <a:xfrm>
            <a:off x="7132320" y="1691640"/>
            <a:ext cx="4389120" cy="2103120"/>
          </a:xfrm>
          <a:prstGeom prst="roundRect">
            <a:avLst>
              <a:gd name="adj" fmla="val 3478"/>
            </a:avLst>
          </a:prstGeom>
          <a:solidFill>
            <a:schemeClr val="accent4"/>
          </a:solidFill>
          <a:ln/>
          <a:effectLst>
            <a:outerShdw sx="100000" sy="100000" kx="0" ky="0" algn="bl" rotWithShape="0" blurRad="76200" dist="25400" dir="5400000">
              <a:srgbClr val="000000">
                <a:alpha val="14000"/>
              </a:srgbClr>
            </a:outerShdw>
          </a:effectLst>
        </p:spPr>
      </p:sp>
      <p:sp>
        <p:nvSpPr>
          <p:cNvPr id="14" name="Text 11"/>
          <p:cNvSpPr txBox="1"/>
          <p:nvPr/>
        </p:nvSpPr>
        <p:spPr>
          <a:xfrm>
            <a:off x="7315200" y="1783080"/>
            <a:ext cx="1188720" cy="822960"/>
          </a:xfrm>
          <a:prstGeom prst="rect">
            <a:avLst/>
          </a:prstGeom>
          <a:noFill/>
          <a:ln/>
        </p:spPr>
        <p:txBody>
          <a:bodyPr wrap="square" lIns="0" tIns="0" rIns="0" bIns="0" rtlCol="0" anchor="ctr"/>
          <a:lstStyle/>
          <a:p>
            <a:pPr algn="l" indent="0" marL="0">
              <a:buNone/>
            </a:pPr>
            <a:r>
              <a:rPr lang="en-US" sz="3600" b="1" dirty="0">
                <a:solidFill>
                  <a:schemeClr val="bg1"/>
                </a:solidFill>
              </a:rPr>
              <a:t>mP</a:t>
            </a:r>
            <a:endParaRPr lang="en-US" sz="3600" dirty="0"/>
          </a:p>
        </p:txBody>
      </p:sp>
      <p:sp>
        <p:nvSpPr>
          <p:cNvPr id="15" name="Text 12"/>
          <p:cNvSpPr txBox="1"/>
          <p:nvPr/>
        </p:nvSpPr>
        <p:spPr>
          <a:xfrm>
            <a:off x="8503920" y="1828800"/>
            <a:ext cx="2834640" cy="365760"/>
          </a:xfrm>
          <a:prstGeom prst="rect">
            <a:avLst/>
          </a:prstGeom>
          <a:noFill/>
          <a:ln/>
        </p:spPr>
        <p:txBody>
          <a:bodyPr wrap="square" lIns="0" tIns="0" rIns="0" bIns="0" rtlCol="0" anchor="ctr"/>
          <a:lstStyle/>
          <a:p>
            <a:pPr algn="l" indent="0" marL="0">
              <a:buNone/>
            </a:pPr>
            <a:r>
              <a:rPr lang="en-US" sz="1500" b="1" dirty="0">
                <a:solidFill>
                  <a:schemeClr val="bg1"/>
                </a:solidFill>
              </a:rPr>
              <a:t>maritime polar</a:t>
            </a:r>
            <a:endParaRPr lang="en-US" sz="1500" dirty="0"/>
          </a:p>
        </p:txBody>
      </p:sp>
      <p:sp>
        <p:nvSpPr>
          <p:cNvPr id="16" name="Text 13"/>
          <p:cNvSpPr txBox="1"/>
          <p:nvPr/>
        </p:nvSpPr>
        <p:spPr>
          <a:xfrm>
            <a:off x="8503920" y="2194560"/>
            <a:ext cx="2834640" cy="502920"/>
          </a:xfrm>
          <a:prstGeom prst="rect">
            <a:avLst/>
          </a:prstGeom>
          <a:noFill/>
          <a:ln/>
        </p:spPr>
        <p:txBody>
          <a:bodyPr wrap="square" lIns="0" tIns="0" rIns="0" bIns="0" rtlCol="0" anchor="t"/>
          <a:lstStyle/>
          <a:p>
            <a:pPr algn="l" indent="0" marL="0">
              <a:buNone/>
            </a:pPr>
            <a:r>
              <a:rPr lang="en-US" sz="1300" dirty="0">
                <a:solidFill>
                  <a:schemeClr val="bg1"/>
                </a:solidFill>
              </a:rPr>
              <a:t>cool, moist, unstable</a:t>
            </a:r>
            <a:endParaRPr lang="en-US" sz="1300" dirty="0"/>
          </a:p>
        </p:txBody>
      </p:sp>
      <p:sp>
        <p:nvSpPr>
          <p:cNvPr id="17" name="Text 14"/>
          <p:cNvSpPr txBox="1"/>
          <p:nvPr/>
        </p:nvSpPr>
        <p:spPr>
          <a:xfrm>
            <a:off x="7315200" y="2834640"/>
            <a:ext cx="4023360" cy="868680"/>
          </a:xfrm>
          <a:prstGeom prst="rect">
            <a:avLst/>
          </a:prstGeom>
          <a:noFill/>
          <a:ln/>
        </p:spPr>
        <p:txBody>
          <a:bodyPr wrap="square" lIns="0" tIns="0" rIns="0" bIns="0" rtlCol="0" anchor="t"/>
          <a:lstStyle/>
          <a:p>
            <a:pPr indent="0" marL="0">
              <a:buNone/>
            </a:pPr>
            <a:r>
              <a:rPr lang="en-US" sz="1200" i="1" dirty="0">
                <a:solidFill>
                  <a:schemeClr val="bg1"/>
                </a:solidFill>
              </a:rPr>
              <a:t>India: North Pacific / Atlantic; showers on windward coasts</a:t>
            </a:r>
            <a:endParaRPr lang="en-US" sz="1200" dirty="0"/>
          </a:p>
        </p:txBody>
      </p:sp>
      <p:sp>
        <p:nvSpPr>
          <p:cNvPr id="18" name="card"/>
          <p:cNvSpPr/>
          <p:nvPr/>
        </p:nvSpPr>
        <p:spPr>
          <a:xfrm>
            <a:off x="2560320" y="3931920"/>
            <a:ext cx="4389120" cy="2103120"/>
          </a:xfrm>
          <a:prstGeom prst="roundRect">
            <a:avLst>
              <a:gd name="adj" fmla="val 3478"/>
            </a:avLst>
          </a:prstGeom>
          <a:solidFill>
            <a:schemeClr val="accent1"/>
          </a:solidFill>
          <a:ln/>
          <a:effectLst>
            <a:outerShdw sx="100000" sy="100000" kx="0" ky="0" algn="bl" rotWithShape="0" blurRad="76200" dist="25400" dir="5400000">
              <a:srgbClr val="000000">
                <a:alpha val="14000"/>
              </a:srgbClr>
            </a:outerShdw>
          </a:effectLst>
        </p:spPr>
      </p:sp>
      <p:sp>
        <p:nvSpPr>
          <p:cNvPr id="19" name="Text 16"/>
          <p:cNvSpPr txBox="1"/>
          <p:nvPr/>
        </p:nvSpPr>
        <p:spPr>
          <a:xfrm>
            <a:off x="2743200" y="4023360"/>
            <a:ext cx="1188720" cy="822960"/>
          </a:xfrm>
          <a:prstGeom prst="rect">
            <a:avLst/>
          </a:prstGeom>
          <a:noFill/>
          <a:ln/>
        </p:spPr>
        <p:txBody>
          <a:bodyPr wrap="square" lIns="0" tIns="0" rIns="0" bIns="0" rtlCol="0" anchor="ctr"/>
          <a:lstStyle/>
          <a:p>
            <a:pPr algn="l" indent="0" marL="0">
              <a:buNone/>
            </a:pPr>
            <a:r>
              <a:rPr lang="en-US" sz="3600" b="1" dirty="0">
                <a:solidFill>
                  <a:schemeClr val="bg1"/>
                </a:solidFill>
              </a:rPr>
              <a:t>cT</a:t>
            </a:r>
            <a:endParaRPr lang="en-US" sz="3600" dirty="0"/>
          </a:p>
        </p:txBody>
      </p:sp>
      <p:sp>
        <p:nvSpPr>
          <p:cNvPr id="20" name="Text 17"/>
          <p:cNvSpPr txBox="1"/>
          <p:nvPr/>
        </p:nvSpPr>
        <p:spPr>
          <a:xfrm>
            <a:off x="3931920" y="4069080"/>
            <a:ext cx="2834640" cy="365760"/>
          </a:xfrm>
          <a:prstGeom prst="rect">
            <a:avLst/>
          </a:prstGeom>
          <a:noFill/>
          <a:ln/>
        </p:spPr>
        <p:txBody>
          <a:bodyPr wrap="square" lIns="0" tIns="0" rIns="0" bIns="0" rtlCol="0" anchor="ctr"/>
          <a:lstStyle/>
          <a:p>
            <a:pPr algn="l" indent="0" marL="0">
              <a:buNone/>
            </a:pPr>
            <a:r>
              <a:rPr lang="en-US" sz="1500" b="1" dirty="0">
                <a:solidFill>
                  <a:schemeClr val="bg1"/>
                </a:solidFill>
              </a:rPr>
              <a:t>continental tropical</a:t>
            </a:r>
            <a:endParaRPr lang="en-US" sz="1500" dirty="0"/>
          </a:p>
        </p:txBody>
      </p:sp>
      <p:sp>
        <p:nvSpPr>
          <p:cNvPr id="21" name="Text 18"/>
          <p:cNvSpPr txBox="1"/>
          <p:nvPr/>
        </p:nvSpPr>
        <p:spPr>
          <a:xfrm>
            <a:off x="3931920" y="4434840"/>
            <a:ext cx="2834640" cy="502920"/>
          </a:xfrm>
          <a:prstGeom prst="rect">
            <a:avLst/>
          </a:prstGeom>
          <a:noFill/>
          <a:ln/>
        </p:spPr>
        <p:txBody>
          <a:bodyPr wrap="square" lIns="0" tIns="0" rIns="0" bIns="0" rtlCol="0" anchor="t"/>
          <a:lstStyle/>
          <a:p>
            <a:pPr algn="l" indent="0" marL="0">
              <a:buNone/>
            </a:pPr>
            <a:r>
              <a:rPr lang="en-US" sz="1300" dirty="0">
                <a:solidFill>
                  <a:schemeClr val="bg1"/>
                </a:solidFill>
              </a:rPr>
              <a:t>hot, dry; stable aloft, unstable at surface</a:t>
            </a:r>
            <a:endParaRPr lang="en-US" sz="1300" dirty="0"/>
          </a:p>
        </p:txBody>
      </p:sp>
      <p:sp>
        <p:nvSpPr>
          <p:cNvPr id="22" name="Text 19"/>
          <p:cNvSpPr txBox="1"/>
          <p:nvPr/>
        </p:nvSpPr>
        <p:spPr>
          <a:xfrm>
            <a:off x="2743200" y="5074920"/>
            <a:ext cx="4023360" cy="868680"/>
          </a:xfrm>
          <a:prstGeom prst="rect">
            <a:avLst/>
          </a:prstGeom>
          <a:noFill/>
          <a:ln/>
        </p:spPr>
        <p:txBody>
          <a:bodyPr wrap="square" lIns="0" tIns="0" rIns="0" bIns="0" rtlCol="0" anchor="t"/>
          <a:lstStyle/>
          <a:p>
            <a:pPr indent="0" marL="0">
              <a:buNone/>
            </a:pPr>
            <a:r>
              <a:rPr lang="en-US" sz="1200" i="1" dirty="0">
                <a:solidFill>
                  <a:schemeClr val="bg1"/>
                </a:solidFill>
              </a:rPr>
              <a:t>India: Thar &amp; Arabian deserts: pre-monsoon heat waves, loo</a:t>
            </a:r>
            <a:endParaRPr lang="en-US" sz="1200" dirty="0"/>
          </a:p>
        </p:txBody>
      </p:sp>
      <p:sp>
        <p:nvSpPr>
          <p:cNvPr id="23" name="card"/>
          <p:cNvSpPr/>
          <p:nvPr/>
        </p:nvSpPr>
        <p:spPr>
          <a:xfrm>
            <a:off x="7132320" y="3931920"/>
            <a:ext cx="4389120" cy="2103120"/>
          </a:xfrm>
          <a:prstGeom prst="roundRect">
            <a:avLst>
              <a:gd name="adj" fmla="val 3478"/>
            </a:avLst>
          </a:prstGeom>
          <a:solidFill>
            <a:schemeClr val="accent5"/>
          </a:solidFill>
          <a:ln/>
          <a:effectLst>
            <a:outerShdw sx="100000" sy="100000" kx="0" ky="0" algn="bl" rotWithShape="0" blurRad="76200" dist="25400" dir="5400000">
              <a:srgbClr val="000000">
                <a:alpha val="14000"/>
              </a:srgbClr>
            </a:outerShdw>
          </a:effectLst>
        </p:spPr>
      </p:sp>
      <p:sp>
        <p:nvSpPr>
          <p:cNvPr id="24" name="Text 21"/>
          <p:cNvSpPr txBox="1"/>
          <p:nvPr/>
        </p:nvSpPr>
        <p:spPr>
          <a:xfrm>
            <a:off x="7315200" y="4023360"/>
            <a:ext cx="1188720" cy="822960"/>
          </a:xfrm>
          <a:prstGeom prst="rect">
            <a:avLst/>
          </a:prstGeom>
          <a:noFill/>
          <a:ln/>
        </p:spPr>
        <p:txBody>
          <a:bodyPr wrap="square" lIns="0" tIns="0" rIns="0" bIns="0" rtlCol="0" anchor="ctr"/>
          <a:lstStyle/>
          <a:p>
            <a:pPr algn="l" indent="0" marL="0">
              <a:buNone/>
            </a:pPr>
            <a:r>
              <a:rPr lang="en-US" sz="3600" b="1" dirty="0">
                <a:solidFill>
                  <a:schemeClr val="bg1"/>
                </a:solidFill>
              </a:rPr>
              <a:t>mT</a:t>
            </a:r>
            <a:endParaRPr lang="en-US" sz="3600" dirty="0"/>
          </a:p>
        </p:txBody>
      </p:sp>
      <p:sp>
        <p:nvSpPr>
          <p:cNvPr id="25" name="Text 22"/>
          <p:cNvSpPr txBox="1"/>
          <p:nvPr/>
        </p:nvSpPr>
        <p:spPr>
          <a:xfrm>
            <a:off x="8503920" y="4069080"/>
            <a:ext cx="2834640" cy="365760"/>
          </a:xfrm>
          <a:prstGeom prst="rect">
            <a:avLst/>
          </a:prstGeom>
          <a:noFill/>
          <a:ln/>
        </p:spPr>
        <p:txBody>
          <a:bodyPr wrap="square" lIns="0" tIns="0" rIns="0" bIns="0" rtlCol="0" anchor="ctr"/>
          <a:lstStyle/>
          <a:p>
            <a:pPr algn="l" indent="0" marL="0">
              <a:buNone/>
            </a:pPr>
            <a:r>
              <a:rPr lang="en-US" sz="1500" b="1" dirty="0">
                <a:solidFill>
                  <a:schemeClr val="bg1"/>
                </a:solidFill>
              </a:rPr>
              <a:t>maritime tropical</a:t>
            </a:r>
            <a:endParaRPr lang="en-US" sz="1500" dirty="0"/>
          </a:p>
        </p:txBody>
      </p:sp>
      <p:sp>
        <p:nvSpPr>
          <p:cNvPr id="26" name="Text 23"/>
          <p:cNvSpPr txBox="1"/>
          <p:nvPr/>
        </p:nvSpPr>
        <p:spPr>
          <a:xfrm>
            <a:off x="8503920" y="4434840"/>
            <a:ext cx="2834640" cy="502920"/>
          </a:xfrm>
          <a:prstGeom prst="rect">
            <a:avLst/>
          </a:prstGeom>
          <a:noFill/>
          <a:ln/>
        </p:spPr>
        <p:txBody>
          <a:bodyPr wrap="square" lIns="0" tIns="0" rIns="0" bIns="0" rtlCol="0" anchor="t"/>
          <a:lstStyle/>
          <a:p>
            <a:pPr algn="l" indent="0" marL="0">
              <a:buNone/>
            </a:pPr>
            <a:r>
              <a:rPr lang="en-US" sz="1300" dirty="0">
                <a:solidFill>
                  <a:schemeClr val="bg1"/>
                </a:solidFill>
              </a:rPr>
              <a:t>warm, moist, usually unstable</a:t>
            </a:r>
            <a:endParaRPr lang="en-US" sz="1300" dirty="0"/>
          </a:p>
        </p:txBody>
      </p:sp>
      <p:sp>
        <p:nvSpPr>
          <p:cNvPr id="27" name="Text 24"/>
          <p:cNvSpPr txBox="1"/>
          <p:nvPr/>
        </p:nvSpPr>
        <p:spPr>
          <a:xfrm>
            <a:off x="7315200" y="5074920"/>
            <a:ext cx="4023360" cy="868680"/>
          </a:xfrm>
          <a:prstGeom prst="rect">
            <a:avLst/>
          </a:prstGeom>
          <a:noFill/>
          <a:ln/>
        </p:spPr>
        <p:txBody>
          <a:bodyPr wrap="square" lIns="0" tIns="0" rIns="0" bIns="0" rtlCol="0" anchor="t"/>
          <a:lstStyle/>
          <a:p>
            <a:pPr indent="0" marL="0">
              <a:buNone/>
            </a:pPr>
            <a:r>
              <a:rPr lang="en-US" sz="1200" i="1" dirty="0">
                <a:solidFill>
                  <a:schemeClr val="bg1"/>
                </a:solidFill>
              </a:rPr>
              <a:t>India: Arabian Sea &amp; Bay of Bengal: southwest monsoon air</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Air masses in the handout's examples, and in India</a:t>
            </a:r>
            <a:endParaRPr lang="en-US" sz="32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3291840"/>
                <a:gridCol w="2926080"/>
                <a:gridCol w="4873752"/>
              </a:tblGrid>
              <a:tr h="548640">
                <a:tc>
                  <a:txBody>
                    <a:bodyPr/>
                    <a:lstStyle/>
                    <a:p>
                      <a:pPr indent="0" marL="0">
                        <a:buNone/>
                      </a:pPr>
                      <a:r>
                        <a:rPr lang="en-US" sz="1300" b="1" dirty="0">
                          <a:solidFill>
                            <a:schemeClr val="bg1"/>
                          </a:solidFill>
                        </a:rPr>
                        <a:t>Region / season</a:t>
                      </a:r>
                      <a:endParaRPr lang="en-US" sz="13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Air mass</a:t>
                      </a:r>
                      <a:endParaRPr lang="en-US" sz="13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Weather</a:t>
                      </a:r>
                      <a:endParaRPr lang="en-US" sz="13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tx2"/>
                    </a:solidFill>
                  </a:tcPr>
                </a:tc>
              </a:tr>
              <a:tr h="548640">
                <a:tc>
                  <a:txBody>
                    <a:bodyPr/>
                    <a:lstStyle/>
                    <a:p>
                      <a:pPr indent="0" marL="0">
                        <a:buNone/>
                      </a:pPr>
                      <a:r>
                        <a:rPr lang="en-US" sz="1300" dirty="0">
                          <a:solidFill>
                            <a:schemeClr val="tx1"/>
                          </a:solidFill>
                        </a:rPr>
                        <a:t>US winter, south to Florida</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5"/>
                          </a:solidFill>
                        </a:rPr>
                        <a:t>cP</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Bitter cold, crop damage; stable, dry, clear nights</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48640">
                <a:tc>
                  <a:txBody>
                    <a:bodyPr/>
                    <a:lstStyle/>
                    <a:p>
                      <a:pPr indent="0" marL="0">
                        <a:buNone/>
                      </a:pPr>
                      <a:r>
                        <a:rPr lang="en-US" sz="1300" dirty="0">
                          <a:solidFill>
                            <a:schemeClr val="tx1"/>
                          </a:solidFill>
                        </a:rPr>
                        <a:t>US Pacific north-west</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5"/>
                          </a:solidFill>
                        </a:rPr>
                        <a:t>mP (modified cP)</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Picks up warmth &amp; moisture over ocean; orographic rain</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48640">
                <a:tc>
                  <a:txBody>
                    <a:bodyPr/>
                    <a:lstStyle/>
                    <a:p>
                      <a:pPr indent="0" marL="0">
                        <a:buNone/>
                      </a:pPr>
                      <a:r>
                        <a:rPr lang="en-US" sz="1300" dirty="0">
                          <a:solidFill>
                            <a:schemeClr val="tx1"/>
                          </a:solidFill>
                        </a:rPr>
                        <a:t>US south-east, winter</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5"/>
                          </a:solidFill>
                        </a:rPr>
                        <a:t>mT (Gulf of Mexico)</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Mild, moist; precipitation with SW flow aloft</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48640">
                <a:tc>
                  <a:txBody>
                    <a:bodyPr/>
                    <a:lstStyle/>
                    <a:p>
                      <a:pPr indent="0" marL="0">
                        <a:buNone/>
                      </a:pPr>
                      <a:r>
                        <a:rPr lang="en-US" sz="1300" dirty="0">
                          <a:solidFill>
                            <a:schemeClr val="tx1"/>
                          </a:solidFill>
                        </a:rPr>
                        <a:t>US Midwest, summer 1995</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5"/>
                          </a:solidFill>
                        </a:rPr>
                        <a:t>cT + mT, stagnant</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Heat wave and drought</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48640">
                <a:tc>
                  <a:txBody>
                    <a:bodyPr/>
                    <a:lstStyle/>
                    <a:p>
                      <a:pPr indent="0" marL="0">
                        <a:buNone/>
                      </a:pPr>
                      <a:r>
                        <a:rPr lang="en-US" sz="1300" dirty="0">
                          <a:solidFill>
                            <a:schemeClr val="tx1"/>
                          </a:solidFill>
                        </a:rPr>
                        <a:t>North India, winter</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5"/>
                          </a:solidFill>
                        </a:rPr>
                        <a:t>cP (via western disturbances)</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Cold waves, fog under night inversions</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548640">
                <a:tc>
                  <a:txBody>
                    <a:bodyPr/>
                    <a:lstStyle/>
                    <a:p>
                      <a:pPr indent="0" marL="0">
                        <a:buNone/>
                      </a:pPr>
                      <a:r>
                        <a:rPr lang="en-US" sz="1300" dirty="0">
                          <a:solidFill>
                            <a:schemeClr val="tx1"/>
                          </a:solidFill>
                        </a:rPr>
                        <a:t>North-west India, May</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b="1" dirty="0">
                          <a:solidFill>
                            <a:schemeClr val="accent5"/>
                          </a:solidFill>
                        </a:rPr>
                        <a:t>cT (Thar, Arabia)</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Heat waves, dust storms, 'loo' winds</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548640">
                <a:tc>
                  <a:txBody>
                    <a:bodyPr/>
                    <a:lstStyle/>
                    <a:p>
                      <a:pPr indent="0" marL="0">
                        <a:buNone/>
                      </a:pPr>
                      <a:r>
                        <a:rPr lang="en-US" sz="1300" dirty="0">
                          <a:solidFill>
                            <a:schemeClr val="tx1"/>
                          </a:solidFill>
                        </a:rPr>
                        <a:t>All India, Jun–Sep</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b="1" dirty="0">
                          <a:solidFill>
                            <a:schemeClr val="accent5"/>
                          </a:solidFill>
                        </a:rPr>
                        <a:t>mT (Arabian Sea, Bay of Bengal)</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Southwest monsoon rain</a:t>
                      </a:r>
                      <a:endParaRPr lang="en-US" sz="1200" dirty="0"/>
                    </a:p>
                  </a:txBody>
                  <a:tcPr marL="91440" marR="91440" marT="36576" marB="36576"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bl>
          </a:graphicData>
        </a:graphic>
      </p:graphicFrame>
      <p:sp>
        <p:nvSpPr>
          <p:cNvPr id="5" name="Text 1"/>
          <p:cNvSpPr txBox="1"/>
          <p:nvPr/>
        </p:nvSpPr>
        <p:spPr>
          <a:xfrm>
            <a:off x="548640" y="5897880"/>
            <a:ext cx="10972800" cy="274320"/>
          </a:xfrm>
          <a:prstGeom prst="rect">
            <a:avLst/>
          </a:prstGeom>
          <a:noFill/>
          <a:ln/>
        </p:spPr>
        <p:txBody>
          <a:bodyPr wrap="square" lIns="508" tIns="508" rIns="508" bIns="508" rtlCol="0" anchor="t"/>
          <a:lstStyle/>
          <a:p>
            <a:pPr indent="0" marL="0">
              <a:spcAft>
                <a:spcPts val="600"/>
              </a:spcAft>
              <a:buNone/>
            </a:pPr>
            <a:r>
              <a:rPr lang="en-US" sz="1100" i="1" dirty="0">
                <a:solidFill>
                  <a:schemeClr val="accent6"/>
                </a:solidFill>
              </a:rPr>
              <a:t>US rows from the handout; India rows added for context.</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Air-mass modification and stability</a:t>
            </a:r>
            <a:endParaRPr lang="en-US" sz="3200" dirty="0"/>
          </a:p>
        </p:txBody>
      </p:sp>
      <p:sp>
        <p:nvSpPr>
          <p:cNvPr id="4" name="card"/>
          <p:cNvSpPr/>
          <p:nvPr/>
        </p:nvSpPr>
        <p:spPr>
          <a:xfrm>
            <a:off x="548640" y="1371600"/>
            <a:ext cx="5440680" cy="3291840"/>
          </a:xfrm>
          <a:prstGeom prst="roundRect">
            <a:avLst>
              <a:gd name="adj" fmla="val 2222"/>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77240" y="1554480"/>
            <a:ext cx="548640" cy="548640"/>
          </a:xfrm>
          <a:prstGeom prst="ellipse">
            <a:avLst/>
          </a:prstGeom>
          <a:solidFill>
            <a:schemeClr val="accent1"/>
          </a:solidFill>
          <a:ln/>
        </p:spPr>
      </p:sp>
      <p:pic>
        <p:nvPicPr>
          <p:cNvPr id="6" name="Image 0" descr="ArrowUp icon">    </p:cNvPr>
          <p:cNvPicPr>
            <a:picLocks noChangeAspect="1"/>
          </p:cNvPicPr>
          <p:nvPr/>
        </p:nvPicPr>
        <p:blipFill>
          <a:blip r:embed="rId1"/>
          <a:stretch>
            <a:fillRect/>
          </a:stretch>
        </p:blipFill>
        <p:spPr>
          <a:xfrm>
            <a:off x="919886" y="1697126"/>
            <a:ext cx="263347" cy="263347"/>
          </a:xfrm>
          <a:prstGeom prst="rect">
            <a:avLst/>
          </a:prstGeom>
        </p:spPr>
      </p:pic>
      <p:sp>
        <p:nvSpPr>
          <p:cNvPr id="7" name="Text 3"/>
          <p:cNvSpPr txBox="1"/>
          <p:nvPr/>
        </p:nvSpPr>
        <p:spPr>
          <a:xfrm>
            <a:off x="1463040" y="1554480"/>
            <a:ext cx="4343400" cy="548640"/>
          </a:xfrm>
          <a:prstGeom prst="rect">
            <a:avLst/>
          </a:prstGeom>
          <a:noFill/>
          <a:ln/>
        </p:spPr>
        <p:txBody>
          <a:bodyPr wrap="square" lIns="0" tIns="0" rIns="0" bIns="0" rtlCol="0" anchor="ctr"/>
          <a:lstStyle/>
          <a:p>
            <a:pPr algn="l" indent="0" marL="0">
              <a:buNone/>
            </a:pPr>
            <a:r>
              <a:rPr lang="en-US" sz="1600" b="1" dirty="0">
                <a:solidFill>
                  <a:schemeClr val="accent1"/>
                </a:solidFill>
              </a:rPr>
              <a:t>Cold air over warm surface (k)</a:t>
            </a:r>
            <a:endParaRPr lang="en-US" sz="1600" dirty="0"/>
          </a:p>
        </p:txBody>
      </p:sp>
      <p:sp>
        <p:nvSpPr>
          <p:cNvPr id="8" name="Text 4"/>
          <p:cNvSpPr txBox="1"/>
          <p:nvPr/>
        </p:nvSpPr>
        <p:spPr>
          <a:xfrm>
            <a:off x="777240" y="2331720"/>
            <a:ext cx="4983480" cy="914400"/>
          </a:xfrm>
          <a:prstGeom prst="rect">
            <a:avLst/>
          </a:prstGeom>
          <a:noFill/>
          <a:ln/>
        </p:spPr>
        <p:txBody>
          <a:bodyPr wrap="square" lIns="0" tIns="0" rIns="0" bIns="0" rtlCol="0" anchor="t"/>
          <a:lstStyle/>
          <a:p>
            <a:pPr indent="0" marL="0">
              <a:buNone/>
            </a:pPr>
            <a:r>
              <a:rPr lang="en-US" sz="1500" dirty="0">
                <a:solidFill>
                  <a:schemeClr val="tx1"/>
                </a:solidFill>
              </a:rPr>
              <a:t>Heated from below → steeper lapse rate → </a:t>
            </a:r>
            <a:r>
              <a:rPr lang="en-US" sz="1500" b="1" dirty="0">
                <a:solidFill>
                  <a:schemeClr val="tx1"/>
                </a:solidFill>
              </a:rPr>
              <a:t>unstable</a:t>
            </a:r>
            <a:endParaRPr lang="en-US" sz="1500" dirty="0"/>
          </a:p>
        </p:txBody>
      </p:sp>
      <p:sp>
        <p:nvSpPr>
          <p:cNvPr id="9" name="Text 5"/>
          <p:cNvSpPr txBox="1"/>
          <p:nvPr/>
        </p:nvSpPr>
        <p:spPr>
          <a:xfrm>
            <a:off x="777240" y="3429000"/>
            <a:ext cx="4983480" cy="1005840"/>
          </a:xfrm>
          <a:prstGeom prst="rect">
            <a:avLst/>
          </a:prstGeom>
          <a:noFill/>
          <a:ln/>
        </p:spPr>
        <p:txBody>
          <a:bodyPr wrap="square" lIns="0" tIns="0" rIns="0" bIns="0" rtlCol="0" anchor="t"/>
          <a:lstStyle/>
          <a:p>
            <a:pPr indent="0" marL="0">
              <a:buNone/>
            </a:pPr>
            <a:r>
              <a:rPr lang="en-US" sz="1400" i="1" dirty="0">
                <a:solidFill>
                  <a:schemeClr val="tx1"/>
                </a:solidFill>
              </a:rPr>
              <a:t>Weather: Cumulus, showers, good visibility, gusty winds</a:t>
            </a:r>
            <a:endParaRPr lang="en-US" sz="1400" dirty="0"/>
          </a:p>
        </p:txBody>
      </p:sp>
      <p:sp>
        <p:nvSpPr>
          <p:cNvPr id="10" name="card"/>
          <p:cNvSpPr/>
          <p:nvPr/>
        </p:nvSpPr>
        <p:spPr>
          <a:xfrm>
            <a:off x="6199632" y="1371600"/>
            <a:ext cx="5440680" cy="3291840"/>
          </a:xfrm>
          <a:prstGeom prst="roundRect">
            <a:avLst>
              <a:gd name="adj" fmla="val 2222"/>
            </a:avLst>
          </a:prstGeom>
          <a:solidFill>
            <a:schemeClr val="bg2"/>
          </a:solidFill>
          <a:ln/>
          <a:effectLst>
            <a:outerShdw sx="100000" sy="100000" kx="0" ky="0" algn="bl" rotWithShape="0" blurRad="76200" dist="25400" dir="5400000">
              <a:srgbClr val="000000">
                <a:alpha val="14000"/>
              </a:srgbClr>
            </a:outerShdw>
          </a:effectLst>
        </p:spPr>
      </p:sp>
      <p:sp>
        <p:nvSpPr>
          <p:cNvPr id="11" name="icon circle"/>
          <p:cNvSpPr/>
          <p:nvPr/>
        </p:nvSpPr>
        <p:spPr>
          <a:xfrm>
            <a:off x="6428232" y="1554480"/>
            <a:ext cx="548640" cy="548640"/>
          </a:xfrm>
          <a:prstGeom prst="ellipse">
            <a:avLst/>
          </a:prstGeom>
          <a:solidFill>
            <a:schemeClr val="accent2"/>
          </a:solidFill>
          <a:ln/>
        </p:spPr>
      </p:sp>
      <p:pic>
        <p:nvPicPr>
          <p:cNvPr id="12" name="Image 1" descr="ArrowDown icon">    </p:cNvPr>
          <p:cNvPicPr>
            <a:picLocks noChangeAspect="1"/>
          </p:cNvPicPr>
          <p:nvPr/>
        </p:nvPicPr>
        <p:blipFill>
          <a:blip r:embed="rId2"/>
          <a:stretch>
            <a:fillRect/>
          </a:stretch>
        </p:blipFill>
        <p:spPr>
          <a:xfrm>
            <a:off x="6570878" y="1697126"/>
            <a:ext cx="263347" cy="263347"/>
          </a:xfrm>
          <a:prstGeom prst="rect">
            <a:avLst/>
          </a:prstGeom>
        </p:spPr>
      </p:pic>
      <p:sp>
        <p:nvSpPr>
          <p:cNvPr id="13" name="Text 8"/>
          <p:cNvSpPr txBox="1"/>
          <p:nvPr/>
        </p:nvSpPr>
        <p:spPr>
          <a:xfrm>
            <a:off x="7114032" y="1554480"/>
            <a:ext cx="4343400" cy="548640"/>
          </a:xfrm>
          <a:prstGeom prst="rect">
            <a:avLst/>
          </a:prstGeom>
          <a:noFill/>
          <a:ln/>
        </p:spPr>
        <p:txBody>
          <a:bodyPr wrap="square" lIns="0" tIns="0" rIns="0" bIns="0" rtlCol="0" anchor="ctr"/>
          <a:lstStyle/>
          <a:p>
            <a:pPr algn="l" indent="0" marL="0">
              <a:buNone/>
            </a:pPr>
            <a:r>
              <a:rPr lang="en-US" sz="1600" b="1" dirty="0">
                <a:solidFill>
                  <a:schemeClr val="accent2"/>
                </a:solidFill>
              </a:rPr>
              <a:t>Warm air over cold surface (w)</a:t>
            </a:r>
            <a:endParaRPr lang="en-US" sz="1600" dirty="0"/>
          </a:p>
        </p:txBody>
      </p:sp>
      <p:sp>
        <p:nvSpPr>
          <p:cNvPr id="14" name="Text 9"/>
          <p:cNvSpPr txBox="1"/>
          <p:nvPr/>
        </p:nvSpPr>
        <p:spPr>
          <a:xfrm>
            <a:off x="6428232" y="2331720"/>
            <a:ext cx="4983480" cy="914400"/>
          </a:xfrm>
          <a:prstGeom prst="rect">
            <a:avLst/>
          </a:prstGeom>
          <a:noFill/>
          <a:ln/>
        </p:spPr>
        <p:txBody>
          <a:bodyPr wrap="square" lIns="0" tIns="0" rIns="0" bIns="0" rtlCol="0" anchor="t"/>
          <a:lstStyle/>
          <a:p>
            <a:pPr indent="0" marL="0">
              <a:buNone/>
            </a:pPr>
            <a:r>
              <a:rPr lang="en-US" sz="1500" dirty="0">
                <a:solidFill>
                  <a:schemeClr val="tx1"/>
                </a:solidFill>
              </a:rPr>
              <a:t>Cooled from below → inversion → </a:t>
            </a:r>
            <a:r>
              <a:rPr lang="en-US" sz="1500" b="1" dirty="0">
                <a:solidFill>
                  <a:schemeClr val="tx1"/>
                </a:solidFill>
              </a:rPr>
              <a:t>stable</a:t>
            </a:r>
            <a:endParaRPr lang="en-US" sz="1500" dirty="0"/>
          </a:p>
        </p:txBody>
      </p:sp>
      <p:sp>
        <p:nvSpPr>
          <p:cNvPr id="15" name="Text 10"/>
          <p:cNvSpPr txBox="1"/>
          <p:nvPr/>
        </p:nvSpPr>
        <p:spPr>
          <a:xfrm>
            <a:off x="6428232" y="3429000"/>
            <a:ext cx="4983480" cy="1005840"/>
          </a:xfrm>
          <a:prstGeom prst="rect">
            <a:avLst/>
          </a:prstGeom>
          <a:noFill/>
          <a:ln/>
        </p:spPr>
        <p:txBody>
          <a:bodyPr wrap="square" lIns="0" tIns="0" rIns="0" bIns="0" rtlCol="0" anchor="t"/>
          <a:lstStyle/>
          <a:p>
            <a:pPr indent="0" marL="0">
              <a:buNone/>
            </a:pPr>
            <a:r>
              <a:rPr lang="en-US" sz="1400" i="1" dirty="0">
                <a:solidFill>
                  <a:schemeClr val="tx1"/>
                </a:solidFill>
              </a:rPr>
              <a:t>Weather: Fog, stratus, drizzle, poor visibility</a:t>
            </a:r>
            <a:endParaRPr lang="en-US" sz="1400" dirty="0"/>
          </a:p>
        </p:txBody>
      </p:sp>
      <p:sp>
        <p:nvSpPr>
          <p:cNvPr id="16" name="insight"/>
          <p:cNvSpPr/>
          <p:nvPr/>
        </p:nvSpPr>
        <p:spPr>
          <a:xfrm>
            <a:off x="548640" y="4892040"/>
            <a:ext cx="11094415" cy="1005840"/>
          </a:xfrm>
          <a:prstGeom prst="roundRect">
            <a:avLst>
              <a:gd name="adj" fmla="val 7273"/>
            </a:avLst>
          </a:prstGeom>
          <a:solidFill>
            <a:schemeClr val="bg2"/>
          </a:solidFill>
          <a:ln/>
        </p:spPr>
      </p:sp>
      <p:sp>
        <p:nvSpPr>
          <p:cNvPr id="17" name="icon circle"/>
          <p:cNvSpPr/>
          <p:nvPr/>
        </p:nvSpPr>
        <p:spPr>
          <a:xfrm>
            <a:off x="685800" y="5157216"/>
            <a:ext cx="475488" cy="475488"/>
          </a:xfrm>
          <a:prstGeom prst="ellipse">
            <a:avLst/>
          </a:prstGeom>
          <a:solidFill>
            <a:schemeClr val="accent3"/>
          </a:solidFill>
          <a:ln/>
        </p:spPr>
      </p:sp>
      <p:pic>
        <p:nvPicPr>
          <p:cNvPr id="18" name="Image 2" descr="Lightbulb icon">    </p:cNvPr>
          <p:cNvPicPr>
            <a:picLocks noChangeAspect="1"/>
          </p:cNvPicPr>
          <p:nvPr/>
        </p:nvPicPr>
        <p:blipFill>
          <a:blip r:embed="rId3"/>
          <a:stretch>
            <a:fillRect/>
          </a:stretch>
        </p:blipFill>
        <p:spPr>
          <a:xfrm>
            <a:off x="809427" y="5280843"/>
            <a:ext cx="228234" cy="228234"/>
          </a:xfrm>
          <a:prstGeom prst="rect">
            <a:avLst/>
          </a:prstGeom>
        </p:spPr>
      </p:pic>
      <p:sp>
        <p:nvSpPr>
          <p:cNvPr id="19" name="Text 13"/>
          <p:cNvSpPr txBox="1"/>
          <p:nvPr/>
        </p:nvSpPr>
        <p:spPr>
          <a:xfrm>
            <a:off x="1325880" y="4928616"/>
            <a:ext cx="10180015" cy="932688"/>
          </a:xfrm>
          <a:prstGeom prst="rect">
            <a:avLst/>
          </a:prstGeom>
          <a:noFill/>
          <a:ln/>
        </p:spPr>
        <p:txBody>
          <a:bodyPr wrap="square" lIns="508" tIns="508" rIns="508" bIns="508" rtlCol="0" anchor="ctr"/>
          <a:lstStyle/>
          <a:p>
            <a:pPr indent="0" marL="0">
              <a:spcAft>
                <a:spcPts val="600"/>
              </a:spcAft>
              <a:buNone/>
            </a:pPr>
            <a:r>
              <a:rPr lang="en-US" sz="1400" dirty="0">
                <a:solidFill>
                  <a:schemeClr val="tx1"/>
                </a:solidFill>
              </a:rPr>
              <a:t>Same rule as the stability module: </a:t>
            </a:r>
            <a:r>
              <a:rPr lang="en-US" sz="1400" b="1" dirty="0">
                <a:solidFill>
                  <a:schemeClr val="tx1"/>
                </a:solidFill>
              </a:rPr>
              <a:t>heating or moistening from below destabilises; cooling from below stabilises.</a:t>
            </a:r>
            <a:r>
              <a:rPr lang="en-US" sz="1400" dirty="0">
                <a:solidFill>
                  <a:schemeClr val="tx1"/>
                </a:solidFill>
              </a:rPr>
              <a:t> Example from the handout: cP air over the warmer North Pacific becomes mP and unstable.</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What is a front, and how do you spot one?</a:t>
            </a:r>
            <a:endParaRPr lang="en-US" sz="3200" dirty="0"/>
          </a:p>
        </p:txBody>
      </p:sp>
      <p:sp>
        <p:nvSpPr>
          <p:cNvPr id="4" name="card"/>
          <p:cNvSpPr/>
          <p:nvPr/>
        </p:nvSpPr>
        <p:spPr>
          <a:xfrm>
            <a:off x="548640" y="1371600"/>
            <a:ext cx="2103120" cy="246888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1280160" y="1554480"/>
            <a:ext cx="640080" cy="640080"/>
          </a:xfrm>
          <a:prstGeom prst="ellipse">
            <a:avLst/>
          </a:prstGeom>
          <a:solidFill>
            <a:schemeClr val="accent1"/>
          </a:solidFill>
          <a:ln/>
        </p:spPr>
      </p:sp>
      <p:pic>
        <p:nvPicPr>
          <p:cNvPr id="6" name="Image 0" descr="ThermometerHalf icon">    </p:cNvPr>
          <p:cNvPicPr>
            <a:picLocks noChangeAspect="1"/>
          </p:cNvPicPr>
          <p:nvPr/>
        </p:nvPicPr>
        <p:blipFill>
          <a:blip r:embed="rId1"/>
          <a:stretch>
            <a:fillRect/>
          </a:stretch>
        </p:blipFill>
        <p:spPr>
          <a:xfrm>
            <a:off x="1446581" y="1720901"/>
            <a:ext cx="307238" cy="307238"/>
          </a:xfrm>
          <a:prstGeom prst="rect">
            <a:avLst/>
          </a:prstGeom>
        </p:spPr>
      </p:pic>
      <p:sp>
        <p:nvSpPr>
          <p:cNvPr id="7" name="Text 3"/>
          <p:cNvSpPr txBox="1"/>
          <p:nvPr/>
        </p:nvSpPr>
        <p:spPr>
          <a:xfrm>
            <a:off x="640080" y="2286000"/>
            <a:ext cx="1920240" cy="640080"/>
          </a:xfrm>
          <a:prstGeom prst="rect">
            <a:avLst/>
          </a:prstGeom>
          <a:noFill/>
          <a:ln/>
        </p:spPr>
        <p:txBody>
          <a:bodyPr wrap="square" lIns="0" tIns="0" rIns="0" bIns="0" rtlCol="0" anchor="ctr"/>
          <a:lstStyle/>
          <a:p>
            <a:pPr algn="ctr" indent="0" marL="0">
              <a:buNone/>
            </a:pPr>
            <a:r>
              <a:rPr lang="en-US" sz="1400" b="1" dirty="0">
                <a:solidFill>
                  <a:schemeClr val="tx2"/>
                </a:solidFill>
              </a:rPr>
              <a:t>Sharp temperature change</a:t>
            </a:r>
            <a:endParaRPr lang="en-US" sz="1400" dirty="0"/>
          </a:p>
        </p:txBody>
      </p:sp>
      <p:sp>
        <p:nvSpPr>
          <p:cNvPr id="8" name="Text 4"/>
          <p:cNvSpPr txBox="1"/>
          <p:nvPr/>
        </p:nvSpPr>
        <p:spPr>
          <a:xfrm>
            <a:off x="640080" y="2926080"/>
            <a:ext cx="1920240" cy="731520"/>
          </a:xfrm>
          <a:prstGeom prst="rect">
            <a:avLst/>
          </a:prstGeom>
          <a:noFill/>
          <a:ln/>
        </p:spPr>
        <p:txBody>
          <a:bodyPr wrap="square" lIns="0" tIns="0" rIns="0" bIns="0" rtlCol="0" anchor="t"/>
          <a:lstStyle/>
          <a:p>
            <a:pPr algn="ctr" indent="0" marL="0">
              <a:buNone/>
            </a:pPr>
            <a:r>
              <a:rPr lang="en-US" sz="1200" dirty="0">
                <a:solidFill>
                  <a:schemeClr val="tx1"/>
                </a:solidFill>
              </a:rPr>
              <a:t>over a short distance</a:t>
            </a:r>
            <a:endParaRPr lang="en-US" sz="1200" dirty="0"/>
          </a:p>
        </p:txBody>
      </p:sp>
      <p:sp>
        <p:nvSpPr>
          <p:cNvPr id="9" name="card"/>
          <p:cNvSpPr/>
          <p:nvPr/>
        </p:nvSpPr>
        <p:spPr>
          <a:xfrm>
            <a:off x="2788920" y="1371600"/>
            <a:ext cx="2103120" cy="246888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3520440" y="1554480"/>
            <a:ext cx="640080" cy="640080"/>
          </a:xfrm>
          <a:prstGeom prst="ellipse">
            <a:avLst/>
          </a:prstGeom>
          <a:solidFill>
            <a:schemeClr val="accent2"/>
          </a:solidFill>
          <a:ln/>
        </p:spPr>
      </p:sp>
      <p:pic>
        <p:nvPicPr>
          <p:cNvPr id="11" name="Image 1" descr="Tint icon">    </p:cNvPr>
          <p:cNvPicPr>
            <a:picLocks noChangeAspect="1"/>
          </p:cNvPicPr>
          <p:nvPr/>
        </p:nvPicPr>
        <p:blipFill>
          <a:blip r:embed="rId2"/>
          <a:stretch>
            <a:fillRect/>
          </a:stretch>
        </p:blipFill>
        <p:spPr>
          <a:xfrm>
            <a:off x="3686861" y="1720901"/>
            <a:ext cx="307238" cy="307238"/>
          </a:xfrm>
          <a:prstGeom prst="rect">
            <a:avLst/>
          </a:prstGeom>
        </p:spPr>
      </p:pic>
      <p:sp>
        <p:nvSpPr>
          <p:cNvPr id="12" name="Text 7"/>
          <p:cNvSpPr txBox="1"/>
          <p:nvPr/>
        </p:nvSpPr>
        <p:spPr>
          <a:xfrm>
            <a:off x="2880360" y="2286000"/>
            <a:ext cx="1920240" cy="640080"/>
          </a:xfrm>
          <a:prstGeom prst="rect">
            <a:avLst/>
          </a:prstGeom>
          <a:noFill/>
          <a:ln/>
        </p:spPr>
        <p:txBody>
          <a:bodyPr wrap="square" lIns="0" tIns="0" rIns="0" bIns="0" rtlCol="0" anchor="ctr"/>
          <a:lstStyle/>
          <a:p>
            <a:pPr algn="ctr" indent="0" marL="0">
              <a:buNone/>
            </a:pPr>
            <a:r>
              <a:rPr lang="en-US" sz="1400" b="1" dirty="0">
                <a:solidFill>
                  <a:schemeClr val="tx2"/>
                </a:solidFill>
              </a:rPr>
              <a:t>Moisture change</a:t>
            </a:r>
            <a:endParaRPr lang="en-US" sz="1400" dirty="0"/>
          </a:p>
        </p:txBody>
      </p:sp>
      <p:sp>
        <p:nvSpPr>
          <p:cNvPr id="13" name="Text 8"/>
          <p:cNvSpPr txBox="1"/>
          <p:nvPr/>
        </p:nvSpPr>
        <p:spPr>
          <a:xfrm>
            <a:off x="2880360" y="2926080"/>
            <a:ext cx="1920240" cy="731520"/>
          </a:xfrm>
          <a:prstGeom prst="rect">
            <a:avLst/>
          </a:prstGeom>
          <a:noFill/>
          <a:ln/>
        </p:spPr>
        <p:txBody>
          <a:bodyPr wrap="square" lIns="0" tIns="0" rIns="0" bIns="0" rtlCol="0" anchor="t"/>
          <a:lstStyle/>
          <a:p>
            <a:pPr algn="ctr" indent="0" marL="0">
              <a:buNone/>
            </a:pPr>
            <a:r>
              <a:rPr lang="en-US" sz="1200" dirty="0">
                <a:solidFill>
                  <a:schemeClr val="tx1"/>
                </a:solidFill>
              </a:rPr>
              <a:t>dew point jumps or drops</a:t>
            </a:r>
            <a:endParaRPr lang="en-US" sz="1200" dirty="0"/>
          </a:p>
        </p:txBody>
      </p:sp>
      <p:sp>
        <p:nvSpPr>
          <p:cNvPr id="14" name="card"/>
          <p:cNvSpPr/>
          <p:nvPr/>
        </p:nvSpPr>
        <p:spPr>
          <a:xfrm>
            <a:off x="5029200" y="1371600"/>
            <a:ext cx="2103120" cy="246888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5760720" y="1554480"/>
            <a:ext cx="640080" cy="640080"/>
          </a:xfrm>
          <a:prstGeom prst="ellipse">
            <a:avLst/>
          </a:prstGeom>
          <a:solidFill>
            <a:schemeClr val="accent4"/>
          </a:solidFill>
          <a:ln/>
        </p:spPr>
      </p:sp>
      <p:pic>
        <p:nvPicPr>
          <p:cNvPr id="16" name="Image 2" descr="Wind icon">    </p:cNvPr>
          <p:cNvPicPr>
            <a:picLocks noChangeAspect="1"/>
          </p:cNvPicPr>
          <p:nvPr/>
        </p:nvPicPr>
        <p:blipFill>
          <a:blip r:embed="rId3"/>
          <a:stretch>
            <a:fillRect/>
          </a:stretch>
        </p:blipFill>
        <p:spPr>
          <a:xfrm>
            <a:off x="5927141" y="1720901"/>
            <a:ext cx="307238" cy="307238"/>
          </a:xfrm>
          <a:prstGeom prst="rect">
            <a:avLst/>
          </a:prstGeom>
        </p:spPr>
      </p:pic>
      <p:sp>
        <p:nvSpPr>
          <p:cNvPr id="17" name="Text 11"/>
          <p:cNvSpPr txBox="1"/>
          <p:nvPr/>
        </p:nvSpPr>
        <p:spPr>
          <a:xfrm>
            <a:off x="5120640" y="2286000"/>
            <a:ext cx="1920240" cy="640080"/>
          </a:xfrm>
          <a:prstGeom prst="rect">
            <a:avLst/>
          </a:prstGeom>
          <a:noFill/>
          <a:ln/>
        </p:spPr>
        <p:txBody>
          <a:bodyPr wrap="square" lIns="0" tIns="0" rIns="0" bIns="0" rtlCol="0" anchor="ctr"/>
          <a:lstStyle/>
          <a:p>
            <a:pPr algn="ctr" indent="0" marL="0">
              <a:buNone/>
            </a:pPr>
            <a:r>
              <a:rPr lang="en-US" sz="1400" b="1" dirty="0">
                <a:solidFill>
                  <a:schemeClr val="tx2"/>
                </a:solidFill>
              </a:rPr>
              <a:t>Wind shift</a:t>
            </a:r>
            <a:endParaRPr lang="en-US" sz="1400" dirty="0"/>
          </a:p>
        </p:txBody>
      </p:sp>
      <p:sp>
        <p:nvSpPr>
          <p:cNvPr id="18" name="Text 12"/>
          <p:cNvSpPr txBox="1"/>
          <p:nvPr/>
        </p:nvSpPr>
        <p:spPr>
          <a:xfrm>
            <a:off x="5120640" y="2926080"/>
            <a:ext cx="1920240" cy="731520"/>
          </a:xfrm>
          <a:prstGeom prst="rect">
            <a:avLst/>
          </a:prstGeom>
          <a:noFill/>
          <a:ln/>
        </p:spPr>
        <p:txBody>
          <a:bodyPr wrap="square" lIns="0" tIns="0" rIns="0" bIns="0" rtlCol="0" anchor="t"/>
          <a:lstStyle/>
          <a:p>
            <a:pPr algn="ctr" indent="0" marL="0">
              <a:buNone/>
            </a:pPr>
            <a:r>
              <a:rPr lang="en-US" sz="1200" dirty="0">
                <a:solidFill>
                  <a:schemeClr val="tx1"/>
                </a:solidFill>
              </a:rPr>
              <a:t>rapid change in direction</a:t>
            </a:r>
            <a:endParaRPr lang="en-US" sz="1200" dirty="0"/>
          </a:p>
        </p:txBody>
      </p:sp>
      <p:sp>
        <p:nvSpPr>
          <p:cNvPr id="19" name="card"/>
          <p:cNvSpPr/>
          <p:nvPr/>
        </p:nvSpPr>
        <p:spPr>
          <a:xfrm>
            <a:off x="7269480" y="1371600"/>
            <a:ext cx="2103120" cy="246888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8001000" y="1554480"/>
            <a:ext cx="640080" cy="640080"/>
          </a:xfrm>
          <a:prstGeom prst="ellipse">
            <a:avLst/>
          </a:prstGeom>
          <a:solidFill>
            <a:schemeClr val="accent5"/>
          </a:solidFill>
          <a:ln/>
        </p:spPr>
      </p:sp>
      <p:pic>
        <p:nvPicPr>
          <p:cNvPr id="21" name="Image 3" descr="ChartLine icon">    </p:cNvPr>
          <p:cNvPicPr>
            <a:picLocks noChangeAspect="1"/>
          </p:cNvPicPr>
          <p:nvPr/>
        </p:nvPicPr>
        <p:blipFill>
          <a:blip r:embed="rId4"/>
          <a:stretch>
            <a:fillRect/>
          </a:stretch>
        </p:blipFill>
        <p:spPr>
          <a:xfrm>
            <a:off x="8167421" y="1720901"/>
            <a:ext cx="307238" cy="307238"/>
          </a:xfrm>
          <a:prstGeom prst="rect">
            <a:avLst/>
          </a:prstGeom>
        </p:spPr>
      </p:pic>
      <p:sp>
        <p:nvSpPr>
          <p:cNvPr id="22" name="Text 15"/>
          <p:cNvSpPr txBox="1"/>
          <p:nvPr/>
        </p:nvSpPr>
        <p:spPr>
          <a:xfrm>
            <a:off x="7360920" y="2286000"/>
            <a:ext cx="1920240" cy="640080"/>
          </a:xfrm>
          <a:prstGeom prst="rect">
            <a:avLst/>
          </a:prstGeom>
          <a:noFill/>
          <a:ln/>
        </p:spPr>
        <p:txBody>
          <a:bodyPr wrap="square" lIns="0" tIns="0" rIns="0" bIns="0" rtlCol="0" anchor="ctr"/>
          <a:lstStyle/>
          <a:p>
            <a:pPr algn="ctr" indent="0" marL="0">
              <a:buNone/>
            </a:pPr>
            <a:r>
              <a:rPr lang="en-US" sz="1400" b="1" dirty="0">
                <a:solidFill>
                  <a:schemeClr val="tx2"/>
                </a:solidFill>
              </a:rPr>
              <a:t>Pressure change</a:t>
            </a:r>
            <a:endParaRPr lang="en-US" sz="1400" dirty="0"/>
          </a:p>
        </p:txBody>
      </p:sp>
      <p:sp>
        <p:nvSpPr>
          <p:cNvPr id="23" name="Text 16"/>
          <p:cNvSpPr txBox="1"/>
          <p:nvPr/>
        </p:nvSpPr>
        <p:spPr>
          <a:xfrm>
            <a:off x="7360920" y="2926080"/>
            <a:ext cx="1920240" cy="731520"/>
          </a:xfrm>
          <a:prstGeom prst="rect">
            <a:avLst/>
          </a:prstGeom>
          <a:noFill/>
          <a:ln/>
        </p:spPr>
        <p:txBody>
          <a:bodyPr wrap="square" lIns="0" tIns="0" rIns="0" bIns="0" rtlCol="0" anchor="t"/>
          <a:lstStyle/>
          <a:p>
            <a:pPr algn="ctr" indent="0" marL="0">
              <a:buNone/>
            </a:pPr>
            <a:r>
              <a:rPr lang="en-US" sz="1200" dirty="0">
                <a:solidFill>
                  <a:schemeClr val="tx1"/>
                </a:solidFill>
              </a:rPr>
              <a:t>trough: falls, then rises</a:t>
            </a:r>
            <a:endParaRPr lang="en-US" sz="1200" dirty="0"/>
          </a:p>
        </p:txBody>
      </p:sp>
      <p:sp>
        <p:nvSpPr>
          <p:cNvPr id="24" name="card"/>
          <p:cNvSpPr/>
          <p:nvPr/>
        </p:nvSpPr>
        <p:spPr>
          <a:xfrm>
            <a:off x="9509760" y="1371600"/>
            <a:ext cx="2103120" cy="2468880"/>
          </a:xfrm>
          <a:prstGeom prst="roundRect">
            <a:avLst>
              <a:gd name="adj" fmla="val 3478"/>
            </a:avLst>
          </a:prstGeom>
          <a:solidFill>
            <a:schemeClr val="bg2"/>
          </a:solidFill>
          <a:ln/>
          <a:effectLst>
            <a:outerShdw sx="100000" sy="100000" kx="0" ky="0" algn="bl" rotWithShape="0" blurRad="76200" dist="25400" dir="5400000">
              <a:srgbClr val="000000">
                <a:alpha val="14000"/>
              </a:srgbClr>
            </a:outerShdw>
          </a:effectLst>
        </p:spPr>
      </p:sp>
      <p:sp>
        <p:nvSpPr>
          <p:cNvPr id="25" name="icon circle"/>
          <p:cNvSpPr/>
          <p:nvPr/>
        </p:nvSpPr>
        <p:spPr>
          <a:xfrm>
            <a:off x="10241280" y="1554480"/>
            <a:ext cx="640080" cy="640080"/>
          </a:xfrm>
          <a:prstGeom prst="ellipse">
            <a:avLst/>
          </a:prstGeom>
          <a:solidFill>
            <a:schemeClr val="accent6"/>
          </a:solidFill>
          <a:ln/>
        </p:spPr>
      </p:sp>
      <p:pic>
        <p:nvPicPr>
          <p:cNvPr id="26" name="Image 4" descr="CloudShowersHeavy icon">    </p:cNvPr>
          <p:cNvPicPr>
            <a:picLocks noChangeAspect="1"/>
          </p:cNvPicPr>
          <p:nvPr/>
        </p:nvPicPr>
        <p:blipFill>
          <a:blip r:embed="rId5"/>
          <a:stretch>
            <a:fillRect/>
          </a:stretch>
        </p:blipFill>
        <p:spPr>
          <a:xfrm>
            <a:off x="10407701" y="1720901"/>
            <a:ext cx="307238" cy="307238"/>
          </a:xfrm>
          <a:prstGeom prst="rect">
            <a:avLst/>
          </a:prstGeom>
        </p:spPr>
      </p:pic>
      <p:sp>
        <p:nvSpPr>
          <p:cNvPr id="27" name="Text 19"/>
          <p:cNvSpPr txBox="1"/>
          <p:nvPr/>
        </p:nvSpPr>
        <p:spPr>
          <a:xfrm>
            <a:off x="9601200" y="2286000"/>
            <a:ext cx="1920240" cy="640080"/>
          </a:xfrm>
          <a:prstGeom prst="rect">
            <a:avLst/>
          </a:prstGeom>
          <a:noFill/>
          <a:ln/>
        </p:spPr>
        <p:txBody>
          <a:bodyPr wrap="square" lIns="0" tIns="0" rIns="0" bIns="0" rtlCol="0" anchor="ctr"/>
          <a:lstStyle/>
          <a:p>
            <a:pPr algn="ctr" indent="0" marL="0">
              <a:buNone/>
            </a:pPr>
            <a:r>
              <a:rPr lang="en-US" sz="1400" b="1" dirty="0">
                <a:solidFill>
                  <a:schemeClr val="tx2"/>
                </a:solidFill>
              </a:rPr>
              <a:t>Clouds &amp; precipitation</a:t>
            </a:r>
            <a:endParaRPr lang="en-US" sz="1400" dirty="0"/>
          </a:p>
        </p:txBody>
      </p:sp>
      <p:sp>
        <p:nvSpPr>
          <p:cNvPr id="28" name="Text 20"/>
          <p:cNvSpPr txBox="1"/>
          <p:nvPr/>
        </p:nvSpPr>
        <p:spPr>
          <a:xfrm>
            <a:off x="9601200" y="2926080"/>
            <a:ext cx="1920240" cy="731520"/>
          </a:xfrm>
          <a:prstGeom prst="rect">
            <a:avLst/>
          </a:prstGeom>
          <a:noFill/>
          <a:ln/>
        </p:spPr>
        <p:txBody>
          <a:bodyPr wrap="square" lIns="0" tIns="0" rIns="0" bIns="0" rtlCol="0" anchor="t"/>
          <a:lstStyle/>
          <a:p>
            <a:pPr algn="ctr" indent="0" marL="0">
              <a:buNone/>
            </a:pPr>
            <a:r>
              <a:rPr lang="en-US" sz="1200" dirty="0">
                <a:solidFill>
                  <a:schemeClr val="tx1"/>
                </a:solidFill>
              </a:rPr>
              <a:t>characteristic bands</a:t>
            </a:r>
            <a:endParaRPr lang="en-US" sz="1200" dirty="0"/>
          </a:p>
        </p:txBody>
      </p:sp>
      <p:sp>
        <p:nvSpPr>
          <p:cNvPr id="29" name="arrow"/>
          <p:cNvSpPr/>
          <p:nvPr/>
        </p:nvSpPr>
        <p:spPr>
          <a:xfrm>
            <a:off x="640080" y="4343400"/>
            <a:ext cx="1371600" cy="0"/>
          </a:xfrm>
          <a:prstGeom prst="line">
            <a:avLst/>
          </a:prstGeom>
          <a:noFill/>
          <a:ln w="38100">
            <a:solidFill>
              <a:srgbClr val="2E6FD1"/>
            </a:solidFill>
            <a:prstDash val="solid"/>
          </a:ln>
        </p:spPr>
      </p:sp>
      <p:sp>
        <p:nvSpPr>
          <p:cNvPr id="30" name="front symbol"/>
          <p:cNvSpPr/>
          <p:nvPr/>
        </p:nvSpPr>
        <p:spPr>
          <a:xfrm>
            <a:off x="822960" y="4160520"/>
            <a:ext cx="201168" cy="182880"/>
          </a:xfrm>
          <a:prstGeom prst="triangle">
            <a:avLst/>
          </a:prstGeom>
          <a:solidFill>
            <a:srgbClr val="2E6FD1"/>
          </a:solidFill>
          <a:ln/>
        </p:spPr>
      </p:sp>
      <p:sp>
        <p:nvSpPr>
          <p:cNvPr id="31" name="front symbol"/>
          <p:cNvSpPr/>
          <p:nvPr/>
        </p:nvSpPr>
        <p:spPr>
          <a:xfrm>
            <a:off x="1234440" y="4160520"/>
            <a:ext cx="201168" cy="182880"/>
          </a:xfrm>
          <a:prstGeom prst="triangle">
            <a:avLst/>
          </a:prstGeom>
          <a:solidFill>
            <a:srgbClr val="2E6FD1"/>
          </a:solidFill>
          <a:ln/>
        </p:spPr>
      </p:sp>
      <p:sp>
        <p:nvSpPr>
          <p:cNvPr id="32" name="front symbol"/>
          <p:cNvSpPr/>
          <p:nvPr/>
        </p:nvSpPr>
        <p:spPr>
          <a:xfrm>
            <a:off x="1645920" y="4160520"/>
            <a:ext cx="201168" cy="182880"/>
          </a:xfrm>
          <a:prstGeom prst="triangle">
            <a:avLst/>
          </a:prstGeom>
          <a:solidFill>
            <a:srgbClr val="2E6FD1"/>
          </a:solidFill>
          <a:ln/>
        </p:spPr>
      </p:sp>
      <p:sp>
        <p:nvSpPr>
          <p:cNvPr id="33" name="Text 25"/>
          <p:cNvSpPr txBox="1"/>
          <p:nvPr/>
        </p:nvSpPr>
        <p:spPr>
          <a:xfrm>
            <a:off x="2194560" y="4114800"/>
            <a:ext cx="2103120" cy="457200"/>
          </a:xfrm>
          <a:prstGeom prst="rect">
            <a:avLst/>
          </a:prstGeom>
          <a:noFill/>
          <a:ln/>
        </p:spPr>
        <p:txBody>
          <a:bodyPr wrap="square" lIns="0" tIns="0" rIns="0" bIns="0" rtlCol="0" anchor="ctr"/>
          <a:lstStyle/>
          <a:p>
            <a:pPr algn="l" indent="0" marL="0">
              <a:buNone/>
            </a:pPr>
            <a:r>
              <a:rPr lang="en-US" sz="1400" b="1" dirty="0">
                <a:solidFill>
                  <a:schemeClr val="tx2"/>
                </a:solidFill>
              </a:rPr>
              <a:t>Cold front</a:t>
            </a:r>
            <a:endParaRPr lang="en-US" sz="1400" dirty="0"/>
          </a:p>
        </p:txBody>
      </p:sp>
      <p:sp>
        <p:nvSpPr>
          <p:cNvPr id="34" name="Text 26"/>
          <p:cNvSpPr txBox="1"/>
          <p:nvPr/>
        </p:nvSpPr>
        <p:spPr>
          <a:xfrm>
            <a:off x="4297680" y="4114800"/>
            <a:ext cx="3291840" cy="457200"/>
          </a:xfrm>
          <a:prstGeom prst="rect">
            <a:avLst/>
          </a:prstGeom>
          <a:noFill/>
          <a:ln/>
        </p:spPr>
        <p:txBody>
          <a:bodyPr wrap="square" lIns="0" tIns="0" rIns="0" bIns="0" rtlCol="0" anchor="ctr"/>
          <a:lstStyle/>
          <a:p>
            <a:pPr algn="l" indent="0" marL="0">
              <a:buNone/>
            </a:pPr>
            <a:r>
              <a:rPr lang="en-US" sz="1300" dirty="0">
                <a:solidFill>
                  <a:schemeClr val="accent6"/>
                </a:solidFill>
              </a:rPr>
              <a:t>blue line with triangles</a:t>
            </a:r>
            <a:endParaRPr lang="en-US" sz="1300" dirty="0"/>
          </a:p>
        </p:txBody>
      </p:sp>
      <p:sp>
        <p:nvSpPr>
          <p:cNvPr id="35" name="Text 27"/>
          <p:cNvSpPr txBox="1"/>
          <p:nvPr/>
        </p:nvSpPr>
        <p:spPr>
          <a:xfrm>
            <a:off x="7589520" y="4114800"/>
            <a:ext cx="4023360" cy="457200"/>
          </a:xfrm>
          <a:prstGeom prst="rect">
            <a:avLst/>
          </a:prstGeom>
          <a:noFill/>
          <a:ln/>
        </p:spPr>
        <p:txBody>
          <a:bodyPr wrap="square" lIns="0" tIns="0" rIns="0" bIns="0" rtlCol="0" anchor="ctr"/>
          <a:lstStyle/>
          <a:p>
            <a:pPr algn="l" indent="0" marL="0">
              <a:buNone/>
            </a:pPr>
            <a:r>
              <a:rPr lang="en-US" sz="1300" dirty="0">
                <a:solidFill>
                  <a:schemeClr val="tx1"/>
                </a:solidFill>
              </a:rPr>
              <a:t>cold air displaces warm air</a:t>
            </a:r>
            <a:endParaRPr lang="en-US" sz="1300" dirty="0"/>
          </a:p>
        </p:txBody>
      </p:sp>
      <p:sp>
        <p:nvSpPr>
          <p:cNvPr id="36" name="arrow"/>
          <p:cNvSpPr/>
          <p:nvPr/>
        </p:nvSpPr>
        <p:spPr>
          <a:xfrm>
            <a:off x="640080" y="4873752"/>
            <a:ext cx="1371600" cy="0"/>
          </a:xfrm>
          <a:prstGeom prst="line">
            <a:avLst/>
          </a:prstGeom>
          <a:noFill/>
          <a:ln w="38100">
            <a:solidFill>
              <a:srgbClr val="D1495B"/>
            </a:solidFill>
            <a:prstDash val="solid"/>
          </a:ln>
        </p:spPr>
      </p:sp>
      <p:sp>
        <p:nvSpPr>
          <p:cNvPr id="37" name="front symbol"/>
          <p:cNvSpPr/>
          <p:nvPr/>
        </p:nvSpPr>
        <p:spPr>
          <a:xfrm rot="16200000">
            <a:off x="841248" y="4690872"/>
            <a:ext cx="182880" cy="182880"/>
          </a:xfrm>
          <a:prstGeom prst="flowChartDelay">
            <a:avLst/>
          </a:prstGeom>
          <a:solidFill>
            <a:srgbClr val="D1495B"/>
          </a:solidFill>
          <a:ln/>
        </p:spPr>
      </p:sp>
      <p:sp>
        <p:nvSpPr>
          <p:cNvPr id="38" name="front symbol"/>
          <p:cNvSpPr/>
          <p:nvPr/>
        </p:nvSpPr>
        <p:spPr>
          <a:xfrm rot="16200000">
            <a:off x="1252728" y="4690872"/>
            <a:ext cx="182880" cy="182880"/>
          </a:xfrm>
          <a:prstGeom prst="flowChartDelay">
            <a:avLst/>
          </a:prstGeom>
          <a:solidFill>
            <a:srgbClr val="D1495B"/>
          </a:solidFill>
          <a:ln/>
        </p:spPr>
      </p:sp>
      <p:sp>
        <p:nvSpPr>
          <p:cNvPr id="39" name="front symbol"/>
          <p:cNvSpPr/>
          <p:nvPr/>
        </p:nvSpPr>
        <p:spPr>
          <a:xfrm rot="16200000">
            <a:off x="1664208" y="4690872"/>
            <a:ext cx="182880" cy="182880"/>
          </a:xfrm>
          <a:prstGeom prst="flowChartDelay">
            <a:avLst/>
          </a:prstGeom>
          <a:solidFill>
            <a:srgbClr val="D1495B"/>
          </a:solidFill>
          <a:ln/>
        </p:spPr>
      </p:sp>
      <p:sp>
        <p:nvSpPr>
          <p:cNvPr id="40" name="Text 32"/>
          <p:cNvSpPr txBox="1"/>
          <p:nvPr/>
        </p:nvSpPr>
        <p:spPr>
          <a:xfrm>
            <a:off x="2194560" y="4645152"/>
            <a:ext cx="2103120" cy="457200"/>
          </a:xfrm>
          <a:prstGeom prst="rect">
            <a:avLst/>
          </a:prstGeom>
          <a:noFill/>
          <a:ln/>
        </p:spPr>
        <p:txBody>
          <a:bodyPr wrap="square" lIns="0" tIns="0" rIns="0" bIns="0" rtlCol="0" anchor="ctr"/>
          <a:lstStyle/>
          <a:p>
            <a:pPr algn="l" indent="0" marL="0">
              <a:buNone/>
            </a:pPr>
            <a:r>
              <a:rPr lang="en-US" sz="1400" b="1" dirty="0">
                <a:solidFill>
                  <a:schemeClr val="tx2"/>
                </a:solidFill>
              </a:rPr>
              <a:t>Warm front</a:t>
            </a:r>
            <a:endParaRPr lang="en-US" sz="1400" dirty="0"/>
          </a:p>
        </p:txBody>
      </p:sp>
      <p:sp>
        <p:nvSpPr>
          <p:cNvPr id="41" name="Text 33"/>
          <p:cNvSpPr txBox="1"/>
          <p:nvPr/>
        </p:nvSpPr>
        <p:spPr>
          <a:xfrm>
            <a:off x="4297680" y="4645152"/>
            <a:ext cx="3291840" cy="457200"/>
          </a:xfrm>
          <a:prstGeom prst="rect">
            <a:avLst/>
          </a:prstGeom>
          <a:noFill/>
          <a:ln/>
        </p:spPr>
        <p:txBody>
          <a:bodyPr wrap="square" lIns="0" tIns="0" rIns="0" bIns="0" rtlCol="0" anchor="ctr"/>
          <a:lstStyle/>
          <a:p>
            <a:pPr algn="l" indent="0" marL="0">
              <a:buNone/>
            </a:pPr>
            <a:r>
              <a:rPr lang="en-US" sz="1300" dirty="0">
                <a:solidFill>
                  <a:schemeClr val="accent6"/>
                </a:solidFill>
              </a:rPr>
              <a:t>red line with semicircles</a:t>
            </a:r>
            <a:endParaRPr lang="en-US" sz="1300" dirty="0"/>
          </a:p>
        </p:txBody>
      </p:sp>
      <p:sp>
        <p:nvSpPr>
          <p:cNvPr id="42" name="Text 34"/>
          <p:cNvSpPr txBox="1"/>
          <p:nvPr/>
        </p:nvSpPr>
        <p:spPr>
          <a:xfrm>
            <a:off x="7589520" y="4645152"/>
            <a:ext cx="4023360" cy="457200"/>
          </a:xfrm>
          <a:prstGeom prst="rect">
            <a:avLst/>
          </a:prstGeom>
          <a:noFill/>
          <a:ln/>
        </p:spPr>
        <p:txBody>
          <a:bodyPr wrap="square" lIns="0" tIns="0" rIns="0" bIns="0" rtlCol="0" anchor="ctr"/>
          <a:lstStyle/>
          <a:p>
            <a:pPr algn="l" indent="0" marL="0">
              <a:buNone/>
            </a:pPr>
            <a:r>
              <a:rPr lang="en-US" sz="1300" dirty="0">
                <a:solidFill>
                  <a:schemeClr val="tx1"/>
                </a:solidFill>
              </a:rPr>
              <a:t>warm air displaces cold air</a:t>
            </a:r>
            <a:endParaRPr lang="en-US" sz="1300" dirty="0"/>
          </a:p>
        </p:txBody>
      </p:sp>
      <p:sp>
        <p:nvSpPr>
          <p:cNvPr id="43" name="arrow"/>
          <p:cNvSpPr/>
          <p:nvPr/>
        </p:nvSpPr>
        <p:spPr>
          <a:xfrm>
            <a:off x="640080" y="5404104"/>
            <a:ext cx="1371600" cy="0"/>
          </a:xfrm>
          <a:prstGeom prst="line">
            <a:avLst/>
          </a:prstGeom>
          <a:noFill/>
          <a:ln w="38100">
            <a:solidFill>
              <a:srgbClr val="6C4F9E"/>
            </a:solidFill>
            <a:prstDash val="solid"/>
          </a:ln>
        </p:spPr>
      </p:sp>
      <p:sp>
        <p:nvSpPr>
          <p:cNvPr id="44" name="front symbol"/>
          <p:cNvSpPr/>
          <p:nvPr/>
        </p:nvSpPr>
        <p:spPr>
          <a:xfrm>
            <a:off x="822960" y="5221224"/>
            <a:ext cx="201168" cy="182880"/>
          </a:xfrm>
          <a:prstGeom prst="triangle">
            <a:avLst/>
          </a:prstGeom>
          <a:solidFill>
            <a:srgbClr val="2E6FD1"/>
          </a:solidFill>
          <a:ln/>
        </p:spPr>
      </p:sp>
      <p:sp>
        <p:nvSpPr>
          <p:cNvPr id="45" name="front symbol"/>
          <p:cNvSpPr/>
          <p:nvPr/>
        </p:nvSpPr>
        <p:spPr>
          <a:xfrm rot="16200000">
            <a:off x="1252728" y="5221224"/>
            <a:ext cx="182880" cy="182880"/>
          </a:xfrm>
          <a:prstGeom prst="flowChartDelay">
            <a:avLst/>
          </a:prstGeom>
          <a:solidFill>
            <a:srgbClr val="D1495B"/>
          </a:solidFill>
          <a:ln/>
        </p:spPr>
      </p:sp>
      <p:sp>
        <p:nvSpPr>
          <p:cNvPr id="46" name="front symbol"/>
          <p:cNvSpPr/>
          <p:nvPr/>
        </p:nvSpPr>
        <p:spPr>
          <a:xfrm>
            <a:off x="1645920" y="5221224"/>
            <a:ext cx="201168" cy="182880"/>
          </a:xfrm>
          <a:prstGeom prst="triangle">
            <a:avLst/>
          </a:prstGeom>
          <a:solidFill>
            <a:srgbClr val="2E6FD1"/>
          </a:solidFill>
          <a:ln/>
        </p:spPr>
      </p:sp>
      <p:sp>
        <p:nvSpPr>
          <p:cNvPr id="47" name="Text 39"/>
          <p:cNvSpPr txBox="1"/>
          <p:nvPr/>
        </p:nvSpPr>
        <p:spPr>
          <a:xfrm>
            <a:off x="2194560" y="5175504"/>
            <a:ext cx="2103120" cy="457200"/>
          </a:xfrm>
          <a:prstGeom prst="rect">
            <a:avLst/>
          </a:prstGeom>
          <a:noFill/>
          <a:ln/>
        </p:spPr>
        <p:txBody>
          <a:bodyPr wrap="square" lIns="0" tIns="0" rIns="0" bIns="0" rtlCol="0" anchor="ctr"/>
          <a:lstStyle/>
          <a:p>
            <a:pPr algn="l" indent="0" marL="0">
              <a:buNone/>
            </a:pPr>
            <a:r>
              <a:rPr lang="en-US" sz="1400" b="1" dirty="0">
                <a:solidFill>
                  <a:schemeClr val="tx2"/>
                </a:solidFill>
              </a:rPr>
              <a:t>Stationary front</a:t>
            </a:r>
            <a:endParaRPr lang="en-US" sz="1400" dirty="0"/>
          </a:p>
        </p:txBody>
      </p:sp>
      <p:sp>
        <p:nvSpPr>
          <p:cNvPr id="48" name="Text 40"/>
          <p:cNvSpPr txBox="1"/>
          <p:nvPr/>
        </p:nvSpPr>
        <p:spPr>
          <a:xfrm>
            <a:off x="4297680" y="5175504"/>
            <a:ext cx="3291840" cy="457200"/>
          </a:xfrm>
          <a:prstGeom prst="rect">
            <a:avLst/>
          </a:prstGeom>
          <a:noFill/>
          <a:ln/>
        </p:spPr>
        <p:txBody>
          <a:bodyPr wrap="square" lIns="0" tIns="0" rIns="0" bIns="0" rtlCol="0" anchor="ctr"/>
          <a:lstStyle/>
          <a:p>
            <a:pPr algn="l" indent="0" marL="0">
              <a:buNone/>
            </a:pPr>
            <a:r>
              <a:rPr lang="en-US" sz="1300" dirty="0">
                <a:solidFill>
                  <a:schemeClr val="accent6"/>
                </a:solidFill>
              </a:rPr>
              <a:t>alternating red and blue</a:t>
            </a:r>
            <a:endParaRPr lang="en-US" sz="1300" dirty="0"/>
          </a:p>
        </p:txBody>
      </p:sp>
      <p:sp>
        <p:nvSpPr>
          <p:cNvPr id="49" name="Text 41"/>
          <p:cNvSpPr txBox="1"/>
          <p:nvPr/>
        </p:nvSpPr>
        <p:spPr>
          <a:xfrm>
            <a:off x="7589520" y="5175504"/>
            <a:ext cx="4023360" cy="457200"/>
          </a:xfrm>
          <a:prstGeom prst="rect">
            <a:avLst/>
          </a:prstGeom>
          <a:noFill/>
          <a:ln/>
        </p:spPr>
        <p:txBody>
          <a:bodyPr wrap="square" lIns="0" tIns="0" rIns="0" bIns="0" rtlCol="0" anchor="ctr"/>
          <a:lstStyle/>
          <a:p>
            <a:pPr algn="l" indent="0" marL="0">
              <a:buNone/>
            </a:pPr>
            <a:r>
              <a:rPr lang="en-US" sz="1300" dirty="0">
                <a:solidFill>
                  <a:schemeClr val="tx1"/>
                </a:solidFill>
              </a:rPr>
              <a:t>boundary not moving</a:t>
            </a:r>
            <a:endParaRPr lang="en-US" sz="1300" dirty="0"/>
          </a:p>
        </p:txBody>
      </p:sp>
      <p:sp>
        <p:nvSpPr>
          <p:cNvPr id="50" name="arrow"/>
          <p:cNvSpPr/>
          <p:nvPr/>
        </p:nvSpPr>
        <p:spPr>
          <a:xfrm>
            <a:off x="640080" y="5934456"/>
            <a:ext cx="1371600" cy="0"/>
          </a:xfrm>
          <a:prstGeom prst="line">
            <a:avLst/>
          </a:prstGeom>
          <a:noFill/>
          <a:ln w="38100">
            <a:solidFill>
              <a:srgbClr val="8E3FA0"/>
            </a:solidFill>
            <a:prstDash val="solid"/>
          </a:ln>
        </p:spPr>
      </p:sp>
      <p:sp>
        <p:nvSpPr>
          <p:cNvPr id="51" name="front symbol"/>
          <p:cNvSpPr/>
          <p:nvPr/>
        </p:nvSpPr>
        <p:spPr>
          <a:xfrm>
            <a:off x="822960" y="5751576"/>
            <a:ext cx="201168" cy="182880"/>
          </a:xfrm>
          <a:prstGeom prst="triangle">
            <a:avLst/>
          </a:prstGeom>
          <a:solidFill>
            <a:srgbClr val="8E3FA0"/>
          </a:solidFill>
          <a:ln/>
        </p:spPr>
      </p:sp>
      <p:sp>
        <p:nvSpPr>
          <p:cNvPr id="52" name="front symbol"/>
          <p:cNvSpPr/>
          <p:nvPr/>
        </p:nvSpPr>
        <p:spPr>
          <a:xfrm rot="16200000">
            <a:off x="1252728" y="5751576"/>
            <a:ext cx="182880" cy="182880"/>
          </a:xfrm>
          <a:prstGeom prst="flowChartDelay">
            <a:avLst/>
          </a:prstGeom>
          <a:solidFill>
            <a:srgbClr val="8E3FA0"/>
          </a:solidFill>
          <a:ln/>
        </p:spPr>
      </p:sp>
      <p:sp>
        <p:nvSpPr>
          <p:cNvPr id="53" name="front symbol"/>
          <p:cNvSpPr/>
          <p:nvPr/>
        </p:nvSpPr>
        <p:spPr>
          <a:xfrm>
            <a:off x="1645920" y="5751576"/>
            <a:ext cx="201168" cy="182880"/>
          </a:xfrm>
          <a:prstGeom prst="triangle">
            <a:avLst/>
          </a:prstGeom>
          <a:solidFill>
            <a:srgbClr val="8E3FA0"/>
          </a:solidFill>
          <a:ln/>
        </p:spPr>
      </p:sp>
      <p:sp>
        <p:nvSpPr>
          <p:cNvPr id="54" name="Text 46"/>
          <p:cNvSpPr txBox="1"/>
          <p:nvPr/>
        </p:nvSpPr>
        <p:spPr>
          <a:xfrm>
            <a:off x="2194560" y="5705856"/>
            <a:ext cx="2103120" cy="457200"/>
          </a:xfrm>
          <a:prstGeom prst="rect">
            <a:avLst/>
          </a:prstGeom>
          <a:noFill/>
          <a:ln/>
        </p:spPr>
        <p:txBody>
          <a:bodyPr wrap="square" lIns="0" tIns="0" rIns="0" bIns="0" rtlCol="0" anchor="ctr"/>
          <a:lstStyle/>
          <a:p>
            <a:pPr algn="l" indent="0" marL="0">
              <a:buNone/>
            </a:pPr>
            <a:r>
              <a:rPr lang="en-US" sz="1400" b="1" dirty="0">
                <a:solidFill>
                  <a:schemeClr val="tx2"/>
                </a:solidFill>
              </a:rPr>
              <a:t>Occluded front</a:t>
            </a:r>
            <a:endParaRPr lang="en-US" sz="1400" dirty="0"/>
          </a:p>
        </p:txBody>
      </p:sp>
      <p:sp>
        <p:nvSpPr>
          <p:cNvPr id="55" name="Text 47"/>
          <p:cNvSpPr txBox="1"/>
          <p:nvPr/>
        </p:nvSpPr>
        <p:spPr>
          <a:xfrm>
            <a:off x="4297680" y="5705856"/>
            <a:ext cx="3291840" cy="457200"/>
          </a:xfrm>
          <a:prstGeom prst="rect">
            <a:avLst/>
          </a:prstGeom>
          <a:noFill/>
          <a:ln/>
        </p:spPr>
        <p:txBody>
          <a:bodyPr wrap="square" lIns="0" tIns="0" rIns="0" bIns="0" rtlCol="0" anchor="ctr"/>
          <a:lstStyle/>
          <a:p>
            <a:pPr algn="l" indent="0" marL="0">
              <a:buNone/>
            </a:pPr>
            <a:r>
              <a:rPr lang="en-US" sz="1300" dirty="0">
                <a:solidFill>
                  <a:schemeClr val="accent6"/>
                </a:solidFill>
              </a:rPr>
              <a:t>purple, triangles + semicircles</a:t>
            </a:r>
            <a:endParaRPr lang="en-US" sz="1300" dirty="0"/>
          </a:p>
        </p:txBody>
      </p:sp>
      <p:sp>
        <p:nvSpPr>
          <p:cNvPr id="56" name="Text 48"/>
          <p:cNvSpPr txBox="1"/>
          <p:nvPr/>
        </p:nvSpPr>
        <p:spPr>
          <a:xfrm>
            <a:off x="7589520" y="5705856"/>
            <a:ext cx="4023360" cy="457200"/>
          </a:xfrm>
          <a:prstGeom prst="rect">
            <a:avLst/>
          </a:prstGeom>
          <a:noFill/>
          <a:ln/>
        </p:spPr>
        <p:txBody>
          <a:bodyPr wrap="square" lIns="0" tIns="0" rIns="0" bIns="0" rtlCol="0" anchor="ctr"/>
          <a:lstStyle/>
          <a:p>
            <a:pPr algn="l" indent="0" marL="0">
              <a:buNone/>
            </a:pPr>
            <a:r>
              <a:rPr lang="en-US" sz="1300" dirty="0">
                <a:solidFill>
                  <a:schemeClr val="tx1"/>
                </a:solidFill>
              </a:rPr>
              <a:t>cold front catches warm front</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Cold front: cold air displacing warm air</a:t>
            </a:r>
            <a:endParaRPr lang="en-US" sz="3200" dirty="0"/>
          </a:p>
        </p:txBody>
      </p:sp>
      <p:sp>
        <p:nvSpPr>
          <p:cNvPr id="4" name="warm air"/>
          <p:cNvSpPr/>
          <p:nvPr/>
        </p:nvSpPr>
        <p:spPr>
          <a:xfrm>
            <a:off x="548640" y="1371600"/>
            <a:ext cx="5852160" cy="3108960"/>
          </a:xfrm>
          <a:prstGeom prst="rect">
            <a:avLst/>
          </a:prstGeom>
          <a:solidFill>
            <a:srgbClr val="F4E3E3"/>
          </a:solidFill>
          <a:ln w="9525">
            <a:solidFill>
              <a:srgbClr val="C9D2DC"/>
            </a:solidFill>
            <a:prstDash val="solid"/>
          </a:ln>
        </p:spPr>
      </p:sp>
      <p:sp>
        <p:nvSpPr>
          <p:cNvPr id="5" name="shaded area"/>
          <p:cNvSpPr/>
          <p:nvPr/>
        </p:nvSpPr>
        <p:spPr>
          <a:xfrm>
            <a:off x="548640" y="1837944"/>
            <a:ext cx="3218688" cy="2642616"/>
          </a:xfrm>
          <a:custGeom>
            <a:avLst/>
            <a:gdLst/>
            <a:ahLst/>
            <a:cxnLst/>
            <a:rect l="l" t="t" r="r" b="b"/>
            <a:pathLst>
              <a:path w="3218688" h="2642616">
                <a:moveTo>
                  <a:pt x="0" y="2642616"/>
                </a:moveTo>
                <a:lnTo>
                  <a:pt x="0" y="0"/>
                </a:lnTo>
                <a:lnTo>
                  <a:pt x="2048256" y="621792"/>
                </a:lnTo>
                <a:lnTo>
                  <a:pt x="2926080" y="1865376"/>
                </a:lnTo>
                <a:lnTo>
                  <a:pt x="3218688" y="2642616"/>
                </a:lnTo>
                <a:close/>
              </a:path>
            </a:pathLst>
          </a:custGeom>
          <a:solidFill>
            <a:srgbClr val="9CC5D9"/>
          </a:solidFill>
          <a:ln/>
        </p:spPr>
      </p:sp>
      <p:sp>
        <p:nvSpPr>
          <p:cNvPr id="6" name="Text 3"/>
          <p:cNvSpPr txBox="1"/>
          <p:nvPr/>
        </p:nvSpPr>
        <p:spPr>
          <a:xfrm>
            <a:off x="731520" y="3236976"/>
            <a:ext cx="1463040" cy="320040"/>
          </a:xfrm>
          <a:prstGeom prst="rect">
            <a:avLst/>
          </a:prstGeom>
          <a:noFill/>
          <a:ln/>
        </p:spPr>
        <p:txBody>
          <a:bodyPr wrap="square" lIns="0" tIns="0" rIns="0" bIns="0" rtlCol="0" anchor="ctr"/>
          <a:lstStyle/>
          <a:p>
            <a:pPr algn="l" indent="0" marL="0">
              <a:buNone/>
            </a:pPr>
            <a:r>
              <a:rPr lang="en-US" sz="1300" b="1" dirty="0">
                <a:solidFill>
                  <a:schemeClr val="accent2"/>
                </a:solidFill>
              </a:rPr>
              <a:t>COLD AIR</a:t>
            </a:r>
            <a:endParaRPr lang="en-US" sz="1300" dirty="0"/>
          </a:p>
        </p:txBody>
      </p:sp>
      <p:sp>
        <p:nvSpPr>
          <p:cNvPr id="7" name="Text 4"/>
          <p:cNvSpPr txBox="1"/>
          <p:nvPr/>
        </p:nvSpPr>
        <p:spPr>
          <a:xfrm>
            <a:off x="4352544" y="3392424"/>
            <a:ext cx="1463040" cy="320040"/>
          </a:xfrm>
          <a:prstGeom prst="rect">
            <a:avLst/>
          </a:prstGeom>
          <a:noFill/>
          <a:ln/>
        </p:spPr>
        <p:txBody>
          <a:bodyPr wrap="square" lIns="0" tIns="0" rIns="0" bIns="0" rtlCol="0" anchor="ctr"/>
          <a:lstStyle/>
          <a:p>
            <a:pPr algn="l" indent="0" marL="0">
              <a:buNone/>
            </a:pPr>
            <a:r>
              <a:rPr lang="en-US" sz="1300" b="1" dirty="0">
                <a:solidFill>
                  <a:schemeClr val="accent1"/>
                </a:solidFill>
              </a:rPr>
              <a:t>WARM AIR</a:t>
            </a:r>
            <a:endParaRPr lang="en-US" sz="1300" dirty="0"/>
          </a:p>
        </p:txBody>
      </p:sp>
      <p:sp>
        <p:nvSpPr>
          <p:cNvPr id="8" name="arrow"/>
          <p:cNvSpPr/>
          <p:nvPr/>
        </p:nvSpPr>
        <p:spPr>
          <a:xfrm>
            <a:off x="914400" y="4107485"/>
            <a:ext cx="2267712" cy="0"/>
          </a:xfrm>
          <a:prstGeom prst="line">
            <a:avLst/>
          </a:prstGeom>
          <a:noFill/>
          <a:ln w="38100">
            <a:solidFill>
              <a:srgbClr val="2E6FD1"/>
            </a:solidFill>
            <a:prstDash val="solid"/>
            <a:tailEnd type="triangle"/>
          </a:ln>
        </p:spPr>
      </p:sp>
      <p:sp>
        <p:nvSpPr>
          <p:cNvPr id="9" name="arrow"/>
          <p:cNvSpPr/>
          <p:nvPr/>
        </p:nvSpPr>
        <p:spPr>
          <a:xfrm flipH="1" flipV="1">
            <a:off x="3474720" y="2304288"/>
            <a:ext cx="702259" cy="1554480"/>
          </a:xfrm>
          <a:prstGeom prst="line">
            <a:avLst/>
          </a:prstGeom>
          <a:noFill/>
          <a:ln w="38100">
            <a:solidFill>
              <a:srgbClr val="D1495B"/>
            </a:solidFill>
            <a:prstDash val="solid"/>
            <a:tailEnd type="triangle"/>
          </a:ln>
        </p:spPr>
      </p:sp>
      <p:sp>
        <p:nvSpPr>
          <p:cNvPr id="10" name="cumulonimbus"/>
          <p:cNvSpPr/>
          <p:nvPr/>
        </p:nvSpPr>
        <p:spPr>
          <a:xfrm>
            <a:off x="2772461" y="1433779"/>
            <a:ext cx="1638605" cy="1088136"/>
          </a:xfrm>
          <a:prstGeom prst="cloud">
            <a:avLst/>
          </a:prstGeom>
          <a:solidFill>
            <a:srgbClr val="7A8794"/>
          </a:solidFill>
          <a:ln/>
        </p:spPr>
      </p:sp>
      <p:sp>
        <p:nvSpPr>
          <p:cNvPr id="11" name="Text 8"/>
          <p:cNvSpPr txBox="1"/>
          <p:nvPr/>
        </p:nvSpPr>
        <p:spPr>
          <a:xfrm>
            <a:off x="2772461" y="1620317"/>
            <a:ext cx="1638605" cy="320040"/>
          </a:xfrm>
          <a:prstGeom prst="rect">
            <a:avLst/>
          </a:prstGeom>
          <a:noFill/>
          <a:ln/>
        </p:spPr>
        <p:txBody>
          <a:bodyPr wrap="square" lIns="0" tIns="0" rIns="0" bIns="0" rtlCol="0" anchor="ctr"/>
          <a:lstStyle/>
          <a:p>
            <a:pPr algn="ctr" indent="0" marL="0">
              <a:buNone/>
            </a:pPr>
            <a:r>
              <a:rPr lang="en-US" sz="1400" b="1" dirty="0">
                <a:solidFill>
                  <a:schemeClr val="bg1"/>
                </a:solidFill>
              </a:rPr>
              <a:t>Cb</a:t>
            </a:r>
            <a:endParaRPr lang="en-US" sz="1400" dirty="0"/>
          </a:p>
        </p:txBody>
      </p:sp>
      <p:sp>
        <p:nvSpPr>
          <p:cNvPr id="12" name="Text 9"/>
          <p:cNvSpPr txBox="1"/>
          <p:nvPr/>
        </p:nvSpPr>
        <p:spPr>
          <a:xfrm>
            <a:off x="841248" y="1931213"/>
            <a:ext cx="2377440" cy="274320"/>
          </a:xfrm>
          <a:prstGeom prst="rect">
            <a:avLst/>
          </a:prstGeom>
          <a:noFill/>
          <a:ln/>
        </p:spPr>
        <p:txBody>
          <a:bodyPr wrap="square" lIns="0" tIns="0" rIns="0" bIns="0" rtlCol="0" anchor="ctr"/>
          <a:lstStyle/>
          <a:p>
            <a:pPr algn="l" indent="0" marL="0">
              <a:buNone/>
            </a:pPr>
            <a:r>
              <a:rPr lang="en-US" sz="1000" i="1" dirty="0">
                <a:solidFill>
                  <a:schemeClr val="tx2"/>
                </a:solidFill>
              </a:rPr>
              <a:t>steep frontal surface (~1:100)</a:t>
            </a:r>
            <a:endParaRPr lang="en-US" sz="1000" dirty="0"/>
          </a:p>
        </p:txBody>
      </p:sp>
      <p:sp>
        <p:nvSpPr>
          <p:cNvPr id="13" name="Text 10"/>
          <p:cNvSpPr txBox="1"/>
          <p:nvPr/>
        </p:nvSpPr>
        <p:spPr>
          <a:xfrm>
            <a:off x="685800" y="4526280"/>
            <a:ext cx="5852160" cy="274320"/>
          </a:xfrm>
          <a:prstGeom prst="rect">
            <a:avLst/>
          </a:prstGeom>
          <a:noFill/>
          <a:ln/>
        </p:spPr>
        <p:txBody>
          <a:bodyPr wrap="square" lIns="0" tIns="0" rIns="0" bIns="0" rtlCol="0" anchor="ctr"/>
          <a:lstStyle/>
          <a:p>
            <a:pPr algn="l" indent="0" marL="0">
              <a:buNone/>
            </a:pPr>
            <a:r>
              <a:rPr lang="en-US" sz="1100" i="1" dirty="0">
                <a:solidFill>
                  <a:schemeClr val="accent6"/>
                </a:solidFill>
              </a:rPr>
              <a:t>direction of motion: fast, 25–40 kt →</a:t>
            </a:r>
            <a:endParaRPr lang="en-US" sz="11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6629400" y="1371600"/>
          <a:ext cx="5010912" cy="914400"/>
        </p:xfrm>
        <a:graphic>
          <a:graphicData uri="http://schemas.openxmlformats.org/drawingml/2006/table">
            <a:tbl>
              <a:tblPr/>
              <a:tblGrid>
                <a:gridCol w="1188720"/>
                <a:gridCol w="1234440"/>
                <a:gridCol w="1353312"/>
                <a:gridCol w="1234440"/>
              </a:tblGrid>
              <a:tr h="457200">
                <a:tc>
                  <a:txBody>
                    <a:bodyPr/>
                    <a:lstStyle/>
                    <a:p>
                      <a:pPr indent="0" marL="0">
                        <a:buNone/>
                      </a:pPr>
                      <a:r>
                        <a:rPr lang="en-US" sz="1300" b="1" dirty="0">
                          <a:solidFill>
                            <a:schemeClr val="bg1"/>
                          </a:solidFill>
                        </a:rPr>
                        <a:t>Feature</a:t>
                      </a:r>
                      <a:endParaRPr lang="en-US" sz="13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rgbClr val="2E6FD1"/>
                    </a:solidFill>
                  </a:tcPr>
                </a:tc>
                <a:tc>
                  <a:txBody>
                    <a:bodyPr/>
                    <a:lstStyle/>
                    <a:p>
                      <a:pPr indent="0" marL="0">
                        <a:buNone/>
                      </a:pPr>
                      <a:r>
                        <a:rPr lang="en-US" sz="1300" b="1" dirty="0">
                          <a:solidFill>
                            <a:schemeClr val="bg1"/>
                          </a:solidFill>
                        </a:rPr>
                        <a:t>Before passage</a:t>
                      </a:r>
                      <a:endParaRPr lang="en-US" sz="13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rgbClr val="2E6FD1"/>
                    </a:solidFill>
                  </a:tcPr>
                </a:tc>
                <a:tc>
                  <a:txBody>
                    <a:bodyPr/>
                    <a:lstStyle/>
                    <a:p>
                      <a:pPr indent="0" marL="0">
                        <a:buNone/>
                      </a:pPr>
                      <a:r>
                        <a:rPr lang="en-US" sz="1300" b="1" dirty="0">
                          <a:solidFill>
                            <a:schemeClr val="bg1"/>
                          </a:solidFill>
                        </a:rPr>
                        <a:t>At the front</a:t>
                      </a:r>
                      <a:endParaRPr lang="en-US" sz="13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rgbClr val="2E6FD1"/>
                    </a:solidFill>
                  </a:tcPr>
                </a:tc>
                <a:tc>
                  <a:txBody>
                    <a:bodyPr/>
                    <a:lstStyle/>
                    <a:p>
                      <a:pPr indent="0" marL="0">
                        <a:buNone/>
                      </a:pPr>
                      <a:r>
                        <a:rPr lang="en-US" sz="1300" b="1" dirty="0">
                          <a:solidFill>
                            <a:schemeClr val="bg1"/>
                          </a:solidFill>
                        </a:rPr>
                        <a:t>After passage</a:t>
                      </a:r>
                      <a:endParaRPr lang="en-US" sz="13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rgbClr val="2E6FD1"/>
                    </a:solidFill>
                  </a:tcPr>
                </a:tc>
              </a:tr>
              <a:tr h="457200">
                <a:tc>
                  <a:txBody>
                    <a:bodyPr/>
                    <a:lstStyle/>
                    <a:p>
                      <a:pPr indent="0" marL="0">
                        <a:buNone/>
                      </a:pPr>
                      <a:r>
                        <a:rPr lang="en-US" sz="1200" b="1" dirty="0">
                          <a:solidFill>
                            <a:schemeClr val="tx2"/>
                          </a:solidFill>
                        </a:rPr>
                        <a:t>Temperature</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Warm</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Sudden decrease</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Steady cooling</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rPr>
                        <a:t>Dew point</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High, steady</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Steady</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Decreases</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2"/>
                          </a:solidFill>
                        </a:rPr>
                        <a:t>Pressure</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Falling steadily</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Minimum, then rapid rise</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Steady rise</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rPr>
                        <a:t>Visibility</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Fair to poor</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Poor, then improving</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Good</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2"/>
                          </a:solidFill>
                        </a:rPr>
                        <a:t>Clouds</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 Cs, Cb</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Cb</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Cu</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rPr>
                        <a:t>Precipitation</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Showers</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Heavy precipitation</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Clearing</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bl>
          </a:graphicData>
        </a:graphic>
      </p:graphicFrame>
      <p:sp>
        <p:nvSpPr>
          <p:cNvPr id="15" name="card"/>
          <p:cNvSpPr/>
          <p:nvPr/>
        </p:nvSpPr>
        <p:spPr>
          <a:xfrm>
            <a:off x="548640" y="4892040"/>
            <a:ext cx="5852160" cy="1280160"/>
          </a:xfrm>
          <a:prstGeom prst="roundRect">
            <a:avLst>
              <a:gd name="adj" fmla="val 5714"/>
            </a:avLst>
          </a:prstGeom>
          <a:solidFill>
            <a:schemeClr val="bg2"/>
          </a:solidFill>
          <a:ln/>
          <a:effectLst>
            <a:outerShdw sx="100000" sy="100000" kx="0" ky="0" algn="bl" rotWithShape="0" blurRad="76200" dist="25400" dir="5400000">
              <a:srgbClr val="000000">
                <a:alpha val="14000"/>
              </a:srgbClr>
            </a:outerShdw>
          </a:effectLst>
        </p:spPr>
      </p:sp>
      <p:sp>
        <p:nvSpPr>
          <p:cNvPr id="16" name="icon circle"/>
          <p:cNvSpPr/>
          <p:nvPr/>
        </p:nvSpPr>
        <p:spPr>
          <a:xfrm>
            <a:off x="731520" y="5047488"/>
            <a:ext cx="420624" cy="420624"/>
          </a:xfrm>
          <a:prstGeom prst="ellipse">
            <a:avLst/>
          </a:prstGeom>
          <a:solidFill>
            <a:schemeClr val="accent1"/>
          </a:solidFill>
          <a:ln/>
        </p:spPr>
      </p:sp>
      <p:pic>
        <p:nvPicPr>
          <p:cNvPr id="17" name="Image 0" descr="Bolt icon">    </p:cNvPr>
          <p:cNvPicPr>
            <a:picLocks noChangeAspect="1"/>
          </p:cNvPicPr>
          <p:nvPr/>
        </p:nvPicPr>
        <p:blipFill>
          <a:blip r:embed="rId1"/>
          <a:stretch>
            <a:fillRect/>
          </a:stretch>
        </p:blipFill>
        <p:spPr>
          <a:xfrm>
            <a:off x="840882" y="5156850"/>
            <a:ext cx="201900" cy="201900"/>
          </a:xfrm>
          <a:prstGeom prst="rect">
            <a:avLst/>
          </a:prstGeom>
        </p:spPr>
      </p:pic>
      <p:sp>
        <p:nvSpPr>
          <p:cNvPr id="18" name="Text 13"/>
          <p:cNvSpPr txBox="1"/>
          <p:nvPr/>
        </p:nvSpPr>
        <p:spPr>
          <a:xfrm>
            <a:off x="1261872" y="5029200"/>
            <a:ext cx="5001768" cy="457200"/>
          </a:xfrm>
          <a:prstGeom prst="rect">
            <a:avLst/>
          </a:prstGeom>
          <a:noFill/>
          <a:ln/>
        </p:spPr>
        <p:txBody>
          <a:bodyPr wrap="square" lIns="0" tIns="0" rIns="0" bIns="0" rtlCol="0" anchor="ctr"/>
          <a:lstStyle/>
          <a:p>
            <a:pPr indent="0" marL="0">
              <a:buNone/>
            </a:pPr>
            <a:r>
              <a:rPr lang="en-US" sz="1600" b="1" dirty="0">
                <a:solidFill>
                  <a:schemeClr val="tx2"/>
                </a:solidFill>
              </a:rPr>
              <a:t>Why so violent?</a:t>
            </a:r>
            <a:endParaRPr lang="en-US" sz="1600" dirty="0"/>
          </a:p>
        </p:txBody>
      </p:sp>
      <p:sp>
        <p:nvSpPr>
          <p:cNvPr id="19" name="Text 14"/>
          <p:cNvSpPr txBox="1"/>
          <p:nvPr/>
        </p:nvSpPr>
        <p:spPr>
          <a:xfrm>
            <a:off x="731520" y="5577840"/>
            <a:ext cx="5486400" cy="50292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Steep slope lifts warm, moist, conditionally unstable air quickly past its LFC → deep convection.</a:t>
            </a:r>
            <a:endParaRPr lang="en-US" sz="1300" dirty="0"/>
          </a:p>
        </p:txBody>
      </p:sp>
      <p:sp>
        <p:nvSpPr>
          <p:cNvPr id="20" name="Text 15"/>
          <p:cNvSpPr txBox="1"/>
          <p:nvPr/>
        </p:nvSpPr>
        <p:spPr>
          <a:xfrm>
            <a:off x="6629400" y="4663440"/>
            <a:ext cx="4937760" cy="274320"/>
          </a:xfrm>
          <a:prstGeom prst="rect">
            <a:avLst/>
          </a:prstGeom>
          <a:noFill/>
          <a:ln/>
        </p:spPr>
        <p:txBody>
          <a:bodyPr wrap="square" lIns="508" tIns="508" rIns="508" bIns="508" rtlCol="0" anchor="t"/>
          <a:lstStyle/>
          <a:p>
            <a:pPr indent="0" marL="0">
              <a:spcAft>
                <a:spcPts val="600"/>
              </a:spcAft>
              <a:buNone/>
            </a:pPr>
            <a:r>
              <a:rPr lang="en-US" sz="1100" i="1" dirty="0">
                <a:solidFill>
                  <a:schemeClr val="accent6"/>
                </a:solidFill>
              </a:rPr>
              <a:t>Table from the class handout (CIMSS).</a:t>
            </a:r>
            <a:endParaRPr lang="en-US" sz="1100" dirty="0"/>
          </a:p>
        </p:txBody>
      </p:sp>
      <p:sp>
        <p:nvSpPr>
          <p:cNvPr id="21" name="card"/>
          <p:cNvSpPr/>
          <p:nvPr/>
        </p:nvSpPr>
        <p:spPr>
          <a:xfrm>
            <a:off x="6629400" y="4983480"/>
            <a:ext cx="501091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22" name="icon circle"/>
          <p:cNvSpPr/>
          <p:nvPr/>
        </p:nvSpPr>
        <p:spPr>
          <a:xfrm>
            <a:off x="6812280" y="5138928"/>
            <a:ext cx="420624" cy="420624"/>
          </a:xfrm>
          <a:prstGeom prst="ellipse">
            <a:avLst/>
          </a:prstGeom>
          <a:solidFill>
            <a:schemeClr val="accent4"/>
          </a:solidFill>
          <a:ln/>
        </p:spPr>
      </p:sp>
      <p:pic>
        <p:nvPicPr>
          <p:cNvPr id="23" name="Image 1" descr="Wind icon">    </p:cNvPr>
          <p:cNvPicPr>
            <a:picLocks noChangeAspect="1"/>
          </p:cNvPicPr>
          <p:nvPr/>
        </p:nvPicPr>
        <p:blipFill>
          <a:blip r:embed="rId2"/>
          <a:stretch>
            <a:fillRect/>
          </a:stretch>
        </p:blipFill>
        <p:spPr>
          <a:xfrm>
            <a:off x="6921642" y="5248290"/>
            <a:ext cx="201900" cy="201900"/>
          </a:xfrm>
          <a:prstGeom prst="rect">
            <a:avLst/>
          </a:prstGeom>
        </p:spPr>
      </p:pic>
      <p:sp>
        <p:nvSpPr>
          <p:cNvPr id="24" name="Text 18"/>
          <p:cNvSpPr txBox="1"/>
          <p:nvPr/>
        </p:nvSpPr>
        <p:spPr>
          <a:xfrm>
            <a:off x="7342632" y="5120640"/>
            <a:ext cx="4160520" cy="457200"/>
          </a:xfrm>
          <a:prstGeom prst="rect">
            <a:avLst/>
          </a:prstGeom>
          <a:noFill/>
          <a:ln/>
        </p:spPr>
        <p:txBody>
          <a:bodyPr wrap="square" lIns="0" tIns="0" rIns="0" bIns="0" rtlCol="0" anchor="ctr"/>
          <a:lstStyle/>
          <a:p>
            <a:pPr indent="0" marL="0">
              <a:buNone/>
            </a:pPr>
            <a:r>
              <a:rPr lang="en-US" sz="1400" b="1" dirty="0">
                <a:solidFill>
                  <a:schemeClr val="tx2"/>
                </a:solidFill>
              </a:rPr>
              <a:t>Wind</a:t>
            </a:r>
            <a:endParaRPr lang="en-US" sz="1400" dirty="0"/>
          </a:p>
        </p:txBody>
      </p:sp>
      <p:sp>
        <p:nvSpPr>
          <p:cNvPr id="25" name="Text 19"/>
          <p:cNvSpPr txBox="1"/>
          <p:nvPr/>
        </p:nvSpPr>
        <p:spPr>
          <a:xfrm>
            <a:off x="6812280" y="5669280"/>
            <a:ext cx="4645152" cy="41148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Backs ahead of the front, veers sharply as it passes (northern hemisphere).</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Warm front: warm air displacing cold air</a:t>
            </a:r>
            <a:endParaRPr lang="en-US" sz="3200" dirty="0"/>
          </a:p>
        </p:txBody>
      </p:sp>
      <p:sp>
        <p:nvSpPr>
          <p:cNvPr id="4" name="warm air"/>
          <p:cNvSpPr/>
          <p:nvPr/>
        </p:nvSpPr>
        <p:spPr>
          <a:xfrm>
            <a:off x="548640" y="1371600"/>
            <a:ext cx="5852160" cy="3108960"/>
          </a:xfrm>
          <a:prstGeom prst="rect">
            <a:avLst/>
          </a:prstGeom>
          <a:solidFill>
            <a:srgbClr val="F4E3E3"/>
          </a:solidFill>
          <a:ln w="9525">
            <a:solidFill>
              <a:srgbClr val="C9D2DC"/>
            </a:solidFill>
            <a:prstDash val="solid"/>
          </a:ln>
        </p:spPr>
      </p:sp>
      <p:sp>
        <p:nvSpPr>
          <p:cNvPr id="5" name="shaded area"/>
          <p:cNvSpPr/>
          <p:nvPr/>
        </p:nvSpPr>
        <p:spPr>
          <a:xfrm>
            <a:off x="548640" y="2304288"/>
            <a:ext cx="5852160" cy="2176272"/>
          </a:xfrm>
          <a:custGeom>
            <a:avLst/>
            <a:gdLst/>
            <a:ahLst/>
            <a:cxnLst/>
            <a:rect l="l" t="t" r="r" b="b"/>
            <a:pathLst>
              <a:path w="5852160" h="2176272">
                <a:moveTo>
                  <a:pt x="0" y="2176272"/>
                </a:moveTo>
                <a:lnTo>
                  <a:pt x="5852160" y="2176272"/>
                </a:lnTo>
                <a:lnTo>
                  <a:pt x="5852160" y="0"/>
                </a:lnTo>
                <a:lnTo>
                  <a:pt x="1170432" y="1803197"/>
                </a:lnTo>
                <a:lnTo>
                  <a:pt x="0" y="2020824"/>
                </a:lnTo>
                <a:close/>
              </a:path>
            </a:pathLst>
          </a:custGeom>
          <a:solidFill>
            <a:srgbClr val="9CC5D9"/>
          </a:solidFill>
          <a:ln/>
        </p:spPr>
      </p:sp>
      <p:sp>
        <p:nvSpPr>
          <p:cNvPr id="6" name="Text 3"/>
          <p:cNvSpPr txBox="1"/>
          <p:nvPr/>
        </p:nvSpPr>
        <p:spPr>
          <a:xfrm>
            <a:off x="4176979" y="3796589"/>
            <a:ext cx="2194560" cy="320040"/>
          </a:xfrm>
          <a:prstGeom prst="rect">
            <a:avLst/>
          </a:prstGeom>
          <a:noFill/>
          <a:ln/>
        </p:spPr>
        <p:txBody>
          <a:bodyPr wrap="square" lIns="0" tIns="0" rIns="0" bIns="0" rtlCol="0" anchor="ctr"/>
          <a:lstStyle/>
          <a:p>
            <a:pPr algn="l" indent="0" marL="0">
              <a:buNone/>
            </a:pPr>
            <a:r>
              <a:rPr lang="en-US" sz="1300" b="1" dirty="0">
                <a:solidFill>
                  <a:schemeClr val="accent2"/>
                </a:solidFill>
              </a:rPr>
              <a:t>COLD AIR (retreating)</a:t>
            </a:r>
            <a:endParaRPr lang="en-US" sz="1300" dirty="0"/>
          </a:p>
        </p:txBody>
      </p:sp>
      <p:sp>
        <p:nvSpPr>
          <p:cNvPr id="7" name="Text 4"/>
          <p:cNvSpPr txBox="1"/>
          <p:nvPr/>
        </p:nvSpPr>
        <p:spPr>
          <a:xfrm>
            <a:off x="731520" y="2459736"/>
            <a:ext cx="2011680" cy="320040"/>
          </a:xfrm>
          <a:prstGeom prst="rect">
            <a:avLst/>
          </a:prstGeom>
          <a:noFill/>
          <a:ln/>
        </p:spPr>
        <p:txBody>
          <a:bodyPr wrap="square" lIns="0" tIns="0" rIns="0" bIns="0" rtlCol="0" anchor="ctr"/>
          <a:lstStyle/>
          <a:p>
            <a:pPr algn="l" indent="0" marL="0">
              <a:buNone/>
            </a:pPr>
            <a:r>
              <a:rPr lang="en-US" sz="1300" b="1" dirty="0">
                <a:solidFill>
                  <a:schemeClr val="accent1"/>
                </a:solidFill>
              </a:rPr>
              <a:t>WARM AIR overruns</a:t>
            </a:r>
            <a:endParaRPr lang="en-US" sz="1300" dirty="0"/>
          </a:p>
        </p:txBody>
      </p:sp>
      <p:sp>
        <p:nvSpPr>
          <p:cNvPr id="8" name="arrow"/>
          <p:cNvSpPr/>
          <p:nvPr/>
        </p:nvSpPr>
        <p:spPr>
          <a:xfrm flipV="1">
            <a:off x="822960" y="2055571"/>
            <a:ext cx="4114800" cy="1554480"/>
          </a:xfrm>
          <a:prstGeom prst="line">
            <a:avLst/>
          </a:prstGeom>
          <a:noFill/>
          <a:ln w="38100">
            <a:solidFill>
              <a:srgbClr val="D1495B"/>
            </a:solidFill>
            <a:prstDash val="solid"/>
            <a:tailEnd type="triangle"/>
          </a:ln>
        </p:spPr>
      </p:sp>
      <p:sp>
        <p:nvSpPr>
          <p:cNvPr id="9" name="cloud"/>
          <p:cNvSpPr/>
          <p:nvPr/>
        </p:nvSpPr>
        <p:spPr>
          <a:xfrm>
            <a:off x="5157216" y="1527048"/>
            <a:ext cx="822960" cy="347472"/>
          </a:xfrm>
          <a:prstGeom prst="roundRect">
            <a:avLst>
              <a:gd name="adj" fmla="val 39474"/>
            </a:avLst>
          </a:prstGeom>
          <a:solidFill>
            <a:srgbClr val="A9B4BE"/>
          </a:solidFill>
          <a:ln/>
        </p:spPr>
      </p:sp>
      <p:sp>
        <p:nvSpPr>
          <p:cNvPr id="10" name="Text 7"/>
          <p:cNvSpPr txBox="1"/>
          <p:nvPr/>
        </p:nvSpPr>
        <p:spPr>
          <a:xfrm>
            <a:off x="5157216" y="1527048"/>
            <a:ext cx="822960" cy="347472"/>
          </a:xfrm>
          <a:prstGeom prst="rect">
            <a:avLst/>
          </a:prstGeom>
          <a:noFill/>
          <a:ln/>
        </p:spPr>
        <p:txBody>
          <a:bodyPr wrap="square" lIns="0" tIns="0" rIns="0" bIns="0" rtlCol="0" anchor="ctr"/>
          <a:lstStyle/>
          <a:p>
            <a:pPr algn="ctr" indent="0" marL="0">
              <a:buNone/>
            </a:pPr>
            <a:r>
              <a:rPr lang="en-US" sz="1200" b="1" dirty="0">
                <a:solidFill>
                  <a:schemeClr val="bg1"/>
                </a:solidFill>
              </a:rPr>
              <a:t>Ci</a:t>
            </a:r>
            <a:endParaRPr lang="en-US" sz="1200" dirty="0"/>
          </a:p>
        </p:txBody>
      </p:sp>
      <p:sp>
        <p:nvSpPr>
          <p:cNvPr id="11" name="cloud"/>
          <p:cNvSpPr/>
          <p:nvPr/>
        </p:nvSpPr>
        <p:spPr>
          <a:xfrm>
            <a:off x="4162349" y="1931213"/>
            <a:ext cx="822960" cy="347472"/>
          </a:xfrm>
          <a:prstGeom prst="roundRect">
            <a:avLst>
              <a:gd name="adj" fmla="val 39474"/>
            </a:avLst>
          </a:prstGeom>
          <a:solidFill>
            <a:srgbClr val="A9B4BE"/>
          </a:solidFill>
          <a:ln/>
        </p:spPr>
      </p:sp>
      <p:sp>
        <p:nvSpPr>
          <p:cNvPr id="12" name="Text 9"/>
          <p:cNvSpPr txBox="1"/>
          <p:nvPr/>
        </p:nvSpPr>
        <p:spPr>
          <a:xfrm>
            <a:off x="4162349" y="1931213"/>
            <a:ext cx="822960" cy="347472"/>
          </a:xfrm>
          <a:prstGeom prst="rect">
            <a:avLst/>
          </a:prstGeom>
          <a:noFill/>
          <a:ln/>
        </p:spPr>
        <p:txBody>
          <a:bodyPr wrap="square" lIns="0" tIns="0" rIns="0" bIns="0" rtlCol="0" anchor="ctr"/>
          <a:lstStyle/>
          <a:p>
            <a:pPr algn="ctr" indent="0" marL="0">
              <a:buNone/>
            </a:pPr>
            <a:r>
              <a:rPr lang="en-US" sz="1200" b="1" dirty="0">
                <a:solidFill>
                  <a:schemeClr val="bg1"/>
                </a:solidFill>
              </a:rPr>
              <a:t>Cs</a:t>
            </a:r>
            <a:endParaRPr lang="en-US" sz="1200" dirty="0"/>
          </a:p>
        </p:txBody>
      </p:sp>
      <p:sp>
        <p:nvSpPr>
          <p:cNvPr id="13" name="cloud"/>
          <p:cNvSpPr/>
          <p:nvPr/>
        </p:nvSpPr>
        <p:spPr>
          <a:xfrm>
            <a:off x="3108960" y="2397557"/>
            <a:ext cx="822960" cy="347472"/>
          </a:xfrm>
          <a:prstGeom prst="roundRect">
            <a:avLst>
              <a:gd name="adj" fmla="val 39474"/>
            </a:avLst>
          </a:prstGeom>
          <a:solidFill>
            <a:srgbClr val="A9B4BE"/>
          </a:solidFill>
          <a:ln/>
        </p:spPr>
      </p:sp>
      <p:sp>
        <p:nvSpPr>
          <p:cNvPr id="14" name="Text 11"/>
          <p:cNvSpPr txBox="1"/>
          <p:nvPr/>
        </p:nvSpPr>
        <p:spPr>
          <a:xfrm>
            <a:off x="3108960" y="2397557"/>
            <a:ext cx="822960" cy="347472"/>
          </a:xfrm>
          <a:prstGeom prst="rect">
            <a:avLst/>
          </a:prstGeom>
          <a:noFill/>
          <a:ln/>
        </p:spPr>
        <p:txBody>
          <a:bodyPr wrap="square" lIns="0" tIns="0" rIns="0" bIns="0" rtlCol="0" anchor="ctr"/>
          <a:lstStyle/>
          <a:p>
            <a:pPr algn="ctr" indent="0" marL="0">
              <a:buNone/>
            </a:pPr>
            <a:r>
              <a:rPr lang="en-US" sz="1200" b="1" dirty="0">
                <a:solidFill>
                  <a:schemeClr val="bg1"/>
                </a:solidFill>
              </a:rPr>
              <a:t>As</a:t>
            </a:r>
            <a:endParaRPr lang="en-US" sz="1200" dirty="0"/>
          </a:p>
        </p:txBody>
      </p:sp>
      <p:sp>
        <p:nvSpPr>
          <p:cNvPr id="15" name="cloud"/>
          <p:cNvSpPr/>
          <p:nvPr/>
        </p:nvSpPr>
        <p:spPr>
          <a:xfrm>
            <a:off x="1938528" y="2926080"/>
            <a:ext cx="822960" cy="347472"/>
          </a:xfrm>
          <a:prstGeom prst="roundRect">
            <a:avLst>
              <a:gd name="adj" fmla="val 39474"/>
            </a:avLst>
          </a:prstGeom>
          <a:solidFill>
            <a:srgbClr val="5C6B73"/>
          </a:solidFill>
          <a:ln/>
        </p:spPr>
      </p:sp>
      <p:sp>
        <p:nvSpPr>
          <p:cNvPr id="16" name="Text 13"/>
          <p:cNvSpPr txBox="1"/>
          <p:nvPr/>
        </p:nvSpPr>
        <p:spPr>
          <a:xfrm>
            <a:off x="1938528" y="2926080"/>
            <a:ext cx="822960" cy="347472"/>
          </a:xfrm>
          <a:prstGeom prst="rect">
            <a:avLst/>
          </a:prstGeom>
          <a:noFill/>
          <a:ln/>
        </p:spPr>
        <p:txBody>
          <a:bodyPr wrap="square" lIns="0" tIns="0" rIns="0" bIns="0" rtlCol="0" anchor="ctr"/>
          <a:lstStyle/>
          <a:p>
            <a:pPr algn="ctr" indent="0" marL="0">
              <a:buNone/>
            </a:pPr>
            <a:r>
              <a:rPr lang="en-US" sz="1200" b="1" dirty="0">
                <a:solidFill>
                  <a:schemeClr val="bg1"/>
                </a:solidFill>
              </a:rPr>
              <a:t>Ns</a:t>
            </a:r>
            <a:endParaRPr lang="en-US" sz="1200" dirty="0"/>
          </a:p>
        </p:txBody>
      </p:sp>
      <p:sp>
        <p:nvSpPr>
          <p:cNvPr id="17" name="Text 14"/>
          <p:cNvSpPr txBox="1"/>
          <p:nvPr/>
        </p:nvSpPr>
        <p:spPr>
          <a:xfrm>
            <a:off x="841248" y="1417320"/>
            <a:ext cx="3108960" cy="274320"/>
          </a:xfrm>
          <a:prstGeom prst="rect">
            <a:avLst/>
          </a:prstGeom>
          <a:noFill/>
          <a:ln/>
        </p:spPr>
        <p:txBody>
          <a:bodyPr wrap="square" lIns="0" tIns="0" rIns="0" bIns="0" rtlCol="0" anchor="ctr"/>
          <a:lstStyle/>
          <a:p>
            <a:pPr algn="l" indent="0" marL="0">
              <a:buNone/>
            </a:pPr>
            <a:r>
              <a:rPr lang="en-US" sz="1000" i="1" dirty="0">
                <a:solidFill>
                  <a:schemeClr val="tx2"/>
                </a:solidFill>
              </a:rPr>
              <a:t>gentle slope (~1:200), wide cloud &amp; rain band</a:t>
            </a:r>
            <a:endParaRPr lang="en-US" sz="1000" dirty="0"/>
          </a:p>
        </p:txBody>
      </p:sp>
      <p:sp>
        <p:nvSpPr>
          <p:cNvPr id="18" name="Text 15"/>
          <p:cNvSpPr txBox="1"/>
          <p:nvPr/>
        </p:nvSpPr>
        <p:spPr>
          <a:xfrm>
            <a:off x="685800" y="4526280"/>
            <a:ext cx="5852160" cy="274320"/>
          </a:xfrm>
          <a:prstGeom prst="rect">
            <a:avLst/>
          </a:prstGeom>
          <a:noFill/>
          <a:ln/>
        </p:spPr>
        <p:txBody>
          <a:bodyPr wrap="square" lIns="0" tIns="0" rIns="0" bIns="0" rtlCol="0" anchor="ctr"/>
          <a:lstStyle/>
          <a:p>
            <a:pPr algn="l" indent="0" marL="0">
              <a:buNone/>
            </a:pPr>
            <a:r>
              <a:rPr lang="en-US" sz="1100" i="1" dirty="0">
                <a:solidFill>
                  <a:schemeClr val="accent6"/>
                </a:solidFill>
              </a:rPr>
              <a:t>direction of motion: slow, 10–15 kt →</a:t>
            </a:r>
            <a:endParaRPr lang="en-US" sz="11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629400" y="1371600"/>
          <a:ext cx="5010912" cy="914400"/>
        </p:xfrm>
        <a:graphic>
          <a:graphicData uri="http://schemas.openxmlformats.org/drawingml/2006/table">
            <a:tbl>
              <a:tblPr/>
              <a:tblGrid>
                <a:gridCol w="1188720"/>
                <a:gridCol w="1325880"/>
                <a:gridCol w="1188720"/>
                <a:gridCol w="1307592"/>
              </a:tblGrid>
              <a:tr h="457200">
                <a:tc>
                  <a:txBody>
                    <a:bodyPr/>
                    <a:lstStyle/>
                    <a:p>
                      <a:pPr indent="0" marL="0">
                        <a:buNone/>
                      </a:pPr>
                      <a:r>
                        <a:rPr lang="en-US" sz="1300" b="1" dirty="0">
                          <a:solidFill>
                            <a:schemeClr val="bg1"/>
                          </a:solidFill>
                        </a:rPr>
                        <a:t>Feature</a:t>
                      </a:r>
                      <a:endParaRPr lang="en-US" sz="13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rgbClr val="D1495B"/>
                    </a:solidFill>
                  </a:tcPr>
                </a:tc>
                <a:tc>
                  <a:txBody>
                    <a:bodyPr/>
                    <a:lstStyle/>
                    <a:p>
                      <a:pPr indent="0" marL="0">
                        <a:buNone/>
                      </a:pPr>
                      <a:r>
                        <a:rPr lang="en-US" sz="1300" b="1" dirty="0">
                          <a:solidFill>
                            <a:schemeClr val="bg1"/>
                          </a:solidFill>
                        </a:rPr>
                        <a:t>Before passage</a:t>
                      </a:r>
                      <a:endParaRPr lang="en-US" sz="13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rgbClr val="D1495B"/>
                    </a:solidFill>
                  </a:tcPr>
                </a:tc>
                <a:tc>
                  <a:txBody>
                    <a:bodyPr/>
                    <a:lstStyle/>
                    <a:p>
                      <a:pPr indent="0" marL="0">
                        <a:buNone/>
                      </a:pPr>
                      <a:r>
                        <a:rPr lang="en-US" sz="1300" b="1" dirty="0">
                          <a:solidFill>
                            <a:schemeClr val="bg1"/>
                          </a:solidFill>
                        </a:rPr>
                        <a:t>At the front</a:t>
                      </a:r>
                      <a:endParaRPr lang="en-US" sz="13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rgbClr val="D1495B"/>
                    </a:solidFill>
                  </a:tcPr>
                </a:tc>
                <a:tc>
                  <a:txBody>
                    <a:bodyPr/>
                    <a:lstStyle/>
                    <a:p>
                      <a:pPr indent="0" marL="0">
                        <a:buNone/>
                      </a:pPr>
                      <a:r>
                        <a:rPr lang="en-US" sz="1300" b="1" dirty="0">
                          <a:solidFill>
                            <a:schemeClr val="bg1"/>
                          </a:solidFill>
                        </a:rPr>
                        <a:t>After passage</a:t>
                      </a:r>
                      <a:endParaRPr lang="en-US" sz="13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rgbClr val="D1495B"/>
                    </a:solidFill>
                  </a:tcPr>
                </a:tc>
              </a:tr>
              <a:tr h="457200">
                <a:tc>
                  <a:txBody>
                    <a:bodyPr/>
                    <a:lstStyle/>
                    <a:p>
                      <a:pPr indent="0" marL="0">
                        <a:buNone/>
                      </a:pPr>
                      <a:r>
                        <a:rPr lang="en-US" sz="1200" b="1" dirty="0">
                          <a:solidFill>
                            <a:schemeClr val="tx2"/>
                          </a:solidFill>
                        </a:rPr>
                        <a:t>Temperature</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Cool, slowly warming</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Steady rise</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Warmer</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rPr>
                        <a:t>Dew point</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Steady rise</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Steady</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Increases, then steady</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2"/>
                          </a:solidFill>
                        </a:rPr>
                        <a:t>Pressure</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Usually falling</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Levels off</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Slight rise, then fall</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rPr>
                        <a:t>Visibility</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Poor</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Improving</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Fair</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2"/>
                          </a:solidFill>
                        </a:rPr>
                        <a:t>Clouds</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Ci, Cs, As, Ns, St, fog</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Stratus</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Clearing, scattered Sc</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2"/>
                          </a:solidFill>
                        </a:rPr>
                        <a:t>Precipitation</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Light to moderate</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Drizzle or none</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Usually none</a:t>
                      </a:r>
                      <a:endParaRPr lang="en-US" sz="1200" dirty="0"/>
                    </a:p>
                  </a:txBody>
                  <a:tcPr marL="64008" marR="64008" marT="27432" marB="27432" anchor="ctr">
                    <a:lnL w="6350" cap="flat" cmpd="sng" algn="ctr">
                      <a:solidFill>
                        <a:srgbClr val="D2D9E2"/>
                      </a:solidFill>
                      <a:prstDash val="solid"/>
                      <a:round/>
                      <a:headEnd type="none" w="med" len="med"/>
                      <a:tailEnd type="none" w="med" len="med"/>
                    </a:lnL>
                    <a:lnR w="6350" cap="flat" cmpd="sng" algn="ctr">
                      <a:solidFill>
                        <a:srgbClr val="D2D9E2"/>
                      </a:solidFill>
                      <a:prstDash val="solid"/>
                      <a:round/>
                      <a:headEnd type="none" w="med" len="med"/>
                      <a:tailEnd type="none" w="med" len="med"/>
                    </a:lnR>
                    <a:lnT w="6350" cap="flat" cmpd="sng" algn="ctr">
                      <a:solidFill>
                        <a:srgbClr val="D2D9E2"/>
                      </a:solidFill>
                      <a:prstDash val="solid"/>
                      <a:round/>
                      <a:headEnd type="none" w="med" len="med"/>
                      <a:tailEnd type="none" w="med" len="med"/>
                    </a:lnT>
                    <a:lnB w="6350" cap="flat" cmpd="sng" algn="ctr">
                      <a:solidFill>
                        <a:srgbClr val="D2D9E2"/>
                      </a:solidFill>
                      <a:prstDash val="solid"/>
                      <a:round/>
                      <a:headEnd type="none" w="med" len="med"/>
                      <a:tailEnd type="none" w="med" len="med"/>
                    </a:lnB>
                    <a:solidFill>
                      <a:schemeClr val="bg2"/>
                    </a:solidFill>
                  </a:tcPr>
                </a:tc>
              </a:tr>
            </a:tbl>
          </a:graphicData>
        </a:graphic>
      </p:graphicFrame>
      <p:sp>
        <p:nvSpPr>
          <p:cNvPr id="20" name="Text 16"/>
          <p:cNvSpPr txBox="1"/>
          <p:nvPr/>
        </p:nvSpPr>
        <p:spPr>
          <a:xfrm>
            <a:off x="6629400" y="4663440"/>
            <a:ext cx="4937760" cy="274320"/>
          </a:xfrm>
          <a:prstGeom prst="rect">
            <a:avLst/>
          </a:prstGeom>
          <a:noFill/>
          <a:ln/>
        </p:spPr>
        <p:txBody>
          <a:bodyPr wrap="square" lIns="508" tIns="508" rIns="508" bIns="508" rtlCol="0" anchor="t"/>
          <a:lstStyle/>
          <a:p>
            <a:pPr indent="0" marL="0">
              <a:spcAft>
                <a:spcPts val="600"/>
              </a:spcAft>
              <a:buNone/>
            </a:pPr>
            <a:r>
              <a:rPr lang="en-US" sz="1100" i="1" dirty="0">
                <a:solidFill>
                  <a:schemeClr val="accent6"/>
                </a:solidFill>
              </a:rPr>
              <a:t>Table from the class handout (CIMSS).</a:t>
            </a:r>
            <a:endParaRPr lang="en-US" sz="1100" dirty="0"/>
          </a:p>
        </p:txBody>
      </p:sp>
      <p:sp>
        <p:nvSpPr>
          <p:cNvPr id="21" name="card"/>
          <p:cNvSpPr/>
          <p:nvPr/>
        </p:nvSpPr>
        <p:spPr>
          <a:xfrm>
            <a:off x="548640" y="4892040"/>
            <a:ext cx="5852160" cy="1280160"/>
          </a:xfrm>
          <a:prstGeom prst="roundRect">
            <a:avLst>
              <a:gd name="adj" fmla="val 5714"/>
            </a:avLst>
          </a:prstGeom>
          <a:solidFill>
            <a:schemeClr val="bg2"/>
          </a:solidFill>
          <a:ln/>
          <a:effectLst>
            <a:outerShdw sx="100000" sy="100000" kx="0" ky="0" algn="bl" rotWithShape="0" blurRad="76200" dist="25400" dir="5400000">
              <a:srgbClr val="000000">
                <a:alpha val="14000"/>
              </a:srgbClr>
            </a:outerShdw>
          </a:effectLst>
        </p:spPr>
      </p:sp>
      <p:sp>
        <p:nvSpPr>
          <p:cNvPr id="22" name="icon circle"/>
          <p:cNvSpPr/>
          <p:nvPr/>
        </p:nvSpPr>
        <p:spPr>
          <a:xfrm>
            <a:off x="731520" y="5047488"/>
            <a:ext cx="420624" cy="420624"/>
          </a:xfrm>
          <a:prstGeom prst="ellipse">
            <a:avLst/>
          </a:prstGeom>
          <a:solidFill>
            <a:schemeClr val="accent2"/>
          </a:solidFill>
          <a:ln/>
        </p:spPr>
      </p:sp>
      <p:pic>
        <p:nvPicPr>
          <p:cNvPr id="23" name="Image 0" descr="Cloud icon">    </p:cNvPr>
          <p:cNvPicPr>
            <a:picLocks noChangeAspect="1"/>
          </p:cNvPicPr>
          <p:nvPr/>
        </p:nvPicPr>
        <p:blipFill>
          <a:blip r:embed="rId1"/>
          <a:stretch>
            <a:fillRect/>
          </a:stretch>
        </p:blipFill>
        <p:spPr>
          <a:xfrm>
            <a:off x="840882" y="5156850"/>
            <a:ext cx="201900" cy="201900"/>
          </a:xfrm>
          <a:prstGeom prst="rect">
            <a:avLst/>
          </a:prstGeom>
        </p:spPr>
      </p:pic>
      <p:sp>
        <p:nvSpPr>
          <p:cNvPr id="24" name="Text 19"/>
          <p:cNvSpPr txBox="1"/>
          <p:nvPr/>
        </p:nvSpPr>
        <p:spPr>
          <a:xfrm>
            <a:off x="1261872" y="5029200"/>
            <a:ext cx="5001768" cy="457200"/>
          </a:xfrm>
          <a:prstGeom prst="rect">
            <a:avLst/>
          </a:prstGeom>
          <a:noFill/>
          <a:ln/>
        </p:spPr>
        <p:txBody>
          <a:bodyPr wrap="square" lIns="0" tIns="0" rIns="0" bIns="0" rtlCol="0" anchor="ctr"/>
          <a:lstStyle/>
          <a:p>
            <a:pPr indent="0" marL="0">
              <a:buNone/>
            </a:pPr>
            <a:r>
              <a:rPr lang="en-US" sz="1600" b="1" dirty="0">
                <a:solidFill>
                  <a:schemeClr val="tx2"/>
                </a:solidFill>
              </a:rPr>
              <a:t>Why gentle?</a:t>
            </a:r>
            <a:endParaRPr lang="en-US" sz="1600" dirty="0"/>
          </a:p>
        </p:txBody>
      </p:sp>
      <p:sp>
        <p:nvSpPr>
          <p:cNvPr id="25" name="Text 20"/>
          <p:cNvSpPr txBox="1"/>
          <p:nvPr/>
        </p:nvSpPr>
        <p:spPr>
          <a:xfrm>
            <a:off x="731520" y="5577840"/>
            <a:ext cx="5486400" cy="50292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Shallow slope and stable overrunning air → layered clouds and steady, widespread light rain.</a:t>
            </a:r>
            <a:endParaRPr lang="en-US" sz="1300" dirty="0"/>
          </a:p>
        </p:txBody>
      </p:sp>
      <p:sp>
        <p:nvSpPr>
          <p:cNvPr id="26" name="card"/>
          <p:cNvSpPr/>
          <p:nvPr/>
        </p:nvSpPr>
        <p:spPr>
          <a:xfrm>
            <a:off x="6629400" y="4983480"/>
            <a:ext cx="5010912" cy="1188720"/>
          </a:xfrm>
          <a:prstGeom prst="roundRect">
            <a:avLst>
              <a:gd name="adj" fmla="val 6154"/>
            </a:avLst>
          </a:prstGeom>
          <a:solidFill>
            <a:schemeClr val="bg2"/>
          </a:solidFill>
          <a:ln/>
          <a:effectLst>
            <a:outerShdw sx="100000" sy="100000" kx="0" ky="0" algn="bl" rotWithShape="0" blurRad="76200" dist="25400" dir="5400000">
              <a:srgbClr val="000000">
                <a:alpha val="14000"/>
              </a:srgbClr>
            </a:outerShdw>
          </a:effectLst>
        </p:spPr>
      </p:sp>
      <p:sp>
        <p:nvSpPr>
          <p:cNvPr id="27" name="icon circle"/>
          <p:cNvSpPr/>
          <p:nvPr/>
        </p:nvSpPr>
        <p:spPr>
          <a:xfrm>
            <a:off x="6812280" y="5138928"/>
            <a:ext cx="420624" cy="420624"/>
          </a:xfrm>
          <a:prstGeom prst="ellipse">
            <a:avLst/>
          </a:prstGeom>
          <a:solidFill>
            <a:schemeClr val="accent5"/>
          </a:solidFill>
          <a:ln/>
        </p:spPr>
      </p:sp>
      <p:pic>
        <p:nvPicPr>
          <p:cNvPr id="28" name="Image 1" descr="Eye icon">    </p:cNvPr>
          <p:cNvPicPr>
            <a:picLocks noChangeAspect="1"/>
          </p:cNvPicPr>
          <p:nvPr/>
        </p:nvPicPr>
        <p:blipFill>
          <a:blip r:embed="rId2"/>
          <a:stretch>
            <a:fillRect/>
          </a:stretch>
        </p:blipFill>
        <p:spPr>
          <a:xfrm>
            <a:off x="6921642" y="5248290"/>
            <a:ext cx="201900" cy="201900"/>
          </a:xfrm>
          <a:prstGeom prst="rect">
            <a:avLst/>
          </a:prstGeom>
        </p:spPr>
      </p:pic>
      <p:sp>
        <p:nvSpPr>
          <p:cNvPr id="29" name="Text 23"/>
          <p:cNvSpPr txBox="1"/>
          <p:nvPr/>
        </p:nvSpPr>
        <p:spPr>
          <a:xfrm>
            <a:off x="7342632" y="5120640"/>
            <a:ext cx="4160520" cy="457200"/>
          </a:xfrm>
          <a:prstGeom prst="rect">
            <a:avLst/>
          </a:prstGeom>
          <a:noFill/>
          <a:ln/>
        </p:spPr>
        <p:txBody>
          <a:bodyPr wrap="square" lIns="0" tIns="0" rIns="0" bIns="0" rtlCol="0" anchor="ctr"/>
          <a:lstStyle/>
          <a:p>
            <a:pPr indent="0" marL="0">
              <a:buNone/>
            </a:pPr>
            <a:r>
              <a:rPr lang="en-US" sz="1400" b="1" dirty="0">
                <a:solidFill>
                  <a:schemeClr val="tx2"/>
                </a:solidFill>
              </a:rPr>
              <a:t>Early warning</a:t>
            </a:r>
            <a:endParaRPr lang="en-US" sz="1400" dirty="0"/>
          </a:p>
        </p:txBody>
      </p:sp>
      <p:sp>
        <p:nvSpPr>
          <p:cNvPr id="30" name="Text 24"/>
          <p:cNvSpPr txBox="1"/>
          <p:nvPr/>
        </p:nvSpPr>
        <p:spPr>
          <a:xfrm>
            <a:off x="6812280" y="5669280"/>
            <a:ext cx="4645152" cy="411480"/>
          </a:xfrm>
          <a:prstGeom prst="rect">
            <a:avLst/>
          </a:prstGeom>
          <a:noFill/>
          <a:ln/>
        </p:spPr>
        <p:txBody>
          <a:bodyPr wrap="square" lIns="508" tIns="508" rIns="508" bIns="508" rtlCol="0" anchor="t"/>
          <a:lstStyle/>
          <a:p>
            <a:pPr indent="0" marL="0">
              <a:spcAft>
                <a:spcPts val="400"/>
              </a:spcAft>
              <a:buNone/>
            </a:pPr>
            <a:r>
              <a:rPr lang="en-US" sz="1200" dirty="0">
                <a:solidFill>
                  <a:schemeClr val="tx1"/>
                </a:solidFill>
              </a:rPr>
              <a:t>Cirrus can appear 1,000 km and a day or more ahead of the surface warm front.</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Stationary and occluded fronts</a:t>
            </a:r>
            <a:endParaRPr lang="en-US" sz="3200" dirty="0"/>
          </a:p>
        </p:txBody>
      </p:sp>
      <p:sp>
        <p:nvSpPr>
          <p:cNvPr id="4" name="card"/>
          <p:cNvSpPr/>
          <p:nvPr/>
        </p:nvSpPr>
        <p:spPr>
          <a:xfrm>
            <a:off x="548640" y="1371600"/>
            <a:ext cx="3547872"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527048"/>
            <a:ext cx="420624" cy="420624"/>
          </a:xfrm>
          <a:prstGeom prst="ellipse">
            <a:avLst/>
          </a:prstGeom>
          <a:solidFill>
            <a:srgbClr val="6C4F9E"/>
          </a:solidFill>
          <a:ln/>
        </p:spPr>
      </p:sp>
      <p:pic>
        <p:nvPicPr>
          <p:cNvPr id="6" name="Image 0" descr="BalanceScale icon">    </p:cNvPr>
          <p:cNvPicPr>
            <a:picLocks noChangeAspect="1"/>
          </p:cNvPicPr>
          <p:nvPr/>
        </p:nvPicPr>
        <p:blipFill>
          <a:blip r:embed="rId1"/>
          <a:stretch>
            <a:fillRect/>
          </a:stretch>
        </p:blipFill>
        <p:spPr>
          <a:xfrm>
            <a:off x="840882" y="1636410"/>
            <a:ext cx="201900" cy="201900"/>
          </a:xfrm>
          <a:prstGeom prst="rect">
            <a:avLst/>
          </a:prstGeom>
        </p:spPr>
      </p:pic>
      <p:sp>
        <p:nvSpPr>
          <p:cNvPr id="7" name="Text 3"/>
          <p:cNvSpPr txBox="1"/>
          <p:nvPr/>
        </p:nvSpPr>
        <p:spPr>
          <a:xfrm>
            <a:off x="1261872" y="1508760"/>
            <a:ext cx="2697480" cy="457200"/>
          </a:xfrm>
          <a:prstGeom prst="rect">
            <a:avLst/>
          </a:prstGeom>
          <a:noFill/>
          <a:ln/>
        </p:spPr>
        <p:txBody>
          <a:bodyPr wrap="square" lIns="0" tIns="0" rIns="0" bIns="0" rtlCol="0" anchor="ctr"/>
          <a:lstStyle/>
          <a:p>
            <a:pPr indent="0" marL="0">
              <a:buNone/>
            </a:pPr>
            <a:r>
              <a:rPr lang="en-US" sz="1600" b="1" dirty="0">
                <a:solidFill>
                  <a:schemeClr val="tx2"/>
                </a:solidFill>
              </a:rPr>
              <a:t>Stationary front</a:t>
            </a:r>
            <a:endParaRPr lang="en-US" sz="1600" dirty="0"/>
          </a:p>
        </p:txBody>
      </p:sp>
      <p:sp>
        <p:nvSpPr>
          <p:cNvPr id="8" name="Text 4"/>
          <p:cNvSpPr txBox="1"/>
          <p:nvPr/>
        </p:nvSpPr>
        <p:spPr>
          <a:xfrm>
            <a:off x="731520" y="2057400"/>
            <a:ext cx="3182112" cy="160020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No movement of the boundary; prolonged cloud and light rain.</a:t>
            </a:r>
            <a:endParaRPr lang="en-US" sz="1300" dirty="0"/>
          </a:p>
        </p:txBody>
      </p:sp>
      <p:sp>
        <p:nvSpPr>
          <p:cNvPr id="9" name="card"/>
          <p:cNvSpPr/>
          <p:nvPr/>
        </p:nvSpPr>
        <p:spPr>
          <a:xfrm>
            <a:off x="4297680" y="1371600"/>
            <a:ext cx="3547872"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4480560" y="1527048"/>
            <a:ext cx="420624" cy="420624"/>
          </a:xfrm>
          <a:prstGeom prst="ellipse">
            <a:avLst/>
          </a:prstGeom>
          <a:solidFill>
            <a:srgbClr val="2E6FD1"/>
          </a:solidFill>
          <a:ln/>
        </p:spPr>
      </p:sp>
      <p:pic>
        <p:nvPicPr>
          <p:cNvPr id="11" name="Image 1" descr="ArrowDown icon">    </p:cNvPr>
          <p:cNvPicPr>
            <a:picLocks noChangeAspect="1"/>
          </p:cNvPicPr>
          <p:nvPr/>
        </p:nvPicPr>
        <p:blipFill>
          <a:blip r:embed="rId2"/>
          <a:stretch>
            <a:fillRect/>
          </a:stretch>
        </p:blipFill>
        <p:spPr>
          <a:xfrm>
            <a:off x="4589922" y="1636410"/>
            <a:ext cx="201900" cy="201900"/>
          </a:xfrm>
          <a:prstGeom prst="rect">
            <a:avLst/>
          </a:prstGeom>
        </p:spPr>
      </p:pic>
      <p:sp>
        <p:nvSpPr>
          <p:cNvPr id="12" name="Text 7"/>
          <p:cNvSpPr txBox="1"/>
          <p:nvPr/>
        </p:nvSpPr>
        <p:spPr>
          <a:xfrm>
            <a:off x="5010912" y="1508760"/>
            <a:ext cx="2697480" cy="457200"/>
          </a:xfrm>
          <a:prstGeom prst="rect">
            <a:avLst/>
          </a:prstGeom>
          <a:noFill/>
          <a:ln/>
        </p:spPr>
        <p:txBody>
          <a:bodyPr wrap="square" lIns="0" tIns="0" rIns="0" bIns="0" rtlCol="0" anchor="ctr"/>
          <a:lstStyle/>
          <a:p>
            <a:pPr indent="0" marL="0">
              <a:buNone/>
            </a:pPr>
            <a:r>
              <a:rPr lang="en-US" sz="1600" b="1" dirty="0">
                <a:solidFill>
                  <a:schemeClr val="tx2"/>
                </a:solidFill>
              </a:rPr>
              <a:t>Cold occlusion</a:t>
            </a:r>
            <a:endParaRPr lang="en-US" sz="1600" dirty="0"/>
          </a:p>
        </p:txBody>
      </p:sp>
      <p:sp>
        <p:nvSpPr>
          <p:cNvPr id="13" name="Text 8"/>
          <p:cNvSpPr txBox="1"/>
          <p:nvPr/>
        </p:nvSpPr>
        <p:spPr>
          <a:xfrm>
            <a:off x="4480560" y="2057400"/>
            <a:ext cx="3182112" cy="160020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Cold front catches up with the warm front; coldest air behind undercuts all. Ns, towering Cu, Cb.</a:t>
            </a:r>
            <a:endParaRPr lang="en-US" sz="1300" dirty="0"/>
          </a:p>
        </p:txBody>
      </p:sp>
      <p:sp>
        <p:nvSpPr>
          <p:cNvPr id="14" name="card"/>
          <p:cNvSpPr/>
          <p:nvPr/>
        </p:nvSpPr>
        <p:spPr>
          <a:xfrm>
            <a:off x="8046720" y="1371600"/>
            <a:ext cx="3547872" cy="2377440"/>
          </a:xfrm>
          <a:prstGeom prst="roundRect">
            <a:avLst>
              <a:gd name="adj" fmla="val 3077"/>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8229600" y="1527048"/>
            <a:ext cx="420624" cy="420624"/>
          </a:xfrm>
          <a:prstGeom prst="ellipse">
            <a:avLst/>
          </a:prstGeom>
          <a:solidFill>
            <a:srgbClr val="D1495B"/>
          </a:solidFill>
          <a:ln/>
        </p:spPr>
      </p:sp>
      <p:pic>
        <p:nvPicPr>
          <p:cNvPr id="16" name="Image 2" descr="ArrowUp icon">    </p:cNvPr>
          <p:cNvPicPr>
            <a:picLocks noChangeAspect="1"/>
          </p:cNvPicPr>
          <p:nvPr/>
        </p:nvPicPr>
        <p:blipFill>
          <a:blip r:embed="rId3"/>
          <a:stretch>
            <a:fillRect/>
          </a:stretch>
        </p:blipFill>
        <p:spPr>
          <a:xfrm>
            <a:off x="8338962" y="1636410"/>
            <a:ext cx="201900" cy="201900"/>
          </a:xfrm>
          <a:prstGeom prst="rect">
            <a:avLst/>
          </a:prstGeom>
        </p:spPr>
      </p:pic>
      <p:sp>
        <p:nvSpPr>
          <p:cNvPr id="17" name="Text 11"/>
          <p:cNvSpPr txBox="1"/>
          <p:nvPr/>
        </p:nvSpPr>
        <p:spPr>
          <a:xfrm>
            <a:off x="8759952" y="1508760"/>
            <a:ext cx="2697480" cy="457200"/>
          </a:xfrm>
          <a:prstGeom prst="rect">
            <a:avLst/>
          </a:prstGeom>
          <a:noFill/>
          <a:ln/>
        </p:spPr>
        <p:txBody>
          <a:bodyPr wrap="square" lIns="0" tIns="0" rIns="0" bIns="0" rtlCol="0" anchor="ctr"/>
          <a:lstStyle/>
          <a:p>
            <a:pPr indent="0" marL="0">
              <a:buNone/>
            </a:pPr>
            <a:r>
              <a:rPr lang="en-US" sz="1600" b="1" dirty="0">
                <a:solidFill>
                  <a:schemeClr val="tx2"/>
                </a:solidFill>
              </a:rPr>
              <a:t>Warm occlusion</a:t>
            </a:r>
            <a:endParaRPr lang="en-US" sz="1600" dirty="0"/>
          </a:p>
        </p:txBody>
      </p:sp>
      <p:sp>
        <p:nvSpPr>
          <p:cNvPr id="18" name="Text 12"/>
          <p:cNvSpPr txBox="1"/>
          <p:nvPr/>
        </p:nvSpPr>
        <p:spPr>
          <a:xfrm>
            <a:off x="8229600" y="2057400"/>
            <a:ext cx="3182112" cy="1600200"/>
          </a:xfrm>
          <a:prstGeom prst="rect">
            <a:avLst/>
          </a:prstGeom>
          <a:noFill/>
          <a:ln/>
        </p:spPr>
        <p:txBody>
          <a:bodyPr wrap="square" lIns="508" tIns="508" rIns="508" bIns="508" rtlCol="0" anchor="t"/>
          <a:lstStyle/>
          <a:p>
            <a:pPr indent="0" marL="0">
              <a:spcAft>
                <a:spcPts val="400"/>
              </a:spcAft>
              <a:buNone/>
            </a:pPr>
            <a:r>
              <a:rPr lang="en-US" sz="1300" dirty="0">
                <a:solidFill>
                  <a:schemeClr val="tx1"/>
                </a:solidFill>
              </a:rPr>
              <a:t>Air behind (e.g. cool mP) is less cold than air ahead (cold cP) and rides over it. Mostly NW North America.</a:t>
            </a:r>
            <a:endParaRPr lang="en-US" sz="1300" dirty="0"/>
          </a:p>
        </p:txBody>
      </p:sp>
      <p:sp>
        <p:nvSpPr>
          <p:cNvPr id="19" name="Text 13"/>
          <p:cNvSpPr txBox="1"/>
          <p:nvPr/>
        </p:nvSpPr>
        <p:spPr>
          <a:xfrm>
            <a:off x="548640" y="3931920"/>
            <a:ext cx="7315200" cy="320040"/>
          </a:xfrm>
          <a:prstGeom prst="rect">
            <a:avLst/>
          </a:prstGeom>
          <a:noFill/>
          <a:ln/>
        </p:spPr>
        <p:txBody>
          <a:bodyPr wrap="square" lIns="0" tIns="0" rIns="0" bIns="0" rtlCol="0" anchor="ctr"/>
          <a:lstStyle/>
          <a:p>
            <a:pPr algn="l" indent="0" marL="0">
              <a:buNone/>
            </a:pPr>
            <a:r>
              <a:rPr lang="en-US" sz="1400" b="1" dirty="0">
                <a:solidFill>
                  <a:schemeClr val="tx2"/>
                </a:solidFill>
              </a:rPr>
              <a:t>How an occlusion forms (plan view, schematic)</a:t>
            </a:r>
            <a:endParaRPr lang="en-US" sz="1400" dirty="0"/>
          </a:p>
        </p:txBody>
      </p:sp>
      <p:sp>
        <p:nvSpPr>
          <p:cNvPr id="20" name="card"/>
          <p:cNvSpPr/>
          <p:nvPr/>
        </p:nvSpPr>
        <p:spPr>
          <a:xfrm>
            <a:off x="548640" y="4343400"/>
            <a:ext cx="3547872" cy="1783080"/>
          </a:xfrm>
          <a:prstGeom prst="roundRect">
            <a:avLst>
              <a:gd name="adj" fmla="val 4103"/>
            </a:avLst>
          </a:prstGeom>
          <a:solidFill>
            <a:schemeClr val="bg2"/>
          </a:solidFill>
          <a:ln/>
          <a:effectLst>
            <a:outerShdw sx="100000" sy="100000" kx="0" ky="0" algn="bl" rotWithShape="0" blurRad="76200" dist="25400" dir="5400000">
              <a:srgbClr val="000000">
                <a:alpha val="14000"/>
              </a:srgbClr>
            </a:outerShdw>
          </a:effectLst>
        </p:spPr>
      </p:sp>
      <p:sp>
        <p:nvSpPr>
          <p:cNvPr id="21" name="arrow"/>
          <p:cNvSpPr/>
          <p:nvPr/>
        </p:nvSpPr>
        <p:spPr>
          <a:xfrm flipH="1">
            <a:off x="1322222" y="5212080"/>
            <a:ext cx="822960" cy="685800"/>
          </a:xfrm>
          <a:prstGeom prst="line">
            <a:avLst/>
          </a:prstGeom>
          <a:noFill/>
          <a:ln w="44450">
            <a:solidFill>
              <a:srgbClr val="2E6FD1"/>
            </a:solidFill>
            <a:prstDash val="solid"/>
          </a:ln>
        </p:spPr>
      </p:sp>
      <p:sp>
        <p:nvSpPr>
          <p:cNvPr id="22" name="arrow"/>
          <p:cNvSpPr/>
          <p:nvPr/>
        </p:nvSpPr>
        <p:spPr>
          <a:xfrm>
            <a:off x="2145182" y="5212080"/>
            <a:ext cx="1097280" cy="228600"/>
          </a:xfrm>
          <a:prstGeom prst="line">
            <a:avLst/>
          </a:prstGeom>
          <a:noFill/>
          <a:ln w="44450">
            <a:solidFill>
              <a:srgbClr val="D1495B"/>
            </a:solidFill>
            <a:prstDash val="solid"/>
          </a:ln>
        </p:spPr>
      </p:sp>
      <p:sp>
        <p:nvSpPr>
          <p:cNvPr id="23" name="shaded area"/>
          <p:cNvSpPr/>
          <p:nvPr/>
        </p:nvSpPr>
        <p:spPr>
          <a:xfrm>
            <a:off x="1322222" y="5212080"/>
            <a:ext cx="1920240" cy="685800"/>
          </a:xfrm>
          <a:custGeom>
            <a:avLst/>
            <a:gdLst/>
            <a:ahLst/>
            <a:cxnLst/>
            <a:rect l="l" t="t" r="r" b="b"/>
            <a:pathLst>
              <a:path w="1920240" h="685800">
                <a:moveTo>
                  <a:pt x="822960" y="0"/>
                </a:moveTo>
                <a:lnTo>
                  <a:pt x="1920240" y="228600"/>
                </a:lnTo>
                <a:lnTo>
                  <a:pt x="0" y="685800"/>
                </a:lnTo>
                <a:close/>
              </a:path>
            </a:pathLst>
          </a:custGeom>
          <a:solidFill>
            <a:srgbClr val="F4B6B6">
              <a:alpha val="70000"/>
            </a:srgbClr>
          </a:solidFill>
          <a:ln/>
        </p:spPr>
      </p:sp>
      <p:sp>
        <p:nvSpPr>
          <p:cNvPr id="24" name="Text 18"/>
          <p:cNvSpPr txBox="1"/>
          <p:nvPr/>
        </p:nvSpPr>
        <p:spPr>
          <a:xfrm>
            <a:off x="1916582" y="4800600"/>
            <a:ext cx="365760" cy="320040"/>
          </a:xfrm>
          <a:prstGeom prst="rect">
            <a:avLst/>
          </a:prstGeom>
          <a:noFill/>
          <a:ln/>
        </p:spPr>
        <p:txBody>
          <a:bodyPr wrap="square" lIns="0" tIns="0" rIns="0" bIns="0" rtlCol="0" anchor="ctr"/>
          <a:lstStyle/>
          <a:p>
            <a:pPr algn="l" indent="0" marL="0">
              <a:buNone/>
            </a:pPr>
            <a:r>
              <a:rPr lang="en-US" sz="1600" b="1" dirty="0">
                <a:solidFill>
                  <a:schemeClr val="accent1"/>
                </a:solidFill>
              </a:rPr>
              <a:t>L</a:t>
            </a:r>
            <a:endParaRPr lang="en-US" sz="1600" dirty="0"/>
          </a:p>
        </p:txBody>
      </p:sp>
      <p:sp>
        <p:nvSpPr>
          <p:cNvPr id="25" name="Text 19"/>
          <p:cNvSpPr txBox="1"/>
          <p:nvPr/>
        </p:nvSpPr>
        <p:spPr>
          <a:xfrm>
            <a:off x="640080" y="5742432"/>
            <a:ext cx="3364992" cy="320040"/>
          </a:xfrm>
          <a:prstGeom prst="rect">
            <a:avLst/>
          </a:prstGeom>
          <a:noFill/>
          <a:ln/>
        </p:spPr>
        <p:txBody>
          <a:bodyPr wrap="square" lIns="0" tIns="0" rIns="0" bIns="0" rtlCol="0" anchor="ctr"/>
          <a:lstStyle/>
          <a:p>
            <a:pPr algn="ctr" indent="0" marL="0">
              <a:buNone/>
            </a:pPr>
            <a:r>
              <a:rPr lang="en-US" sz="1200" b="1" dirty="0">
                <a:solidFill>
                  <a:schemeClr val="tx2"/>
                </a:solidFill>
              </a:rPr>
              <a:t>1. Wave forms</a:t>
            </a:r>
            <a:endParaRPr lang="en-US" sz="1200" dirty="0"/>
          </a:p>
        </p:txBody>
      </p:sp>
      <p:sp>
        <p:nvSpPr>
          <p:cNvPr id="26" name="card"/>
          <p:cNvSpPr/>
          <p:nvPr/>
        </p:nvSpPr>
        <p:spPr>
          <a:xfrm>
            <a:off x="4297680" y="4343400"/>
            <a:ext cx="3547872" cy="1783080"/>
          </a:xfrm>
          <a:prstGeom prst="roundRect">
            <a:avLst>
              <a:gd name="adj" fmla="val 4103"/>
            </a:avLst>
          </a:prstGeom>
          <a:solidFill>
            <a:schemeClr val="bg2"/>
          </a:solidFill>
          <a:ln/>
          <a:effectLst>
            <a:outerShdw sx="100000" sy="100000" kx="0" ky="0" algn="bl" rotWithShape="0" blurRad="76200" dist="25400" dir="5400000">
              <a:srgbClr val="000000">
                <a:alpha val="14000"/>
              </a:srgbClr>
            </a:outerShdw>
          </a:effectLst>
        </p:spPr>
      </p:sp>
      <p:sp>
        <p:nvSpPr>
          <p:cNvPr id="27" name="arrow"/>
          <p:cNvSpPr/>
          <p:nvPr/>
        </p:nvSpPr>
        <p:spPr>
          <a:xfrm flipH="1">
            <a:off x="5071262" y="5212080"/>
            <a:ext cx="822960" cy="685800"/>
          </a:xfrm>
          <a:prstGeom prst="line">
            <a:avLst/>
          </a:prstGeom>
          <a:noFill/>
          <a:ln w="44450">
            <a:solidFill>
              <a:srgbClr val="2E6FD1"/>
            </a:solidFill>
            <a:prstDash val="solid"/>
          </a:ln>
        </p:spPr>
      </p:sp>
      <p:sp>
        <p:nvSpPr>
          <p:cNvPr id="28" name="arrow"/>
          <p:cNvSpPr/>
          <p:nvPr/>
        </p:nvSpPr>
        <p:spPr>
          <a:xfrm>
            <a:off x="5894222" y="5212080"/>
            <a:ext cx="1097280" cy="228600"/>
          </a:xfrm>
          <a:prstGeom prst="line">
            <a:avLst/>
          </a:prstGeom>
          <a:noFill/>
          <a:ln w="44450">
            <a:solidFill>
              <a:srgbClr val="D1495B"/>
            </a:solidFill>
            <a:prstDash val="solid"/>
          </a:ln>
        </p:spPr>
      </p:sp>
      <p:sp>
        <p:nvSpPr>
          <p:cNvPr id="29" name="shaded area"/>
          <p:cNvSpPr/>
          <p:nvPr/>
        </p:nvSpPr>
        <p:spPr>
          <a:xfrm>
            <a:off x="5071262" y="5212080"/>
            <a:ext cx="1920240" cy="685800"/>
          </a:xfrm>
          <a:custGeom>
            <a:avLst/>
            <a:gdLst/>
            <a:ahLst/>
            <a:cxnLst/>
            <a:rect l="l" t="t" r="r" b="b"/>
            <a:pathLst>
              <a:path w="1920240" h="685800">
                <a:moveTo>
                  <a:pt x="822960" y="0"/>
                </a:moveTo>
                <a:lnTo>
                  <a:pt x="1920240" y="228600"/>
                </a:lnTo>
                <a:lnTo>
                  <a:pt x="0" y="685800"/>
                </a:lnTo>
                <a:close/>
              </a:path>
            </a:pathLst>
          </a:custGeom>
          <a:solidFill>
            <a:srgbClr val="F4B6B6">
              <a:alpha val="55000"/>
            </a:srgbClr>
          </a:solidFill>
          <a:ln/>
        </p:spPr>
      </p:sp>
      <p:sp>
        <p:nvSpPr>
          <p:cNvPr id="30" name="Text 24"/>
          <p:cNvSpPr txBox="1"/>
          <p:nvPr/>
        </p:nvSpPr>
        <p:spPr>
          <a:xfrm>
            <a:off x="5665622" y="4800600"/>
            <a:ext cx="365760" cy="320040"/>
          </a:xfrm>
          <a:prstGeom prst="rect">
            <a:avLst/>
          </a:prstGeom>
          <a:noFill/>
          <a:ln/>
        </p:spPr>
        <p:txBody>
          <a:bodyPr wrap="square" lIns="0" tIns="0" rIns="0" bIns="0" rtlCol="0" anchor="ctr"/>
          <a:lstStyle/>
          <a:p>
            <a:pPr algn="l" indent="0" marL="0">
              <a:buNone/>
            </a:pPr>
            <a:r>
              <a:rPr lang="en-US" sz="1600" b="1" dirty="0">
                <a:solidFill>
                  <a:schemeClr val="accent1"/>
                </a:solidFill>
              </a:rPr>
              <a:t>L</a:t>
            </a:r>
            <a:endParaRPr lang="en-US" sz="1600" dirty="0"/>
          </a:p>
        </p:txBody>
      </p:sp>
      <p:sp>
        <p:nvSpPr>
          <p:cNvPr id="31" name="Text 25"/>
          <p:cNvSpPr txBox="1"/>
          <p:nvPr/>
        </p:nvSpPr>
        <p:spPr>
          <a:xfrm>
            <a:off x="4389120" y="5742432"/>
            <a:ext cx="3364992" cy="320040"/>
          </a:xfrm>
          <a:prstGeom prst="rect">
            <a:avLst/>
          </a:prstGeom>
          <a:noFill/>
          <a:ln/>
        </p:spPr>
        <p:txBody>
          <a:bodyPr wrap="square" lIns="0" tIns="0" rIns="0" bIns="0" rtlCol="0" anchor="ctr"/>
          <a:lstStyle/>
          <a:p>
            <a:pPr algn="ctr" indent="0" marL="0">
              <a:buNone/>
            </a:pPr>
            <a:r>
              <a:rPr lang="en-US" sz="1200" b="1" dirty="0">
                <a:solidFill>
                  <a:schemeClr val="tx2"/>
                </a:solidFill>
              </a:rPr>
              <a:t>2. Cold front advances faster</a:t>
            </a:r>
            <a:endParaRPr lang="en-US" sz="1200" dirty="0"/>
          </a:p>
        </p:txBody>
      </p:sp>
      <p:sp>
        <p:nvSpPr>
          <p:cNvPr id="32" name="card"/>
          <p:cNvSpPr/>
          <p:nvPr/>
        </p:nvSpPr>
        <p:spPr>
          <a:xfrm>
            <a:off x="8046720" y="4343400"/>
            <a:ext cx="3547872" cy="1783080"/>
          </a:xfrm>
          <a:prstGeom prst="roundRect">
            <a:avLst>
              <a:gd name="adj" fmla="val 4103"/>
            </a:avLst>
          </a:prstGeom>
          <a:solidFill>
            <a:schemeClr val="bg2"/>
          </a:solidFill>
          <a:ln/>
          <a:effectLst>
            <a:outerShdw sx="100000" sy="100000" kx="0" ky="0" algn="bl" rotWithShape="0" blurRad="76200" dist="25400" dir="5400000">
              <a:srgbClr val="000000">
                <a:alpha val="14000"/>
              </a:srgbClr>
            </a:outerShdw>
          </a:effectLst>
        </p:spPr>
      </p:sp>
      <p:sp>
        <p:nvSpPr>
          <p:cNvPr id="33" name="arrow"/>
          <p:cNvSpPr/>
          <p:nvPr/>
        </p:nvSpPr>
        <p:spPr>
          <a:xfrm flipH="1">
            <a:off x="8820302" y="5212080"/>
            <a:ext cx="822960" cy="685800"/>
          </a:xfrm>
          <a:prstGeom prst="line">
            <a:avLst/>
          </a:prstGeom>
          <a:noFill/>
          <a:ln w="44450">
            <a:solidFill>
              <a:srgbClr val="2E6FD1"/>
            </a:solidFill>
            <a:prstDash val="solid"/>
          </a:ln>
        </p:spPr>
      </p:sp>
      <p:sp>
        <p:nvSpPr>
          <p:cNvPr id="34" name="arrow"/>
          <p:cNvSpPr/>
          <p:nvPr/>
        </p:nvSpPr>
        <p:spPr>
          <a:xfrm>
            <a:off x="9643262" y="5212080"/>
            <a:ext cx="1097280" cy="228600"/>
          </a:xfrm>
          <a:prstGeom prst="line">
            <a:avLst/>
          </a:prstGeom>
          <a:noFill/>
          <a:ln w="44450">
            <a:solidFill>
              <a:srgbClr val="D1495B"/>
            </a:solidFill>
            <a:prstDash val="solid"/>
          </a:ln>
        </p:spPr>
      </p:sp>
      <p:sp>
        <p:nvSpPr>
          <p:cNvPr id="35" name="arrow"/>
          <p:cNvSpPr/>
          <p:nvPr/>
        </p:nvSpPr>
        <p:spPr>
          <a:xfrm>
            <a:off x="9003182" y="4892040"/>
            <a:ext cx="640080" cy="320040"/>
          </a:xfrm>
          <a:prstGeom prst="line">
            <a:avLst/>
          </a:prstGeom>
          <a:noFill/>
          <a:ln w="44450">
            <a:solidFill>
              <a:srgbClr val="8E3FA0"/>
            </a:solidFill>
            <a:prstDash val="solid"/>
          </a:ln>
        </p:spPr>
      </p:sp>
      <p:sp>
        <p:nvSpPr>
          <p:cNvPr id="36" name="shaded area"/>
          <p:cNvSpPr/>
          <p:nvPr/>
        </p:nvSpPr>
        <p:spPr>
          <a:xfrm>
            <a:off x="8820302" y="5212080"/>
            <a:ext cx="1920240" cy="685800"/>
          </a:xfrm>
          <a:custGeom>
            <a:avLst/>
            <a:gdLst/>
            <a:ahLst/>
            <a:cxnLst/>
            <a:rect l="l" t="t" r="r" b="b"/>
            <a:pathLst>
              <a:path w="1920240" h="685800">
                <a:moveTo>
                  <a:pt x="822960" y="0"/>
                </a:moveTo>
                <a:lnTo>
                  <a:pt x="1920240" y="228600"/>
                </a:lnTo>
                <a:lnTo>
                  <a:pt x="0" y="685800"/>
                </a:lnTo>
                <a:close/>
              </a:path>
            </a:pathLst>
          </a:custGeom>
          <a:solidFill>
            <a:srgbClr val="F4B6B6">
              <a:alpha val="40000"/>
            </a:srgbClr>
          </a:solidFill>
          <a:ln/>
        </p:spPr>
      </p:sp>
      <p:sp>
        <p:nvSpPr>
          <p:cNvPr id="37" name="Text 31"/>
          <p:cNvSpPr txBox="1"/>
          <p:nvPr/>
        </p:nvSpPr>
        <p:spPr>
          <a:xfrm>
            <a:off x="9414662" y="4800600"/>
            <a:ext cx="365760" cy="320040"/>
          </a:xfrm>
          <a:prstGeom prst="rect">
            <a:avLst/>
          </a:prstGeom>
          <a:noFill/>
          <a:ln/>
        </p:spPr>
        <p:txBody>
          <a:bodyPr wrap="square" lIns="0" tIns="0" rIns="0" bIns="0" rtlCol="0" anchor="ctr"/>
          <a:lstStyle/>
          <a:p>
            <a:pPr algn="l" indent="0" marL="0">
              <a:buNone/>
            </a:pPr>
            <a:r>
              <a:rPr lang="en-US" sz="1600" b="1" dirty="0">
                <a:solidFill>
                  <a:schemeClr val="accent1"/>
                </a:solidFill>
              </a:rPr>
              <a:t>L</a:t>
            </a:r>
            <a:endParaRPr lang="en-US" sz="1600" dirty="0"/>
          </a:p>
        </p:txBody>
      </p:sp>
      <p:sp>
        <p:nvSpPr>
          <p:cNvPr id="38" name="Text 32"/>
          <p:cNvSpPr txBox="1"/>
          <p:nvPr/>
        </p:nvSpPr>
        <p:spPr>
          <a:xfrm>
            <a:off x="8138160" y="5742432"/>
            <a:ext cx="3364992" cy="320040"/>
          </a:xfrm>
          <a:prstGeom prst="rect">
            <a:avLst/>
          </a:prstGeom>
          <a:noFill/>
          <a:ln/>
        </p:spPr>
        <p:txBody>
          <a:bodyPr wrap="square" lIns="0" tIns="0" rIns="0" bIns="0" rtlCol="0" anchor="ctr"/>
          <a:lstStyle/>
          <a:p>
            <a:pPr algn="ctr" indent="0" marL="0">
              <a:buNone/>
            </a:pPr>
            <a:r>
              <a:rPr lang="en-US" sz="1200" b="1" dirty="0">
                <a:solidFill>
                  <a:schemeClr val="tx2"/>
                </a:solidFill>
              </a:rPr>
              <a:t>3. Occlusion: warm air lifted</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Fronts, stability and Indian weather</a:t>
            </a:r>
            <a:endParaRPr lang="en-US" sz="3200" dirty="0"/>
          </a:p>
        </p:txBody>
      </p:sp>
      <p:sp>
        <p:nvSpPr>
          <p:cNvPr id="4" name="card"/>
          <p:cNvSpPr/>
          <p:nvPr/>
        </p:nvSpPr>
        <p:spPr>
          <a:xfrm>
            <a:off x="548640" y="1371600"/>
            <a:ext cx="3547872" cy="3291840"/>
          </a:xfrm>
          <a:prstGeom prst="roundRect">
            <a:avLst>
              <a:gd name="adj" fmla="val 2222"/>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554480"/>
            <a:ext cx="548640" cy="548640"/>
          </a:xfrm>
          <a:prstGeom prst="ellipse">
            <a:avLst/>
          </a:prstGeom>
          <a:solidFill>
            <a:schemeClr val="accent2"/>
          </a:solidFill>
          <a:ln/>
        </p:spPr>
      </p:sp>
      <p:pic>
        <p:nvPicPr>
          <p:cNvPr id="6" name="Image 0" descr="Snowflake icon">    </p:cNvPr>
          <p:cNvPicPr>
            <a:picLocks noChangeAspect="1"/>
          </p:cNvPicPr>
          <p:nvPr/>
        </p:nvPicPr>
        <p:blipFill>
          <a:blip r:embed="rId1"/>
          <a:stretch>
            <a:fillRect/>
          </a:stretch>
        </p:blipFill>
        <p:spPr>
          <a:xfrm>
            <a:off x="874166" y="1697126"/>
            <a:ext cx="263347" cy="263347"/>
          </a:xfrm>
          <a:prstGeom prst="rect">
            <a:avLst/>
          </a:prstGeom>
        </p:spPr>
      </p:pic>
      <p:sp>
        <p:nvSpPr>
          <p:cNvPr id="7" name="Text 3"/>
          <p:cNvSpPr txBox="1"/>
          <p:nvPr/>
        </p:nvSpPr>
        <p:spPr>
          <a:xfrm>
            <a:off x="1417320" y="1508760"/>
            <a:ext cx="2560320" cy="411480"/>
          </a:xfrm>
          <a:prstGeom prst="rect">
            <a:avLst/>
          </a:prstGeom>
          <a:noFill/>
          <a:ln/>
        </p:spPr>
        <p:txBody>
          <a:bodyPr wrap="square" lIns="0" tIns="0" rIns="0" bIns="0" rtlCol="0" anchor="ctr"/>
          <a:lstStyle/>
          <a:p>
            <a:pPr algn="l" indent="0" marL="0">
              <a:buNone/>
            </a:pPr>
            <a:r>
              <a:rPr lang="en-US" sz="1500" b="1" dirty="0">
                <a:solidFill>
                  <a:schemeClr val="tx2"/>
                </a:solidFill>
              </a:rPr>
              <a:t>Western disturbances</a:t>
            </a:r>
            <a:endParaRPr lang="en-US" sz="1500" dirty="0"/>
          </a:p>
        </p:txBody>
      </p:sp>
      <p:sp>
        <p:nvSpPr>
          <p:cNvPr id="8" name="Text 4"/>
          <p:cNvSpPr txBox="1"/>
          <p:nvPr/>
        </p:nvSpPr>
        <p:spPr>
          <a:xfrm>
            <a:off x="1417320" y="1874520"/>
            <a:ext cx="2560320" cy="320040"/>
          </a:xfrm>
          <a:prstGeom prst="rect">
            <a:avLst/>
          </a:prstGeom>
          <a:noFill/>
          <a:ln/>
        </p:spPr>
        <p:txBody>
          <a:bodyPr wrap="square" lIns="0" tIns="0" rIns="0" bIns="0" rtlCol="0" anchor="ctr"/>
          <a:lstStyle/>
          <a:p>
            <a:pPr algn="l" indent="0" marL="0">
              <a:buNone/>
            </a:pPr>
            <a:r>
              <a:rPr lang="en-US" sz="1200" i="1" dirty="0">
                <a:solidFill>
                  <a:schemeClr val="accent6"/>
                </a:solidFill>
              </a:rPr>
              <a:t>Winter, north India</a:t>
            </a:r>
            <a:endParaRPr lang="en-US" sz="1200" dirty="0"/>
          </a:p>
        </p:txBody>
      </p:sp>
      <p:sp>
        <p:nvSpPr>
          <p:cNvPr id="9" name="Text 5"/>
          <p:cNvSpPr txBox="1"/>
          <p:nvPr/>
        </p:nvSpPr>
        <p:spPr>
          <a:xfrm>
            <a:off x="777240" y="2377440"/>
            <a:ext cx="3108960" cy="2103120"/>
          </a:xfrm>
          <a:prstGeom prst="rect">
            <a:avLst/>
          </a:prstGeom>
          <a:noFill/>
          <a:ln/>
        </p:spPr>
        <p:txBody>
          <a:bodyPr wrap="square" lIns="0" tIns="0" rIns="0" bIns="0" rtlCol="0" anchor="t"/>
          <a:lstStyle/>
          <a:p>
            <a:pPr indent="0" marL="0">
              <a:buNone/>
            </a:pPr>
            <a:r>
              <a:rPr lang="en-US" sz="1400" dirty="0">
                <a:solidFill>
                  <a:schemeClr val="tx1"/>
                </a:solidFill>
              </a:rPr>
              <a:t>Mid-latitude troughs with weak fronts: rain, snow; cold wave and fog afterwards</a:t>
            </a:r>
            <a:endParaRPr lang="en-US" sz="1400" dirty="0"/>
          </a:p>
        </p:txBody>
      </p:sp>
      <p:sp>
        <p:nvSpPr>
          <p:cNvPr id="10" name="card"/>
          <p:cNvSpPr/>
          <p:nvPr/>
        </p:nvSpPr>
        <p:spPr>
          <a:xfrm>
            <a:off x="4297680" y="1371600"/>
            <a:ext cx="3547872" cy="3291840"/>
          </a:xfrm>
          <a:prstGeom prst="roundRect">
            <a:avLst>
              <a:gd name="adj" fmla="val 2222"/>
            </a:avLst>
          </a:prstGeom>
          <a:solidFill>
            <a:schemeClr val="bg2"/>
          </a:solidFill>
          <a:ln/>
          <a:effectLst>
            <a:outerShdw sx="100000" sy="100000" kx="0" ky="0" algn="bl" rotWithShape="0" blurRad="76200" dist="25400" dir="5400000">
              <a:srgbClr val="000000">
                <a:alpha val="14000"/>
              </a:srgbClr>
            </a:outerShdw>
          </a:effectLst>
        </p:spPr>
      </p:sp>
      <p:sp>
        <p:nvSpPr>
          <p:cNvPr id="11" name="icon circle"/>
          <p:cNvSpPr/>
          <p:nvPr/>
        </p:nvSpPr>
        <p:spPr>
          <a:xfrm>
            <a:off x="4480560" y="1554480"/>
            <a:ext cx="548640" cy="548640"/>
          </a:xfrm>
          <a:prstGeom prst="ellipse">
            <a:avLst/>
          </a:prstGeom>
          <a:solidFill>
            <a:schemeClr val="accent1"/>
          </a:solidFill>
          <a:ln/>
        </p:spPr>
      </p:sp>
      <p:pic>
        <p:nvPicPr>
          <p:cNvPr id="12" name="Image 1" descr="Bolt icon">    </p:cNvPr>
          <p:cNvPicPr>
            <a:picLocks noChangeAspect="1"/>
          </p:cNvPicPr>
          <p:nvPr/>
        </p:nvPicPr>
        <p:blipFill>
          <a:blip r:embed="rId2"/>
          <a:stretch>
            <a:fillRect/>
          </a:stretch>
        </p:blipFill>
        <p:spPr>
          <a:xfrm>
            <a:off x="4623206" y="1697126"/>
            <a:ext cx="263347" cy="263347"/>
          </a:xfrm>
          <a:prstGeom prst="rect">
            <a:avLst/>
          </a:prstGeom>
        </p:spPr>
      </p:pic>
      <p:sp>
        <p:nvSpPr>
          <p:cNvPr id="13" name="Text 8"/>
          <p:cNvSpPr txBox="1"/>
          <p:nvPr/>
        </p:nvSpPr>
        <p:spPr>
          <a:xfrm>
            <a:off x="5166360" y="1508760"/>
            <a:ext cx="2560320" cy="411480"/>
          </a:xfrm>
          <a:prstGeom prst="rect">
            <a:avLst/>
          </a:prstGeom>
          <a:noFill/>
          <a:ln/>
        </p:spPr>
        <p:txBody>
          <a:bodyPr wrap="square" lIns="0" tIns="0" rIns="0" bIns="0" rtlCol="0" anchor="ctr"/>
          <a:lstStyle/>
          <a:p>
            <a:pPr algn="l" indent="0" marL="0">
              <a:buNone/>
            </a:pPr>
            <a:r>
              <a:rPr lang="en-US" sz="1500" b="1" dirty="0">
                <a:solidFill>
                  <a:schemeClr val="tx2"/>
                </a:solidFill>
              </a:rPr>
              <a:t>Dry line &amp; nor'westers</a:t>
            </a:r>
            <a:endParaRPr lang="en-US" sz="1500" dirty="0"/>
          </a:p>
        </p:txBody>
      </p:sp>
      <p:sp>
        <p:nvSpPr>
          <p:cNvPr id="14" name="Text 9"/>
          <p:cNvSpPr txBox="1"/>
          <p:nvPr/>
        </p:nvSpPr>
        <p:spPr>
          <a:xfrm>
            <a:off x="5166360" y="1874520"/>
            <a:ext cx="2560320" cy="320040"/>
          </a:xfrm>
          <a:prstGeom prst="rect">
            <a:avLst/>
          </a:prstGeom>
          <a:noFill/>
          <a:ln/>
        </p:spPr>
        <p:txBody>
          <a:bodyPr wrap="square" lIns="0" tIns="0" rIns="0" bIns="0" rtlCol="0" anchor="ctr"/>
          <a:lstStyle/>
          <a:p>
            <a:pPr algn="l" indent="0" marL="0">
              <a:buNone/>
            </a:pPr>
            <a:r>
              <a:rPr lang="en-US" sz="1200" i="1" dirty="0">
                <a:solidFill>
                  <a:schemeClr val="accent6"/>
                </a:solidFill>
              </a:rPr>
              <a:t>Mar–May, east India</a:t>
            </a:r>
            <a:endParaRPr lang="en-US" sz="1200" dirty="0"/>
          </a:p>
        </p:txBody>
      </p:sp>
      <p:sp>
        <p:nvSpPr>
          <p:cNvPr id="15" name="Text 10"/>
          <p:cNvSpPr txBox="1"/>
          <p:nvPr/>
        </p:nvSpPr>
        <p:spPr>
          <a:xfrm>
            <a:off x="4526280" y="2377440"/>
            <a:ext cx="3108960" cy="2103120"/>
          </a:xfrm>
          <a:prstGeom prst="rect">
            <a:avLst/>
          </a:prstGeom>
          <a:noFill/>
          <a:ln/>
        </p:spPr>
        <p:txBody>
          <a:bodyPr wrap="square" lIns="0" tIns="0" rIns="0" bIns="0" rtlCol="0" anchor="t"/>
          <a:lstStyle/>
          <a:p>
            <a:pPr indent="0" marL="0">
              <a:buNone/>
            </a:pPr>
            <a:r>
              <a:rPr lang="en-US" sz="1400" dirty="0">
                <a:solidFill>
                  <a:schemeClr val="tx1"/>
                </a:solidFill>
              </a:rPr>
              <a:t>cT meets mT; high CAPE → Kalbaisakhi thunderstorms, squalls</a:t>
            </a:r>
            <a:endParaRPr lang="en-US" sz="1400" dirty="0"/>
          </a:p>
        </p:txBody>
      </p:sp>
      <p:sp>
        <p:nvSpPr>
          <p:cNvPr id="16" name="card"/>
          <p:cNvSpPr/>
          <p:nvPr/>
        </p:nvSpPr>
        <p:spPr>
          <a:xfrm>
            <a:off x="8046720" y="1371600"/>
            <a:ext cx="3547872" cy="3291840"/>
          </a:xfrm>
          <a:prstGeom prst="roundRect">
            <a:avLst>
              <a:gd name="adj" fmla="val 2222"/>
            </a:avLst>
          </a:prstGeom>
          <a:solidFill>
            <a:schemeClr val="bg2"/>
          </a:solidFill>
          <a:ln/>
          <a:effectLst>
            <a:outerShdw sx="100000" sy="100000" kx="0" ky="0" algn="bl" rotWithShape="0" blurRad="76200" dist="25400" dir="5400000">
              <a:srgbClr val="000000">
                <a:alpha val="14000"/>
              </a:srgbClr>
            </a:outerShdw>
          </a:effectLst>
        </p:spPr>
      </p:sp>
      <p:sp>
        <p:nvSpPr>
          <p:cNvPr id="17" name="icon circle"/>
          <p:cNvSpPr/>
          <p:nvPr/>
        </p:nvSpPr>
        <p:spPr>
          <a:xfrm>
            <a:off x="8229600" y="1554480"/>
            <a:ext cx="548640" cy="548640"/>
          </a:xfrm>
          <a:prstGeom prst="ellipse">
            <a:avLst/>
          </a:prstGeom>
          <a:solidFill>
            <a:schemeClr val="accent5"/>
          </a:solidFill>
          <a:ln/>
        </p:spPr>
      </p:sp>
      <p:pic>
        <p:nvPicPr>
          <p:cNvPr id="18" name="Image 2" descr="CloudShowersHeavy icon">    </p:cNvPr>
          <p:cNvPicPr>
            <a:picLocks noChangeAspect="1"/>
          </p:cNvPicPr>
          <p:nvPr/>
        </p:nvPicPr>
        <p:blipFill>
          <a:blip r:embed="rId3"/>
          <a:stretch>
            <a:fillRect/>
          </a:stretch>
        </p:blipFill>
        <p:spPr>
          <a:xfrm>
            <a:off x="8372246" y="1697126"/>
            <a:ext cx="263347" cy="263347"/>
          </a:xfrm>
          <a:prstGeom prst="rect">
            <a:avLst/>
          </a:prstGeom>
        </p:spPr>
      </p:pic>
      <p:sp>
        <p:nvSpPr>
          <p:cNvPr id="19" name="Text 13"/>
          <p:cNvSpPr txBox="1"/>
          <p:nvPr/>
        </p:nvSpPr>
        <p:spPr>
          <a:xfrm>
            <a:off x="8915400" y="1508760"/>
            <a:ext cx="2560320" cy="411480"/>
          </a:xfrm>
          <a:prstGeom prst="rect">
            <a:avLst/>
          </a:prstGeom>
          <a:noFill/>
          <a:ln/>
        </p:spPr>
        <p:txBody>
          <a:bodyPr wrap="square" lIns="0" tIns="0" rIns="0" bIns="0" rtlCol="0" anchor="ctr"/>
          <a:lstStyle/>
          <a:p>
            <a:pPr algn="l" indent="0" marL="0">
              <a:buNone/>
            </a:pPr>
            <a:r>
              <a:rPr lang="en-US" sz="1500" b="1" dirty="0">
                <a:solidFill>
                  <a:schemeClr val="tx2"/>
                </a:solidFill>
              </a:rPr>
              <a:t>Monsoon trough</a:t>
            </a:r>
            <a:endParaRPr lang="en-US" sz="1500" dirty="0"/>
          </a:p>
        </p:txBody>
      </p:sp>
      <p:sp>
        <p:nvSpPr>
          <p:cNvPr id="20" name="Text 14"/>
          <p:cNvSpPr txBox="1"/>
          <p:nvPr/>
        </p:nvSpPr>
        <p:spPr>
          <a:xfrm>
            <a:off x="8915400" y="1874520"/>
            <a:ext cx="2560320" cy="320040"/>
          </a:xfrm>
          <a:prstGeom prst="rect">
            <a:avLst/>
          </a:prstGeom>
          <a:noFill/>
          <a:ln/>
        </p:spPr>
        <p:txBody>
          <a:bodyPr wrap="square" lIns="0" tIns="0" rIns="0" bIns="0" rtlCol="0" anchor="ctr"/>
          <a:lstStyle/>
          <a:p>
            <a:pPr algn="l" indent="0" marL="0">
              <a:buNone/>
            </a:pPr>
            <a:r>
              <a:rPr lang="en-US" sz="1200" i="1" dirty="0">
                <a:solidFill>
                  <a:schemeClr val="accent6"/>
                </a:solidFill>
              </a:rPr>
              <a:t>Jun–Sep</a:t>
            </a:r>
            <a:endParaRPr lang="en-US" sz="1200" dirty="0"/>
          </a:p>
        </p:txBody>
      </p:sp>
      <p:sp>
        <p:nvSpPr>
          <p:cNvPr id="21" name="Text 15"/>
          <p:cNvSpPr txBox="1"/>
          <p:nvPr/>
        </p:nvSpPr>
        <p:spPr>
          <a:xfrm>
            <a:off x="8275320" y="2377440"/>
            <a:ext cx="3108960" cy="2103120"/>
          </a:xfrm>
          <a:prstGeom prst="rect">
            <a:avLst/>
          </a:prstGeom>
          <a:noFill/>
          <a:ln/>
        </p:spPr>
        <p:txBody>
          <a:bodyPr wrap="square" lIns="0" tIns="0" rIns="0" bIns="0" rtlCol="0" anchor="t"/>
          <a:lstStyle/>
          <a:p>
            <a:pPr indent="0" marL="0">
              <a:buNone/>
            </a:pPr>
            <a:r>
              <a:rPr lang="en-US" sz="1400" dirty="0">
                <a:solidFill>
                  <a:schemeClr val="tx1"/>
                </a:solidFill>
              </a:rPr>
              <a:t>Convergence zone in moist mT air; lows and depressions, not classic fronts</a:t>
            </a:r>
            <a:endParaRPr lang="en-US" sz="1400" dirty="0"/>
          </a:p>
        </p:txBody>
      </p:sp>
      <p:sp>
        <p:nvSpPr>
          <p:cNvPr id="22" name="insight"/>
          <p:cNvSpPr/>
          <p:nvPr/>
        </p:nvSpPr>
        <p:spPr>
          <a:xfrm>
            <a:off x="548640" y="4892040"/>
            <a:ext cx="11094415" cy="1005840"/>
          </a:xfrm>
          <a:prstGeom prst="roundRect">
            <a:avLst>
              <a:gd name="adj" fmla="val 7273"/>
            </a:avLst>
          </a:prstGeom>
          <a:solidFill>
            <a:schemeClr val="bg2"/>
          </a:solidFill>
          <a:ln/>
        </p:spPr>
      </p:sp>
      <p:sp>
        <p:nvSpPr>
          <p:cNvPr id="23" name="icon circle"/>
          <p:cNvSpPr/>
          <p:nvPr/>
        </p:nvSpPr>
        <p:spPr>
          <a:xfrm>
            <a:off x="685800" y="5157216"/>
            <a:ext cx="475488" cy="475488"/>
          </a:xfrm>
          <a:prstGeom prst="ellipse">
            <a:avLst/>
          </a:prstGeom>
          <a:solidFill>
            <a:schemeClr val="accent3"/>
          </a:solidFill>
          <a:ln/>
        </p:spPr>
      </p:sp>
      <p:pic>
        <p:nvPicPr>
          <p:cNvPr id="24" name="Image 3" descr="Lightbulb icon">    </p:cNvPr>
          <p:cNvPicPr>
            <a:picLocks noChangeAspect="1"/>
          </p:cNvPicPr>
          <p:nvPr/>
        </p:nvPicPr>
        <p:blipFill>
          <a:blip r:embed="rId4"/>
          <a:stretch>
            <a:fillRect/>
          </a:stretch>
        </p:blipFill>
        <p:spPr>
          <a:xfrm>
            <a:off x="809427" y="5280843"/>
            <a:ext cx="228234" cy="228234"/>
          </a:xfrm>
          <a:prstGeom prst="rect">
            <a:avLst/>
          </a:prstGeom>
        </p:spPr>
      </p:pic>
      <p:sp>
        <p:nvSpPr>
          <p:cNvPr id="25" name="Text 18"/>
          <p:cNvSpPr txBox="1"/>
          <p:nvPr/>
        </p:nvSpPr>
        <p:spPr>
          <a:xfrm>
            <a:off x="1325880" y="4928616"/>
            <a:ext cx="10180015" cy="932688"/>
          </a:xfrm>
          <a:prstGeom prst="rect">
            <a:avLst/>
          </a:prstGeom>
          <a:noFill/>
          <a:ln/>
        </p:spPr>
        <p:txBody>
          <a:bodyPr wrap="square" lIns="508" tIns="508" rIns="508" bIns="508" rtlCol="0" anchor="ctr"/>
          <a:lstStyle/>
          <a:p>
            <a:pPr indent="0" marL="0">
              <a:spcAft>
                <a:spcPts val="600"/>
              </a:spcAft>
              <a:buNone/>
            </a:pPr>
            <a:r>
              <a:rPr lang="en-US" sz="1400" b="1" dirty="0">
                <a:solidFill>
                  <a:schemeClr val="tx1"/>
                </a:solidFill>
              </a:rPr>
              <a:t>Link to stability:</a:t>
            </a:r>
            <a:r>
              <a:rPr lang="en-US" sz="1400" dirty="0">
                <a:solidFill>
                  <a:schemeClr val="tx1"/>
                </a:solidFill>
              </a:rPr>
              <a:t> a cold front lifts unstable warm air sharply (thunderstorms); a warm front lifts stable air gently (layer clouds, drizzle). Same lifting, different stability, different weather.</a:t>
            </a:r>
            <a:endParaRPr lang="en-US" sz="1400" dirty="0"/>
          </a:p>
        </p:txBody>
      </p:sp>
      <p:sp>
        <p:nvSpPr>
          <p:cNvPr id="26" name="Text 19"/>
          <p:cNvSpPr txBox="1"/>
          <p:nvPr/>
        </p:nvSpPr>
        <p:spPr>
          <a:xfrm>
            <a:off x="548640" y="5989320"/>
            <a:ext cx="7315200" cy="274320"/>
          </a:xfrm>
          <a:prstGeom prst="rect">
            <a:avLst/>
          </a:prstGeom>
          <a:noFill/>
          <a:ln/>
        </p:spPr>
        <p:txBody>
          <a:bodyPr wrap="square" lIns="508" tIns="508" rIns="508" bIns="508" rtlCol="0" anchor="t"/>
          <a:lstStyle/>
          <a:p>
            <a:pPr indent="0" marL="0">
              <a:spcAft>
                <a:spcPts val="600"/>
              </a:spcAft>
              <a:buNone/>
            </a:pPr>
            <a:r>
              <a:rPr lang="en-US" sz="1100" i="1" dirty="0">
                <a:solidFill>
                  <a:schemeClr val="accent6"/>
                </a:solidFill>
              </a:rPr>
              <a:t>India examples added for context; not in the handout.</a:t>
            </a:r>
            <a:endParaRPr lang="en-US" sz="11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731520" y="2514600"/>
            <a:ext cx="7680960" cy="1188720"/>
          </a:xfrm>
          <a:prstGeom prst="rect">
            <a:avLst/>
          </a:prstGeom>
          <a:noFill/>
          <a:ln/>
        </p:spPr>
        <p:txBody>
          <a:bodyPr wrap="square" lIns="0" tIns="0" rIns="0" bIns="0" rtlCol="0" anchor="ctr"/>
          <a:lstStyle/>
          <a:p>
            <a:pPr algn="l" indent="0" marL="0">
              <a:buNone/>
            </a:pPr>
            <a:r>
              <a:rPr lang="en-US" sz="4000" b="1" dirty="0">
                <a:solidFill>
                  <a:schemeClr val="bg1"/>
                </a:solidFill>
              </a:rPr>
              <a:t>Practice &amp; revision</a:t>
            </a:r>
            <a:endParaRPr lang="en-US" sz="4000" dirty="0"/>
          </a:p>
        </p:txBody>
      </p:sp>
      <p:sp>
        <p:nvSpPr>
          <p:cNvPr id="3" name="Text 0"/>
          <p:cNvSpPr/>
          <p:nvPr>
            <p:ph idx="101" type="body" hasCustomPrompt="1"/>
          </p:nvPr>
        </p:nvSpPr>
        <p:spPr>
          <a:xfrm>
            <a:off x="731520" y="3794760"/>
            <a:ext cx="7498080" cy="1280160"/>
          </a:xfrm>
          <a:prstGeom prst="rect">
            <a:avLst/>
          </a:prstGeom>
          <a:noFill/>
          <a:ln/>
        </p:spPr>
        <p:txBody>
          <a:bodyPr wrap="square" lIns="0" tIns="0" rIns="0" bIns="0" rtlCol="0" anchor="t"/>
          <a:lstStyle/>
          <a:p>
            <a:pPr indent="0" marL="0">
              <a:buNone/>
            </a:pPr>
            <a:r>
              <a:rPr lang="en-US" sz="1800" dirty="0">
                <a:solidFill>
                  <a:schemeClr val="bg2"/>
                </a:solidFill>
              </a:rPr>
              <a:t>Worked problems, a one-page formula sheet, common doubts and quick viva questions</a:t>
            </a:r>
            <a:endParaRPr lang="en-US" sz="1800" dirty="0"/>
          </a:p>
        </p:txBody>
      </p:sp>
      <p:sp>
        <p:nvSpPr>
          <p:cNvPr id="4" name="Text 2"/>
          <p:cNvSpPr txBox="1"/>
          <p:nvPr/>
        </p:nvSpPr>
        <p:spPr>
          <a:xfrm>
            <a:off x="731520" y="1325880"/>
            <a:ext cx="2286000" cy="109728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10</a:t>
            </a:r>
            <a:endParaRPr lang="en-US" sz="7200" dirty="0"/>
          </a:p>
        </p:txBody>
      </p:sp>
      <p:sp>
        <p:nvSpPr>
          <p:cNvPr id="25" name="Slide Number Placeholder 0"/>
          <p:cNvSpPr>
            <a:spLocks noGrp="1"/>
          </p:cNvSpPr>
          <p:nvPr>
            <p:ph type="sldNum" sz="quarter" idx="4294967295"/>
          </p:nvPr>
        </p:nvSpPr>
        <p:spPr>
          <a:xfrm>
            <a:off x="1124712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Worked problems</a:t>
            </a:r>
            <a:endParaRPr lang="en-US" sz="3200" dirty="0"/>
          </a:p>
        </p:txBody>
      </p:sp>
      <p:sp>
        <p:nvSpPr>
          <p:cNvPr id="4" name="card"/>
          <p:cNvSpPr/>
          <p:nvPr/>
        </p:nvSpPr>
        <p:spPr>
          <a:xfrm>
            <a:off x="548640" y="1371600"/>
            <a:ext cx="544068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777240" y="1481328"/>
            <a:ext cx="4983480" cy="365760"/>
          </a:xfrm>
          <a:prstGeom prst="rect">
            <a:avLst/>
          </a:prstGeom>
          <a:noFill/>
          <a:ln/>
        </p:spPr>
        <p:txBody>
          <a:bodyPr wrap="square" lIns="0" tIns="0" rIns="0" bIns="0" rtlCol="0" anchor="ctr"/>
          <a:lstStyle/>
          <a:p>
            <a:pPr algn="l" indent="0" marL="0">
              <a:buNone/>
            </a:pPr>
            <a:r>
              <a:rPr lang="en-US" sz="1600" b="1" dirty="0">
                <a:solidFill>
                  <a:schemeClr val="tx2"/>
                </a:solidFill>
              </a:rPr>
              <a:t>1. Dry ascent</a:t>
            </a:r>
            <a:endParaRPr lang="en-US" sz="1600" dirty="0"/>
          </a:p>
        </p:txBody>
      </p:sp>
      <p:sp>
        <p:nvSpPr>
          <p:cNvPr id="6" name="Text 3"/>
          <p:cNvSpPr txBox="1"/>
          <p:nvPr/>
        </p:nvSpPr>
        <p:spPr>
          <a:xfrm>
            <a:off x="777240" y="1874520"/>
            <a:ext cx="4983480" cy="731520"/>
          </a:xfrm>
          <a:prstGeom prst="rect">
            <a:avLst/>
          </a:prstGeom>
          <a:noFill/>
          <a:ln/>
        </p:spPr>
        <p:txBody>
          <a:bodyPr wrap="square" lIns="0" tIns="0" rIns="0" bIns="0" rtlCol="0" anchor="t"/>
          <a:lstStyle/>
          <a:p>
            <a:pPr indent="0" marL="0">
              <a:buNone/>
            </a:pPr>
            <a:r>
              <a:rPr lang="en-US" sz="1400" dirty="0">
                <a:solidFill>
                  <a:schemeClr val="tx1"/>
                </a:solidFill>
              </a:rPr>
              <a:t>Unsaturated air at 25 °C rises 1.5 km. Its temperature?</a:t>
            </a:r>
            <a:endParaRPr lang="en-US" sz="1400" dirty="0"/>
          </a:p>
        </p:txBody>
      </p:sp>
      <p:sp>
        <p:nvSpPr>
          <p:cNvPr id="7" name="answer"/>
          <p:cNvSpPr/>
          <p:nvPr/>
        </p:nvSpPr>
        <p:spPr>
          <a:xfrm>
            <a:off x="731520" y="2651760"/>
            <a:ext cx="5074920" cy="822960"/>
          </a:xfrm>
          <a:prstGeom prst="roundRect">
            <a:avLst>
              <a:gd name="adj" fmla="val 6667"/>
            </a:avLst>
          </a:prstGeom>
          <a:solidFill>
            <a:schemeClr val="bg1"/>
          </a:solidFill>
          <a:ln w="9525">
            <a:solidFill>
              <a:srgbClr val="D2D9E2"/>
            </a:solidFill>
            <a:prstDash val="solid"/>
          </a:ln>
        </p:spPr>
      </p:sp>
      <p:sp>
        <p:nvSpPr>
          <p:cNvPr id="8" name="Text 5"/>
          <p:cNvSpPr txBox="1"/>
          <p:nvPr/>
        </p:nvSpPr>
        <p:spPr>
          <a:xfrm>
            <a:off x="868680" y="2670048"/>
            <a:ext cx="4800600" cy="786384"/>
          </a:xfrm>
          <a:prstGeom prst="rect">
            <a:avLst/>
          </a:prstGeom>
          <a:noFill/>
          <a:ln/>
        </p:spPr>
        <p:txBody>
          <a:bodyPr wrap="square" lIns="0" tIns="0" rIns="0" bIns="0" rtlCol="0" anchor="ctr"/>
          <a:lstStyle/>
          <a:p>
            <a:pPr indent="0" marL="0">
              <a:buNone/>
            </a:pPr>
            <a:r>
              <a:rPr lang="en-US" sz="1300" b="1" dirty="0">
                <a:solidFill>
                  <a:schemeClr val="accent1"/>
                </a:solidFill>
              </a:rPr>
              <a:t>Solution: </a:t>
            </a:r>
            <a:r>
              <a:rPr lang="en-US" sz="1300" dirty="0">
                <a:solidFill>
                  <a:schemeClr val="tx1"/>
                </a:solidFill>
              </a:rPr>
              <a:t>25 − 9.8 × 1.5 = </a:t>
            </a:r>
            <a:r>
              <a:rPr lang="en-US" sz="1300" b="1" dirty="0">
                <a:solidFill>
                  <a:schemeClr val="tx1"/>
                </a:solidFill>
              </a:rPr>
              <a:t>10.3 °C</a:t>
            </a:r>
            <a:endParaRPr lang="en-US" sz="1300" dirty="0"/>
          </a:p>
        </p:txBody>
      </p:sp>
      <p:sp>
        <p:nvSpPr>
          <p:cNvPr id="9" name="card"/>
          <p:cNvSpPr/>
          <p:nvPr/>
        </p:nvSpPr>
        <p:spPr>
          <a:xfrm>
            <a:off x="6199632" y="1371600"/>
            <a:ext cx="544068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0" name="Text 7"/>
          <p:cNvSpPr txBox="1"/>
          <p:nvPr/>
        </p:nvSpPr>
        <p:spPr>
          <a:xfrm>
            <a:off x="6428232" y="1481328"/>
            <a:ext cx="4983480" cy="365760"/>
          </a:xfrm>
          <a:prstGeom prst="rect">
            <a:avLst/>
          </a:prstGeom>
          <a:noFill/>
          <a:ln/>
        </p:spPr>
        <p:txBody>
          <a:bodyPr wrap="square" lIns="0" tIns="0" rIns="0" bIns="0" rtlCol="0" anchor="ctr"/>
          <a:lstStyle/>
          <a:p>
            <a:pPr algn="l" indent="0" marL="0">
              <a:buNone/>
            </a:pPr>
            <a:r>
              <a:rPr lang="en-US" sz="1600" b="1" dirty="0">
                <a:solidFill>
                  <a:schemeClr val="tx2"/>
                </a:solidFill>
              </a:rPr>
              <a:t>2. Cloud base</a:t>
            </a:r>
            <a:endParaRPr lang="en-US" sz="1600" dirty="0"/>
          </a:p>
        </p:txBody>
      </p:sp>
      <p:sp>
        <p:nvSpPr>
          <p:cNvPr id="11" name="Text 8"/>
          <p:cNvSpPr txBox="1"/>
          <p:nvPr/>
        </p:nvSpPr>
        <p:spPr>
          <a:xfrm>
            <a:off x="6428232" y="1874520"/>
            <a:ext cx="4983480" cy="731520"/>
          </a:xfrm>
          <a:prstGeom prst="rect">
            <a:avLst/>
          </a:prstGeom>
          <a:noFill/>
          <a:ln/>
        </p:spPr>
        <p:txBody>
          <a:bodyPr wrap="square" lIns="0" tIns="0" rIns="0" bIns="0" rtlCol="0" anchor="t"/>
          <a:lstStyle/>
          <a:p>
            <a:pPr indent="0" marL="0">
              <a:buNone/>
            </a:pPr>
            <a:r>
              <a:rPr lang="en-US" sz="1400" dirty="0">
                <a:solidFill>
                  <a:schemeClr val="tx1"/>
                </a:solidFill>
              </a:rPr>
              <a:t>Surface T = 32 °C, T</a:t>
            </a:r>
            <a:r>
              <a:rPr lang="en-US" sz="1400" baseline="-40000" dirty="0">
                <a:solidFill>
                  <a:schemeClr val="tx1"/>
                </a:solidFill>
              </a:rPr>
              <a:t>d</a:t>
            </a:r>
            <a:r>
              <a:rPr lang="en-US" sz="1400" dirty="0">
                <a:solidFill>
                  <a:schemeClr val="tx1"/>
                </a:solidFill>
              </a:rPr>
              <a:t> = 24 °C. Estimate the LCL.</a:t>
            </a:r>
            <a:endParaRPr lang="en-US" sz="1400" dirty="0"/>
          </a:p>
        </p:txBody>
      </p:sp>
      <p:sp>
        <p:nvSpPr>
          <p:cNvPr id="12" name="answer"/>
          <p:cNvSpPr/>
          <p:nvPr/>
        </p:nvSpPr>
        <p:spPr>
          <a:xfrm>
            <a:off x="6382512" y="2651760"/>
            <a:ext cx="5074920" cy="822960"/>
          </a:xfrm>
          <a:prstGeom prst="roundRect">
            <a:avLst>
              <a:gd name="adj" fmla="val 6667"/>
            </a:avLst>
          </a:prstGeom>
          <a:solidFill>
            <a:schemeClr val="bg1"/>
          </a:solidFill>
          <a:ln w="9525">
            <a:solidFill>
              <a:srgbClr val="D2D9E2"/>
            </a:solidFill>
            <a:prstDash val="solid"/>
          </a:ln>
        </p:spPr>
      </p:sp>
      <p:sp>
        <p:nvSpPr>
          <p:cNvPr id="13" name="Text 10"/>
          <p:cNvSpPr txBox="1"/>
          <p:nvPr/>
        </p:nvSpPr>
        <p:spPr>
          <a:xfrm>
            <a:off x="6519672" y="2670048"/>
            <a:ext cx="4800600" cy="786384"/>
          </a:xfrm>
          <a:prstGeom prst="rect">
            <a:avLst/>
          </a:prstGeom>
          <a:noFill/>
          <a:ln/>
        </p:spPr>
        <p:txBody>
          <a:bodyPr wrap="square" lIns="0" tIns="0" rIns="0" bIns="0" rtlCol="0" anchor="ctr"/>
          <a:lstStyle/>
          <a:p>
            <a:pPr indent="0" marL="0">
              <a:buNone/>
            </a:pPr>
            <a:r>
              <a:rPr lang="en-US" sz="1300" b="1" dirty="0">
                <a:solidFill>
                  <a:schemeClr val="accent1"/>
                </a:solidFill>
              </a:rPr>
              <a:t>Solution: </a:t>
            </a:r>
            <a:r>
              <a:rPr lang="en-US" sz="1300" dirty="0">
                <a:solidFill>
                  <a:schemeClr val="tx1"/>
                </a:solidFill>
              </a:rPr>
              <a:t>125 × (32 − 24) = </a:t>
            </a:r>
            <a:r>
              <a:rPr lang="en-US" sz="1300" b="1" dirty="0">
                <a:solidFill>
                  <a:schemeClr val="tx1"/>
                </a:solidFill>
              </a:rPr>
              <a:t>1000 m</a:t>
            </a:r>
            <a:endParaRPr lang="en-US" sz="1300" dirty="0"/>
          </a:p>
        </p:txBody>
      </p:sp>
      <p:sp>
        <p:nvSpPr>
          <p:cNvPr id="14" name="card"/>
          <p:cNvSpPr/>
          <p:nvPr/>
        </p:nvSpPr>
        <p:spPr>
          <a:xfrm>
            <a:off x="548640" y="3794760"/>
            <a:ext cx="544068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5" name="Text 12"/>
          <p:cNvSpPr txBox="1"/>
          <p:nvPr/>
        </p:nvSpPr>
        <p:spPr>
          <a:xfrm>
            <a:off x="777240" y="3904488"/>
            <a:ext cx="4983480" cy="365760"/>
          </a:xfrm>
          <a:prstGeom prst="rect">
            <a:avLst/>
          </a:prstGeom>
          <a:noFill/>
          <a:ln/>
        </p:spPr>
        <p:txBody>
          <a:bodyPr wrap="square" lIns="0" tIns="0" rIns="0" bIns="0" rtlCol="0" anchor="ctr"/>
          <a:lstStyle/>
          <a:p>
            <a:pPr algn="l" indent="0" marL="0">
              <a:buNone/>
            </a:pPr>
            <a:r>
              <a:rPr lang="en-US" sz="1600" b="1" dirty="0">
                <a:solidFill>
                  <a:schemeClr val="tx2"/>
                </a:solidFill>
              </a:rPr>
              <a:t>3. Potential temperature</a:t>
            </a:r>
            <a:endParaRPr lang="en-US" sz="1600" dirty="0"/>
          </a:p>
        </p:txBody>
      </p:sp>
      <p:sp>
        <p:nvSpPr>
          <p:cNvPr id="16" name="Text 13"/>
          <p:cNvSpPr txBox="1"/>
          <p:nvPr/>
        </p:nvSpPr>
        <p:spPr>
          <a:xfrm>
            <a:off x="777240" y="4297680"/>
            <a:ext cx="4983480" cy="731520"/>
          </a:xfrm>
          <a:prstGeom prst="rect">
            <a:avLst/>
          </a:prstGeom>
          <a:noFill/>
          <a:ln/>
        </p:spPr>
        <p:txBody>
          <a:bodyPr wrap="square" lIns="0" tIns="0" rIns="0" bIns="0" rtlCol="0" anchor="t"/>
          <a:lstStyle/>
          <a:p>
            <a:pPr indent="0" marL="0">
              <a:buNone/>
            </a:pPr>
            <a:r>
              <a:rPr lang="en-US" sz="1400" dirty="0">
                <a:solidFill>
                  <a:schemeClr val="tx1"/>
                </a:solidFill>
              </a:rPr>
              <a:t>Air at 850 hPa, 10 °C. Find θ.</a:t>
            </a:r>
            <a:endParaRPr lang="en-US" sz="1400" dirty="0"/>
          </a:p>
        </p:txBody>
      </p:sp>
      <p:sp>
        <p:nvSpPr>
          <p:cNvPr id="17" name="answer"/>
          <p:cNvSpPr/>
          <p:nvPr/>
        </p:nvSpPr>
        <p:spPr>
          <a:xfrm>
            <a:off x="731520" y="5074920"/>
            <a:ext cx="5074920" cy="822960"/>
          </a:xfrm>
          <a:prstGeom prst="roundRect">
            <a:avLst>
              <a:gd name="adj" fmla="val 6667"/>
            </a:avLst>
          </a:prstGeom>
          <a:solidFill>
            <a:schemeClr val="bg1"/>
          </a:solidFill>
          <a:ln w="9525">
            <a:solidFill>
              <a:srgbClr val="D2D9E2"/>
            </a:solidFill>
            <a:prstDash val="solid"/>
          </a:ln>
        </p:spPr>
      </p:sp>
      <p:sp>
        <p:nvSpPr>
          <p:cNvPr id="18" name="Text 15"/>
          <p:cNvSpPr txBox="1"/>
          <p:nvPr/>
        </p:nvSpPr>
        <p:spPr>
          <a:xfrm>
            <a:off x="868680" y="5093208"/>
            <a:ext cx="4800600" cy="786384"/>
          </a:xfrm>
          <a:prstGeom prst="rect">
            <a:avLst/>
          </a:prstGeom>
          <a:noFill/>
          <a:ln/>
        </p:spPr>
        <p:txBody>
          <a:bodyPr wrap="square" lIns="0" tIns="0" rIns="0" bIns="0" rtlCol="0" anchor="ctr"/>
          <a:lstStyle/>
          <a:p>
            <a:pPr indent="0" marL="0">
              <a:buNone/>
            </a:pPr>
            <a:r>
              <a:rPr lang="en-US" sz="1300" b="1" dirty="0">
                <a:solidFill>
                  <a:schemeClr val="accent1"/>
                </a:solidFill>
              </a:rPr>
              <a:t>Solution: </a:t>
            </a:r>
            <a:r>
              <a:rPr lang="en-US" sz="1300" dirty="0">
                <a:solidFill>
                  <a:schemeClr val="tx1"/>
                </a:solidFill>
              </a:rPr>
              <a:t>283.15 × (1000/850)</a:t>
            </a:r>
            <a:r>
              <a:rPr lang="en-US" sz="1300" baseline="30000" dirty="0">
                <a:solidFill>
                  <a:schemeClr val="tx1"/>
                </a:solidFill>
              </a:rPr>
              <a:t>0.286</a:t>
            </a:r>
            <a:r>
              <a:rPr lang="en-US" sz="1300" dirty="0">
                <a:solidFill>
                  <a:schemeClr val="tx1"/>
                </a:solidFill>
              </a:rPr>
              <a:t> = 283.15 × 1.0476 ≈ </a:t>
            </a:r>
            <a:r>
              <a:rPr lang="en-US" sz="1300" b="1" dirty="0">
                <a:solidFill>
                  <a:schemeClr val="tx1"/>
                </a:solidFill>
              </a:rPr>
              <a:t>296.6 K</a:t>
            </a:r>
            <a:endParaRPr lang="en-US" sz="1300" dirty="0"/>
          </a:p>
        </p:txBody>
      </p:sp>
      <p:sp>
        <p:nvSpPr>
          <p:cNvPr id="19" name="card"/>
          <p:cNvSpPr/>
          <p:nvPr/>
        </p:nvSpPr>
        <p:spPr>
          <a:xfrm>
            <a:off x="6199632" y="3794760"/>
            <a:ext cx="544068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0" name="Text 17"/>
          <p:cNvSpPr txBox="1"/>
          <p:nvPr/>
        </p:nvSpPr>
        <p:spPr>
          <a:xfrm>
            <a:off x="6428232" y="3904488"/>
            <a:ext cx="4983480" cy="365760"/>
          </a:xfrm>
          <a:prstGeom prst="rect">
            <a:avLst/>
          </a:prstGeom>
          <a:noFill/>
          <a:ln/>
        </p:spPr>
        <p:txBody>
          <a:bodyPr wrap="square" lIns="0" tIns="0" rIns="0" bIns="0" rtlCol="0" anchor="ctr"/>
          <a:lstStyle/>
          <a:p>
            <a:pPr algn="l" indent="0" marL="0">
              <a:buNone/>
            </a:pPr>
            <a:r>
              <a:rPr lang="en-US" sz="1600" b="1" dirty="0">
                <a:solidFill>
                  <a:schemeClr val="tx2"/>
                </a:solidFill>
              </a:rPr>
              <a:t>4. Stability</a:t>
            </a:r>
            <a:endParaRPr lang="en-US" sz="1600" dirty="0"/>
          </a:p>
        </p:txBody>
      </p:sp>
      <p:sp>
        <p:nvSpPr>
          <p:cNvPr id="21" name="Text 18"/>
          <p:cNvSpPr txBox="1"/>
          <p:nvPr/>
        </p:nvSpPr>
        <p:spPr>
          <a:xfrm>
            <a:off x="6428232" y="4297680"/>
            <a:ext cx="4983480" cy="731520"/>
          </a:xfrm>
          <a:prstGeom prst="rect">
            <a:avLst/>
          </a:prstGeom>
          <a:noFill/>
          <a:ln/>
        </p:spPr>
        <p:txBody>
          <a:bodyPr wrap="square" lIns="0" tIns="0" rIns="0" bIns="0" rtlCol="0" anchor="t"/>
          <a:lstStyle/>
          <a:p>
            <a:pPr indent="0" marL="0">
              <a:buNone/>
            </a:pPr>
            <a:r>
              <a:rPr lang="en-US" sz="1400" dirty="0">
                <a:solidFill>
                  <a:schemeClr val="tx1"/>
                </a:solidFill>
              </a:rPr>
              <a:t>γ = 7.5 K/km. Stable for dry air? For saturated air (Γs = 5)?</a:t>
            </a:r>
            <a:endParaRPr lang="en-US" sz="1400" dirty="0"/>
          </a:p>
        </p:txBody>
      </p:sp>
      <p:sp>
        <p:nvSpPr>
          <p:cNvPr id="22" name="answer"/>
          <p:cNvSpPr/>
          <p:nvPr/>
        </p:nvSpPr>
        <p:spPr>
          <a:xfrm>
            <a:off x="6382512" y="5074920"/>
            <a:ext cx="5074920" cy="822960"/>
          </a:xfrm>
          <a:prstGeom prst="roundRect">
            <a:avLst>
              <a:gd name="adj" fmla="val 6667"/>
            </a:avLst>
          </a:prstGeom>
          <a:solidFill>
            <a:schemeClr val="bg1"/>
          </a:solidFill>
          <a:ln w="9525">
            <a:solidFill>
              <a:srgbClr val="D2D9E2"/>
            </a:solidFill>
            <a:prstDash val="solid"/>
          </a:ln>
        </p:spPr>
      </p:sp>
      <p:sp>
        <p:nvSpPr>
          <p:cNvPr id="23" name="Text 20"/>
          <p:cNvSpPr txBox="1"/>
          <p:nvPr/>
        </p:nvSpPr>
        <p:spPr>
          <a:xfrm>
            <a:off x="6519672" y="5093208"/>
            <a:ext cx="4800600" cy="786384"/>
          </a:xfrm>
          <a:prstGeom prst="rect">
            <a:avLst/>
          </a:prstGeom>
          <a:noFill/>
          <a:ln/>
        </p:spPr>
        <p:txBody>
          <a:bodyPr wrap="square" lIns="0" tIns="0" rIns="0" bIns="0" rtlCol="0" anchor="ctr"/>
          <a:lstStyle/>
          <a:p>
            <a:pPr indent="0" marL="0">
              <a:buNone/>
            </a:pPr>
            <a:r>
              <a:rPr lang="en-US" sz="1300" b="1" dirty="0">
                <a:solidFill>
                  <a:schemeClr val="accent1"/>
                </a:solidFill>
              </a:rPr>
              <a:t>Solution: </a:t>
            </a:r>
            <a:r>
              <a:rPr lang="en-US" sz="1300" dirty="0">
                <a:solidFill>
                  <a:schemeClr val="tx1"/>
                </a:solidFill>
              </a:rPr>
              <a:t>7.5 &lt; 9.8 → dry </a:t>
            </a:r>
            <a:r>
              <a:rPr lang="en-US" sz="1300" b="1" dirty="0">
                <a:solidFill>
                  <a:schemeClr val="tx1"/>
                </a:solidFill>
              </a:rPr>
              <a:t>stable</a:t>
            </a:r>
            <a:r>
              <a:rPr lang="en-US" sz="1300" dirty="0">
                <a:solidFill>
                  <a:schemeClr val="tx1"/>
                </a:solidFill>
              </a:rPr>
              <a:t>; 7.5 &gt; 5 → saturated </a:t>
            </a:r>
            <a:r>
              <a:rPr lang="en-US" sz="1300" b="1" dirty="0">
                <a:solidFill>
                  <a:schemeClr val="tx1"/>
                </a:solidFill>
              </a:rPr>
              <a:t>unstable</a:t>
            </a:r>
            <a:r>
              <a:rPr lang="en-US" sz="1300" dirty="0">
                <a:solidFill>
                  <a:schemeClr val="tx1"/>
                </a:solidFill>
              </a:rPr>
              <a:t> → </a:t>
            </a:r>
            <a:r>
              <a:rPr lang="en-US" sz="1300" b="1" dirty="0">
                <a:solidFill>
                  <a:schemeClr val="tx1"/>
                </a:solidFill>
              </a:rPr>
              <a:t>conditionally unstable</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Formula sheet</a:t>
            </a:r>
            <a:endParaRPr lang="en-US" sz="3200" dirty="0"/>
          </a:p>
        </p:txBody>
      </p:sp>
      <p:sp>
        <p:nvSpPr>
          <p:cNvPr id="4" name="formula row"/>
          <p:cNvSpPr/>
          <p:nvPr/>
        </p:nvSpPr>
        <p:spPr>
          <a:xfrm>
            <a:off x="548640" y="1325880"/>
            <a:ext cx="5440680" cy="576072"/>
          </a:xfrm>
          <a:prstGeom prst="roundRect">
            <a:avLst>
              <a:gd name="adj" fmla="val 9524"/>
            </a:avLst>
          </a:prstGeom>
          <a:solidFill>
            <a:schemeClr val="bg2"/>
          </a:solidFill>
          <a:ln w="9525">
            <a:solidFill>
              <a:srgbClr val="D2D9E2"/>
            </a:solidFill>
            <a:prstDash val="solid"/>
          </a:ln>
        </p:spPr>
      </p:sp>
      <p:sp>
        <p:nvSpPr>
          <p:cNvPr id="5" name="Text 2"/>
          <p:cNvSpPr txBox="1"/>
          <p:nvPr/>
        </p:nvSpPr>
        <p:spPr>
          <a:xfrm>
            <a:off x="685800" y="1325880"/>
            <a:ext cx="1463040" cy="576072"/>
          </a:xfrm>
          <a:prstGeom prst="rect">
            <a:avLst/>
          </a:prstGeom>
          <a:noFill/>
          <a:ln/>
        </p:spPr>
        <p:txBody>
          <a:bodyPr wrap="square" lIns="0" tIns="0" rIns="0" bIns="0" rtlCol="0" anchor="ctr"/>
          <a:lstStyle/>
          <a:p>
            <a:pPr indent="0" marL="0">
              <a:buNone/>
            </a:pPr>
            <a:r>
              <a:rPr lang="en-US" sz="1400" b="1" dirty="0">
                <a:solidFill>
                  <a:schemeClr val="accent1"/>
                </a:solidFill>
              </a:rPr>
              <a:t>Heat</a:t>
            </a:r>
            <a:endParaRPr lang="en-US" sz="1400" dirty="0"/>
          </a:p>
        </p:txBody>
      </p:sp>
      <p:sp>
        <p:nvSpPr>
          <p:cNvPr id="6" name="Text 3"/>
          <p:cNvSpPr txBox="1"/>
          <p:nvPr/>
        </p:nvSpPr>
        <p:spPr>
          <a:xfrm>
            <a:off x="2194560" y="1325880"/>
            <a:ext cx="3703320" cy="576072"/>
          </a:xfrm>
          <a:prstGeom prst="rect">
            <a:avLst/>
          </a:prstGeom>
          <a:noFill/>
          <a:ln/>
        </p:spPr>
        <p:txBody>
          <a:bodyPr wrap="square" lIns="0" tIns="0" rIns="0" bIns="0" rtlCol="0" anchor="ctr"/>
          <a:lstStyle/>
          <a:p>
            <a:pPr indent="0" marL="0">
              <a:buNone/>
            </a:pPr>
            <a:r>
              <a:rPr lang="en-US" sz="1400" dirty="0">
                <a:solidFill>
                  <a:schemeClr val="tx1"/>
                </a:solidFill>
              </a:rPr>
              <a:t>ΔH = m C ΔT;  heat capacity = ρC</a:t>
            </a:r>
            <a:endParaRPr lang="en-US" sz="1400" dirty="0"/>
          </a:p>
        </p:txBody>
      </p:sp>
      <p:sp>
        <p:nvSpPr>
          <p:cNvPr id="7" name="formula row"/>
          <p:cNvSpPr/>
          <p:nvPr/>
        </p:nvSpPr>
        <p:spPr>
          <a:xfrm>
            <a:off x="548640" y="1993392"/>
            <a:ext cx="5440680" cy="576072"/>
          </a:xfrm>
          <a:prstGeom prst="roundRect">
            <a:avLst>
              <a:gd name="adj" fmla="val 9524"/>
            </a:avLst>
          </a:prstGeom>
          <a:solidFill>
            <a:schemeClr val="bg1"/>
          </a:solidFill>
          <a:ln w="9525">
            <a:solidFill>
              <a:srgbClr val="D2D9E2"/>
            </a:solidFill>
            <a:prstDash val="solid"/>
          </a:ln>
        </p:spPr>
      </p:sp>
      <p:sp>
        <p:nvSpPr>
          <p:cNvPr id="8" name="Text 5"/>
          <p:cNvSpPr txBox="1"/>
          <p:nvPr/>
        </p:nvSpPr>
        <p:spPr>
          <a:xfrm>
            <a:off x="685800" y="1993392"/>
            <a:ext cx="1463040" cy="576072"/>
          </a:xfrm>
          <a:prstGeom prst="rect">
            <a:avLst/>
          </a:prstGeom>
          <a:noFill/>
          <a:ln/>
        </p:spPr>
        <p:txBody>
          <a:bodyPr wrap="square" lIns="0" tIns="0" rIns="0" bIns="0" rtlCol="0" anchor="ctr"/>
          <a:lstStyle/>
          <a:p>
            <a:pPr indent="0" marL="0">
              <a:buNone/>
            </a:pPr>
            <a:r>
              <a:rPr lang="en-US" sz="1400" b="1" dirty="0">
                <a:solidFill>
                  <a:schemeClr val="accent1"/>
                </a:solidFill>
              </a:rPr>
              <a:t>Gas law</a:t>
            </a:r>
            <a:endParaRPr lang="en-US" sz="1400" dirty="0"/>
          </a:p>
        </p:txBody>
      </p:sp>
      <p:sp>
        <p:nvSpPr>
          <p:cNvPr id="9" name="Text 6"/>
          <p:cNvSpPr txBox="1"/>
          <p:nvPr/>
        </p:nvSpPr>
        <p:spPr>
          <a:xfrm>
            <a:off x="2194560" y="1993392"/>
            <a:ext cx="3703320" cy="576072"/>
          </a:xfrm>
          <a:prstGeom prst="rect">
            <a:avLst/>
          </a:prstGeom>
          <a:noFill/>
          <a:ln/>
        </p:spPr>
        <p:txBody>
          <a:bodyPr wrap="square" lIns="0" tIns="0" rIns="0" bIns="0" rtlCol="0" anchor="ctr"/>
          <a:lstStyle/>
          <a:p>
            <a:pPr indent="0" marL="0">
              <a:buNone/>
            </a:pPr>
            <a:r>
              <a:rPr lang="en-US" sz="1400" dirty="0">
                <a:solidFill>
                  <a:schemeClr val="tx1"/>
                </a:solidFill>
              </a:rPr>
              <a:t>P = ρRT;  Pα = RT;  R</a:t>
            </a:r>
            <a:r>
              <a:rPr lang="en-US" sz="1400" baseline="-40000" dirty="0">
                <a:solidFill>
                  <a:schemeClr val="tx1"/>
                </a:solidFill>
              </a:rPr>
              <a:t>d</a:t>
            </a:r>
            <a:r>
              <a:rPr lang="en-US" sz="1400" dirty="0">
                <a:solidFill>
                  <a:schemeClr val="tx1"/>
                </a:solidFill>
              </a:rPr>
              <a:t> = 287</a:t>
            </a:r>
            <a:endParaRPr lang="en-US" sz="1400" dirty="0"/>
          </a:p>
        </p:txBody>
      </p:sp>
      <p:sp>
        <p:nvSpPr>
          <p:cNvPr id="10" name="formula row"/>
          <p:cNvSpPr/>
          <p:nvPr/>
        </p:nvSpPr>
        <p:spPr>
          <a:xfrm>
            <a:off x="548640" y="2660904"/>
            <a:ext cx="5440680" cy="576072"/>
          </a:xfrm>
          <a:prstGeom prst="roundRect">
            <a:avLst>
              <a:gd name="adj" fmla="val 9524"/>
            </a:avLst>
          </a:prstGeom>
          <a:solidFill>
            <a:schemeClr val="bg2"/>
          </a:solidFill>
          <a:ln w="9525">
            <a:solidFill>
              <a:srgbClr val="D2D9E2"/>
            </a:solidFill>
            <a:prstDash val="solid"/>
          </a:ln>
        </p:spPr>
      </p:sp>
      <p:sp>
        <p:nvSpPr>
          <p:cNvPr id="11" name="Text 8"/>
          <p:cNvSpPr txBox="1"/>
          <p:nvPr/>
        </p:nvSpPr>
        <p:spPr>
          <a:xfrm>
            <a:off x="685800" y="2660904"/>
            <a:ext cx="1463040" cy="576072"/>
          </a:xfrm>
          <a:prstGeom prst="rect">
            <a:avLst/>
          </a:prstGeom>
          <a:noFill/>
          <a:ln/>
        </p:spPr>
        <p:txBody>
          <a:bodyPr wrap="square" lIns="0" tIns="0" rIns="0" bIns="0" rtlCol="0" anchor="ctr"/>
          <a:lstStyle/>
          <a:p>
            <a:pPr indent="0" marL="0">
              <a:buNone/>
            </a:pPr>
            <a:r>
              <a:rPr lang="en-US" sz="1400" b="1" dirty="0">
                <a:solidFill>
                  <a:schemeClr val="accent1"/>
                </a:solidFill>
              </a:rPr>
              <a:t>Virtual temp.</a:t>
            </a:r>
            <a:endParaRPr lang="en-US" sz="1400" dirty="0"/>
          </a:p>
        </p:txBody>
      </p:sp>
      <p:sp>
        <p:nvSpPr>
          <p:cNvPr id="12" name="Text 9"/>
          <p:cNvSpPr txBox="1"/>
          <p:nvPr/>
        </p:nvSpPr>
        <p:spPr>
          <a:xfrm>
            <a:off x="2194560" y="2660904"/>
            <a:ext cx="3703320" cy="576072"/>
          </a:xfrm>
          <a:prstGeom prst="rect">
            <a:avLst/>
          </a:prstGeom>
          <a:noFill/>
          <a:ln/>
        </p:spPr>
        <p:txBody>
          <a:bodyPr wrap="square" lIns="0" tIns="0" rIns="0" bIns="0" rtlCol="0" anchor="ctr"/>
          <a:lstStyle/>
          <a:p>
            <a:pPr indent="0" marL="0">
              <a:buNone/>
            </a:pPr>
            <a:r>
              <a:rPr lang="en-US" sz="1400" dirty="0">
                <a:solidFill>
                  <a:schemeClr val="tx1"/>
                </a:solidFill>
              </a:rPr>
              <a:t>T</a:t>
            </a:r>
            <a:r>
              <a:rPr lang="en-US" sz="1400" baseline="-40000" dirty="0">
                <a:solidFill>
                  <a:schemeClr val="tx1"/>
                </a:solidFill>
              </a:rPr>
              <a:t>v</a:t>
            </a:r>
            <a:r>
              <a:rPr lang="en-US" sz="1400" dirty="0">
                <a:solidFill>
                  <a:schemeClr val="tx1"/>
                </a:solidFill>
              </a:rPr>
              <a:t> = T(1 + 0.61q) ≈ T/(1 − 0.6q)</a:t>
            </a:r>
            <a:endParaRPr lang="en-US" sz="1400" dirty="0"/>
          </a:p>
        </p:txBody>
      </p:sp>
      <p:sp>
        <p:nvSpPr>
          <p:cNvPr id="13" name="formula row"/>
          <p:cNvSpPr/>
          <p:nvPr/>
        </p:nvSpPr>
        <p:spPr>
          <a:xfrm>
            <a:off x="548640" y="3328416"/>
            <a:ext cx="5440680" cy="576072"/>
          </a:xfrm>
          <a:prstGeom prst="roundRect">
            <a:avLst>
              <a:gd name="adj" fmla="val 9524"/>
            </a:avLst>
          </a:prstGeom>
          <a:solidFill>
            <a:schemeClr val="bg1"/>
          </a:solidFill>
          <a:ln w="9525">
            <a:solidFill>
              <a:srgbClr val="D2D9E2"/>
            </a:solidFill>
            <a:prstDash val="solid"/>
          </a:ln>
        </p:spPr>
      </p:sp>
      <p:sp>
        <p:nvSpPr>
          <p:cNvPr id="14" name="Text 11"/>
          <p:cNvSpPr txBox="1"/>
          <p:nvPr/>
        </p:nvSpPr>
        <p:spPr>
          <a:xfrm>
            <a:off x="685800" y="3328416"/>
            <a:ext cx="1463040" cy="576072"/>
          </a:xfrm>
          <a:prstGeom prst="rect">
            <a:avLst/>
          </a:prstGeom>
          <a:noFill/>
          <a:ln/>
        </p:spPr>
        <p:txBody>
          <a:bodyPr wrap="square" lIns="0" tIns="0" rIns="0" bIns="0" rtlCol="0" anchor="ctr"/>
          <a:lstStyle/>
          <a:p>
            <a:pPr indent="0" marL="0">
              <a:buNone/>
            </a:pPr>
            <a:r>
              <a:rPr lang="en-US" sz="1400" b="1" dirty="0">
                <a:solidFill>
                  <a:schemeClr val="accent1"/>
                </a:solidFill>
              </a:rPr>
              <a:t>First law</a:t>
            </a:r>
            <a:endParaRPr lang="en-US" sz="1400" dirty="0"/>
          </a:p>
        </p:txBody>
      </p:sp>
      <p:sp>
        <p:nvSpPr>
          <p:cNvPr id="15" name="Text 12"/>
          <p:cNvSpPr txBox="1"/>
          <p:nvPr/>
        </p:nvSpPr>
        <p:spPr>
          <a:xfrm>
            <a:off x="2194560" y="3328416"/>
            <a:ext cx="3703320" cy="576072"/>
          </a:xfrm>
          <a:prstGeom prst="rect">
            <a:avLst/>
          </a:prstGeom>
          <a:noFill/>
          <a:ln/>
        </p:spPr>
        <p:txBody>
          <a:bodyPr wrap="square" lIns="0" tIns="0" rIns="0" bIns="0" rtlCol="0" anchor="ctr"/>
          <a:lstStyle/>
          <a:p>
            <a:pPr indent="0" marL="0">
              <a:buNone/>
            </a:pPr>
            <a:r>
              <a:rPr lang="en-US" sz="1400" dirty="0">
                <a:solidFill>
                  <a:schemeClr val="tx1"/>
                </a:solidFill>
              </a:rPr>
              <a:t>Δh = c</a:t>
            </a:r>
            <a:r>
              <a:rPr lang="en-US" sz="1400" baseline="-40000" dirty="0">
                <a:solidFill>
                  <a:schemeClr val="tx1"/>
                </a:solidFill>
              </a:rPr>
              <a:t>v</a:t>
            </a:r>
            <a:r>
              <a:rPr lang="en-US" sz="1400" dirty="0">
                <a:solidFill>
                  <a:schemeClr val="tx1"/>
                </a:solidFill>
              </a:rPr>
              <a:t>ΔT + PΔα = c</a:t>
            </a:r>
            <a:r>
              <a:rPr lang="en-US" sz="1400" baseline="-40000" dirty="0">
                <a:solidFill>
                  <a:schemeClr val="tx1"/>
                </a:solidFill>
              </a:rPr>
              <a:t>p</a:t>
            </a:r>
            <a:r>
              <a:rPr lang="en-US" sz="1400" dirty="0">
                <a:solidFill>
                  <a:schemeClr val="tx1"/>
                </a:solidFill>
              </a:rPr>
              <a:t>ΔT − αΔP</a:t>
            </a:r>
            <a:endParaRPr lang="en-US" sz="1400" dirty="0"/>
          </a:p>
        </p:txBody>
      </p:sp>
      <p:sp>
        <p:nvSpPr>
          <p:cNvPr id="16" name="formula row"/>
          <p:cNvSpPr/>
          <p:nvPr/>
        </p:nvSpPr>
        <p:spPr>
          <a:xfrm>
            <a:off x="548640" y="3995928"/>
            <a:ext cx="5440680" cy="576072"/>
          </a:xfrm>
          <a:prstGeom prst="roundRect">
            <a:avLst>
              <a:gd name="adj" fmla="val 9524"/>
            </a:avLst>
          </a:prstGeom>
          <a:solidFill>
            <a:schemeClr val="bg2"/>
          </a:solidFill>
          <a:ln w="9525">
            <a:solidFill>
              <a:srgbClr val="D2D9E2"/>
            </a:solidFill>
            <a:prstDash val="solid"/>
          </a:ln>
        </p:spPr>
      </p:sp>
      <p:sp>
        <p:nvSpPr>
          <p:cNvPr id="17" name="Text 14"/>
          <p:cNvSpPr txBox="1"/>
          <p:nvPr/>
        </p:nvSpPr>
        <p:spPr>
          <a:xfrm>
            <a:off x="685800" y="3995928"/>
            <a:ext cx="1463040" cy="576072"/>
          </a:xfrm>
          <a:prstGeom prst="rect">
            <a:avLst/>
          </a:prstGeom>
          <a:noFill/>
          <a:ln/>
        </p:spPr>
        <p:txBody>
          <a:bodyPr wrap="square" lIns="0" tIns="0" rIns="0" bIns="0" rtlCol="0" anchor="ctr"/>
          <a:lstStyle/>
          <a:p>
            <a:pPr indent="0" marL="0">
              <a:buNone/>
            </a:pPr>
            <a:r>
              <a:rPr lang="en-US" sz="1400" b="1" dirty="0">
                <a:solidFill>
                  <a:schemeClr val="accent1"/>
                </a:solidFill>
              </a:rPr>
              <a:t>c</a:t>
            </a:r>
            <a:r>
              <a:rPr lang="en-US" sz="1400" b="1" baseline="-40000" dirty="0">
                <a:solidFill>
                  <a:schemeClr val="accent1"/>
                </a:solidFill>
              </a:rPr>
              <a:t>p</a:t>
            </a:r>
            <a:r>
              <a:rPr lang="en-US" sz="1400" b="1" dirty="0">
                <a:solidFill>
                  <a:schemeClr val="accent1"/>
                </a:solidFill>
              </a:rPr>
              <a:t>, c</a:t>
            </a:r>
            <a:r>
              <a:rPr lang="en-US" sz="1400" b="1" baseline="-40000" dirty="0">
                <a:solidFill>
                  <a:schemeClr val="accent1"/>
                </a:solidFill>
              </a:rPr>
              <a:t>v</a:t>
            </a:r>
            <a:endParaRPr lang="en-US" sz="1400" dirty="0"/>
          </a:p>
        </p:txBody>
      </p:sp>
      <p:sp>
        <p:nvSpPr>
          <p:cNvPr id="18" name="Text 15"/>
          <p:cNvSpPr txBox="1"/>
          <p:nvPr/>
        </p:nvSpPr>
        <p:spPr>
          <a:xfrm>
            <a:off x="2194560" y="3995928"/>
            <a:ext cx="3703320" cy="576072"/>
          </a:xfrm>
          <a:prstGeom prst="rect">
            <a:avLst/>
          </a:prstGeom>
          <a:noFill/>
          <a:ln/>
        </p:spPr>
        <p:txBody>
          <a:bodyPr wrap="square" lIns="0" tIns="0" rIns="0" bIns="0" rtlCol="0" anchor="ctr"/>
          <a:lstStyle/>
          <a:p>
            <a:pPr indent="0" marL="0">
              <a:buNone/>
            </a:pPr>
            <a:r>
              <a:rPr lang="en-US" sz="1400" dirty="0">
                <a:solidFill>
                  <a:schemeClr val="tx1"/>
                </a:solidFill>
              </a:rPr>
              <a:t>c</a:t>
            </a:r>
            <a:r>
              <a:rPr lang="en-US" sz="1400" baseline="-40000" dirty="0">
                <a:solidFill>
                  <a:schemeClr val="tx1"/>
                </a:solidFill>
              </a:rPr>
              <a:t>p</a:t>
            </a:r>
            <a:r>
              <a:rPr lang="en-US" sz="1400" dirty="0">
                <a:solidFill>
                  <a:schemeClr val="tx1"/>
                </a:solidFill>
              </a:rPr>
              <a:t> = c</a:t>
            </a:r>
            <a:r>
              <a:rPr lang="en-US" sz="1400" baseline="-40000" dirty="0">
                <a:solidFill>
                  <a:schemeClr val="tx1"/>
                </a:solidFill>
              </a:rPr>
              <a:t>v</a:t>
            </a:r>
            <a:r>
              <a:rPr lang="en-US" sz="1400" dirty="0">
                <a:solidFill>
                  <a:schemeClr val="tx1"/>
                </a:solidFill>
              </a:rPr>
              <a:t> + R = 1004;  c</a:t>
            </a:r>
            <a:r>
              <a:rPr lang="en-US" sz="1400" baseline="-40000" dirty="0">
                <a:solidFill>
                  <a:schemeClr val="tx1"/>
                </a:solidFill>
              </a:rPr>
              <a:t>v</a:t>
            </a:r>
            <a:r>
              <a:rPr lang="en-US" sz="1400" dirty="0">
                <a:solidFill>
                  <a:schemeClr val="tx1"/>
                </a:solidFill>
              </a:rPr>
              <a:t> = 717</a:t>
            </a:r>
            <a:endParaRPr lang="en-US" sz="1400" dirty="0"/>
          </a:p>
        </p:txBody>
      </p:sp>
      <p:sp>
        <p:nvSpPr>
          <p:cNvPr id="19" name="formula row"/>
          <p:cNvSpPr/>
          <p:nvPr/>
        </p:nvSpPr>
        <p:spPr>
          <a:xfrm>
            <a:off x="548640" y="4663440"/>
            <a:ext cx="5440680" cy="576072"/>
          </a:xfrm>
          <a:prstGeom prst="roundRect">
            <a:avLst>
              <a:gd name="adj" fmla="val 9524"/>
            </a:avLst>
          </a:prstGeom>
          <a:solidFill>
            <a:schemeClr val="bg1"/>
          </a:solidFill>
          <a:ln w="9525">
            <a:solidFill>
              <a:srgbClr val="D2D9E2"/>
            </a:solidFill>
            <a:prstDash val="solid"/>
          </a:ln>
        </p:spPr>
      </p:sp>
      <p:sp>
        <p:nvSpPr>
          <p:cNvPr id="20" name="Text 17"/>
          <p:cNvSpPr txBox="1"/>
          <p:nvPr/>
        </p:nvSpPr>
        <p:spPr>
          <a:xfrm>
            <a:off x="685800" y="4663440"/>
            <a:ext cx="1463040" cy="576072"/>
          </a:xfrm>
          <a:prstGeom prst="rect">
            <a:avLst/>
          </a:prstGeom>
          <a:noFill/>
          <a:ln/>
        </p:spPr>
        <p:txBody>
          <a:bodyPr wrap="square" lIns="0" tIns="0" rIns="0" bIns="0" rtlCol="0" anchor="ctr"/>
          <a:lstStyle/>
          <a:p>
            <a:pPr indent="0" marL="0">
              <a:buNone/>
            </a:pPr>
            <a:r>
              <a:rPr lang="en-US" sz="1400" b="1" dirty="0">
                <a:solidFill>
                  <a:schemeClr val="accent1"/>
                </a:solidFill>
              </a:rPr>
              <a:t>Hydrostatic</a:t>
            </a:r>
            <a:endParaRPr lang="en-US" sz="1400" dirty="0"/>
          </a:p>
        </p:txBody>
      </p:sp>
      <p:sp>
        <p:nvSpPr>
          <p:cNvPr id="21" name="Text 18"/>
          <p:cNvSpPr txBox="1"/>
          <p:nvPr/>
        </p:nvSpPr>
        <p:spPr>
          <a:xfrm>
            <a:off x="2194560" y="4663440"/>
            <a:ext cx="3703320" cy="576072"/>
          </a:xfrm>
          <a:prstGeom prst="rect">
            <a:avLst/>
          </a:prstGeom>
          <a:noFill/>
          <a:ln/>
        </p:spPr>
        <p:txBody>
          <a:bodyPr wrap="square" lIns="0" tIns="0" rIns="0" bIns="0" rtlCol="0" anchor="ctr"/>
          <a:lstStyle/>
          <a:p>
            <a:pPr indent="0" marL="0">
              <a:buNone/>
            </a:pPr>
            <a:r>
              <a:rPr lang="en-US" sz="1400" dirty="0">
                <a:solidFill>
                  <a:schemeClr val="tx1"/>
                </a:solidFill>
              </a:rPr>
              <a:t>−ΔP = ρ g ΔZ</a:t>
            </a:r>
            <a:endParaRPr lang="en-US" sz="1400" dirty="0"/>
          </a:p>
        </p:txBody>
      </p:sp>
      <p:sp>
        <p:nvSpPr>
          <p:cNvPr id="22" name="formula row"/>
          <p:cNvSpPr/>
          <p:nvPr/>
        </p:nvSpPr>
        <p:spPr>
          <a:xfrm>
            <a:off x="548640" y="5330952"/>
            <a:ext cx="5440680" cy="576072"/>
          </a:xfrm>
          <a:prstGeom prst="roundRect">
            <a:avLst>
              <a:gd name="adj" fmla="val 9524"/>
            </a:avLst>
          </a:prstGeom>
          <a:solidFill>
            <a:schemeClr val="bg2"/>
          </a:solidFill>
          <a:ln w="9525">
            <a:solidFill>
              <a:srgbClr val="D2D9E2"/>
            </a:solidFill>
            <a:prstDash val="solid"/>
          </a:ln>
        </p:spPr>
      </p:sp>
      <p:sp>
        <p:nvSpPr>
          <p:cNvPr id="23" name="Text 20"/>
          <p:cNvSpPr txBox="1"/>
          <p:nvPr/>
        </p:nvSpPr>
        <p:spPr>
          <a:xfrm>
            <a:off x="685800" y="5330952"/>
            <a:ext cx="1463040" cy="576072"/>
          </a:xfrm>
          <a:prstGeom prst="rect">
            <a:avLst/>
          </a:prstGeom>
          <a:noFill/>
          <a:ln/>
        </p:spPr>
        <p:txBody>
          <a:bodyPr wrap="square" lIns="0" tIns="0" rIns="0" bIns="0" rtlCol="0" anchor="ctr"/>
          <a:lstStyle/>
          <a:p>
            <a:pPr indent="0" marL="0">
              <a:buNone/>
            </a:pPr>
            <a:r>
              <a:rPr lang="en-US" sz="1400" b="1" dirty="0">
                <a:solidFill>
                  <a:schemeClr val="accent1"/>
                </a:solidFill>
              </a:rPr>
              <a:t>Γ</a:t>
            </a:r>
            <a:r>
              <a:rPr lang="en-US" sz="1400" b="1" baseline="-40000" dirty="0">
                <a:solidFill>
                  <a:schemeClr val="accent1"/>
                </a:solidFill>
              </a:rPr>
              <a:t>d</a:t>
            </a:r>
            <a:endParaRPr lang="en-US" sz="1400" dirty="0"/>
          </a:p>
        </p:txBody>
      </p:sp>
      <p:sp>
        <p:nvSpPr>
          <p:cNvPr id="24" name="Text 21"/>
          <p:cNvSpPr txBox="1"/>
          <p:nvPr/>
        </p:nvSpPr>
        <p:spPr>
          <a:xfrm>
            <a:off x="2194560" y="5330952"/>
            <a:ext cx="3703320" cy="576072"/>
          </a:xfrm>
          <a:prstGeom prst="rect">
            <a:avLst/>
          </a:prstGeom>
          <a:noFill/>
          <a:ln/>
        </p:spPr>
        <p:txBody>
          <a:bodyPr wrap="square" lIns="0" tIns="0" rIns="0" bIns="0" rtlCol="0" anchor="ctr"/>
          <a:lstStyle/>
          <a:p>
            <a:pPr indent="0" marL="0">
              <a:buNone/>
            </a:pPr>
            <a:r>
              <a:rPr lang="en-US" sz="1400" dirty="0">
                <a:solidFill>
                  <a:schemeClr val="tx1"/>
                </a:solidFill>
              </a:rPr>
              <a:t>g/c</a:t>
            </a:r>
            <a:r>
              <a:rPr lang="en-US" sz="1400" baseline="-40000" dirty="0">
                <a:solidFill>
                  <a:schemeClr val="tx1"/>
                </a:solidFill>
              </a:rPr>
              <a:t>p</a:t>
            </a:r>
            <a:r>
              <a:rPr lang="en-US" sz="1400" dirty="0">
                <a:solidFill>
                  <a:schemeClr val="tx1"/>
                </a:solidFill>
              </a:rPr>
              <a:t> ≈ 9.8 K/km</a:t>
            </a:r>
            <a:endParaRPr lang="en-US" sz="1400" dirty="0"/>
          </a:p>
        </p:txBody>
      </p:sp>
      <p:sp>
        <p:nvSpPr>
          <p:cNvPr id="25" name="formula row"/>
          <p:cNvSpPr/>
          <p:nvPr/>
        </p:nvSpPr>
        <p:spPr>
          <a:xfrm>
            <a:off x="6199632" y="1325880"/>
            <a:ext cx="5440680" cy="576072"/>
          </a:xfrm>
          <a:prstGeom prst="roundRect">
            <a:avLst>
              <a:gd name="adj" fmla="val 9524"/>
            </a:avLst>
          </a:prstGeom>
          <a:solidFill>
            <a:schemeClr val="bg2"/>
          </a:solidFill>
          <a:ln w="9525">
            <a:solidFill>
              <a:srgbClr val="D2D9E2"/>
            </a:solidFill>
            <a:prstDash val="solid"/>
          </a:ln>
        </p:spPr>
      </p:sp>
      <p:sp>
        <p:nvSpPr>
          <p:cNvPr id="26" name="Text 23"/>
          <p:cNvSpPr txBox="1"/>
          <p:nvPr/>
        </p:nvSpPr>
        <p:spPr>
          <a:xfrm>
            <a:off x="6336792" y="1325880"/>
            <a:ext cx="1463040" cy="576072"/>
          </a:xfrm>
          <a:prstGeom prst="rect">
            <a:avLst/>
          </a:prstGeom>
          <a:noFill/>
          <a:ln/>
        </p:spPr>
        <p:txBody>
          <a:bodyPr wrap="square" lIns="0" tIns="0" rIns="0" bIns="0" rtlCol="0" anchor="ctr"/>
          <a:lstStyle/>
          <a:p>
            <a:pPr indent="0" marL="0">
              <a:buNone/>
            </a:pPr>
            <a:r>
              <a:rPr lang="en-US" sz="1400" b="1" dirty="0">
                <a:solidFill>
                  <a:schemeClr val="accent5"/>
                </a:solidFill>
              </a:rPr>
              <a:t>Γ</a:t>
            </a:r>
            <a:r>
              <a:rPr lang="en-US" sz="1400" b="1" baseline="-40000" dirty="0">
                <a:solidFill>
                  <a:schemeClr val="accent5"/>
                </a:solidFill>
              </a:rPr>
              <a:t>s</a:t>
            </a:r>
            <a:endParaRPr lang="en-US" sz="1400" dirty="0"/>
          </a:p>
        </p:txBody>
      </p:sp>
      <p:sp>
        <p:nvSpPr>
          <p:cNvPr id="27" name="Text 24"/>
          <p:cNvSpPr txBox="1"/>
          <p:nvPr/>
        </p:nvSpPr>
        <p:spPr>
          <a:xfrm>
            <a:off x="7845552" y="1325880"/>
            <a:ext cx="3703320" cy="576072"/>
          </a:xfrm>
          <a:prstGeom prst="rect">
            <a:avLst/>
          </a:prstGeom>
          <a:noFill/>
          <a:ln/>
        </p:spPr>
        <p:txBody>
          <a:bodyPr wrap="square" lIns="0" tIns="0" rIns="0" bIns="0" rtlCol="0" anchor="ctr"/>
          <a:lstStyle/>
          <a:p>
            <a:pPr indent="0" marL="0">
              <a:buNone/>
            </a:pPr>
            <a:r>
              <a:rPr lang="en-US" sz="1400" dirty="0">
                <a:solidFill>
                  <a:schemeClr val="tx1"/>
                </a:solidFill>
              </a:rPr>
              <a:t>Γ</a:t>
            </a:r>
            <a:r>
              <a:rPr lang="en-US" sz="1400" baseline="-40000" dirty="0">
                <a:solidFill>
                  <a:schemeClr val="tx1"/>
                </a:solidFill>
              </a:rPr>
              <a:t>d</a:t>
            </a:r>
            <a:r>
              <a:rPr lang="en-US" sz="1400" dirty="0">
                <a:solidFill>
                  <a:schemeClr val="tx1"/>
                </a:solidFill>
              </a:rPr>
              <a:t> + (L/c</a:t>
            </a:r>
            <a:r>
              <a:rPr lang="en-US" sz="1400" baseline="-40000" dirty="0">
                <a:solidFill>
                  <a:schemeClr val="tx1"/>
                </a:solidFill>
              </a:rPr>
              <a:t>p</a:t>
            </a:r>
            <a:r>
              <a:rPr lang="en-US" sz="1400" dirty="0">
                <a:solidFill>
                  <a:schemeClr val="tx1"/>
                </a:solidFill>
              </a:rPr>
              <a:t>) Δr/ΔZ  (≈ 4–7 K/km)</a:t>
            </a:r>
            <a:endParaRPr lang="en-US" sz="1400" dirty="0"/>
          </a:p>
        </p:txBody>
      </p:sp>
      <p:sp>
        <p:nvSpPr>
          <p:cNvPr id="28" name="formula row"/>
          <p:cNvSpPr/>
          <p:nvPr/>
        </p:nvSpPr>
        <p:spPr>
          <a:xfrm>
            <a:off x="6199632" y="1993392"/>
            <a:ext cx="5440680" cy="576072"/>
          </a:xfrm>
          <a:prstGeom prst="roundRect">
            <a:avLst>
              <a:gd name="adj" fmla="val 9524"/>
            </a:avLst>
          </a:prstGeom>
          <a:solidFill>
            <a:schemeClr val="bg1"/>
          </a:solidFill>
          <a:ln w="9525">
            <a:solidFill>
              <a:srgbClr val="D2D9E2"/>
            </a:solidFill>
            <a:prstDash val="solid"/>
          </a:ln>
        </p:spPr>
      </p:sp>
      <p:sp>
        <p:nvSpPr>
          <p:cNvPr id="29" name="Text 26"/>
          <p:cNvSpPr txBox="1"/>
          <p:nvPr/>
        </p:nvSpPr>
        <p:spPr>
          <a:xfrm>
            <a:off x="6336792" y="1993392"/>
            <a:ext cx="1463040" cy="576072"/>
          </a:xfrm>
          <a:prstGeom prst="rect">
            <a:avLst/>
          </a:prstGeom>
          <a:noFill/>
          <a:ln/>
        </p:spPr>
        <p:txBody>
          <a:bodyPr wrap="square" lIns="0" tIns="0" rIns="0" bIns="0" rtlCol="0" anchor="ctr"/>
          <a:lstStyle/>
          <a:p>
            <a:pPr indent="0" marL="0">
              <a:buNone/>
            </a:pPr>
            <a:r>
              <a:rPr lang="en-US" sz="1400" b="1" dirty="0">
                <a:solidFill>
                  <a:schemeClr val="accent5"/>
                </a:solidFill>
              </a:rPr>
              <a:t>LCL</a:t>
            </a:r>
            <a:endParaRPr lang="en-US" sz="1400" dirty="0"/>
          </a:p>
        </p:txBody>
      </p:sp>
      <p:sp>
        <p:nvSpPr>
          <p:cNvPr id="30" name="Text 27"/>
          <p:cNvSpPr txBox="1"/>
          <p:nvPr/>
        </p:nvSpPr>
        <p:spPr>
          <a:xfrm>
            <a:off x="7845552" y="1993392"/>
            <a:ext cx="3703320" cy="576072"/>
          </a:xfrm>
          <a:prstGeom prst="rect">
            <a:avLst/>
          </a:prstGeom>
          <a:noFill/>
          <a:ln/>
        </p:spPr>
        <p:txBody>
          <a:bodyPr wrap="square" lIns="0" tIns="0" rIns="0" bIns="0" rtlCol="0" anchor="ctr"/>
          <a:lstStyle/>
          <a:p>
            <a:pPr indent="0" marL="0">
              <a:buNone/>
            </a:pPr>
            <a:r>
              <a:rPr lang="en-US" sz="1400" dirty="0">
                <a:solidFill>
                  <a:schemeClr val="tx1"/>
                </a:solidFill>
              </a:rPr>
              <a:t>z ≈ 125 (T − T</a:t>
            </a:r>
            <a:r>
              <a:rPr lang="en-US" sz="1400" baseline="-40000" dirty="0">
                <a:solidFill>
                  <a:schemeClr val="tx1"/>
                </a:solidFill>
              </a:rPr>
              <a:t>d</a:t>
            </a:r>
            <a:r>
              <a:rPr lang="en-US" sz="1400" dirty="0">
                <a:solidFill>
                  <a:schemeClr val="tx1"/>
                </a:solidFill>
              </a:rPr>
              <a:t>) m</a:t>
            </a:r>
            <a:endParaRPr lang="en-US" sz="1400" dirty="0"/>
          </a:p>
        </p:txBody>
      </p:sp>
      <p:sp>
        <p:nvSpPr>
          <p:cNvPr id="31" name="formula row"/>
          <p:cNvSpPr/>
          <p:nvPr/>
        </p:nvSpPr>
        <p:spPr>
          <a:xfrm>
            <a:off x="6199632" y="2660904"/>
            <a:ext cx="5440680" cy="576072"/>
          </a:xfrm>
          <a:prstGeom prst="roundRect">
            <a:avLst>
              <a:gd name="adj" fmla="val 9524"/>
            </a:avLst>
          </a:prstGeom>
          <a:solidFill>
            <a:schemeClr val="bg2"/>
          </a:solidFill>
          <a:ln w="9525">
            <a:solidFill>
              <a:srgbClr val="D2D9E2"/>
            </a:solidFill>
            <a:prstDash val="solid"/>
          </a:ln>
        </p:spPr>
      </p:sp>
      <p:sp>
        <p:nvSpPr>
          <p:cNvPr id="32" name="Text 29"/>
          <p:cNvSpPr txBox="1"/>
          <p:nvPr/>
        </p:nvSpPr>
        <p:spPr>
          <a:xfrm>
            <a:off x="6336792" y="2660904"/>
            <a:ext cx="1463040" cy="576072"/>
          </a:xfrm>
          <a:prstGeom prst="rect">
            <a:avLst/>
          </a:prstGeom>
          <a:noFill/>
          <a:ln/>
        </p:spPr>
        <p:txBody>
          <a:bodyPr wrap="square" lIns="0" tIns="0" rIns="0" bIns="0" rtlCol="0" anchor="ctr"/>
          <a:lstStyle/>
          <a:p>
            <a:pPr indent="0" marL="0">
              <a:buNone/>
            </a:pPr>
            <a:r>
              <a:rPr lang="en-US" sz="1400" b="1" dirty="0">
                <a:solidFill>
                  <a:schemeClr val="accent5"/>
                </a:solidFill>
              </a:rPr>
              <a:t>θ</a:t>
            </a:r>
            <a:endParaRPr lang="en-US" sz="1400" dirty="0"/>
          </a:p>
        </p:txBody>
      </p:sp>
      <p:sp>
        <p:nvSpPr>
          <p:cNvPr id="33" name="Text 30"/>
          <p:cNvSpPr txBox="1"/>
          <p:nvPr/>
        </p:nvSpPr>
        <p:spPr>
          <a:xfrm>
            <a:off x="7845552" y="2660904"/>
            <a:ext cx="3703320" cy="576072"/>
          </a:xfrm>
          <a:prstGeom prst="rect">
            <a:avLst/>
          </a:prstGeom>
          <a:noFill/>
          <a:ln/>
        </p:spPr>
        <p:txBody>
          <a:bodyPr wrap="square" lIns="0" tIns="0" rIns="0" bIns="0" rtlCol="0" anchor="ctr"/>
          <a:lstStyle/>
          <a:p>
            <a:pPr indent="0" marL="0">
              <a:buNone/>
            </a:pPr>
            <a:r>
              <a:rPr lang="en-US" sz="1400" dirty="0">
                <a:solidFill>
                  <a:schemeClr val="tx1"/>
                </a:solidFill>
              </a:rPr>
              <a:t>T (1000/p)</a:t>
            </a:r>
            <a:r>
              <a:rPr lang="en-US" sz="1400" baseline="30000" dirty="0">
                <a:solidFill>
                  <a:schemeClr val="tx1"/>
                </a:solidFill>
              </a:rPr>
              <a:t>0.286</a:t>
            </a:r>
            <a:endParaRPr lang="en-US" sz="1400" dirty="0"/>
          </a:p>
        </p:txBody>
      </p:sp>
      <p:sp>
        <p:nvSpPr>
          <p:cNvPr id="34" name="formula row"/>
          <p:cNvSpPr/>
          <p:nvPr/>
        </p:nvSpPr>
        <p:spPr>
          <a:xfrm>
            <a:off x="6199632" y="3328416"/>
            <a:ext cx="5440680" cy="576072"/>
          </a:xfrm>
          <a:prstGeom prst="roundRect">
            <a:avLst>
              <a:gd name="adj" fmla="val 9524"/>
            </a:avLst>
          </a:prstGeom>
          <a:solidFill>
            <a:schemeClr val="bg1"/>
          </a:solidFill>
          <a:ln w="9525">
            <a:solidFill>
              <a:srgbClr val="D2D9E2"/>
            </a:solidFill>
            <a:prstDash val="solid"/>
          </a:ln>
        </p:spPr>
      </p:sp>
      <p:sp>
        <p:nvSpPr>
          <p:cNvPr id="35" name="Text 32"/>
          <p:cNvSpPr txBox="1"/>
          <p:nvPr/>
        </p:nvSpPr>
        <p:spPr>
          <a:xfrm>
            <a:off x="6336792" y="3328416"/>
            <a:ext cx="1463040" cy="576072"/>
          </a:xfrm>
          <a:prstGeom prst="rect">
            <a:avLst/>
          </a:prstGeom>
          <a:noFill/>
          <a:ln/>
        </p:spPr>
        <p:txBody>
          <a:bodyPr wrap="square" lIns="0" tIns="0" rIns="0" bIns="0" rtlCol="0" anchor="ctr"/>
          <a:lstStyle/>
          <a:p>
            <a:pPr indent="0" marL="0">
              <a:buNone/>
            </a:pPr>
            <a:r>
              <a:rPr lang="en-US" sz="1400" b="1" dirty="0">
                <a:solidFill>
                  <a:schemeClr val="accent5"/>
                </a:solidFill>
              </a:rPr>
              <a:t>θ</a:t>
            </a:r>
            <a:r>
              <a:rPr lang="en-US" sz="1400" b="1" baseline="-40000" dirty="0">
                <a:solidFill>
                  <a:schemeClr val="accent5"/>
                </a:solidFill>
              </a:rPr>
              <a:t>e</a:t>
            </a:r>
            <a:endParaRPr lang="en-US" sz="1400" dirty="0"/>
          </a:p>
        </p:txBody>
      </p:sp>
      <p:sp>
        <p:nvSpPr>
          <p:cNvPr id="36" name="Text 33"/>
          <p:cNvSpPr txBox="1"/>
          <p:nvPr/>
        </p:nvSpPr>
        <p:spPr>
          <a:xfrm>
            <a:off x="7845552" y="3328416"/>
            <a:ext cx="3703320" cy="576072"/>
          </a:xfrm>
          <a:prstGeom prst="rect">
            <a:avLst/>
          </a:prstGeom>
          <a:noFill/>
          <a:ln/>
        </p:spPr>
        <p:txBody>
          <a:bodyPr wrap="square" lIns="0" tIns="0" rIns="0" bIns="0" rtlCol="0" anchor="ctr"/>
          <a:lstStyle/>
          <a:p>
            <a:pPr indent="0" marL="0">
              <a:buNone/>
            </a:pPr>
            <a:r>
              <a:rPr lang="en-US" sz="1400" dirty="0">
                <a:solidFill>
                  <a:schemeClr val="tx1"/>
                </a:solidFill>
              </a:rPr>
              <a:t>≈ θ exp(L</a:t>
            </a:r>
            <a:r>
              <a:rPr lang="en-US" sz="1400" baseline="-40000" dirty="0">
                <a:solidFill>
                  <a:schemeClr val="tx1"/>
                </a:solidFill>
              </a:rPr>
              <a:t>v</a:t>
            </a:r>
            <a:r>
              <a:rPr lang="en-US" sz="1400" dirty="0">
                <a:solidFill>
                  <a:schemeClr val="tx1"/>
                </a:solidFill>
              </a:rPr>
              <a:t> r / c</a:t>
            </a:r>
            <a:r>
              <a:rPr lang="en-US" sz="1400" baseline="-40000" dirty="0">
                <a:solidFill>
                  <a:schemeClr val="tx1"/>
                </a:solidFill>
              </a:rPr>
              <a:t>p</a:t>
            </a:r>
            <a:r>
              <a:rPr lang="en-US" sz="1400" dirty="0">
                <a:solidFill>
                  <a:schemeClr val="tx1"/>
                </a:solidFill>
              </a:rPr>
              <a:t> T</a:t>
            </a:r>
            <a:r>
              <a:rPr lang="en-US" sz="1400" baseline="-40000" dirty="0">
                <a:solidFill>
                  <a:schemeClr val="tx1"/>
                </a:solidFill>
              </a:rPr>
              <a:t>LCL</a:t>
            </a:r>
            <a:r>
              <a:rPr lang="en-US" sz="1400" dirty="0">
                <a:solidFill>
                  <a:schemeClr val="tx1"/>
                </a:solidFill>
              </a:rPr>
              <a:t>)</a:t>
            </a:r>
            <a:endParaRPr lang="en-US" sz="1400" dirty="0"/>
          </a:p>
        </p:txBody>
      </p:sp>
      <p:sp>
        <p:nvSpPr>
          <p:cNvPr id="37" name="formula row"/>
          <p:cNvSpPr/>
          <p:nvPr/>
        </p:nvSpPr>
        <p:spPr>
          <a:xfrm>
            <a:off x="6199632" y="3995928"/>
            <a:ext cx="5440680" cy="576072"/>
          </a:xfrm>
          <a:prstGeom prst="roundRect">
            <a:avLst>
              <a:gd name="adj" fmla="val 9524"/>
            </a:avLst>
          </a:prstGeom>
          <a:solidFill>
            <a:schemeClr val="bg2"/>
          </a:solidFill>
          <a:ln w="9525">
            <a:solidFill>
              <a:srgbClr val="D2D9E2"/>
            </a:solidFill>
            <a:prstDash val="solid"/>
          </a:ln>
        </p:spPr>
      </p:sp>
      <p:sp>
        <p:nvSpPr>
          <p:cNvPr id="38" name="Text 35"/>
          <p:cNvSpPr txBox="1"/>
          <p:nvPr/>
        </p:nvSpPr>
        <p:spPr>
          <a:xfrm>
            <a:off x="6336792" y="3995928"/>
            <a:ext cx="1463040" cy="576072"/>
          </a:xfrm>
          <a:prstGeom prst="rect">
            <a:avLst/>
          </a:prstGeom>
          <a:noFill/>
          <a:ln/>
        </p:spPr>
        <p:txBody>
          <a:bodyPr wrap="square" lIns="0" tIns="0" rIns="0" bIns="0" rtlCol="0" anchor="ctr"/>
          <a:lstStyle/>
          <a:p>
            <a:pPr indent="0" marL="0">
              <a:buNone/>
            </a:pPr>
            <a:r>
              <a:rPr lang="en-US" sz="1400" b="1" dirty="0">
                <a:solidFill>
                  <a:schemeClr val="accent5"/>
                </a:solidFill>
              </a:rPr>
              <a:t>Buoyancy</a:t>
            </a:r>
            <a:endParaRPr lang="en-US" sz="1400" dirty="0"/>
          </a:p>
        </p:txBody>
      </p:sp>
      <p:sp>
        <p:nvSpPr>
          <p:cNvPr id="39" name="Text 36"/>
          <p:cNvSpPr txBox="1"/>
          <p:nvPr/>
        </p:nvSpPr>
        <p:spPr>
          <a:xfrm>
            <a:off x="7845552" y="3995928"/>
            <a:ext cx="3703320" cy="576072"/>
          </a:xfrm>
          <a:prstGeom prst="rect">
            <a:avLst/>
          </a:prstGeom>
          <a:noFill/>
          <a:ln/>
        </p:spPr>
        <p:txBody>
          <a:bodyPr wrap="square" lIns="0" tIns="0" rIns="0" bIns="0" rtlCol="0" anchor="ctr"/>
          <a:lstStyle/>
          <a:p>
            <a:pPr indent="0" marL="0">
              <a:buNone/>
            </a:pPr>
            <a:r>
              <a:rPr lang="en-US" sz="1400" dirty="0">
                <a:solidFill>
                  <a:schemeClr val="tx1"/>
                </a:solidFill>
              </a:rPr>
              <a:t>a = g (T</a:t>
            </a:r>
            <a:r>
              <a:rPr lang="en-US" sz="1400" baseline="-40000" dirty="0">
                <a:solidFill>
                  <a:schemeClr val="tx1"/>
                </a:solidFill>
              </a:rPr>
              <a:t>vp</a:t>
            </a:r>
            <a:r>
              <a:rPr lang="en-US" sz="1400" dirty="0">
                <a:solidFill>
                  <a:schemeClr val="tx1"/>
                </a:solidFill>
              </a:rPr>
              <a:t> − T</a:t>
            </a:r>
            <a:r>
              <a:rPr lang="en-US" sz="1400" baseline="-40000" dirty="0">
                <a:solidFill>
                  <a:schemeClr val="tx1"/>
                </a:solidFill>
              </a:rPr>
              <a:t>ve</a:t>
            </a:r>
            <a:r>
              <a:rPr lang="en-US" sz="1400" dirty="0">
                <a:solidFill>
                  <a:schemeClr val="tx1"/>
                </a:solidFill>
              </a:rPr>
              <a:t>) / T</a:t>
            </a:r>
            <a:r>
              <a:rPr lang="en-US" sz="1400" baseline="-40000" dirty="0">
                <a:solidFill>
                  <a:schemeClr val="tx1"/>
                </a:solidFill>
              </a:rPr>
              <a:t>ve</a:t>
            </a:r>
            <a:endParaRPr lang="en-US" sz="1400" dirty="0"/>
          </a:p>
        </p:txBody>
      </p:sp>
      <p:sp>
        <p:nvSpPr>
          <p:cNvPr id="40" name="formula row"/>
          <p:cNvSpPr/>
          <p:nvPr/>
        </p:nvSpPr>
        <p:spPr>
          <a:xfrm>
            <a:off x="6199632" y="4663440"/>
            <a:ext cx="5440680" cy="576072"/>
          </a:xfrm>
          <a:prstGeom prst="roundRect">
            <a:avLst>
              <a:gd name="adj" fmla="val 9524"/>
            </a:avLst>
          </a:prstGeom>
          <a:solidFill>
            <a:schemeClr val="bg1"/>
          </a:solidFill>
          <a:ln w="9525">
            <a:solidFill>
              <a:srgbClr val="D2D9E2"/>
            </a:solidFill>
            <a:prstDash val="solid"/>
          </a:ln>
        </p:spPr>
      </p:sp>
      <p:sp>
        <p:nvSpPr>
          <p:cNvPr id="41" name="Text 38"/>
          <p:cNvSpPr txBox="1"/>
          <p:nvPr/>
        </p:nvSpPr>
        <p:spPr>
          <a:xfrm>
            <a:off x="6336792" y="4663440"/>
            <a:ext cx="1463040" cy="576072"/>
          </a:xfrm>
          <a:prstGeom prst="rect">
            <a:avLst/>
          </a:prstGeom>
          <a:noFill/>
          <a:ln/>
        </p:spPr>
        <p:txBody>
          <a:bodyPr wrap="square" lIns="0" tIns="0" rIns="0" bIns="0" rtlCol="0" anchor="ctr"/>
          <a:lstStyle/>
          <a:p>
            <a:pPr indent="0" marL="0">
              <a:buNone/>
            </a:pPr>
            <a:r>
              <a:rPr lang="en-US" sz="1400" b="1" dirty="0">
                <a:solidFill>
                  <a:schemeClr val="accent5"/>
                </a:solidFill>
              </a:rPr>
              <a:t>N²</a:t>
            </a:r>
            <a:endParaRPr lang="en-US" sz="1400" dirty="0"/>
          </a:p>
        </p:txBody>
      </p:sp>
      <p:sp>
        <p:nvSpPr>
          <p:cNvPr id="42" name="Text 39"/>
          <p:cNvSpPr txBox="1"/>
          <p:nvPr/>
        </p:nvSpPr>
        <p:spPr>
          <a:xfrm>
            <a:off x="7845552" y="4663440"/>
            <a:ext cx="3703320" cy="576072"/>
          </a:xfrm>
          <a:prstGeom prst="rect">
            <a:avLst/>
          </a:prstGeom>
          <a:noFill/>
          <a:ln/>
        </p:spPr>
        <p:txBody>
          <a:bodyPr wrap="square" lIns="0" tIns="0" rIns="0" bIns="0" rtlCol="0" anchor="ctr"/>
          <a:lstStyle/>
          <a:p>
            <a:pPr indent="0" marL="0">
              <a:buNone/>
            </a:pPr>
            <a:r>
              <a:rPr lang="en-US" sz="1400" dirty="0">
                <a:solidFill>
                  <a:schemeClr val="tx1"/>
                </a:solidFill>
              </a:rPr>
              <a:t>(g/θ) dθ/dz</a:t>
            </a:r>
            <a:endParaRPr lang="en-US" sz="1400" dirty="0"/>
          </a:p>
        </p:txBody>
      </p:sp>
      <p:sp>
        <p:nvSpPr>
          <p:cNvPr id="43" name="formula row"/>
          <p:cNvSpPr/>
          <p:nvPr/>
        </p:nvSpPr>
        <p:spPr>
          <a:xfrm>
            <a:off x="6199632" y="5330952"/>
            <a:ext cx="5440680" cy="576072"/>
          </a:xfrm>
          <a:prstGeom prst="roundRect">
            <a:avLst>
              <a:gd name="adj" fmla="val 9524"/>
            </a:avLst>
          </a:prstGeom>
          <a:solidFill>
            <a:schemeClr val="bg2"/>
          </a:solidFill>
          <a:ln w="9525">
            <a:solidFill>
              <a:srgbClr val="D2D9E2"/>
            </a:solidFill>
            <a:prstDash val="solid"/>
          </a:ln>
        </p:spPr>
      </p:sp>
      <p:sp>
        <p:nvSpPr>
          <p:cNvPr id="44" name="Text 41"/>
          <p:cNvSpPr txBox="1"/>
          <p:nvPr/>
        </p:nvSpPr>
        <p:spPr>
          <a:xfrm>
            <a:off x="6336792" y="5330952"/>
            <a:ext cx="1463040" cy="576072"/>
          </a:xfrm>
          <a:prstGeom prst="rect">
            <a:avLst/>
          </a:prstGeom>
          <a:noFill/>
          <a:ln/>
        </p:spPr>
        <p:txBody>
          <a:bodyPr wrap="square" lIns="0" tIns="0" rIns="0" bIns="0" rtlCol="0" anchor="ctr"/>
          <a:lstStyle/>
          <a:p>
            <a:pPr indent="0" marL="0">
              <a:buNone/>
            </a:pPr>
            <a:r>
              <a:rPr lang="en-US" sz="1400" b="1" dirty="0">
                <a:solidFill>
                  <a:schemeClr val="accent5"/>
                </a:solidFill>
              </a:rPr>
              <a:t>CAPE</a:t>
            </a:r>
            <a:endParaRPr lang="en-US" sz="1400" dirty="0"/>
          </a:p>
        </p:txBody>
      </p:sp>
      <p:sp>
        <p:nvSpPr>
          <p:cNvPr id="45" name="Text 42"/>
          <p:cNvSpPr txBox="1"/>
          <p:nvPr/>
        </p:nvSpPr>
        <p:spPr>
          <a:xfrm>
            <a:off x="7845552" y="5330952"/>
            <a:ext cx="3703320" cy="576072"/>
          </a:xfrm>
          <a:prstGeom prst="rect">
            <a:avLst/>
          </a:prstGeom>
          <a:noFill/>
          <a:ln/>
        </p:spPr>
        <p:txBody>
          <a:bodyPr wrap="square" lIns="0" tIns="0" rIns="0" bIns="0" rtlCol="0" anchor="ctr"/>
          <a:lstStyle/>
          <a:p>
            <a:pPr indent="0" marL="0">
              <a:buNone/>
            </a:pPr>
            <a:r>
              <a:rPr lang="en-US" sz="1400" dirty="0">
                <a:solidFill>
                  <a:schemeClr val="tx1"/>
                </a:solidFill>
              </a:rPr>
              <a:t>g ∫ (T</a:t>
            </a:r>
            <a:r>
              <a:rPr lang="en-US" sz="1400" baseline="-40000" dirty="0">
                <a:solidFill>
                  <a:schemeClr val="tx1"/>
                </a:solidFill>
              </a:rPr>
              <a:t>vp</a:t>
            </a:r>
            <a:r>
              <a:rPr lang="en-US" sz="1400" dirty="0">
                <a:solidFill>
                  <a:schemeClr val="tx1"/>
                </a:solidFill>
              </a:rPr>
              <a:t> − T</a:t>
            </a:r>
            <a:r>
              <a:rPr lang="en-US" sz="1400" baseline="-40000" dirty="0">
                <a:solidFill>
                  <a:schemeClr val="tx1"/>
                </a:solidFill>
              </a:rPr>
              <a:t>ve</a:t>
            </a:r>
            <a:r>
              <a:rPr lang="en-US" sz="1400" dirty="0">
                <a:solidFill>
                  <a:schemeClr val="tx1"/>
                </a:solidFill>
              </a:rPr>
              <a:t>)/T</a:t>
            </a:r>
            <a:r>
              <a:rPr lang="en-US" sz="1400" baseline="-40000" dirty="0">
                <a:solidFill>
                  <a:schemeClr val="tx1"/>
                </a:solidFill>
              </a:rPr>
              <a:t>ve</a:t>
            </a:r>
            <a:r>
              <a:rPr lang="en-US" sz="1400" dirty="0">
                <a:solidFill>
                  <a:schemeClr val="tx1"/>
                </a:solidFill>
              </a:rPr>
              <a:t> dz (LFC → EL)</a:t>
            </a:r>
            <a:endParaRPr lang="en-US" sz="1400" dirty="0"/>
          </a:p>
        </p:txBody>
      </p:sp>
      <p:sp>
        <p:nvSpPr>
          <p:cNvPr id="46" name="Text 43"/>
          <p:cNvSpPr txBox="1"/>
          <p:nvPr/>
        </p:nvSpPr>
        <p:spPr>
          <a:xfrm>
            <a:off x="548640" y="6035040"/>
            <a:ext cx="10972800" cy="274320"/>
          </a:xfrm>
          <a:prstGeom prst="rect">
            <a:avLst/>
          </a:prstGeom>
          <a:noFill/>
          <a:ln/>
        </p:spPr>
        <p:txBody>
          <a:bodyPr wrap="square" lIns="508" tIns="508" rIns="508" bIns="508" rtlCol="0" anchor="t"/>
          <a:lstStyle/>
          <a:p>
            <a:pPr indent="0" marL="0">
              <a:spcAft>
                <a:spcPts val="600"/>
              </a:spcAft>
              <a:buNone/>
            </a:pPr>
            <a:r>
              <a:rPr lang="en-US" sz="1200" i="1" dirty="0">
                <a:solidFill>
                  <a:schemeClr val="accent6"/>
                </a:solidFill>
              </a:rPr>
              <a:t>Units: J kg⁻¹ K⁻¹ for c</a:t>
            </a:r>
            <a:r>
              <a:rPr lang="en-US" sz="1200" i="1" baseline="-40000" dirty="0">
                <a:solidFill>
                  <a:schemeClr val="accent6"/>
                </a:solidFill>
              </a:rPr>
              <a:t>p</a:t>
            </a:r>
            <a:r>
              <a:rPr lang="en-US" sz="1200" i="1" dirty="0">
                <a:solidFill>
                  <a:schemeClr val="accent6"/>
                </a:solidFill>
              </a:rPr>
              <a:t>, c</a:t>
            </a:r>
            <a:r>
              <a:rPr lang="en-US" sz="1200" i="1" baseline="-40000" dirty="0">
                <a:solidFill>
                  <a:schemeClr val="accent6"/>
                </a:solidFill>
              </a:rPr>
              <a:t>v</a:t>
            </a:r>
            <a:r>
              <a:rPr lang="en-US" sz="1200" i="1" dirty="0">
                <a:solidFill>
                  <a:schemeClr val="accent6"/>
                </a:solidFill>
              </a:rPr>
              <a:t>, R; g = 9.81 m s⁻²; L</a:t>
            </a:r>
            <a:r>
              <a:rPr lang="en-US" sz="1200" i="1" baseline="-40000" dirty="0">
                <a:solidFill>
                  <a:schemeClr val="accent6"/>
                </a:solidFill>
              </a:rPr>
              <a:t>v</a:t>
            </a:r>
            <a:r>
              <a:rPr lang="en-US" sz="1200" i="1" dirty="0">
                <a:solidFill>
                  <a:schemeClr val="accent6"/>
                </a:solidFill>
              </a:rPr>
              <a:t> ≈ 2.5 × 10</a:t>
            </a:r>
            <a:r>
              <a:rPr lang="en-US" sz="1200" i="1" baseline="30000" dirty="0">
                <a:solidFill>
                  <a:schemeClr val="accent6"/>
                </a:solidFill>
              </a:rPr>
              <a:t>6</a:t>
            </a:r>
            <a:r>
              <a:rPr lang="en-US" sz="1200" i="1" dirty="0">
                <a:solidFill>
                  <a:schemeClr val="accent6"/>
                </a:solidFill>
              </a:rPr>
              <a:t> J kg⁻¹.</a:t>
            </a:r>
            <a:endParaRPr lang="en-US" sz="12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Clearing common doubts</a:t>
            </a:r>
            <a:endParaRPr lang="en-US" sz="3200" dirty="0"/>
          </a:p>
        </p:txBody>
      </p:sp>
      <p:sp>
        <p:nvSpPr>
          <p:cNvPr id="4" name="card"/>
          <p:cNvSpPr/>
          <p:nvPr/>
        </p:nvSpPr>
        <p:spPr>
          <a:xfrm>
            <a:off x="548640" y="1371600"/>
            <a:ext cx="544068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5" name="icon circle"/>
          <p:cNvSpPr/>
          <p:nvPr/>
        </p:nvSpPr>
        <p:spPr>
          <a:xfrm>
            <a:off x="731520" y="1554480"/>
            <a:ext cx="457200" cy="457200"/>
          </a:xfrm>
          <a:prstGeom prst="ellipse">
            <a:avLst/>
          </a:prstGeom>
          <a:solidFill>
            <a:schemeClr val="accent2"/>
          </a:solidFill>
          <a:ln/>
        </p:spPr>
      </p:sp>
      <p:pic>
        <p:nvPicPr>
          <p:cNvPr id="6" name="Image 0" descr="Question icon">    </p:cNvPr>
          <p:cNvPicPr>
            <a:picLocks noChangeAspect="1"/>
          </p:cNvPicPr>
          <p:nvPr/>
        </p:nvPicPr>
        <p:blipFill>
          <a:blip r:embed="rId1"/>
          <a:stretch>
            <a:fillRect/>
          </a:stretch>
        </p:blipFill>
        <p:spPr>
          <a:xfrm>
            <a:off x="850392" y="1673352"/>
            <a:ext cx="219456" cy="219456"/>
          </a:xfrm>
          <a:prstGeom prst="rect">
            <a:avLst/>
          </a:prstGeom>
        </p:spPr>
      </p:pic>
      <p:sp>
        <p:nvSpPr>
          <p:cNvPr id="7" name="Text 3"/>
          <p:cNvSpPr txBox="1"/>
          <p:nvPr/>
        </p:nvSpPr>
        <p:spPr>
          <a:xfrm>
            <a:off x="1325880" y="1481328"/>
            <a:ext cx="4526280" cy="731520"/>
          </a:xfrm>
          <a:prstGeom prst="rect">
            <a:avLst/>
          </a:prstGeom>
          <a:noFill/>
          <a:ln/>
        </p:spPr>
        <p:txBody>
          <a:bodyPr wrap="square" lIns="0" tIns="0" rIns="0" bIns="0" rtlCol="0" anchor="ctr"/>
          <a:lstStyle/>
          <a:p>
            <a:pPr indent="0" marL="0">
              <a:buNone/>
            </a:pPr>
            <a:r>
              <a:rPr lang="en-US" sz="1500" b="1" dirty="0">
                <a:solidFill>
                  <a:schemeClr val="tx2"/>
                </a:solidFill>
              </a:rPr>
              <a:t>Why does rising air cool if no heat is removed?</a:t>
            </a:r>
            <a:endParaRPr lang="en-US" sz="1500" dirty="0"/>
          </a:p>
        </p:txBody>
      </p:sp>
      <p:sp>
        <p:nvSpPr>
          <p:cNvPr id="8" name="Text 4"/>
          <p:cNvSpPr txBox="1"/>
          <p:nvPr/>
        </p:nvSpPr>
        <p:spPr>
          <a:xfrm>
            <a:off x="777240" y="2286000"/>
            <a:ext cx="5029200" cy="1234440"/>
          </a:xfrm>
          <a:prstGeom prst="rect">
            <a:avLst/>
          </a:prstGeom>
          <a:noFill/>
          <a:ln/>
        </p:spPr>
        <p:txBody>
          <a:bodyPr wrap="square" lIns="0" tIns="0" rIns="0" bIns="0" rtlCol="0" anchor="t"/>
          <a:lstStyle/>
          <a:p>
            <a:pPr indent="0" marL="0">
              <a:buNone/>
            </a:pPr>
            <a:r>
              <a:rPr lang="en-US" sz="1400" dirty="0">
                <a:solidFill>
                  <a:schemeClr val="tx1"/>
                </a:solidFill>
              </a:rPr>
              <a:t>Pressure falls with height, the parcel expands and does work on its surroundings. That energy comes from its internal energy, so its temperature drops (Δh = 0 = c</a:t>
            </a:r>
            <a:r>
              <a:rPr lang="en-US" sz="1400" baseline="-40000" dirty="0">
                <a:solidFill>
                  <a:schemeClr val="tx1"/>
                </a:solidFill>
              </a:rPr>
              <a:t>p</a:t>
            </a:r>
            <a:r>
              <a:rPr lang="en-US" sz="1400" dirty="0">
                <a:solidFill>
                  <a:schemeClr val="tx1"/>
                </a:solidFill>
              </a:rPr>
              <a:t>ΔT − αΔP).</a:t>
            </a:r>
            <a:endParaRPr lang="en-US" sz="1400" dirty="0"/>
          </a:p>
        </p:txBody>
      </p:sp>
      <p:sp>
        <p:nvSpPr>
          <p:cNvPr id="9" name="card"/>
          <p:cNvSpPr/>
          <p:nvPr/>
        </p:nvSpPr>
        <p:spPr>
          <a:xfrm>
            <a:off x="6199632" y="1371600"/>
            <a:ext cx="544068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0" name="icon circle"/>
          <p:cNvSpPr/>
          <p:nvPr/>
        </p:nvSpPr>
        <p:spPr>
          <a:xfrm>
            <a:off x="6382512" y="1554480"/>
            <a:ext cx="457200" cy="457200"/>
          </a:xfrm>
          <a:prstGeom prst="ellipse">
            <a:avLst/>
          </a:prstGeom>
          <a:solidFill>
            <a:schemeClr val="accent1"/>
          </a:solidFill>
          <a:ln/>
        </p:spPr>
      </p:sp>
      <p:pic>
        <p:nvPicPr>
          <p:cNvPr id="11" name="Image 1" descr="Question icon">    </p:cNvPr>
          <p:cNvPicPr>
            <a:picLocks noChangeAspect="1"/>
          </p:cNvPicPr>
          <p:nvPr/>
        </p:nvPicPr>
        <p:blipFill>
          <a:blip r:embed="rId2"/>
          <a:stretch>
            <a:fillRect/>
          </a:stretch>
        </p:blipFill>
        <p:spPr>
          <a:xfrm>
            <a:off x="6501384" y="1673352"/>
            <a:ext cx="219456" cy="219456"/>
          </a:xfrm>
          <a:prstGeom prst="rect">
            <a:avLst/>
          </a:prstGeom>
        </p:spPr>
      </p:pic>
      <p:sp>
        <p:nvSpPr>
          <p:cNvPr id="12" name="Text 7"/>
          <p:cNvSpPr txBox="1"/>
          <p:nvPr/>
        </p:nvSpPr>
        <p:spPr>
          <a:xfrm>
            <a:off x="6976872" y="1481328"/>
            <a:ext cx="4526280" cy="731520"/>
          </a:xfrm>
          <a:prstGeom prst="rect">
            <a:avLst/>
          </a:prstGeom>
          <a:noFill/>
          <a:ln/>
        </p:spPr>
        <p:txBody>
          <a:bodyPr wrap="square" lIns="0" tIns="0" rIns="0" bIns="0" rtlCol="0" anchor="ctr"/>
          <a:lstStyle/>
          <a:p>
            <a:pPr indent="0" marL="0">
              <a:buNone/>
            </a:pPr>
            <a:r>
              <a:rPr lang="en-US" sz="1500" b="1" dirty="0">
                <a:solidFill>
                  <a:schemeClr val="tx2"/>
                </a:solidFill>
              </a:rPr>
              <a:t>Why is Γs smaller than Γd?</a:t>
            </a:r>
            <a:endParaRPr lang="en-US" sz="1500" dirty="0"/>
          </a:p>
        </p:txBody>
      </p:sp>
      <p:sp>
        <p:nvSpPr>
          <p:cNvPr id="13" name="Text 8"/>
          <p:cNvSpPr txBox="1"/>
          <p:nvPr/>
        </p:nvSpPr>
        <p:spPr>
          <a:xfrm>
            <a:off x="6428232" y="2286000"/>
            <a:ext cx="5029200" cy="1234440"/>
          </a:xfrm>
          <a:prstGeom prst="rect">
            <a:avLst/>
          </a:prstGeom>
          <a:noFill/>
          <a:ln/>
        </p:spPr>
        <p:txBody>
          <a:bodyPr wrap="square" lIns="0" tIns="0" rIns="0" bIns="0" rtlCol="0" anchor="t"/>
          <a:lstStyle/>
          <a:p>
            <a:pPr indent="0" marL="0">
              <a:buNone/>
            </a:pPr>
            <a:r>
              <a:rPr lang="en-US" sz="1400" dirty="0">
                <a:solidFill>
                  <a:schemeClr val="tx1"/>
                </a:solidFill>
              </a:rPr>
              <a:t>In saturated air, cooling makes vapour condense and release latent heat, which offsets part of the expansion cooling.</a:t>
            </a:r>
            <a:endParaRPr lang="en-US" sz="1400" dirty="0"/>
          </a:p>
        </p:txBody>
      </p:sp>
      <p:sp>
        <p:nvSpPr>
          <p:cNvPr id="14" name="card"/>
          <p:cNvSpPr/>
          <p:nvPr/>
        </p:nvSpPr>
        <p:spPr>
          <a:xfrm>
            <a:off x="548640" y="3794760"/>
            <a:ext cx="544068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15" name="icon circle"/>
          <p:cNvSpPr/>
          <p:nvPr/>
        </p:nvSpPr>
        <p:spPr>
          <a:xfrm>
            <a:off x="731520" y="3977640"/>
            <a:ext cx="457200" cy="457200"/>
          </a:xfrm>
          <a:prstGeom prst="ellipse">
            <a:avLst/>
          </a:prstGeom>
          <a:solidFill>
            <a:schemeClr val="accent2"/>
          </a:solidFill>
          <a:ln/>
        </p:spPr>
      </p:sp>
      <p:pic>
        <p:nvPicPr>
          <p:cNvPr id="16" name="Image 2" descr="Question icon">    </p:cNvPr>
          <p:cNvPicPr>
            <a:picLocks noChangeAspect="1"/>
          </p:cNvPicPr>
          <p:nvPr/>
        </p:nvPicPr>
        <p:blipFill>
          <a:blip r:embed="rId3"/>
          <a:stretch>
            <a:fillRect/>
          </a:stretch>
        </p:blipFill>
        <p:spPr>
          <a:xfrm>
            <a:off x="850392" y="4096512"/>
            <a:ext cx="219456" cy="219456"/>
          </a:xfrm>
          <a:prstGeom prst="rect">
            <a:avLst/>
          </a:prstGeom>
        </p:spPr>
      </p:pic>
      <p:sp>
        <p:nvSpPr>
          <p:cNvPr id="17" name="Text 11"/>
          <p:cNvSpPr txBox="1"/>
          <p:nvPr/>
        </p:nvSpPr>
        <p:spPr>
          <a:xfrm>
            <a:off x="1325880" y="3904488"/>
            <a:ext cx="4526280" cy="731520"/>
          </a:xfrm>
          <a:prstGeom prst="rect">
            <a:avLst/>
          </a:prstGeom>
          <a:noFill/>
          <a:ln/>
        </p:spPr>
        <p:txBody>
          <a:bodyPr wrap="square" lIns="0" tIns="0" rIns="0" bIns="0" rtlCol="0" anchor="ctr"/>
          <a:lstStyle/>
          <a:p>
            <a:pPr indent="0" marL="0">
              <a:buNone/>
            </a:pPr>
            <a:r>
              <a:rPr lang="en-US" sz="1500" b="1" dirty="0">
                <a:solidFill>
                  <a:schemeClr val="tx2"/>
                </a:solidFill>
              </a:rPr>
              <a:t>Why does the Foehn arrive warmer than it started?</a:t>
            </a:r>
            <a:endParaRPr lang="en-US" sz="1500" dirty="0"/>
          </a:p>
        </p:txBody>
      </p:sp>
      <p:sp>
        <p:nvSpPr>
          <p:cNvPr id="18" name="Text 12"/>
          <p:cNvSpPr txBox="1"/>
          <p:nvPr/>
        </p:nvSpPr>
        <p:spPr>
          <a:xfrm>
            <a:off x="777240" y="4709160"/>
            <a:ext cx="5029200" cy="1234440"/>
          </a:xfrm>
          <a:prstGeom prst="rect">
            <a:avLst/>
          </a:prstGeom>
          <a:noFill/>
          <a:ln/>
        </p:spPr>
        <p:txBody>
          <a:bodyPr wrap="square" lIns="0" tIns="0" rIns="0" bIns="0" rtlCol="0" anchor="t"/>
          <a:lstStyle/>
          <a:p>
            <a:pPr indent="0" marL="0">
              <a:buNone/>
            </a:pPr>
            <a:r>
              <a:rPr lang="en-US" sz="1400" dirty="0">
                <a:solidFill>
                  <a:schemeClr val="tx1"/>
                </a:solidFill>
              </a:rPr>
              <a:t>It rose at the slow moist rate (latent heat added, rain removed) but sank at the fast dry rate. The heat released on the windward side stays in the air.</a:t>
            </a:r>
            <a:endParaRPr lang="en-US" sz="1400" dirty="0"/>
          </a:p>
        </p:txBody>
      </p:sp>
      <p:sp>
        <p:nvSpPr>
          <p:cNvPr id="19" name="card"/>
          <p:cNvSpPr/>
          <p:nvPr/>
        </p:nvSpPr>
        <p:spPr>
          <a:xfrm>
            <a:off x="6199632" y="3794760"/>
            <a:ext cx="5440680" cy="2240280"/>
          </a:xfrm>
          <a:prstGeom prst="roundRect">
            <a:avLst>
              <a:gd name="adj" fmla="val 3265"/>
            </a:avLst>
          </a:prstGeom>
          <a:solidFill>
            <a:schemeClr val="bg2"/>
          </a:solidFill>
          <a:ln/>
          <a:effectLst>
            <a:outerShdw sx="100000" sy="100000" kx="0" ky="0" algn="bl" rotWithShape="0" blurRad="76200" dist="25400" dir="5400000">
              <a:srgbClr val="000000">
                <a:alpha val="14000"/>
              </a:srgbClr>
            </a:outerShdw>
          </a:effectLst>
        </p:spPr>
      </p:sp>
      <p:sp>
        <p:nvSpPr>
          <p:cNvPr id="20" name="icon circle"/>
          <p:cNvSpPr/>
          <p:nvPr/>
        </p:nvSpPr>
        <p:spPr>
          <a:xfrm>
            <a:off x="6382512" y="3977640"/>
            <a:ext cx="457200" cy="457200"/>
          </a:xfrm>
          <a:prstGeom prst="ellipse">
            <a:avLst/>
          </a:prstGeom>
          <a:solidFill>
            <a:schemeClr val="accent1"/>
          </a:solidFill>
          <a:ln/>
        </p:spPr>
      </p:sp>
      <p:pic>
        <p:nvPicPr>
          <p:cNvPr id="21" name="Image 3" descr="Question icon">    </p:cNvPr>
          <p:cNvPicPr>
            <a:picLocks noChangeAspect="1"/>
          </p:cNvPicPr>
          <p:nvPr/>
        </p:nvPicPr>
        <p:blipFill>
          <a:blip r:embed="rId4"/>
          <a:stretch>
            <a:fillRect/>
          </a:stretch>
        </p:blipFill>
        <p:spPr>
          <a:xfrm>
            <a:off x="6501384" y="4096512"/>
            <a:ext cx="219456" cy="219456"/>
          </a:xfrm>
          <a:prstGeom prst="rect">
            <a:avLst/>
          </a:prstGeom>
        </p:spPr>
      </p:pic>
      <p:sp>
        <p:nvSpPr>
          <p:cNvPr id="22" name="Text 15"/>
          <p:cNvSpPr txBox="1"/>
          <p:nvPr/>
        </p:nvSpPr>
        <p:spPr>
          <a:xfrm>
            <a:off x="6976872" y="3904488"/>
            <a:ext cx="4526280" cy="731520"/>
          </a:xfrm>
          <a:prstGeom prst="rect">
            <a:avLst/>
          </a:prstGeom>
          <a:noFill/>
          <a:ln/>
        </p:spPr>
        <p:txBody>
          <a:bodyPr wrap="square" lIns="0" tIns="0" rIns="0" bIns="0" rtlCol="0" anchor="ctr"/>
          <a:lstStyle/>
          <a:p>
            <a:pPr indent="0" marL="0">
              <a:buNone/>
            </a:pPr>
            <a:r>
              <a:rPr lang="en-US" sz="1500" b="1" dirty="0">
                <a:solidFill>
                  <a:schemeClr val="tx2"/>
                </a:solidFill>
              </a:rPr>
              <a:t>If γ = 6.5 K/km on average, is the atmosphere stable?</a:t>
            </a:r>
            <a:endParaRPr lang="en-US" sz="1500" dirty="0"/>
          </a:p>
        </p:txBody>
      </p:sp>
      <p:sp>
        <p:nvSpPr>
          <p:cNvPr id="23" name="Text 16"/>
          <p:cNvSpPr txBox="1"/>
          <p:nvPr/>
        </p:nvSpPr>
        <p:spPr>
          <a:xfrm>
            <a:off x="6428232" y="4709160"/>
            <a:ext cx="5029200" cy="1234440"/>
          </a:xfrm>
          <a:prstGeom prst="rect">
            <a:avLst/>
          </a:prstGeom>
          <a:noFill/>
          <a:ln/>
        </p:spPr>
        <p:txBody>
          <a:bodyPr wrap="square" lIns="0" tIns="0" rIns="0" bIns="0" rtlCol="0" anchor="t"/>
          <a:lstStyle/>
          <a:p>
            <a:pPr indent="0" marL="0">
              <a:buNone/>
            </a:pPr>
            <a:r>
              <a:rPr lang="en-US" sz="1400" dirty="0">
                <a:solidFill>
                  <a:schemeClr val="tx1"/>
                </a:solidFill>
              </a:rPr>
              <a:t>Stable for dry air (6.5 &lt; 9.8) but close to Γs, so often conditionally unstable for saturated air, especially in the warm tropics where Γs ≈ 4 K/km.</a:t>
            </a:r>
            <a:endParaRPr lang="en-US" sz="14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Quick viva questions</a:t>
            </a:r>
            <a:endParaRPr lang="en-US" sz="3200" dirty="0"/>
          </a:p>
        </p:txBody>
      </p:sp>
      <p:sp>
        <p:nvSpPr>
          <p:cNvPr id="4" name="card"/>
          <p:cNvSpPr/>
          <p:nvPr/>
        </p:nvSpPr>
        <p:spPr>
          <a:xfrm>
            <a:off x="548640" y="1371600"/>
            <a:ext cx="3547872" cy="1078992"/>
          </a:xfrm>
          <a:prstGeom prst="roundRect">
            <a:avLst>
              <a:gd name="adj" fmla="val 6780"/>
            </a:avLst>
          </a:prstGeom>
          <a:solidFill>
            <a:schemeClr val="bg2"/>
          </a:solidFill>
          <a:ln/>
          <a:effectLst>
            <a:outerShdw sx="100000" sy="100000" kx="0" ky="0" algn="bl" rotWithShape="0" blurRad="76200" dist="25400" dir="5400000">
              <a:srgbClr val="000000">
                <a:alpha val="14000"/>
              </a:srgbClr>
            </a:outerShdw>
          </a:effectLst>
        </p:spPr>
      </p:sp>
      <p:sp>
        <p:nvSpPr>
          <p:cNvPr id="5" name="Text 2"/>
          <p:cNvSpPr txBox="1"/>
          <p:nvPr/>
        </p:nvSpPr>
        <p:spPr>
          <a:xfrm>
            <a:off x="685800" y="1426464"/>
            <a:ext cx="3273552" cy="475488"/>
          </a:xfrm>
          <a:prstGeom prst="rect">
            <a:avLst/>
          </a:prstGeom>
          <a:noFill/>
          <a:ln/>
        </p:spPr>
        <p:txBody>
          <a:bodyPr wrap="square" lIns="0" tIns="0" rIns="0" bIns="0" rtlCol="0" anchor="ctr"/>
          <a:lstStyle/>
          <a:p>
            <a:pPr indent="0" marL="0">
              <a:buNone/>
            </a:pPr>
            <a:r>
              <a:rPr lang="en-US" sz="1300" b="1" dirty="0">
                <a:solidFill>
                  <a:schemeClr val="tx2"/>
                </a:solidFill>
              </a:rPr>
              <a:t>Q. Value of Γd?</a:t>
            </a:r>
            <a:endParaRPr lang="en-US" sz="1300" dirty="0"/>
          </a:p>
        </p:txBody>
      </p:sp>
      <p:sp>
        <p:nvSpPr>
          <p:cNvPr id="6" name="Text 3"/>
          <p:cNvSpPr txBox="1"/>
          <p:nvPr/>
        </p:nvSpPr>
        <p:spPr>
          <a:xfrm>
            <a:off x="685800" y="1920240"/>
            <a:ext cx="3273552" cy="457200"/>
          </a:xfrm>
          <a:prstGeom prst="rect">
            <a:avLst/>
          </a:prstGeom>
          <a:noFill/>
          <a:ln/>
        </p:spPr>
        <p:txBody>
          <a:bodyPr wrap="square" lIns="0" tIns="0" rIns="0" bIns="0" rtlCol="0" anchor="ctr"/>
          <a:lstStyle/>
          <a:p>
            <a:pPr indent="0" marL="0">
              <a:buNone/>
            </a:pPr>
            <a:r>
              <a:rPr lang="en-US" sz="1300" b="1" dirty="0">
                <a:solidFill>
                  <a:schemeClr val="accent1"/>
                </a:solidFill>
              </a:rPr>
              <a:t>→ g/c</a:t>
            </a:r>
            <a:r>
              <a:rPr lang="en-US" sz="1300" b="1" baseline="-40000" dirty="0">
                <a:solidFill>
                  <a:schemeClr val="accent1"/>
                </a:solidFill>
              </a:rPr>
              <a:t>p</a:t>
            </a:r>
            <a:r>
              <a:rPr lang="en-US" sz="1300" b="1" dirty="0">
                <a:solidFill>
                  <a:schemeClr val="accent1"/>
                </a:solidFill>
              </a:rPr>
              <a:t> ≈ 9.8 K/km</a:t>
            </a:r>
            <a:endParaRPr lang="en-US" sz="1300" dirty="0"/>
          </a:p>
        </p:txBody>
      </p:sp>
      <p:sp>
        <p:nvSpPr>
          <p:cNvPr id="7" name="card"/>
          <p:cNvSpPr/>
          <p:nvPr/>
        </p:nvSpPr>
        <p:spPr>
          <a:xfrm>
            <a:off x="4297680" y="1371600"/>
            <a:ext cx="3547872" cy="1078992"/>
          </a:xfrm>
          <a:prstGeom prst="roundRect">
            <a:avLst>
              <a:gd name="adj" fmla="val 6780"/>
            </a:avLst>
          </a:prstGeom>
          <a:solidFill>
            <a:schemeClr val="bg2"/>
          </a:solidFill>
          <a:ln/>
          <a:effectLst>
            <a:outerShdw sx="100000" sy="100000" kx="0" ky="0" algn="bl" rotWithShape="0" blurRad="76200" dist="25400" dir="5400000">
              <a:srgbClr val="000000">
                <a:alpha val="14000"/>
              </a:srgbClr>
            </a:outerShdw>
          </a:effectLst>
        </p:spPr>
      </p:sp>
      <p:sp>
        <p:nvSpPr>
          <p:cNvPr id="8" name="Text 5"/>
          <p:cNvSpPr txBox="1"/>
          <p:nvPr/>
        </p:nvSpPr>
        <p:spPr>
          <a:xfrm>
            <a:off x="4434840" y="1426464"/>
            <a:ext cx="3273552" cy="475488"/>
          </a:xfrm>
          <a:prstGeom prst="rect">
            <a:avLst/>
          </a:prstGeom>
          <a:noFill/>
          <a:ln/>
        </p:spPr>
        <p:txBody>
          <a:bodyPr wrap="square" lIns="0" tIns="0" rIns="0" bIns="0" rtlCol="0" anchor="ctr"/>
          <a:lstStyle/>
          <a:p>
            <a:pPr indent="0" marL="0">
              <a:buNone/>
            </a:pPr>
            <a:r>
              <a:rPr lang="en-US" sz="1300" b="1" dirty="0">
                <a:solidFill>
                  <a:schemeClr val="tx2"/>
                </a:solidFill>
              </a:rPr>
              <a:t>Q. Reference pressure for θ?</a:t>
            </a:r>
            <a:endParaRPr lang="en-US" sz="1300" dirty="0"/>
          </a:p>
        </p:txBody>
      </p:sp>
      <p:sp>
        <p:nvSpPr>
          <p:cNvPr id="9" name="Text 6"/>
          <p:cNvSpPr txBox="1"/>
          <p:nvPr/>
        </p:nvSpPr>
        <p:spPr>
          <a:xfrm>
            <a:off x="4434840" y="1920240"/>
            <a:ext cx="3273552" cy="457200"/>
          </a:xfrm>
          <a:prstGeom prst="rect">
            <a:avLst/>
          </a:prstGeom>
          <a:noFill/>
          <a:ln/>
        </p:spPr>
        <p:txBody>
          <a:bodyPr wrap="square" lIns="0" tIns="0" rIns="0" bIns="0" rtlCol="0" anchor="ctr"/>
          <a:lstStyle/>
          <a:p>
            <a:pPr indent="0" marL="0">
              <a:buNone/>
            </a:pPr>
            <a:r>
              <a:rPr lang="en-US" sz="1300" b="1" dirty="0">
                <a:solidFill>
                  <a:schemeClr val="accent1"/>
                </a:solidFill>
              </a:rPr>
              <a:t>→ 1000 mb (hPa)</a:t>
            </a:r>
            <a:endParaRPr lang="en-US" sz="1300" dirty="0"/>
          </a:p>
        </p:txBody>
      </p:sp>
      <p:sp>
        <p:nvSpPr>
          <p:cNvPr id="10" name="card"/>
          <p:cNvSpPr/>
          <p:nvPr/>
        </p:nvSpPr>
        <p:spPr>
          <a:xfrm>
            <a:off x="8046720" y="1371600"/>
            <a:ext cx="3547872" cy="1078992"/>
          </a:xfrm>
          <a:prstGeom prst="roundRect">
            <a:avLst>
              <a:gd name="adj" fmla="val 6780"/>
            </a:avLst>
          </a:prstGeom>
          <a:solidFill>
            <a:schemeClr val="bg2"/>
          </a:solidFill>
          <a:ln/>
          <a:effectLst>
            <a:outerShdw sx="100000" sy="100000" kx="0" ky="0" algn="bl" rotWithShape="0" blurRad="76200" dist="25400" dir="5400000">
              <a:srgbClr val="000000">
                <a:alpha val="14000"/>
              </a:srgbClr>
            </a:outerShdw>
          </a:effectLst>
        </p:spPr>
      </p:sp>
      <p:sp>
        <p:nvSpPr>
          <p:cNvPr id="11" name="Text 8"/>
          <p:cNvSpPr txBox="1"/>
          <p:nvPr/>
        </p:nvSpPr>
        <p:spPr>
          <a:xfrm>
            <a:off x="8183880" y="1426464"/>
            <a:ext cx="3273552" cy="475488"/>
          </a:xfrm>
          <a:prstGeom prst="rect">
            <a:avLst/>
          </a:prstGeom>
          <a:noFill/>
          <a:ln/>
        </p:spPr>
        <p:txBody>
          <a:bodyPr wrap="square" lIns="0" tIns="0" rIns="0" bIns="0" rtlCol="0" anchor="ctr"/>
          <a:lstStyle/>
          <a:p>
            <a:pPr indent="0" marL="0">
              <a:buNone/>
            </a:pPr>
            <a:r>
              <a:rPr lang="en-US" sz="1300" b="1" dirty="0">
                <a:solidFill>
                  <a:schemeClr val="tx2"/>
                </a:solidFill>
              </a:rPr>
              <a:t>Q. Is θ conserved in saturated ascent?</a:t>
            </a:r>
            <a:endParaRPr lang="en-US" sz="1300" dirty="0"/>
          </a:p>
        </p:txBody>
      </p:sp>
      <p:sp>
        <p:nvSpPr>
          <p:cNvPr id="12" name="Text 9"/>
          <p:cNvSpPr txBox="1"/>
          <p:nvPr/>
        </p:nvSpPr>
        <p:spPr>
          <a:xfrm>
            <a:off x="8183880" y="1920240"/>
            <a:ext cx="3273552" cy="457200"/>
          </a:xfrm>
          <a:prstGeom prst="rect">
            <a:avLst/>
          </a:prstGeom>
          <a:noFill/>
          <a:ln/>
        </p:spPr>
        <p:txBody>
          <a:bodyPr wrap="square" lIns="0" tIns="0" rIns="0" bIns="0" rtlCol="0" anchor="ctr"/>
          <a:lstStyle/>
          <a:p>
            <a:pPr indent="0" marL="0">
              <a:buNone/>
            </a:pPr>
            <a:r>
              <a:rPr lang="en-US" sz="1300" b="1" dirty="0">
                <a:solidFill>
                  <a:schemeClr val="accent1"/>
                </a:solidFill>
              </a:rPr>
              <a:t>→ No; θe is</a:t>
            </a:r>
            <a:endParaRPr lang="en-US" sz="1300" dirty="0"/>
          </a:p>
        </p:txBody>
      </p:sp>
      <p:sp>
        <p:nvSpPr>
          <p:cNvPr id="13" name="card"/>
          <p:cNvSpPr/>
          <p:nvPr/>
        </p:nvSpPr>
        <p:spPr>
          <a:xfrm>
            <a:off x="548640" y="2587752"/>
            <a:ext cx="3547872" cy="1078992"/>
          </a:xfrm>
          <a:prstGeom prst="roundRect">
            <a:avLst>
              <a:gd name="adj" fmla="val 6780"/>
            </a:avLst>
          </a:prstGeom>
          <a:solidFill>
            <a:schemeClr val="bg2"/>
          </a:solidFill>
          <a:ln/>
          <a:effectLst>
            <a:outerShdw sx="100000" sy="100000" kx="0" ky="0" algn="bl" rotWithShape="0" blurRad="76200" dist="25400" dir="5400000">
              <a:srgbClr val="000000">
                <a:alpha val="14000"/>
              </a:srgbClr>
            </a:outerShdw>
          </a:effectLst>
        </p:spPr>
      </p:sp>
      <p:sp>
        <p:nvSpPr>
          <p:cNvPr id="14" name="Text 11"/>
          <p:cNvSpPr txBox="1"/>
          <p:nvPr/>
        </p:nvSpPr>
        <p:spPr>
          <a:xfrm>
            <a:off x="685800" y="2642616"/>
            <a:ext cx="3273552" cy="475488"/>
          </a:xfrm>
          <a:prstGeom prst="rect">
            <a:avLst/>
          </a:prstGeom>
          <a:noFill/>
          <a:ln/>
        </p:spPr>
        <p:txBody>
          <a:bodyPr wrap="square" lIns="0" tIns="0" rIns="0" bIns="0" rtlCol="0" anchor="ctr"/>
          <a:lstStyle/>
          <a:p>
            <a:pPr indent="0" marL="0">
              <a:buNone/>
            </a:pPr>
            <a:r>
              <a:rPr lang="en-US" sz="1300" b="1" dirty="0">
                <a:solidFill>
                  <a:schemeClr val="tx2"/>
                </a:solidFill>
              </a:rPr>
              <a:t>Q. What is the LCL?</a:t>
            </a:r>
            <a:endParaRPr lang="en-US" sz="1300" dirty="0"/>
          </a:p>
        </p:txBody>
      </p:sp>
      <p:sp>
        <p:nvSpPr>
          <p:cNvPr id="15" name="Text 12"/>
          <p:cNvSpPr txBox="1"/>
          <p:nvPr/>
        </p:nvSpPr>
        <p:spPr>
          <a:xfrm>
            <a:off x="685800" y="3136392"/>
            <a:ext cx="3273552" cy="457200"/>
          </a:xfrm>
          <a:prstGeom prst="rect">
            <a:avLst/>
          </a:prstGeom>
          <a:noFill/>
          <a:ln/>
        </p:spPr>
        <p:txBody>
          <a:bodyPr wrap="square" lIns="0" tIns="0" rIns="0" bIns="0" rtlCol="0" anchor="ctr"/>
          <a:lstStyle/>
          <a:p>
            <a:pPr indent="0" marL="0">
              <a:buNone/>
            </a:pPr>
            <a:r>
              <a:rPr lang="en-US" sz="1300" b="1" dirty="0">
                <a:solidFill>
                  <a:schemeClr val="accent1"/>
                </a:solidFill>
              </a:rPr>
              <a:t>→ Level where a lifted parcel saturates (cloud base)</a:t>
            </a:r>
            <a:endParaRPr lang="en-US" sz="1300" dirty="0"/>
          </a:p>
        </p:txBody>
      </p:sp>
      <p:sp>
        <p:nvSpPr>
          <p:cNvPr id="16" name="card"/>
          <p:cNvSpPr/>
          <p:nvPr/>
        </p:nvSpPr>
        <p:spPr>
          <a:xfrm>
            <a:off x="4297680" y="2587752"/>
            <a:ext cx="3547872" cy="1078992"/>
          </a:xfrm>
          <a:prstGeom prst="roundRect">
            <a:avLst>
              <a:gd name="adj" fmla="val 6780"/>
            </a:avLst>
          </a:prstGeom>
          <a:solidFill>
            <a:schemeClr val="bg2"/>
          </a:solidFill>
          <a:ln/>
          <a:effectLst>
            <a:outerShdw sx="100000" sy="100000" kx="0" ky="0" algn="bl" rotWithShape="0" blurRad="76200" dist="25400" dir="5400000">
              <a:srgbClr val="000000">
                <a:alpha val="14000"/>
              </a:srgbClr>
            </a:outerShdw>
          </a:effectLst>
        </p:spPr>
      </p:sp>
      <p:sp>
        <p:nvSpPr>
          <p:cNvPr id="17" name="Text 14"/>
          <p:cNvSpPr txBox="1"/>
          <p:nvPr/>
        </p:nvSpPr>
        <p:spPr>
          <a:xfrm>
            <a:off x="4434840" y="2642616"/>
            <a:ext cx="3273552" cy="475488"/>
          </a:xfrm>
          <a:prstGeom prst="rect">
            <a:avLst/>
          </a:prstGeom>
          <a:noFill/>
          <a:ln/>
        </p:spPr>
        <p:txBody>
          <a:bodyPr wrap="square" lIns="0" tIns="0" rIns="0" bIns="0" rtlCol="0" anchor="ctr"/>
          <a:lstStyle/>
          <a:p>
            <a:pPr indent="0" marL="0">
              <a:buNone/>
            </a:pPr>
            <a:r>
              <a:rPr lang="en-US" sz="1300" b="1" dirty="0">
                <a:solidFill>
                  <a:schemeClr val="tx2"/>
                </a:solidFill>
              </a:rPr>
              <a:t>Q. Condition for absolute instability?</a:t>
            </a:r>
            <a:endParaRPr lang="en-US" sz="1300" dirty="0"/>
          </a:p>
        </p:txBody>
      </p:sp>
      <p:sp>
        <p:nvSpPr>
          <p:cNvPr id="18" name="Text 15"/>
          <p:cNvSpPr txBox="1"/>
          <p:nvPr/>
        </p:nvSpPr>
        <p:spPr>
          <a:xfrm>
            <a:off x="4434840" y="3136392"/>
            <a:ext cx="3273552" cy="457200"/>
          </a:xfrm>
          <a:prstGeom prst="rect">
            <a:avLst/>
          </a:prstGeom>
          <a:noFill/>
          <a:ln/>
        </p:spPr>
        <p:txBody>
          <a:bodyPr wrap="square" lIns="0" tIns="0" rIns="0" bIns="0" rtlCol="0" anchor="ctr"/>
          <a:lstStyle/>
          <a:p>
            <a:pPr indent="0" marL="0">
              <a:buNone/>
            </a:pPr>
            <a:r>
              <a:rPr lang="en-US" sz="1300" b="1" dirty="0">
                <a:solidFill>
                  <a:schemeClr val="accent1"/>
                </a:solidFill>
              </a:rPr>
              <a:t>→ γ &gt; Γd</a:t>
            </a:r>
            <a:endParaRPr lang="en-US" sz="1300" dirty="0"/>
          </a:p>
        </p:txBody>
      </p:sp>
      <p:sp>
        <p:nvSpPr>
          <p:cNvPr id="19" name="card"/>
          <p:cNvSpPr/>
          <p:nvPr/>
        </p:nvSpPr>
        <p:spPr>
          <a:xfrm>
            <a:off x="8046720" y="2587752"/>
            <a:ext cx="3547872" cy="1078992"/>
          </a:xfrm>
          <a:prstGeom prst="roundRect">
            <a:avLst>
              <a:gd name="adj" fmla="val 6780"/>
            </a:avLst>
          </a:prstGeom>
          <a:solidFill>
            <a:schemeClr val="bg2"/>
          </a:solidFill>
          <a:ln/>
          <a:effectLst>
            <a:outerShdw sx="100000" sy="100000" kx="0" ky="0" algn="bl" rotWithShape="0" blurRad="76200" dist="25400" dir="5400000">
              <a:srgbClr val="000000">
                <a:alpha val="14000"/>
              </a:srgbClr>
            </a:outerShdw>
          </a:effectLst>
        </p:spPr>
      </p:sp>
      <p:sp>
        <p:nvSpPr>
          <p:cNvPr id="20" name="Text 17"/>
          <p:cNvSpPr txBox="1"/>
          <p:nvPr/>
        </p:nvSpPr>
        <p:spPr>
          <a:xfrm>
            <a:off x="8183880" y="2642616"/>
            <a:ext cx="3273552" cy="475488"/>
          </a:xfrm>
          <a:prstGeom prst="rect">
            <a:avLst/>
          </a:prstGeom>
          <a:noFill/>
          <a:ln/>
        </p:spPr>
        <p:txBody>
          <a:bodyPr wrap="square" lIns="0" tIns="0" rIns="0" bIns="0" rtlCol="0" anchor="ctr"/>
          <a:lstStyle/>
          <a:p>
            <a:pPr indent="0" marL="0">
              <a:buNone/>
            </a:pPr>
            <a:r>
              <a:rPr lang="en-US" sz="1300" b="1" dirty="0">
                <a:solidFill>
                  <a:schemeClr val="tx2"/>
                </a:solidFill>
              </a:rPr>
              <a:t>Q. Sign of N² in stable air?</a:t>
            </a:r>
            <a:endParaRPr lang="en-US" sz="1300" dirty="0"/>
          </a:p>
        </p:txBody>
      </p:sp>
      <p:sp>
        <p:nvSpPr>
          <p:cNvPr id="21" name="Text 18"/>
          <p:cNvSpPr txBox="1"/>
          <p:nvPr/>
        </p:nvSpPr>
        <p:spPr>
          <a:xfrm>
            <a:off x="8183880" y="3136392"/>
            <a:ext cx="3273552" cy="457200"/>
          </a:xfrm>
          <a:prstGeom prst="rect">
            <a:avLst/>
          </a:prstGeom>
          <a:noFill/>
          <a:ln/>
        </p:spPr>
        <p:txBody>
          <a:bodyPr wrap="square" lIns="0" tIns="0" rIns="0" bIns="0" rtlCol="0" anchor="ctr"/>
          <a:lstStyle/>
          <a:p>
            <a:pPr indent="0" marL="0">
              <a:buNone/>
            </a:pPr>
            <a:r>
              <a:rPr lang="en-US" sz="1300" b="1" dirty="0">
                <a:solidFill>
                  <a:schemeClr val="accent1"/>
                </a:solidFill>
              </a:rPr>
              <a:t>→ Positive</a:t>
            </a:r>
            <a:endParaRPr lang="en-US" sz="1300" dirty="0"/>
          </a:p>
        </p:txBody>
      </p:sp>
      <p:sp>
        <p:nvSpPr>
          <p:cNvPr id="22" name="card"/>
          <p:cNvSpPr/>
          <p:nvPr/>
        </p:nvSpPr>
        <p:spPr>
          <a:xfrm>
            <a:off x="548640" y="3803904"/>
            <a:ext cx="3547872" cy="1078992"/>
          </a:xfrm>
          <a:prstGeom prst="roundRect">
            <a:avLst>
              <a:gd name="adj" fmla="val 6780"/>
            </a:avLst>
          </a:prstGeom>
          <a:solidFill>
            <a:schemeClr val="bg2"/>
          </a:solidFill>
          <a:ln/>
          <a:effectLst>
            <a:outerShdw sx="100000" sy="100000" kx="0" ky="0" algn="bl" rotWithShape="0" blurRad="76200" dist="25400" dir="5400000">
              <a:srgbClr val="000000">
                <a:alpha val="14000"/>
              </a:srgbClr>
            </a:outerShdw>
          </a:effectLst>
        </p:spPr>
      </p:sp>
      <p:sp>
        <p:nvSpPr>
          <p:cNvPr id="23" name="Text 20"/>
          <p:cNvSpPr txBox="1"/>
          <p:nvPr/>
        </p:nvSpPr>
        <p:spPr>
          <a:xfrm>
            <a:off x="685800" y="3858768"/>
            <a:ext cx="3273552" cy="475488"/>
          </a:xfrm>
          <a:prstGeom prst="rect">
            <a:avLst/>
          </a:prstGeom>
          <a:noFill/>
          <a:ln/>
        </p:spPr>
        <p:txBody>
          <a:bodyPr wrap="square" lIns="0" tIns="0" rIns="0" bIns="0" rtlCol="0" anchor="ctr"/>
          <a:lstStyle/>
          <a:p>
            <a:pPr indent="0" marL="0">
              <a:buNone/>
            </a:pPr>
            <a:r>
              <a:rPr lang="en-US" sz="1300" b="1" dirty="0">
                <a:solidFill>
                  <a:schemeClr val="tx2"/>
                </a:solidFill>
              </a:rPr>
              <a:t>Q. Which front moves faster?</a:t>
            </a:r>
            <a:endParaRPr lang="en-US" sz="1300" dirty="0"/>
          </a:p>
        </p:txBody>
      </p:sp>
      <p:sp>
        <p:nvSpPr>
          <p:cNvPr id="24" name="Text 21"/>
          <p:cNvSpPr txBox="1"/>
          <p:nvPr/>
        </p:nvSpPr>
        <p:spPr>
          <a:xfrm>
            <a:off x="685800" y="4352544"/>
            <a:ext cx="3273552" cy="457200"/>
          </a:xfrm>
          <a:prstGeom prst="rect">
            <a:avLst/>
          </a:prstGeom>
          <a:noFill/>
          <a:ln/>
        </p:spPr>
        <p:txBody>
          <a:bodyPr wrap="square" lIns="0" tIns="0" rIns="0" bIns="0" rtlCol="0" anchor="ctr"/>
          <a:lstStyle/>
          <a:p>
            <a:pPr indent="0" marL="0">
              <a:buNone/>
            </a:pPr>
            <a:r>
              <a:rPr lang="en-US" sz="1300" b="1" dirty="0">
                <a:solidFill>
                  <a:schemeClr val="accent1"/>
                </a:solidFill>
              </a:rPr>
              <a:t>→ Cold front (25–40 kt)</a:t>
            </a:r>
            <a:endParaRPr lang="en-US" sz="1300" dirty="0"/>
          </a:p>
        </p:txBody>
      </p:sp>
      <p:sp>
        <p:nvSpPr>
          <p:cNvPr id="25" name="card"/>
          <p:cNvSpPr/>
          <p:nvPr/>
        </p:nvSpPr>
        <p:spPr>
          <a:xfrm>
            <a:off x="4297680" y="3803904"/>
            <a:ext cx="3547872" cy="1078992"/>
          </a:xfrm>
          <a:prstGeom prst="roundRect">
            <a:avLst>
              <a:gd name="adj" fmla="val 6780"/>
            </a:avLst>
          </a:prstGeom>
          <a:solidFill>
            <a:schemeClr val="bg2"/>
          </a:solidFill>
          <a:ln/>
          <a:effectLst>
            <a:outerShdw sx="100000" sy="100000" kx="0" ky="0" algn="bl" rotWithShape="0" blurRad="76200" dist="25400" dir="5400000">
              <a:srgbClr val="000000">
                <a:alpha val="14000"/>
              </a:srgbClr>
            </a:outerShdw>
          </a:effectLst>
        </p:spPr>
      </p:sp>
      <p:sp>
        <p:nvSpPr>
          <p:cNvPr id="26" name="Text 23"/>
          <p:cNvSpPr txBox="1"/>
          <p:nvPr/>
        </p:nvSpPr>
        <p:spPr>
          <a:xfrm>
            <a:off x="4434840" y="3858768"/>
            <a:ext cx="3273552" cy="475488"/>
          </a:xfrm>
          <a:prstGeom prst="rect">
            <a:avLst/>
          </a:prstGeom>
          <a:noFill/>
          <a:ln/>
        </p:spPr>
        <p:txBody>
          <a:bodyPr wrap="square" lIns="0" tIns="0" rIns="0" bIns="0" rtlCol="0" anchor="ctr"/>
          <a:lstStyle/>
          <a:p>
            <a:pPr indent="0" marL="0">
              <a:buNone/>
            </a:pPr>
            <a:r>
              <a:rPr lang="en-US" sz="1300" b="1" dirty="0">
                <a:solidFill>
                  <a:schemeClr val="tx2"/>
                </a:solidFill>
              </a:rPr>
              <a:t>Q. Why is moist air lighter?</a:t>
            </a:r>
            <a:endParaRPr lang="en-US" sz="1300" dirty="0"/>
          </a:p>
        </p:txBody>
      </p:sp>
      <p:sp>
        <p:nvSpPr>
          <p:cNvPr id="27" name="Text 24"/>
          <p:cNvSpPr txBox="1"/>
          <p:nvPr/>
        </p:nvSpPr>
        <p:spPr>
          <a:xfrm>
            <a:off x="4434840" y="4352544"/>
            <a:ext cx="3273552" cy="457200"/>
          </a:xfrm>
          <a:prstGeom prst="rect">
            <a:avLst/>
          </a:prstGeom>
          <a:noFill/>
          <a:ln/>
        </p:spPr>
        <p:txBody>
          <a:bodyPr wrap="square" lIns="0" tIns="0" rIns="0" bIns="0" rtlCol="0" anchor="ctr"/>
          <a:lstStyle/>
          <a:p>
            <a:pPr indent="0" marL="0">
              <a:buNone/>
            </a:pPr>
            <a:r>
              <a:rPr lang="en-US" sz="1300" b="1" dirty="0">
                <a:solidFill>
                  <a:schemeClr val="accent1"/>
                </a:solidFill>
              </a:rPr>
              <a:t>→ M</a:t>
            </a:r>
            <a:r>
              <a:rPr lang="en-US" sz="1300" b="1" baseline="-40000" dirty="0">
                <a:solidFill>
                  <a:schemeClr val="accent1"/>
                </a:solidFill>
              </a:rPr>
              <a:t>water</a:t>
            </a:r>
            <a:r>
              <a:rPr lang="en-US" sz="1300" b="1" dirty="0">
                <a:solidFill>
                  <a:schemeClr val="accent1"/>
                </a:solidFill>
              </a:rPr>
              <a:t> = 18 &lt; M</a:t>
            </a:r>
            <a:r>
              <a:rPr lang="en-US" sz="1300" b="1" baseline="-40000" dirty="0">
                <a:solidFill>
                  <a:schemeClr val="accent1"/>
                </a:solidFill>
              </a:rPr>
              <a:t>air</a:t>
            </a:r>
            <a:r>
              <a:rPr lang="en-US" sz="1300" b="1" dirty="0">
                <a:solidFill>
                  <a:schemeClr val="accent1"/>
                </a:solidFill>
              </a:rPr>
              <a:t> = 28.97</a:t>
            </a:r>
            <a:endParaRPr lang="en-US" sz="1300" dirty="0"/>
          </a:p>
        </p:txBody>
      </p:sp>
      <p:sp>
        <p:nvSpPr>
          <p:cNvPr id="28" name="card"/>
          <p:cNvSpPr/>
          <p:nvPr/>
        </p:nvSpPr>
        <p:spPr>
          <a:xfrm>
            <a:off x="8046720" y="3803904"/>
            <a:ext cx="3547872" cy="1078992"/>
          </a:xfrm>
          <a:prstGeom prst="roundRect">
            <a:avLst>
              <a:gd name="adj" fmla="val 6780"/>
            </a:avLst>
          </a:prstGeom>
          <a:solidFill>
            <a:schemeClr val="bg2"/>
          </a:solidFill>
          <a:ln/>
          <a:effectLst>
            <a:outerShdw sx="100000" sy="100000" kx="0" ky="0" algn="bl" rotWithShape="0" blurRad="76200" dist="25400" dir="5400000">
              <a:srgbClr val="000000">
                <a:alpha val="14000"/>
              </a:srgbClr>
            </a:outerShdw>
          </a:effectLst>
        </p:spPr>
      </p:sp>
      <p:sp>
        <p:nvSpPr>
          <p:cNvPr id="29" name="Text 26"/>
          <p:cNvSpPr txBox="1"/>
          <p:nvPr/>
        </p:nvSpPr>
        <p:spPr>
          <a:xfrm>
            <a:off x="8183880" y="3858768"/>
            <a:ext cx="3273552" cy="475488"/>
          </a:xfrm>
          <a:prstGeom prst="rect">
            <a:avLst/>
          </a:prstGeom>
          <a:noFill/>
          <a:ln/>
        </p:spPr>
        <p:txBody>
          <a:bodyPr wrap="square" lIns="0" tIns="0" rIns="0" bIns="0" rtlCol="0" anchor="ctr"/>
          <a:lstStyle/>
          <a:p>
            <a:pPr indent="0" marL="0">
              <a:buNone/>
            </a:pPr>
            <a:r>
              <a:rPr lang="en-US" sz="1300" b="1" dirty="0">
                <a:solidFill>
                  <a:schemeClr val="tx2"/>
                </a:solidFill>
              </a:rPr>
              <a:t>Q. κ in Poisson's equation?</a:t>
            </a:r>
            <a:endParaRPr lang="en-US" sz="1300" dirty="0"/>
          </a:p>
        </p:txBody>
      </p:sp>
      <p:sp>
        <p:nvSpPr>
          <p:cNvPr id="30" name="Text 27"/>
          <p:cNvSpPr txBox="1"/>
          <p:nvPr/>
        </p:nvSpPr>
        <p:spPr>
          <a:xfrm>
            <a:off x="8183880" y="4352544"/>
            <a:ext cx="3273552" cy="457200"/>
          </a:xfrm>
          <a:prstGeom prst="rect">
            <a:avLst/>
          </a:prstGeom>
          <a:noFill/>
          <a:ln/>
        </p:spPr>
        <p:txBody>
          <a:bodyPr wrap="square" lIns="0" tIns="0" rIns="0" bIns="0" rtlCol="0" anchor="ctr"/>
          <a:lstStyle/>
          <a:p>
            <a:pPr indent="0" marL="0">
              <a:buNone/>
            </a:pPr>
            <a:r>
              <a:rPr lang="en-US" sz="1300" b="1" dirty="0">
                <a:solidFill>
                  <a:schemeClr val="accent1"/>
                </a:solidFill>
              </a:rPr>
              <a:t>→ R/c</a:t>
            </a:r>
            <a:r>
              <a:rPr lang="en-US" sz="1300" b="1" baseline="-40000" dirty="0">
                <a:solidFill>
                  <a:schemeClr val="accent1"/>
                </a:solidFill>
              </a:rPr>
              <a:t>p</a:t>
            </a:r>
            <a:r>
              <a:rPr lang="en-US" sz="1300" b="1" dirty="0">
                <a:solidFill>
                  <a:schemeClr val="accent1"/>
                </a:solidFill>
              </a:rPr>
              <a:t> ≈ 0.286</a:t>
            </a:r>
            <a:endParaRPr lang="en-US" sz="1300" dirty="0"/>
          </a:p>
        </p:txBody>
      </p:sp>
      <p:sp>
        <p:nvSpPr>
          <p:cNvPr id="31" name="card"/>
          <p:cNvSpPr/>
          <p:nvPr/>
        </p:nvSpPr>
        <p:spPr>
          <a:xfrm>
            <a:off x="548640" y="5020056"/>
            <a:ext cx="3547872" cy="1078992"/>
          </a:xfrm>
          <a:prstGeom prst="roundRect">
            <a:avLst>
              <a:gd name="adj" fmla="val 6780"/>
            </a:avLst>
          </a:prstGeom>
          <a:solidFill>
            <a:schemeClr val="bg2"/>
          </a:solidFill>
          <a:ln/>
          <a:effectLst>
            <a:outerShdw sx="100000" sy="100000" kx="0" ky="0" algn="bl" rotWithShape="0" blurRad="76200" dist="25400" dir="5400000">
              <a:srgbClr val="000000">
                <a:alpha val="14000"/>
              </a:srgbClr>
            </a:outerShdw>
          </a:effectLst>
        </p:spPr>
      </p:sp>
      <p:sp>
        <p:nvSpPr>
          <p:cNvPr id="32" name="Text 29"/>
          <p:cNvSpPr txBox="1"/>
          <p:nvPr/>
        </p:nvSpPr>
        <p:spPr>
          <a:xfrm>
            <a:off x="685800" y="5074920"/>
            <a:ext cx="3273552" cy="475488"/>
          </a:xfrm>
          <a:prstGeom prst="rect">
            <a:avLst/>
          </a:prstGeom>
          <a:noFill/>
          <a:ln/>
        </p:spPr>
        <p:txBody>
          <a:bodyPr wrap="square" lIns="0" tIns="0" rIns="0" bIns="0" rtlCol="0" anchor="ctr"/>
          <a:lstStyle/>
          <a:p>
            <a:pPr indent="0" marL="0">
              <a:buNone/>
            </a:pPr>
            <a:r>
              <a:rPr lang="en-US" sz="1300" b="1" dirty="0">
                <a:solidFill>
                  <a:schemeClr val="tx2"/>
                </a:solidFill>
              </a:rPr>
              <a:t>Q. Foehn in the Rockies is called?</a:t>
            </a:r>
            <a:endParaRPr lang="en-US" sz="1300" dirty="0"/>
          </a:p>
        </p:txBody>
      </p:sp>
      <p:sp>
        <p:nvSpPr>
          <p:cNvPr id="33" name="Text 30"/>
          <p:cNvSpPr txBox="1"/>
          <p:nvPr/>
        </p:nvSpPr>
        <p:spPr>
          <a:xfrm>
            <a:off x="685800" y="5568696"/>
            <a:ext cx="3273552" cy="457200"/>
          </a:xfrm>
          <a:prstGeom prst="rect">
            <a:avLst/>
          </a:prstGeom>
          <a:noFill/>
          <a:ln/>
        </p:spPr>
        <p:txBody>
          <a:bodyPr wrap="square" lIns="0" tIns="0" rIns="0" bIns="0" rtlCol="0" anchor="ctr"/>
          <a:lstStyle/>
          <a:p>
            <a:pPr indent="0" marL="0">
              <a:buNone/>
            </a:pPr>
            <a:r>
              <a:rPr lang="en-US" sz="1300" b="1" dirty="0">
                <a:solidFill>
                  <a:schemeClr val="accent1"/>
                </a:solidFill>
              </a:rPr>
              <a:t>→ Chinook</a:t>
            </a:r>
            <a:endParaRPr lang="en-US" sz="1300" dirty="0"/>
          </a:p>
        </p:txBody>
      </p:sp>
      <p:sp>
        <p:nvSpPr>
          <p:cNvPr id="34" name="card"/>
          <p:cNvSpPr/>
          <p:nvPr/>
        </p:nvSpPr>
        <p:spPr>
          <a:xfrm>
            <a:off x="4297680" y="5020056"/>
            <a:ext cx="3547872" cy="1078992"/>
          </a:xfrm>
          <a:prstGeom prst="roundRect">
            <a:avLst>
              <a:gd name="adj" fmla="val 6780"/>
            </a:avLst>
          </a:prstGeom>
          <a:solidFill>
            <a:schemeClr val="bg2"/>
          </a:solidFill>
          <a:ln/>
          <a:effectLst>
            <a:outerShdw sx="100000" sy="100000" kx="0" ky="0" algn="bl" rotWithShape="0" blurRad="76200" dist="25400" dir="5400000">
              <a:srgbClr val="000000">
                <a:alpha val="14000"/>
              </a:srgbClr>
            </a:outerShdw>
          </a:effectLst>
        </p:spPr>
      </p:sp>
      <p:sp>
        <p:nvSpPr>
          <p:cNvPr id="35" name="Text 32"/>
          <p:cNvSpPr txBox="1"/>
          <p:nvPr/>
        </p:nvSpPr>
        <p:spPr>
          <a:xfrm>
            <a:off x="4434840" y="5074920"/>
            <a:ext cx="3273552" cy="475488"/>
          </a:xfrm>
          <a:prstGeom prst="rect">
            <a:avLst/>
          </a:prstGeom>
          <a:noFill/>
          <a:ln/>
        </p:spPr>
        <p:txBody>
          <a:bodyPr wrap="square" lIns="0" tIns="0" rIns="0" bIns="0" rtlCol="0" anchor="ctr"/>
          <a:lstStyle/>
          <a:p>
            <a:pPr indent="0" marL="0">
              <a:buNone/>
            </a:pPr>
            <a:r>
              <a:rPr lang="en-US" sz="1300" b="1" dirty="0">
                <a:solidFill>
                  <a:schemeClr val="tx2"/>
                </a:solidFill>
              </a:rPr>
              <a:t>Q. Inversion on clear calm nights?</a:t>
            </a:r>
            <a:endParaRPr lang="en-US" sz="1300" dirty="0"/>
          </a:p>
        </p:txBody>
      </p:sp>
      <p:sp>
        <p:nvSpPr>
          <p:cNvPr id="36" name="Text 33"/>
          <p:cNvSpPr txBox="1"/>
          <p:nvPr/>
        </p:nvSpPr>
        <p:spPr>
          <a:xfrm>
            <a:off x="4434840" y="5568696"/>
            <a:ext cx="3273552" cy="457200"/>
          </a:xfrm>
          <a:prstGeom prst="rect">
            <a:avLst/>
          </a:prstGeom>
          <a:noFill/>
          <a:ln/>
        </p:spPr>
        <p:txBody>
          <a:bodyPr wrap="square" lIns="0" tIns="0" rIns="0" bIns="0" rtlCol="0" anchor="ctr"/>
          <a:lstStyle/>
          <a:p>
            <a:pPr indent="0" marL="0">
              <a:buNone/>
            </a:pPr>
            <a:r>
              <a:rPr lang="en-US" sz="1300" b="1" dirty="0">
                <a:solidFill>
                  <a:schemeClr val="accent1"/>
                </a:solidFill>
              </a:rPr>
              <a:t>→ Radiation inversion</a:t>
            </a:r>
            <a:endParaRPr lang="en-US" sz="1300" dirty="0"/>
          </a:p>
        </p:txBody>
      </p:sp>
      <p:sp>
        <p:nvSpPr>
          <p:cNvPr id="37" name="card"/>
          <p:cNvSpPr/>
          <p:nvPr/>
        </p:nvSpPr>
        <p:spPr>
          <a:xfrm>
            <a:off x="8046720" y="5020056"/>
            <a:ext cx="3547872" cy="1078992"/>
          </a:xfrm>
          <a:prstGeom prst="roundRect">
            <a:avLst>
              <a:gd name="adj" fmla="val 6780"/>
            </a:avLst>
          </a:prstGeom>
          <a:solidFill>
            <a:schemeClr val="bg2"/>
          </a:solidFill>
          <a:ln/>
          <a:effectLst>
            <a:outerShdw sx="100000" sy="100000" kx="0" ky="0" algn="bl" rotWithShape="0" blurRad="76200" dist="25400" dir="5400000">
              <a:srgbClr val="000000">
                <a:alpha val="14000"/>
              </a:srgbClr>
            </a:outerShdw>
          </a:effectLst>
        </p:spPr>
      </p:sp>
      <p:sp>
        <p:nvSpPr>
          <p:cNvPr id="38" name="Text 35"/>
          <p:cNvSpPr txBox="1"/>
          <p:nvPr/>
        </p:nvSpPr>
        <p:spPr>
          <a:xfrm>
            <a:off x="8183880" y="5074920"/>
            <a:ext cx="3273552" cy="475488"/>
          </a:xfrm>
          <a:prstGeom prst="rect">
            <a:avLst/>
          </a:prstGeom>
          <a:noFill/>
          <a:ln/>
        </p:spPr>
        <p:txBody>
          <a:bodyPr wrap="square" lIns="0" tIns="0" rIns="0" bIns="0" rtlCol="0" anchor="ctr"/>
          <a:lstStyle/>
          <a:p>
            <a:pPr indent="0" marL="0">
              <a:buNone/>
            </a:pPr>
            <a:r>
              <a:rPr lang="en-US" sz="1300" b="1" dirty="0">
                <a:solidFill>
                  <a:schemeClr val="tx2"/>
                </a:solidFill>
              </a:rPr>
              <a:t>Q. mT air is?</a:t>
            </a:r>
            <a:endParaRPr lang="en-US" sz="1300" dirty="0"/>
          </a:p>
        </p:txBody>
      </p:sp>
      <p:sp>
        <p:nvSpPr>
          <p:cNvPr id="39" name="Text 36"/>
          <p:cNvSpPr txBox="1"/>
          <p:nvPr/>
        </p:nvSpPr>
        <p:spPr>
          <a:xfrm>
            <a:off x="8183880" y="5568696"/>
            <a:ext cx="3273552" cy="457200"/>
          </a:xfrm>
          <a:prstGeom prst="rect">
            <a:avLst/>
          </a:prstGeom>
          <a:noFill/>
          <a:ln/>
        </p:spPr>
        <p:txBody>
          <a:bodyPr wrap="square" lIns="0" tIns="0" rIns="0" bIns="0" rtlCol="0" anchor="ctr"/>
          <a:lstStyle/>
          <a:p>
            <a:pPr indent="0" marL="0">
              <a:buNone/>
            </a:pPr>
            <a:r>
              <a:rPr lang="en-US" sz="1300" b="1" dirty="0">
                <a:solidFill>
                  <a:schemeClr val="accent1"/>
                </a:solidFill>
              </a:rPr>
              <a:t>→ Warm, moist, usually unstable</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rPr>
              <a:t>The whole story on one slide</a:t>
            </a:r>
            <a:endParaRPr lang="en-US" sz="3200" dirty="0"/>
          </a:p>
        </p:txBody>
      </p:sp>
      <p:sp>
        <p:nvSpPr>
          <p:cNvPr id="4" name="diagram box"/>
          <p:cNvSpPr/>
          <p:nvPr/>
        </p:nvSpPr>
        <p:spPr>
          <a:xfrm>
            <a:off x="548640" y="1554480"/>
            <a:ext cx="1691640" cy="1371600"/>
          </a:xfrm>
          <a:prstGeom prst="roundRect">
            <a:avLst>
              <a:gd name="adj" fmla="val 5333"/>
            </a:avLst>
          </a:prstGeom>
          <a:solidFill>
            <a:schemeClr val="accent6"/>
          </a:solidFill>
          <a:ln/>
        </p:spPr>
      </p:sp>
      <p:sp>
        <p:nvSpPr>
          <p:cNvPr id="5" name="Text 2"/>
          <p:cNvSpPr txBox="1"/>
          <p:nvPr/>
        </p:nvSpPr>
        <p:spPr>
          <a:xfrm>
            <a:off x="548640" y="1554480"/>
            <a:ext cx="1691640" cy="1371600"/>
          </a:xfrm>
          <a:prstGeom prst="rect">
            <a:avLst/>
          </a:prstGeom>
          <a:noFill/>
          <a:ln/>
        </p:spPr>
        <p:txBody>
          <a:bodyPr wrap="square" lIns="508" tIns="508" rIns="508" bIns="508" rtlCol="0" anchor="ctr"/>
          <a:lstStyle/>
          <a:p>
            <a:pPr algn="ctr" indent="0" marL="0">
              <a:buNone/>
            </a:pPr>
            <a:r>
              <a:rPr lang="en-US" sz="1300" b="1" dirty="0">
                <a:solidFill>
                  <a:schemeClr val="bg1"/>
                </a:solidFill>
              </a:rPr>
              <a:t>First law</a:t>
            </a:r>
            <a:endParaRPr lang="en-US" sz="1300" dirty="0"/>
          </a:p>
          <a:p>
            <a:pPr algn="ctr" indent="0" marL="0">
              <a:buNone/>
            </a:pPr>
            <a:r>
              <a:rPr lang="en-US" sz="1300" dirty="0">
                <a:solidFill>
                  <a:schemeClr val="bg1"/>
                </a:solidFill>
              </a:rPr>
              <a:t>Δh = c</a:t>
            </a:r>
            <a:r>
              <a:rPr lang="en-US" sz="1300" baseline="-40000" dirty="0">
                <a:solidFill>
                  <a:schemeClr val="bg1"/>
                </a:solidFill>
              </a:rPr>
              <a:t>p</a:t>
            </a:r>
            <a:r>
              <a:rPr lang="en-US" sz="1300" dirty="0">
                <a:solidFill>
                  <a:schemeClr val="bg1"/>
                </a:solidFill>
              </a:rPr>
              <a:t>ΔT − αΔP</a:t>
            </a:r>
            <a:endParaRPr lang="en-US" sz="1300" dirty="0"/>
          </a:p>
        </p:txBody>
      </p:sp>
      <p:sp>
        <p:nvSpPr>
          <p:cNvPr id="6" name="arrow"/>
          <p:cNvSpPr/>
          <p:nvPr/>
        </p:nvSpPr>
        <p:spPr>
          <a:xfrm>
            <a:off x="2249424" y="2240280"/>
            <a:ext cx="164592" cy="0"/>
          </a:xfrm>
          <a:prstGeom prst="line">
            <a:avLst/>
          </a:prstGeom>
          <a:noFill/>
          <a:ln w="31750">
            <a:solidFill>
              <a:srgbClr val="1D2B4F"/>
            </a:solidFill>
            <a:prstDash val="solid"/>
            <a:tailEnd type="triangle"/>
          </a:ln>
        </p:spPr>
      </p:sp>
      <p:sp>
        <p:nvSpPr>
          <p:cNvPr id="7" name="diagram box"/>
          <p:cNvSpPr/>
          <p:nvPr/>
        </p:nvSpPr>
        <p:spPr>
          <a:xfrm>
            <a:off x="2423160" y="1554480"/>
            <a:ext cx="1691640" cy="1371600"/>
          </a:xfrm>
          <a:prstGeom prst="roundRect">
            <a:avLst>
              <a:gd name="adj" fmla="val 5333"/>
            </a:avLst>
          </a:prstGeom>
          <a:solidFill>
            <a:schemeClr val="accent6"/>
          </a:solidFill>
          <a:ln/>
        </p:spPr>
      </p:sp>
      <p:sp>
        <p:nvSpPr>
          <p:cNvPr id="8" name="Text 5"/>
          <p:cNvSpPr txBox="1"/>
          <p:nvPr/>
        </p:nvSpPr>
        <p:spPr>
          <a:xfrm>
            <a:off x="2423160" y="1554480"/>
            <a:ext cx="1691640" cy="1371600"/>
          </a:xfrm>
          <a:prstGeom prst="rect">
            <a:avLst/>
          </a:prstGeom>
          <a:noFill/>
          <a:ln/>
        </p:spPr>
        <p:txBody>
          <a:bodyPr wrap="square" lIns="508" tIns="508" rIns="508" bIns="508" rtlCol="0" anchor="ctr"/>
          <a:lstStyle/>
          <a:p>
            <a:pPr algn="ctr" indent="0" marL="0">
              <a:buNone/>
            </a:pPr>
            <a:r>
              <a:rPr lang="en-US" sz="1300" b="1" dirty="0">
                <a:solidFill>
                  <a:schemeClr val="bg1"/>
                </a:solidFill>
              </a:rPr>
              <a:t>+ Hydrostatic</a:t>
            </a:r>
            <a:endParaRPr lang="en-US" sz="1300" dirty="0"/>
          </a:p>
          <a:p>
            <a:pPr algn="ctr" indent="0" marL="0">
              <a:buNone/>
            </a:pPr>
            <a:r>
              <a:rPr lang="en-US" sz="1300" dirty="0">
                <a:solidFill>
                  <a:schemeClr val="bg1"/>
                </a:solidFill>
              </a:rPr>
              <a:t>−ΔP = ρgΔZ</a:t>
            </a:r>
            <a:endParaRPr lang="en-US" sz="1300" dirty="0"/>
          </a:p>
        </p:txBody>
      </p:sp>
      <p:sp>
        <p:nvSpPr>
          <p:cNvPr id="9" name="arrow"/>
          <p:cNvSpPr/>
          <p:nvPr/>
        </p:nvSpPr>
        <p:spPr>
          <a:xfrm>
            <a:off x="4123944" y="2240280"/>
            <a:ext cx="164592" cy="0"/>
          </a:xfrm>
          <a:prstGeom prst="line">
            <a:avLst/>
          </a:prstGeom>
          <a:noFill/>
          <a:ln w="31750">
            <a:solidFill>
              <a:srgbClr val="1D2B4F"/>
            </a:solidFill>
            <a:prstDash val="solid"/>
            <a:tailEnd type="triangle"/>
          </a:ln>
        </p:spPr>
      </p:sp>
      <p:sp>
        <p:nvSpPr>
          <p:cNvPr id="10" name="diagram box"/>
          <p:cNvSpPr/>
          <p:nvPr/>
        </p:nvSpPr>
        <p:spPr>
          <a:xfrm>
            <a:off x="4297680" y="1554480"/>
            <a:ext cx="1691640" cy="1371600"/>
          </a:xfrm>
          <a:prstGeom prst="roundRect">
            <a:avLst>
              <a:gd name="adj" fmla="val 5333"/>
            </a:avLst>
          </a:prstGeom>
          <a:solidFill>
            <a:schemeClr val="accent4"/>
          </a:solidFill>
          <a:ln/>
        </p:spPr>
      </p:sp>
      <p:sp>
        <p:nvSpPr>
          <p:cNvPr id="11" name="Text 8"/>
          <p:cNvSpPr txBox="1"/>
          <p:nvPr/>
        </p:nvSpPr>
        <p:spPr>
          <a:xfrm>
            <a:off x="4297680" y="1554480"/>
            <a:ext cx="1691640" cy="1371600"/>
          </a:xfrm>
          <a:prstGeom prst="rect">
            <a:avLst/>
          </a:prstGeom>
          <a:noFill/>
          <a:ln/>
        </p:spPr>
        <p:txBody>
          <a:bodyPr wrap="square" lIns="508" tIns="508" rIns="508" bIns="508" rtlCol="0" anchor="ctr"/>
          <a:lstStyle/>
          <a:p>
            <a:pPr algn="ctr" indent="0" marL="0">
              <a:buNone/>
            </a:pPr>
            <a:r>
              <a:rPr lang="en-US" sz="1300" b="1" dirty="0">
                <a:solidFill>
                  <a:schemeClr val="bg1"/>
                </a:solidFill>
              </a:rPr>
              <a:t>Γd = g/c</a:t>
            </a:r>
            <a:r>
              <a:rPr lang="en-US" sz="1300" b="1" baseline="-40000" dirty="0">
                <a:solidFill>
                  <a:schemeClr val="bg1"/>
                </a:solidFill>
              </a:rPr>
              <a:t>p</a:t>
            </a:r>
            <a:endParaRPr lang="en-US" sz="1300" dirty="0"/>
          </a:p>
          <a:p>
            <a:pPr algn="ctr" indent="0" marL="0">
              <a:buNone/>
            </a:pPr>
            <a:r>
              <a:rPr lang="en-US" sz="1300" dirty="0">
                <a:solidFill>
                  <a:schemeClr val="bg1"/>
                </a:solidFill>
              </a:rPr>
              <a:t>9.8 K/km</a:t>
            </a:r>
            <a:endParaRPr lang="en-US" sz="1300" dirty="0"/>
          </a:p>
        </p:txBody>
      </p:sp>
      <p:sp>
        <p:nvSpPr>
          <p:cNvPr id="12" name="arrow"/>
          <p:cNvSpPr/>
          <p:nvPr/>
        </p:nvSpPr>
        <p:spPr>
          <a:xfrm>
            <a:off x="5998464" y="2240280"/>
            <a:ext cx="164592" cy="0"/>
          </a:xfrm>
          <a:prstGeom prst="line">
            <a:avLst/>
          </a:prstGeom>
          <a:noFill/>
          <a:ln w="31750">
            <a:solidFill>
              <a:srgbClr val="1D2B4F"/>
            </a:solidFill>
            <a:prstDash val="solid"/>
            <a:tailEnd type="triangle"/>
          </a:ln>
        </p:spPr>
      </p:sp>
      <p:sp>
        <p:nvSpPr>
          <p:cNvPr id="13" name="diagram box"/>
          <p:cNvSpPr/>
          <p:nvPr/>
        </p:nvSpPr>
        <p:spPr>
          <a:xfrm>
            <a:off x="6172200" y="1554480"/>
            <a:ext cx="1691640" cy="1371600"/>
          </a:xfrm>
          <a:prstGeom prst="roundRect">
            <a:avLst>
              <a:gd name="adj" fmla="val 5333"/>
            </a:avLst>
          </a:prstGeom>
          <a:solidFill>
            <a:schemeClr val="accent5"/>
          </a:solidFill>
          <a:ln/>
        </p:spPr>
      </p:sp>
      <p:sp>
        <p:nvSpPr>
          <p:cNvPr id="14" name="Text 11"/>
          <p:cNvSpPr txBox="1"/>
          <p:nvPr/>
        </p:nvSpPr>
        <p:spPr>
          <a:xfrm>
            <a:off x="6172200" y="1554480"/>
            <a:ext cx="1691640" cy="1371600"/>
          </a:xfrm>
          <a:prstGeom prst="rect">
            <a:avLst/>
          </a:prstGeom>
          <a:noFill/>
          <a:ln/>
        </p:spPr>
        <p:txBody>
          <a:bodyPr wrap="square" lIns="508" tIns="508" rIns="508" bIns="508" rtlCol="0" anchor="ctr"/>
          <a:lstStyle/>
          <a:p>
            <a:pPr algn="ctr" indent="0" marL="0">
              <a:buNone/>
            </a:pPr>
            <a:r>
              <a:rPr lang="en-US" sz="1300" b="1" dirty="0">
                <a:solidFill>
                  <a:schemeClr val="bg1"/>
                </a:solidFill>
              </a:rPr>
              <a:t>+ latent heat</a:t>
            </a:r>
            <a:endParaRPr lang="en-US" sz="1300" dirty="0"/>
          </a:p>
          <a:p>
            <a:pPr algn="ctr" indent="0" marL="0">
              <a:buNone/>
            </a:pPr>
            <a:r>
              <a:rPr lang="en-US" sz="1300" dirty="0">
                <a:solidFill>
                  <a:schemeClr val="bg1"/>
                </a:solidFill>
              </a:rPr>
              <a:t>Γs ≈ 4–7 K/km</a:t>
            </a:r>
            <a:endParaRPr lang="en-US" sz="1300" dirty="0"/>
          </a:p>
        </p:txBody>
      </p:sp>
      <p:sp>
        <p:nvSpPr>
          <p:cNvPr id="15" name="arrow"/>
          <p:cNvSpPr/>
          <p:nvPr/>
        </p:nvSpPr>
        <p:spPr>
          <a:xfrm>
            <a:off x="7872984" y="2240280"/>
            <a:ext cx="164592" cy="0"/>
          </a:xfrm>
          <a:prstGeom prst="line">
            <a:avLst/>
          </a:prstGeom>
          <a:noFill/>
          <a:ln w="31750">
            <a:solidFill>
              <a:srgbClr val="1D2B4F"/>
            </a:solidFill>
            <a:prstDash val="solid"/>
            <a:tailEnd type="triangle"/>
          </a:ln>
        </p:spPr>
      </p:sp>
      <p:sp>
        <p:nvSpPr>
          <p:cNvPr id="16" name="diagram box"/>
          <p:cNvSpPr/>
          <p:nvPr/>
        </p:nvSpPr>
        <p:spPr>
          <a:xfrm>
            <a:off x="8046720" y="1554480"/>
            <a:ext cx="1691640" cy="1371600"/>
          </a:xfrm>
          <a:prstGeom prst="roundRect">
            <a:avLst>
              <a:gd name="adj" fmla="val 5333"/>
            </a:avLst>
          </a:prstGeom>
          <a:solidFill>
            <a:schemeClr val="accent2"/>
          </a:solidFill>
          <a:ln/>
        </p:spPr>
      </p:sp>
      <p:sp>
        <p:nvSpPr>
          <p:cNvPr id="17" name="Text 14"/>
          <p:cNvSpPr txBox="1"/>
          <p:nvPr/>
        </p:nvSpPr>
        <p:spPr>
          <a:xfrm>
            <a:off x="8046720" y="1554480"/>
            <a:ext cx="1691640" cy="1371600"/>
          </a:xfrm>
          <a:prstGeom prst="rect">
            <a:avLst/>
          </a:prstGeom>
          <a:noFill/>
          <a:ln/>
        </p:spPr>
        <p:txBody>
          <a:bodyPr wrap="square" lIns="508" tIns="508" rIns="508" bIns="508" rtlCol="0" anchor="ctr"/>
          <a:lstStyle/>
          <a:p>
            <a:pPr algn="ctr" indent="0" marL="0">
              <a:buNone/>
            </a:pPr>
            <a:r>
              <a:rPr lang="en-US" sz="1300" b="1" dirty="0">
                <a:solidFill>
                  <a:schemeClr val="bg1"/>
                </a:solidFill>
              </a:rPr>
              <a:t>Compare with γ</a:t>
            </a:r>
            <a:endParaRPr lang="en-US" sz="1300" dirty="0"/>
          </a:p>
          <a:p>
            <a:pPr algn="ctr" indent="0" marL="0">
              <a:buNone/>
            </a:pPr>
            <a:r>
              <a:rPr lang="en-US" sz="1300" dirty="0">
                <a:solidFill>
                  <a:schemeClr val="bg1"/>
                </a:solidFill>
              </a:rPr>
              <a:t>parcel vs environment</a:t>
            </a:r>
            <a:endParaRPr lang="en-US" sz="1300" dirty="0"/>
          </a:p>
        </p:txBody>
      </p:sp>
      <p:sp>
        <p:nvSpPr>
          <p:cNvPr id="18" name="arrow"/>
          <p:cNvSpPr/>
          <p:nvPr/>
        </p:nvSpPr>
        <p:spPr>
          <a:xfrm>
            <a:off x="9747504" y="2240280"/>
            <a:ext cx="164592" cy="0"/>
          </a:xfrm>
          <a:prstGeom prst="line">
            <a:avLst/>
          </a:prstGeom>
          <a:noFill/>
          <a:ln w="31750">
            <a:solidFill>
              <a:srgbClr val="1D2B4F"/>
            </a:solidFill>
            <a:prstDash val="solid"/>
            <a:tailEnd type="triangle"/>
          </a:ln>
        </p:spPr>
      </p:sp>
      <p:sp>
        <p:nvSpPr>
          <p:cNvPr id="19" name="diagram box"/>
          <p:cNvSpPr/>
          <p:nvPr/>
        </p:nvSpPr>
        <p:spPr>
          <a:xfrm>
            <a:off x="9921240" y="1554480"/>
            <a:ext cx="1691640" cy="1371600"/>
          </a:xfrm>
          <a:prstGeom prst="roundRect">
            <a:avLst>
              <a:gd name="adj" fmla="val 5333"/>
            </a:avLst>
          </a:prstGeom>
          <a:solidFill>
            <a:schemeClr val="accent1"/>
          </a:solidFill>
          <a:ln/>
        </p:spPr>
      </p:sp>
      <p:sp>
        <p:nvSpPr>
          <p:cNvPr id="20" name="Text 17"/>
          <p:cNvSpPr txBox="1"/>
          <p:nvPr/>
        </p:nvSpPr>
        <p:spPr>
          <a:xfrm>
            <a:off x="9921240" y="1554480"/>
            <a:ext cx="1691640" cy="1371600"/>
          </a:xfrm>
          <a:prstGeom prst="rect">
            <a:avLst/>
          </a:prstGeom>
          <a:noFill/>
          <a:ln/>
        </p:spPr>
        <p:txBody>
          <a:bodyPr wrap="square" lIns="508" tIns="508" rIns="508" bIns="508" rtlCol="0" anchor="ctr"/>
          <a:lstStyle/>
          <a:p>
            <a:pPr algn="ctr" indent="0" marL="0">
              <a:buNone/>
            </a:pPr>
            <a:r>
              <a:rPr lang="en-US" sz="1300" b="1" dirty="0">
                <a:solidFill>
                  <a:schemeClr val="bg1"/>
                </a:solidFill>
              </a:rPr>
              <a:t>Stability</a:t>
            </a:r>
            <a:endParaRPr lang="en-US" sz="1300" dirty="0"/>
          </a:p>
          <a:p>
            <a:pPr algn="ctr" indent="0" marL="0">
              <a:buNone/>
            </a:pPr>
            <a:r>
              <a:rPr lang="en-US" sz="1300" dirty="0">
                <a:solidFill>
                  <a:schemeClr val="bg1"/>
                </a:solidFill>
              </a:rPr>
              <a:t>stable / conditional / unstable</a:t>
            </a:r>
            <a:endParaRPr lang="en-US" sz="1300" dirty="0"/>
          </a:p>
        </p:txBody>
      </p:sp>
      <p:sp>
        <p:nvSpPr>
          <p:cNvPr id="21" name="card"/>
          <p:cNvSpPr/>
          <p:nvPr/>
        </p:nvSpPr>
        <p:spPr>
          <a:xfrm>
            <a:off x="548640" y="3246120"/>
            <a:ext cx="3566160" cy="2926080"/>
          </a:xfrm>
          <a:prstGeom prst="roundRect">
            <a:avLst>
              <a:gd name="adj" fmla="val 2500"/>
            </a:avLst>
          </a:prstGeom>
          <a:solidFill>
            <a:schemeClr val="bg2"/>
          </a:solidFill>
          <a:ln/>
          <a:effectLst>
            <a:outerShdw sx="100000" sy="100000" kx="0" ky="0" algn="bl" rotWithShape="0" blurRad="76200" dist="25400" dir="5400000">
              <a:srgbClr val="000000">
                <a:alpha val="14000"/>
              </a:srgbClr>
            </a:outerShdw>
          </a:effectLst>
        </p:spPr>
      </p:sp>
      <p:sp>
        <p:nvSpPr>
          <p:cNvPr id="22" name="icon circle"/>
          <p:cNvSpPr/>
          <p:nvPr/>
        </p:nvSpPr>
        <p:spPr>
          <a:xfrm>
            <a:off x="731520" y="3401568"/>
            <a:ext cx="420624" cy="420624"/>
          </a:xfrm>
          <a:prstGeom prst="ellipse">
            <a:avLst/>
          </a:prstGeom>
          <a:solidFill>
            <a:schemeClr val="accent2"/>
          </a:solidFill>
          <a:ln/>
        </p:spPr>
      </p:sp>
      <p:pic>
        <p:nvPicPr>
          <p:cNvPr id="23" name="Image 0" descr="Ruler icon">    </p:cNvPr>
          <p:cNvPicPr>
            <a:picLocks noChangeAspect="1"/>
          </p:cNvPicPr>
          <p:nvPr/>
        </p:nvPicPr>
        <p:blipFill>
          <a:blip r:embed="rId1"/>
          <a:stretch>
            <a:fillRect/>
          </a:stretch>
        </p:blipFill>
        <p:spPr>
          <a:xfrm>
            <a:off x="840882" y="3510930"/>
            <a:ext cx="201900" cy="201900"/>
          </a:xfrm>
          <a:prstGeom prst="rect">
            <a:avLst/>
          </a:prstGeom>
        </p:spPr>
      </p:pic>
      <p:sp>
        <p:nvSpPr>
          <p:cNvPr id="24" name="Text 20"/>
          <p:cNvSpPr txBox="1"/>
          <p:nvPr/>
        </p:nvSpPr>
        <p:spPr>
          <a:xfrm>
            <a:off x="1261872" y="338328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Tools</a:t>
            </a:r>
            <a:endParaRPr lang="en-US" sz="1600" dirty="0"/>
          </a:p>
        </p:txBody>
      </p:sp>
      <p:sp>
        <p:nvSpPr>
          <p:cNvPr id="25" name="Text 21"/>
          <p:cNvSpPr txBox="1"/>
          <p:nvPr/>
        </p:nvSpPr>
        <p:spPr>
          <a:xfrm>
            <a:off x="731520" y="3931920"/>
            <a:ext cx="3200400" cy="214884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Thermodynamic diagram</a:t>
            </a:r>
            <a:endParaRPr lang="en-US" sz="1300" dirty="0"/>
          </a:p>
          <a:p>
            <a:pPr marL="177800" indent="-177800">
              <a:spcAft>
                <a:spcPts val="400"/>
              </a:spcAft>
              <a:buSzPct val="100000"/>
              <a:buChar char="•"/>
            </a:pPr>
            <a:r>
              <a:rPr lang="en-US" sz="1300" dirty="0">
                <a:solidFill>
                  <a:schemeClr val="tx1"/>
                </a:solidFill>
              </a:rPr>
              <a:t>θ and θe profiles</a:t>
            </a:r>
            <a:endParaRPr lang="en-US" sz="1300" dirty="0"/>
          </a:p>
          <a:p>
            <a:pPr marL="177800" indent="-177800">
              <a:spcAft>
                <a:spcPts val="400"/>
              </a:spcAft>
              <a:buSzPct val="100000"/>
              <a:buChar char="•"/>
            </a:pPr>
            <a:r>
              <a:rPr lang="en-US" sz="1300" dirty="0">
                <a:solidFill>
                  <a:schemeClr val="tx1"/>
                </a:solidFill>
              </a:rPr>
              <a:t>LCL, LFC, EL, CAPE, CIN</a:t>
            </a:r>
            <a:endParaRPr lang="en-US" sz="1300" dirty="0"/>
          </a:p>
          <a:p>
            <a:pPr marL="177800" indent="-177800">
              <a:spcAft>
                <a:spcPts val="400"/>
              </a:spcAft>
              <a:buSzPct val="100000"/>
              <a:buChar char="•"/>
            </a:pPr>
            <a:r>
              <a:rPr lang="en-US" sz="1300" dirty="0">
                <a:solidFill>
                  <a:schemeClr val="tx1"/>
                </a:solidFill>
              </a:rPr>
              <a:t>Indices: LI, K, TT</a:t>
            </a:r>
            <a:endParaRPr lang="en-US" sz="1300" dirty="0"/>
          </a:p>
        </p:txBody>
      </p:sp>
      <p:sp>
        <p:nvSpPr>
          <p:cNvPr id="26" name="card"/>
          <p:cNvSpPr/>
          <p:nvPr/>
        </p:nvSpPr>
        <p:spPr>
          <a:xfrm>
            <a:off x="4315968" y="3246120"/>
            <a:ext cx="3566160" cy="2926080"/>
          </a:xfrm>
          <a:prstGeom prst="roundRect">
            <a:avLst>
              <a:gd name="adj" fmla="val 2500"/>
            </a:avLst>
          </a:prstGeom>
          <a:solidFill>
            <a:schemeClr val="bg2"/>
          </a:solidFill>
          <a:ln/>
          <a:effectLst>
            <a:outerShdw sx="100000" sy="100000" kx="0" ky="0" algn="bl" rotWithShape="0" blurRad="76200" dist="25400" dir="5400000">
              <a:srgbClr val="000000">
                <a:alpha val="14000"/>
              </a:srgbClr>
            </a:outerShdw>
          </a:effectLst>
        </p:spPr>
      </p:sp>
      <p:sp>
        <p:nvSpPr>
          <p:cNvPr id="27" name="icon circle"/>
          <p:cNvSpPr/>
          <p:nvPr/>
        </p:nvSpPr>
        <p:spPr>
          <a:xfrm>
            <a:off x="4498848" y="3401568"/>
            <a:ext cx="420624" cy="420624"/>
          </a:xfrm>
          <a:prstGeom prst="ellipse">
            <a:avLst/>
          </a:prstGeom>
          <a:solidFill>
            <a:schemeClr val="accent5"/>
          </a:solidFill>
          <a:ln/>
        </p:spPr>
      </p:sp>
      <p:pic>
        <p:nvPicPr>
          <p:cNvPr id="28" name="Image 1" descr="Cloud icon">    </p:cNvPr>
          <p:cNvPicPr>
            <a:picLocks noChangeAspect="1"/>
          </p:cNvPicPr>
          <p:nvPr/>
        </p:nvPicPr>
        <p:blipFill>
          <a:blip r:embed="rId2"/>
          <a:stretch>
            <a:fillRect/>
          </a:stretch>
        </p:blipFill>
        <p:spPr>
          <a:xfrm>
            <a:off x="4608210" y="3510930"/>
            <a:ext cx="201900" cy="201900"/>
          </a:xfrm>
          <a:prstGeom prst="rect">
            <a:avLst/>
          </a:prstGeom>
        </p:spPr>
      </p:pic>
      <p:sp>
        <p:nvSpPr>
          <p:cNvPr id="29" name="Text 24"/>
          <p:cNvSpPr txBox="1"/>
          <p:nvPr/>
        </p:nvSpPr>
        <p:spPr>
          <a:xfrm>
            <a:off x="5029200" y="3383280"/>
            <a:ext cx="2715768" cy="457200"/>
          </a:xfrm>
          <a:prstGeom prst="rect">
            <a:avLst/>
          </a:prstGeom>
          <a:noFill/>
          <a:ln/>
        </p:spPr>
        <p:txBody>
          <a:bodyPr wrap="square" lIns="0" tIns="0" rIns="0" bIns="0" rtlCol="0" anchor="ctr"/>
          <a:lstStyle/>
          <a:p>
            <a:pPr indent="0" marL="0">
              <a:buNone/>
            </a:pPr>
            <a:r>
              <a:rPr lang="en-US" sz="1600" b="1" dirty="0">
                <a:solidFill>
                  <a:schemeClr val="tx2"/>
                </a:solidFill>
              </a:rPr>
              <a:t>Weather outcomes</a:t>
            </a:r>
            <a:endParaRPr lang="en-US" sz="1600" dirty="0"/>
          </a:p>
        </p:txBody>
      </p:sp>
      <p:sp>
        <p:nvSpPr>
          <p:cNvPr id="30" name="Text 25"/>
          <p:cNvSpPr txBox="1"/>
          <p:nvPr/>
        </p:nvSpPr>
        <p:spPr>
          <a:xfrm>
            <a:off x="4498848" y="3931920"/>
            <a:ext cx="3200400" cy="214884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Stable: stratus, fog, smog</a:t>
            </a:r>
            <a:endParaRPr lang="en-US" sz="1300" dirty="0"/>
          </a:p>
          <a:p>
            <a:pPr marL="177800" indent="-177800">
              <a:spcAft>
                <a:spcPts val="400"/>
              </a:spcAft>
              <a:buSzPct val="100000"/>
              <a:buChar char="•"/>
            </a:pPr>
            <a:r>
              <a:rPr lang="en-US" sz="1300" dirty="0">
                <a:solidFill>
                  <a:schemeClr val="tx1"/>
                </a:solidFill>
              </a:rPr>
              <a:t>Unstable: cumulus, thunderstorms</a:t>
            </a:r>
            <a:endParaRPr lang="en-US" sz="1300" dirty="0"/>
          </a:p>
          <a:p>
            <a:pPr marL="177800" indent="-177800">
              <a:spcAft>
                <a:spcPts val="400"/>
              </a:spcAft>
              <a:buSzPct val="100000"/>
              <a:buChar char="•"/>
            </a:pPr>
            <a:r>
              <a:rPr lang="en-US" sz="1300" dirty="0">
                <a:solidFill>
                  <a:schemeClr val="tx1"/>
                </a:solidFill>
              </a:rPr>
              <a:t>Mountains: rain + Foehn</a:t>
            </a:r>
            <a:endParaRPr lang="en-US" sz="1300" dirty="0"/>
          </a:p>
        </p:txBody>
      </p:sp>
      <p:sp>
        <p:nvSpPr>
          <p:cNvPr id="31" name="card"/>
          <p:cNvSpPr/>
          <p:nvPr/>
        </p:nvSpPr>
        <p:spPr>
          <a:xfrm>
            <a:off x="8083296" y="3246120"/>
            <a:ext cx="3557016" cy="2926080"/>
          </a:xfrm>
          <a:prstGeom prst="roundRect">
            <a:avLst>
              <a:gd name="adj" fmla="val 2500"/>
            </a:avLst>
          </a:prstGeom>
          <a:solidFill>
            <a:schemeClr val="bg2"/>
          </a:solidFill>
          <a:ln/>
          <a:effectLst>
            <a:outerShdw sx="100000" sy="100000" kx="0" ky="0" algn="bl" rotWithShape="0" blurRad="76200" dist="25400" dir="5400000">
              <a:srgbClr val="000000">
                <a:alpha val="14000"/>
              </a:srgbClr>
            </a:outerShdw>
          </a:effectLst>
        </p:spPr>
      </p:sp>
      <p:sp>
        <p:nvSpPr>
          <p:cNvPr id="32" name="icon circle"/>
          <p:cNvSpPr/>
          <p:nvPr/>
        </p:nvSpPr>
        <p:spPr>
          <a:xfrm>
            <a:off x="8266176" y="3401568"/>
            <a:ext cx="420624" cy="420624"/>
          </a:xfrm>
          <a:prstGeom prst="ellipse">
            <a:avLst/>
          </a:prstGeom>
          <a:solidFill>
            <a:schemeClr val="accent6"/>
          </a:solidFill>
          <a:ln/>
        </p:spPr>
      </p:sp>
      <p:pic>
        <p:nvPicPr>
          <p:cNvPr id="33" name="Image 2" descr="Flask icon">    </p:cNvPr>
          <p:cNvPicPr>
            <a:picLocks noChangeAspect="1"/>
          </p:cNvPicPr>
          <p:nvPr/>
        </p:nvPicPr>
        <p:blipFill>
          <a:blip r:embed="rId3"/>
          <a:stretch>
            <a:fillRect/>
          </a:stretch>
        </p:blipFill>
        <p:spPr>
          <a:xfrm>
            <a:off x="8375538" y="3510930"/>
            <a:ext cx="201900" cy="201900"/>
          </a:xfrm>
          <a:prstGeom prst="rect">
            <a:avLst/>
          </a:prstGeom>
        </p:spPr>
      </p:pic>
      <p:sp>
        <p:nvSpPr>
          <p:cNvPr id="34" name="Text 28"/>
          <p:cNvSpPr txBox="1"/>
          <p:nvPr/>
        </p:nvSpPr>
        <p:spPr>
          <a:xfrm>
            <a:off x="8796528" y="3383280"/>
            <a:ext cx="2706624" cy="457200"/>
          </a:xfrm>
          <a:prstGeom prst="rect">
            <a:avLst/>
          </a:prstGeom>
          <a:noFill/>
          <a:ln/>
        </p:spPr>
        <p:txBody>
          <a:bodyPr wrap="square" lIns="0" tIns="0" rIns="0" bIns="0" rtlCol="0" anchor="ctr"/>
          <a:lstStyle/>
          <a:p>
            <a:pPr indent="0" marL="0">
              <a:buNone/>
            </a:pPr>
            <a:r>
              <a:rPr lang="en-US" sz="1600" b="1" dirty="0">
                <a:solidFill>
                  <a:schemeClr val="tx2"/>
                </a:solidFill>
              </a:rPr>
              <a:t>Source</a:t>
            </a:r>
            <a:endParaRPr lang="en-US" sz="1600" dirty="0"/>
          </a:p>
        </p:txBody>
      </p:sp>
      <p:sp>
        <p:nvSpPr>
          <p:cNvPr id="35" name="Text 29"/>
          <p:cNvSpPr txBox="1"/>
          <p:nvPr/>
        </p:nvSpPr>
        <p:spPr>
          <a:xfrm>
            <a:off x="8266176" y="3931920"/>
            <a:ext cx="3191256" cy="2148840"/>
          </a:xfrm>
          <a:prstGeom prst="rect">
            <a:avLst/>
          </a:prstGeom>
          <a:noFill/>
          <a:ln/>
        </p:spPr>
        <p:txBody>
          <a:bodyPr wrap="square" lIns="508" tIns="508" rIns="508" bIns="508" rtlCol="0" anchor="t"/>
          <a:lstStyle/>
          <a:p>
            <a:pPr marL="177800" indent="-177800">
              <a:spcAft>
                <a:spcPts val="400"/>
              </a:spcAft>
              <a:buSzPct val="100000"/>
              <a:buChar char="•"/>
            </a:pPr>
            <a:r>
              <a:rPr lang="en-US" sz="1300" dirty="0">
                <a:solidFill>
                  <a:schemeClr val="tx1"/>
                </a:solidFill>
              </a:rPr>
              <a:t>Class notes: Heat &amp; Temperature Changes in the Atmosphere</a:t>
            </a:r>
            <a:endParaRPr lang="en-US" sz="1300" dirty="0"/>
          </a:p>
          <a:p>
            <a:pPr marL="177800" indent="-177800">
              <a:spcAft>
                <a:spcPts val="400"/>
              </a:spcAft>
              <a:buSzPct val="100000"/>
              <a:buChar char="•"/>
            </a:pPr>
            <a:r>
              <a:rPr lang="en-US" sz="1300" dirty="0">
                <a:solidFill>
                  <a:schemeClr val="tx1"/>
                </a:solidFill>
              </a:rPr>
              <a:t>Petterssen, </a:t>
            </a:r>
            <a:r>
              <a:rPr lang="en-US" sz="1300" i="1" dirty="0">
                <a:solidFill>
                  <a:schemeClr val="tx1"/>
                </a:solidFill>
              </a:rPr>
              <a:t>Introduction to Meteorology</a:t>
            </a:r>
            <a:r>
              <a:rPr lang="en-US" sz="1300" dirty="0">
                <a:solidFill>
                  <a:schemeClr val="tx1"/>
                </a:solidFill>
              </a:rPr>
              <a:t>, Ch. 4–5</a:t>
            </a:r>
            <a:endParaRPr lang="en-US" sz="1300" dirty="0"/>
          </a:p>
          <a:p>
            <a:pPr marL="177800" indent="-177800">
              <a:spcAft>
                <a:spcPts val="400"/>
              </a:spcAft>
              <a:buSzPct val="100000"/>
              <a:buChar char="•"/>
            </a:pPr>
            <a:r>
              <a:rPr lang="en-US" sz="1300" dirty="0">
                <a:solidFill>
                  <a:schemeClr val="tx1"/>
                </a:solidFill>
              </a:rPr>
              <a:t>Handout: Air Masses and Fronts (CIMSS, UW–Madison)</a:t>
            </a:r>
            <a:endParaRPr lang="en-US" sz="1300" dirty="0"/>
          </a:p>
          <a:p>
            <a:pPr marL="177800" indent="-177800">
              <a:spcAft>
                <a:spcPts val="400"/>
              </a:spcAft>
              <a:buSzPct val="100000"/>
              <a:buChar char="•"/>
            </a:pPr>
            <a:r>
              <a:rPr lang="en-US" sz="1300" dirty="0">
                <a:solidFill>
                  <a:schemeClr val="tx1"/>
                </a:solidFill>
              </a:rPr>
              <a:t>Wallace &amp; Hobbs, </a:t>
            </a:r>
            <a:r>
              <a:rPr lang="en-US" sz="1300" i="1" dirty="0">
                <a:solidFill>
                  <a:schemeClr val="tx1"/>
                </a:solidFill>
              </a:rPr>
              <a:t>Atmospheric Science</a:t>
            </a:r>
            <a:r>
              <a:rPr lang="en-US" sz="1300" dirty="0">
                <a:solidFill>
                  <a:schemeClr val="tx1"/>
                </a:solidFill>
              </a:rPr>
              <a:t> (additional)</a:t>
            </a:r>
            <a:endParaRPr lang="en-US" sz="1300" dirty="0"/>
          </a:p>
        </p:txBody>
      </p:sp>
      <p:sp>
        <p:nvSpPr>
          <p:cNvPr id="25" name="Slide Number Placeholder 0"/>
          <p:cNvSpPr>
            <a:spLocks noGrp="1"/>
          </p:cNvSpPr>
          <p:nvPr>
            <p:ph type="sldNum" sz="quarter" idx="4294967295"/>
          </p:nvPr>
        </p:nvSpPr>
        <p:spPr>
          <a:xfrm>
            <a:off x="11247120" y="6419088"/>
            <a:ext cx="4114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52</a:t>
            </a:fld>
            <a:endParaRPr lang="en-US"/>
          </a:p>
        </p:txBody>
      </p:sp>
    </p:spTree>
  </p:cSld>
  <p:clrMapOvr>
    <a:masterClrMapping/>
  </p:clrMapOvr>
</p:sld>
</file>

<file path=ppt/theme/theme1.xml><?xml version="1.0" encoding="utf-8"?>
<a:theme xmlns:a="http://schemas.openxmlformats.org/drawingml/2006/main" name="Atmospheric Thermodynamics">
  <a:themeElements>
    <a:clrScheme name="Atmospheric Thermodynamics">
      <a:dk1>
        <a:srgbClr val="1E2430"/>
      </a:dk1>
      <a:lt1>
        <a:srgbClr val="FFFFFF"/>
      </a:lt1>
      <a:dk2>
        <a:srgbClr val="1D2B4F"/>
      </a:dk2>
      <a:lt2>
        <a:srgbClr val="EEF1F7"/>
      </a:lt2>
      <a:accent1>
        <a:srgbClr val="D1495B"/>
      </a:accent1>
      <a:accent2>
        <a:srgbClr val="2E86AB"/>
      </a:accent2>
      <a:accent3>
        <a:srgbClr val="EDAE49"/>
      </a:accent3>
      <a:accent4>
        <a:srgbClr val="3F8F5A"/>
      </a:accent4>
      <a:accent5>
        <a:srgbClr val="6C4F9E"/>
      </a:accent5>
      <a:accent6>
        <a:srgbClr val="5C6B73"/>
      </a:accent6>
      <a:hlink>
        <a:srgbClr val="2E86AB"/>
      </a:hlink>
      <a:folHlink>
        <a:srgbClr val="6C4F9E"/>
      </a:folHlink>
    </a:clrScheme>
    <a:fontScheme name="Atmospheric Thermodynam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Atmospheric Thermodynamics and Stability</dc:title>
  <dc:subject>Heat, lapse rates, potential temperature and atmospheric stability</dc:subject>
  <dc:creator>Animesh</dc:creator>
  <cp:lastModifiedBy>Animesh</cp:lastModifiedBy>
  <cp:revision>1</cp:revision>
  <dcterms:created xsi:type="dcterms:W3CDTF">2026-10-29T04:18:45Z</dcterms:created>
  <dcterms:modified xsi:type="dcterms:W3CDTF">2026-10-29T04:18:45Z</dcterms:modified>
</cp:coreProperties>
</file>