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per" id="{29888fc0-ed14-7b21-cba1-9db988e7f932}">
          <p14:sldIdLst>
            <p14:sldId id="256"/>
            <p14:sldId id="257"/>
            <p14:sldId id="258"/>
            <p14:sldId id="259"/>
          </p14:sldIdLst>
        </p14:section>
        <p14:section name="Methods" id="{13a4949e-2e83-1457-8fc7-8a2d03d24fcc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Results" id="{4705254e-b21f-78e5-9b21-d06a85fb4e3d}">
          <p14:sldIdLst>
            <p14:sldId id="268"/>
            <p14:sldId id="269"/>
          </p14:sldIdLst>
        </p14:section>
        <p14:section name="Discussion" id="{22ecadef-224a-b350-6992-bd94a29f51c0}">
          <p14:sldIdLst>
            <p14:sldId id="270"/>
            <p14:sldId id="271"/>
          </p14:sldIdLst>
        </p14:section>
        <p14:section name="Use in MuDAS-AI" id="{9e160164-03fd-d709-fa76-767ecaaa6148}">
          <p14:sldIdLst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screenshots from the paper (Franke et al., 2008). Fig. 2 was stored as two image halves in the PDF and has been re-joined.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60520"/>
            <a:ext cx="12801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188720"/>
            <a:ext cx="110642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389120"/>
            <a:ext cx="110642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5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500" dirty="0"/>
          </a:p>
        </p:txBody>
      </p:sp>
      <p:sp>
        <p:nvSpPr>
          <p:cNvPr id="3" name="Shape 0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Franke, Mewes &amp; Menz (2008) Proc. SPIE 7086, 708609 · reviewed for MuDAS-AI (white rust, mustard)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18872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Airborne hyperspectral imaging for the detection of powdery mildew in wheat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38912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Franke, J., Mewes, T., Menz, G. (2008). Imaging Spectrometry XIII, Proc. SPIE 7086, 708609. doi:10.1117/12.795040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Paper review and its use in MuDAS-AI (endmembers and spectral unmixing) · Animesh Panda, ICAR-IARI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The paper at a glance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126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HyMap bands, 450–2480 nm, 4 m pixels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02152" y="1325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54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103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field sample points with % infected leaf area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64224" y="1325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103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endmembers: healthy wheat, 100% infected wheat (modelled), soil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26296" y="1325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r = 0.82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103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infected-endmember fraction vs disease severity (r² = 0.67)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55321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272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1089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Question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66160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Can airborne hyperspectral data quantify </a:t>
            </a:r>
            <a:r>
              <a:rPr lang="en-US" sz="1400" b="1" dirty="0">
                <a:solidFill>
                  <a:schemeClr val="tx1"/>
                </a:solidFill>
              </a:rPr>
              <a:t>powdery mildew severity</a:t>
            </a:r>
            <a:r>
              <a:rPr lang="en-US" sz="1400" dirty="0">
                <a:solidFill>
                  <a:schemeClr val="tx1"/>
                </a:solidFill>
              </a:rPr>
              <a:t> in wheat?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How can we get an endmember for </a:t>
            </a:r>
            <a:r>
              <a:rPr lang="en-US" sz="1400" b="1" dirty="0">
                <a:solidFill>
                  <a:schemeClr val="tx1"/>
                </a:solidFill>
              </a:rPr>
              <a:t>infected wheat</a:t>
            </a:r>
            <a:r>
              <a:rPr lang="en-US" sz="1400" dirty="0">
                <a:solidFill>
                  <a:schemeClr val="tx1"/>
                </a:solidFill>
              </a:rPr>
              <a:t> when no pure infected pixel exists in the image?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9632" y="3017520"/>
            <a:ext cx="55321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6199632" y="312724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82512" y="31089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3566160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a </a:t>
            </a:r>
            <a:r>
              <a:rPr lang="en-US" sz="1400" b="1" dirty="0">
                <a:solidFill>
                  <a:schemeClr val="tx1"/>
                </a:solidFill>
              </a:rPr>
              <a:t>healthy-wheat</a:t>
            </a:r>
            <a:r>
              <a:rPr lang="en-US" sz="1400" dirty="0">
                <a:solidFill>
                  <a:schemeClr val="tx1"/>
                </a:solidFill>
              </a:rPr>
              <a:t> endmember could be found in the image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</a:t>
            </a:r>
            <a:r>
              <a:rPr lang="en-US" sz="1400" b="1" dirty="0">
                <a:solidFill>
                  <a:schemeClr val="tx1"/>
                </a:solidFill>
              </a:rPr>
              <a:t>100%-infected</a:t>
            </a:r>
            <a:r>
              <a:rPr lang="en-US" sz="1400" dirty="0">
                <a:solidFill>
                  <a:schemeClr val="tx1"/>
                </a:solidFill>
              </a:rPr>
              <a:t> endmember was </a:t>
            </a:r>
            <a:r>
              <a:rPr lang="en-US" sz="1400" b="1" dirty="0">
                <a:solidFill>
                  <a:schemeClr val="tx1"/>
                </a:solidFill>
              </a:rPr>
              <a:t>modelled</a:t>
            </a:r>
            <a:r>
              <a:rPr lang="en-US" sz="1400" dirty="0">
                <a:solidFill>
                  <a:schemeClr val="tx1"/>
                </a:solidFill>
              </a:rPr>
              <a:t> by unmixing a 30%-infected pixel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Its </a:t>
            </a:r>
            <a:r>
              <a:rPr lang="en-US" sz="1400" b="1" dirty="0">
                <a:solidFill>
                  <a:schemeClr val="tx1"/>
                </a:solidFill>
              </a:rPr>
              <a:t>MTMF</a:t>
            </a:r>
            <a:r>
              <a:rPr lang="en-US" sz="1400" dirty="0">
                <a:solidFill>
                  <a:schemeClr val="tx1"/>
                </a:solidFill>
              </a:rPr>
              <a:t> fraction correlated with field severity: </a:t>
            </a:r>
            <a:r>
              <a:rPr lang="en-US" sz="1400" b="1" dirty="0">
                <a:solidFill>
                  <a:schemeClr val="tx1"/>
                </a:solidFill>
              </a:rPr>
              <a:t>r = 0.82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this is the method behind your SMACC endmember workbook: build endmembers, select representative ones, unmix, and relate the infected fraction to disease index.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Background: why hyperspectral and why spectral unmixing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Precision agriculture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Fungal diseases vary strongly in </a:t>
            </a:r>
            <a:r>
              <a:rPr lang="en-US" sz="1350" b="1" dirty="0">
                <a:solidFill>
                  <a:schemeClr val="tx1"/>
                </a:solidFill>
              </a:rPr>
              <a:t>space and time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Site-specific fungicide use needs </a:t>
            </a:r>
            <a:r>
              <a:rPr lang="en-US" sz="1350" b="1" dirty="0">
                <a:solidFill>
                  <a:schemeClr val="tx1"/>
                </a:solidFill>
              </a:rPr>
              <a:t>accurate, early, mapped</a:t>
            </a:r>
            <a:r>
              <a:rPr lang="en-US" sz="1350" dirty="0">
                <a:solidFill>
                  <a:schemeClr val="tx1"/>
                </a:solidFill>
              </a:rPr>
              <a:t> detection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Visual field scouting is slow, costly and cannot map whole fields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70248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270248" y="129844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53128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hyperspectral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53128" y="173736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Multispectral data were only </a:t>
            </a:r>
            <a:r>
              <a:rPr lang="en-US" sz="1350" b="1" dirty="0">
                <a:solidFill>
                  <a:schemeClr val="tx1"/>
                </a:solidFill>
              </a:rPr>
              <a:t>moderately suitable</a:t>
            </a:r>
            <a:r>
              <a:rPr lang="en-US" sz="1350" dirty="0">
                <a:solidFill>
                  <a:schemeClr val="tx1"/>
                </a:solidFill>
              </a:rPr>
              <a:t> for early detection (Franke &amp; Menz, 2007)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Narrow, contiguous bands describe </a:t>
            </a:r>
            <a:r>
              <a:rPr lang="en-US" sz="1350" b="1" dirty="0">
                <a:solidFill>
                  <a:schemeClr val="tx1"/>
                </a:solidFill>
              </a:rPr>
              <a:t>phenology and plant condition</a:t>
            </a:r>
            <a:r>
              <a:rPr lang="en-US" sz="1350" dirty="0">
                <a:solidFill>
                  <a:schemeClr val="tx1"/>
                </a:solidFill>
              </a:rPr>
              <a:t> in more detail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Earlier work: Hyperion for sugarcane rust (Apan et al., 2004); unmixing for citrus pests (Du et al., 2004)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74152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8074152" y="1298448"/>
            <a:ext cx="64008" cy="3474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57032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unmixing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173736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 4 m pixel mixes </a:t>
            </a:r>
            <a:r>
              <a:rPr lang="en-US" sz="1350" b="1" dirty="0">
                <a:solidFill>
                  <a:schemeClr val="tx1"/>
                </a:solidFill>
              </a:rPr>
              <a:t>healthy leaves, infected leaves and soil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Spectral mixture analysis (SMA)</a:t>
            </a:r>
            <a:r>
              <a:rPr lang="en-US" sz="1350" dirty="0">
                <a:solidFill>
                  <a:schemeClr val="tx1"/>
                </a:solidFill>
              </a:rPr>
              <a:t> estimates the fraction of each component in a pixel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</a:t>
            </a:r>
            <a:r>
              <a:rPr lang="en-US" sz="1350" b="1" dirty="0">
                <a:solidFill>
                  <a:schemeClr val="tx1"/>
                </a:solidFill>
              </a:rPr>
              <a:t>infected fraction</a:t>
            </a:r>
            <a:r>
              <a:rPr lang="en-US" sz="1350" dirty="0">
                <a:solidFill>
                  <a:schemeClr val="tx1"/>
                </a:solidFill>
              </a:rPr>
              <a:t> should track disease severity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difficulty: finding a </a:t>
            </a:r>
            <a:r>
              <a:rPr lang="en-US" sz="1350" b="1" dirty="0">
                <a:solidFill>
                  <a:schemeClr val="tx1"/>
                </a:solidFill>
              </a:rPr>
              <a:t>pure infected spectrum (endmember)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your UAV pixels (2–5 cm) are much finer, but plot spectra still mix healthy tissue, pustules, chlorosis, flowers and soil, so the same logic applies.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Objectives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828800" y="1234440"/>
            <a:ext cx="990295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57400" y="123444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Test the potential of airborne </a:t>
            </a:r>
            <a:r>
              <a:rPr lang="en-US" sz="1900" b="1" dirty="0">
                <a:solidFill>
                  <a:schemeClr val="tx1"/>
                </a:solidFill>
              </a:rPr>
              <a:t>hyperspectral (HyMap)</a:t>
            </a:r>
            <a:r>
              <a:rPr lang="en-US" sz="1900" dirty="0">
                <a:solidFill>
                  <a:schemeClr val="tx1"/>
                </a:solidFill>
              </a:rPr>
              <a:t> data to </a:t>
            </a:r>
            <a:r>
              <a:rPr lang="en-US" sz="1900" b="1" dirty="0">
                <a:solidFill>
                  <a:schemeClr val="tx1"/>
                </a:solidFill>
              </a:rPr>
              <a:t>quantify powdery mildew severity</a:t>
            </a:r>
            <a:r>
              <a:rPr lang="en-US" sz="1900" dirty="0">
                <a:solidFill>
                  <a:schemeClr val="tx1"/>
                </a:solidFill>
              </a:rPr>
              <a:t> in wheat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1828800" y="2606040"/>
            <a:ext cx="990295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057400" y="260604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Derive appropriate </a:t>
            </a:r>
            <a:r>
              <a:rPr lang="en-US" sz="1900" b="1" dirty="0">
                <a:solidFill>
                  <a:schemeClr val="tx1"/>
                </a:solidFill>
              </a:rPr>
              <a:t>endmembers from the image itself</a:t>
            </a:r>
            <a:r>
              <a:rPr lang="en-US" sz="1900" dirty="0">
                <a:solidFill>
                  <a:schemeClr val="tx1"/>
                </a:solidFill>
              </a:rPr>
              <a:t> using an optimal endmember-selection procedure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114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1828800" y="3977640"/>
            <a:ext cx="990295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57400" y="397764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Test whether a </a:t>
            </a:r>
            <a:r>
              <a:rPr lang="en-US" sz="1900" b="1" dirty="0">
                <a:solidFill>
                  <a:schemeClr val="tx1"/>
                </a:solidFill>
              </a:rPr>
              <a:t>modelled infected endmember</a:t>
            </a:r>
            <a:r>
              <a:rPr lang="en-US" sz="1900" dirty="0">
                <a:solidFill>
                  <a:schemeClr val="tx1"/>
                </a:solidFill>
              </a:rPr>
              <a:t> can estimate disease severity by spectral mixture analysis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objectives 2 and 3 are exactly the two problems you face with the SMACC endmembers: which ones are representative, and how to get a pure 'white rust' endmember.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Study area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SITE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51758" y="1152144"/>
            <a:ext cx="3217125" cy="4142232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5" name="Image 0" descr="Fig. 1 – Location of the study area; true-colour HyMap scene (Franke et al., 2008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334" y="1188720"/>
            <a:ext cx="3143973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3309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1 – Location of the study area; true-colour HyMap scene (Franke et al., 2008)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937760" y="1188720"/>
            <a:ext cx="679399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493776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120640" y="1280160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Site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1737360"/>
            <a:ext cx="647395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Experimental farm </a:t>
            </a:r>
            <a:r>
              <a:rPr lang="en-US" sz="1400" b="1" dirty="0">
                <a:solidFill>
                  <a:schemeClr val="tx1"/>
                </a:solidFill>
              </a:rPr>
              <a:t>Klein-Altendorf</a:t>
            </a:r>
            <a:r>
              <a:rPr lang="en-US" sz="1400" dirty="0">
                <a:solidFill>
                  <a:schemeClr val="tx1"/>
                </a:solidFill>
              </a:rPr>
              <a:t>, University of Bonn, Germany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50°37′N, 6°59′E, 175 m a.s.l., between Bonn and Cologne (North Rhine-Westphalia)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Field of </a:t>
            </a:r>
            <a:r>
              <a:rPr lang="en-US" sz="1400" b="1" dirty="0">
                <a:solidFill>
                  <a:schemeClr val="tx1"/>
                </a:solidFill>
              </a:rPr>
              <a:t>6 ha</a:t>
            </a:r>
            <a:r>
              <a:rPr lang="en-US" sz="1400" dirty="0">
                <a:solidFill>
                  <a:schemeClr val="tx1"/>
                </a:solidFill>
              </a:rPr>
              <a:t>, chosen for its </a:t>
            </a:r>
            <a:r>
              <a:rPr lang="en-US" sz="1400" b="1" dirty="0">
                <a:solidFill>
                  <a:schemeClr val="tx1"/>
                </a:solidFill>
              </a:rPr>
              <a:t>flat topography</a:t>
            </a:r>
            <a:r>
              <a:rPr lang="en-US" sz="1400" dirty="0">
                <a:solidFill>
                  <a:schemeClr val="tx1"/>
                </a:solidFill>
              </a:rPr>
              <a:t> so that terrain does not disturb the spectra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Season 2004–2005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flat, uniform fields simplify interpretation; at IARI and Bharatpur note slope, soil and border effects that could look like disease.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Experimental design: a fungicide-driven severity gradient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FIELD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36335" y="1152144"/>
            <a:ext cx="5311010" cy="4142232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5" name="Image 0" descr="Fig. 2 – Three sub-plots, tractor lanes and 54 sample points (UTM WGS-84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911" y="1188720"/>
            <a:ext cx="5237858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3309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2 – Three sub-plots, tractor lanes and 54 sample points (UTM WGS-84)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00800" y="1188720"/>
            <a:ext cx="533095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0" y="129844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83680" y="1280160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Design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737360"/>
            <a:ext cx="501091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Winter wheat cv. </a:t>
            </a:r>
            <a:r>
              <a:rPr lang="en-US" sz="1300" b="1" dirty="0">
                <a:solidFill>
                  <a:schemeClr val="tx1"/>
                </a:solidFill>
              </a:rPr>
              <a:t>'Chancellor'</a:t>
            </a:r>
            <a:r>
              <a:rPr lang="en-US" sz="1300" dirty="0">
                <a:solidFill>
                  <a:schemeClr val="tx1"/>
                </a:solidFill>
              </a:rPr>
              <a:t> (susceptible to powdery mildew), sown November 2004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Uniform fertiliser and herbicide to </a:t>
            </a:r>
            <a:r>
              <a:rPr lang="en-US" sz="1300" b="1" dirty="0">
                <a:solidFill>
                  <a:schemeClr val="tx1"/>
                </a:solidFill>
              </a:rPr>
              <a:t>remove other stresses</a:t>
            </a:r>
            <a:r>
              <a:rPr lang="en-US" sz="1300" dirty="0">
                <a:solidFill>
                  <a:schemeClr val="tx1"/>
                </a:solidFill>
              </a:rPr>
              <a:t> (N deficiency, weeds)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Plot 1</a:t>
            </a:r>
            <a:r>
              <a:rPr lang="en-US" sz="1300" dirty="0">
                <a:solidFill>
                  <a:schemeClr val="tx1"/>
                </a:solidFill>
              </a:rPr>
              <a:t> (45 m): fungicide twice (11 May, BBCH 34; 9 June, BBCH 57) → disease-free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Plot 2</a:t>
            </a:r>
            <a:r>
              <a:rPr lang="en-US" sz="1300" dirty="0">
                <a:solidFill>
                  <a:schemeClr val="tx1"/>
                </a:solidFill>
              </a:rPr>
              <a:t> (30 m): fungicide once (11 May) → reduced or delayed infection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Plot 3</a:t>
            </a:r>
            <a:r>
              <a:rPr lang="en-US" sz="1300" dirty="0">
                <a:solidFill>
                  <a:schemeClr val="tx1"/>
                </a:solidFill>
              </a:rPr>
              <a:t> (~120 m): no fungicide → natural infection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same logic as your design: controls versus inoculated plots give the severity range; uniform management keeps other stresses out of the spectra.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Ground truth and hyperspectral image data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DATA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5321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Ground truth at 54 sample points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Disease severity</a:t>
            </a:r>
            <a:r>
              <a:rPr lang="en-US" sz="1350" dirty="0">
                <a:solidFill>
                  <a:schemeClr val="tx1"/>
                </a:solidFill>
              </a:rPr>
              <a:t> = % infected leaf area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Growth stage, plant height, DGPS position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Nadir photos</a:t>
            </a:r>
            <a:r>
              <a:rPr lang="en-US" sz="1350" dirty="0">
                <a:solidFill>
                  <a:schemeClr val="tx1"/>
                </a:solidFill>
              </a:rPr>
              <a:t> → % vegetation cover (soil fraction) by image analysis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9632" y="1188720"/>
            <a:ext cx="55321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6199632" y="129844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82512" y="1280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HyMap (DLR), 28 May 2005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173736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Airborne </a:t>
            </a:r>
            <a:r>
              <a:rPr lang="en-US" sz="1350" b="1" dirty="0">
                <a:solidFill>
                  <a:schemeClr val="tx1"/>
                </a:solidFill>
              </a:rPr>
              <a:t>whisk-broom</a:t>
            </a:r>
            <a:r>
              <a:rPr lang="en-US" sz="1350" dirty="0">
                <a:solidFill>
                  <a:schemeClr val="tx1"/>
                </a:solidFill>
              </a:rPr>
              <a:t> scanner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126 bands</a:t>
            </a:r>
            <a:r>
              <a:rPr lang="en-US" sz="1350" dirty="0">
                <a:solidFill>
                  <a:schemeClr val="tx1"/>
                </a:solidFill>
              </a:rPr>
              <a:t>, 450–2480 nm, 16 nm bandwidth in VIS/NIR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Nominal pixel size </a:t>
            </a:r>
            <a:r>
              <a:rPr lang="en-US" sz="1350" b="1" dirty="0">
                <a:solidFill>
                  <a:schemeClr val="tx1"/>
                </a:solidFill>
              </a:rPr>
              <a:t>4 m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11274552" cy="914400"/>
        </p:xfrm>
        <a:graphic>
          <a:graphicData uri="http://schemas.openxmlformats.org/drawingml/2006/table">
            <a:tbl>
              <a:tblPr/>
              <a:tblGrid>
                <a:gridCol w="2496312"/>
                <a:gridCol w="2194560"/>
                <a:gridCol w="219456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Severity class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Vital wheat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Low infected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Mid infected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Strong infected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% infected leaf area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 10%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10–20%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21–30%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&gt; 30%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Sample points (n)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507492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E8F3D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1792" y="5074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note the imbalance (only 6 points above 20%); your design of 36 inoculated plots and several dates gives a much better spread of severity.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Workflow of the study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802892" cy="914400"/>
          </a:xfrm>
          <a:prstGeom prst="homePlate">
            <a:avLst/>
          </a:prstGeom>
          <a:solidFill>
            <a:schemeClr val="accent1"/>
          </a:solidFill>
          <a:ln/>
        </p:spPr>
        <p:txBody>
          <a:bodyPr wrap="square" lIns="0" tIns="50800" rIns="635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Library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51532" y="1234440"/>
            <a:ext cx="1802892" cy="91440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139700" rIns="635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Select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45864" y="1234440"/>
            <a:ext cx="1802892" cy="914400"/>
          </a:xfrm>
          <a:prstGeom prst="chevron">
            <a:avLst/>
          </a:prstGeom>
          <a:solidFill>
            <a:schemeClr val="accent3"/>
          </a:solidFill>
          <a:ln/>
        </p:spPr>
        <p:txBody>
          <a:bodyPr wrap="square" lIns="0" tIns="139700" rIns="635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Healthy only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40196" y="1234440"/>
            <a:ext cx="1802892" cy="91440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139700" rIns="635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Model 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34528" y="1234440"/>
            <a:ext cx="1802892" cy="91440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139700" rIns="635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MTMF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28860" y="1234440"/>
            <a:ext cx="1802892" cy="914400"/>
          </a:xfrm>
          <a:prstGeom prst="chevron">
            <a:avLst/>
          </a:prstGeom>
          <a:solidFill>
            <a:schemeClr val="accent4"/>
          </a:solidFill>
          <a:ln/>
        </p:spPr>
        <p:txBody>
          <a:bodyPr wrap="square" lIns="0" tIns="139700" rIns="635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Relate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365760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62432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6060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1–2  Library and selection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06324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Pixel spectra at the 54 points, labelled with severity and vegetation cover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4 severity classes; representative endmember per class sought with VIPER tools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70248" y="2514600"/>
            <a:ext cx="365760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4270248" y="262432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53128" y="26060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3–4  Endmember modelling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53128" y="306324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Healthy-wheat endmember found; no infected endmember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Soil removed from the healthy spectrum; then a 30%-infected pixel unmixed → </a:t>
            </a:r>
            <a:r>
              <a:rPr lang="en-US" sz="1300" b="1" dirty="0">
                <a:solidFill>
                  <a:schemeClr val="tx1"/>
                </a:solidFill>
              </a:rPr>
              <a:t>100% infected wheat</a:t>
            </a:r>
            <a:r>
              <a:rPr lang="en-US" sz="1300" dirty="0">
                <a:solidFill>
                  <a:schemeClr val="tx1"/>
                </a:solidFill>
              </a:rPr>
              <a:t> spectrum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74152" y="2514600"/>
            <a:ext cx="365760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8074152" y="2624328"/>
            <a:ext cx="64008" cy="34747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57032" y="26060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5–6  Mapping and validation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57032" y="306324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MTMF on the MNF-transformed image for healthy, infected and soil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Mean MF fraction in a </a:t>
            </a:r>
            <a:r>
              <a:rPr lang="en-US" sz="1300" b="1" dirty="0">
                <a:solidFill>
                  <a:schemeClr val="tx1"/>
                </a:solidFill>
              </a:rPr>
              <a:t>4 m buffer</a:t>
            </a:r>
            <a:r>
              <a:rPr lang="en-US" sz="1300" dirty="0">
                <a:solidFill>
                  <a:schemeClr val="tx1"/>
                </a:solidFill>
              </a:rPr>
              <a:t> around each point, correlated with severity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71500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E8F3D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your pipeline can follow the same six boxes, with SMACC providing the candidate endmembers per plot.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Concept: linear spectral mixture analysis (SMA)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THEORY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DNᵢ = Σⱼ ( Rᵢⱼ · Fⱼ ) + Eᵢ      (Adams et al., 1986)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Symbol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DNᵢ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reflectance of the pixel in band i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Rᵢⱼ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known reflectance of endmember j in band i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Fⱼ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fraction of the pixel covered by endmember j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Eᵢ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residual error in band i</a:t>
                      </a:r>
                      <a:endParaRPr lang="en-US" sz="14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2377440"/>
            <a:ext cx="5925312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5806440" y="248716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89320" y="2468880"/>
            <a:ext cx="565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 words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2926080"/>
            <a:ext cx="560527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pixel spectrum is the </a:t>
            </a:r>
            <a:r>
              <a:rPr lang="en-US" sz="1400" b="1" dirty="0">
                <a:solidFill>
                  <a:schemeClr val="tx1"/>
                </a:solidFill>
              </a:rPr>
              <a:t>area-weighted sum</a:t>
            </a:r>
            <a:r>
              <a:rPr lang="en-US" sz="1400" dirty="0">
                <a:solidFill>
                  <a:schemeClr val="tx1"/>
                </a:solidFill>
              </a:rPr>
              <a:t> of its pure components (endmembers)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 the endmember spectra are known, the fractions Fⱼ are solved band by band by least squares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Fully constrained SMA adds Fⱼ ≥ 0 and ΣFⱼ = 1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Example: pixel = 0.6 × healthy + 0.25 × infected + 0.15 × soil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571500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E8F3D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for white rust the components could be healthy canopy, white-rust-affected canopy, soil, shadow and (at flowering) yellow flowers.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Selecting representative endmembers: CoB, EAR and MASA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ENDMEMBER SELECTION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630936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it computes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Best endmember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Count-based selection (CoB)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How many spectra of its own class a candidate can model (in-CoB) and of other classes (out-CoB) within fraction, RMSE and residual limits; CoBI = in-CoB / (out-CoB × n in class)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High in-CoB and high CoBI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Endmember Average RMSE (EAR)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Average RMSE when the candidate is used to model all other spectra of its class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Lowest EAR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Minimum Average Spectral Angle (MASA)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Average spectral angle between the candidate and all other spectra of its class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Lowest MASA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Pixel Purity Index (PPI)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Counts how often a pixel is extreme in random projections (no class labels needed)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Highest count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31920"/>
            <a:ext cx="112745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CoB, EAR and MASA are in </a:t>
            </a:r>
            <a:r>
              <a:rPr lang="en-US" sz="1400" b="1" dirty="0">
                <a:solidFill>
                  <a:schemeClr val="tx1"/>
                </a:solidFill>
              </a:rPr>
              <a:t>VIPER tools</a:t>
            </a:r>
            <a:r>
              <a:rPr lang="en-US" sz="1400" dirty="0">
                <a:solidFill>
                  <a:schemeClr val="tx1"/>
                </a:solidFill>
              </a:rPr>
              <a:t> (ENVI add-in, UC Santa Barbara); they need class labels for each spectrum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 in this study: only </a:t>
            </a:r>
            <a:r>
              <a:rPr lang="en-US" sz="1400" b="1" dirty="0">
                <a:solidFill>
                  <a:schemeClr val="tx1"/>
                </a:solidFill>
              </a:rPr>
              <a:t>'vital wheat'</a:t>
            </a:r>
            <a:r>
              <a:rPr lang="en-US" sz="1400" dirty="0">
                <a:solidFill>
                  <a:schemeClr val="tx1"/>
                </a:solidFill>
              </a:rPr>
              <a:t> had an endmember with high CoBI and low EAR and MASA; </a:t>
            </a:r>
            <a:r>
              <a:rPr lang="en-US" sz="1400" b="1" dirty="0">
                <a:solidFill>
                  <a:schemeClr val="tx1"/>
                </a:solidFill>
              </a:rPr>
              <a:t>no representative endmember was found for any infected class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apply EAR and MASA to your SMACC endmembers of each class (healthy, infected, soil, flower) to pick one representative spectrum per class across the 48 plots.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Key idea: modelling a pure 'infected wheat' endmember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ENDMEMBER MODELLING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802892" cy="914400"/>
          </a:xfrm>
          <a:prstGeom prst="homePlate">
            <a:avLst/>
          </a:prstGeom>
          <a:solidFill>
            <a:schemeClr val="accent2"/>
          </a:solidFill>
          <a:ln/>
        </p:spPr>
        <p:txBody>
          <a:bodyPr wrap="square" lIns="0" tIns="50800" rIns="635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Healthy pixel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51532" y="1234440"/>
            <a:ext cx="1802892" cy="91440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139700" rIns="635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Remove soil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45864" y="1234440"/>
            <a:ext cx="1802892" cy="91440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139700" rIns="635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Pure healthy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40196" y="1234440"/>
            <a:ext cx="1802892" cy="914400"/>
          </a:xfrm>
          <a:prstGeom prst="chevron">
            <a:avLst/>
          </a:prstGeom>
          <a:solidFill>
            <a:schemeClr val="accent4"/>
          </a:solidFill>
          <a:ln/>
        </p:spPr>
        <p:txBody>
          <a:bodyPr wrap="square" lIns="0" tIns="139700" rIns="635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30% pixel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34528" y="1234440"/>
            <a:ext cx="1802892" cy="914400"/>
          </a:xfrm>
          <a:prstGeom prst="chevron">
            <a:avLst/>
          </a:prstGeom>
          <a:solidFill>
            <a:schemeClr val="accent4"/>
          </a:solidFill>
          <a:ln/>
        </p:spPr>
        <p:txBody>
          <a:bodyPr wrap="square" lIns="0" tIns="139700" rIns="635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Unmix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28860" y="1234440"/>
            <a:ext cx="1802892" cy="914400"/>
          </a:xfrm>
          <a:prstGeom prst="chevron">
            <a:avLst/>
          </a:prstGeom>
          <a:solidFill>
            <a:schemeClr val="accent4"/>
          </a:solidFill>
          <a:ln/>
        </p:spPr>
        <p:txBody>
          <a:bodyPr wrap="square" lIns="0" tIns="139700" rIns="635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Infected 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1274552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56032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R_infected = ( R_pixel − F_healthy · R_healthy − F_soil · R_soil ) / F_infected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553212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67588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5760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it was needed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114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Early in an epidemic, </a:t>
            </a:r>
            <a:r>
              <a:rPr lang="en-US" sz="1350" b="1" dirty="0">
                <a:solidFill>
                  <a:schemeClr val="tx1"/>
                </a:solidFill>
              </a:rPr>
              <a:t>no pixel is fully infected</a:t>
            </a:r>
            <a:r>
              <a:rPr lang="en-US" sz="1350" dirty="0">
                <a:solidFill>
                  <a:schemeClr val="tx1"/>
                </a:solidFill>
              </a:rPr>
              <a:t>; infected tissue is always mixed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So a pure infected spectrum cannot be found in the image; it must be </a:t>
            </a:r>
            <a:r>
              <a:rPr lang="en-US" sz="1350" b="1" dirty="0">
                <a:solidFill>
                  <a:schemeClr val="tx1"/>
                </a:solidFill>
              </a:rPr>
              <a:t>derived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99632" y="3566160"/>
            <a:ext cx="553212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9632" y="3675888"/>
            <a:ext cx="64008" cy="34747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82512" y="365760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Caution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41148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modelled spectrum is an </a:t>
            </a:r>
            <a:r>
              <a:rPr lang="en-US" sz="1350" b="1" dirty="0">
                <a:solidFill>
                  <a:schemeClr val="tx1"/>
                </a:solidFill>
              </a:rPr>
              <a:t>approximation</a:t>
            </a:r>
            <a:r>
              <a:rPr lang="en-US" sz="1350" dirty="0">
                <a:solidFill>
                  <a:schemeClr val="tx1"/>
                </a:solidFill>
              </a:rPr>
              <a:t>; the authors note that parts of it differ from the expected physiology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exact fractions used for the 30% pixel are not given in the paper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571500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E8F3D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when no SMACC endmember looks like 'white rust', model one from a high-DI plot in the same way, but only from training plots.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Mixture Tuned Matched Filtering (MTMF), simply explained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PARTIAL UNMIXING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 MNF transform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Minimum Noise Fraction</a:t>
            </a:r>
            <a:r>
              <a:rPr lang="en-US" sz="1350" dirty="0">
                <a:solidFill>
                  <a:schemeClr val="tx1"/>
                </a:solidFill>
              </a:rPr>
              <a:t> rotates the bands so that signal and noise are separated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Noise-dominated components are dropped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70248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270248" y="129844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53128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2. Matched filter (MF)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53128" y="173736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Measures </a:t>
            </a:r>
            <a:r>
              <a:rPr lang="en-US" sz="1350" b="1" dirty="0">
                <a:solidFill>
                  <a:schemeClr val="tx1"/>
                </a:solidFill>
              </a:rPr>
              <a:t>how much of one target endmember</a:t>
            </a:r>
            <a:r>
              <a:rPr lang="en-US" sz="1350" dirty="0">
                <a:solidFill>
                  <a:schemeClr val="tx1"/>
                </a:solidFill>
              </a:rPr>
              <a:t> a pixel contains, while suppressing the unknown background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MF score ≈ 0 for background, ≈ 1 for a pure target pixel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Only the target spectrum is needed</a:t>
            </a:r>
            <a:r>
              <a:rPr lang="en-US" sz="1350" dirty="0">
                <a:solidFill>
                  <a:schemeClr val="tx1"/>
                </a:solidFill>
              </a:rPr>
              <a:t> (partial unmixing)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74152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8074152" y="1298448"/>
            <a:ext cx="64008" cy="3474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57032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3. Mixture tuning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173736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An </a:t>
            </a:r>
            <a:r>
              <a:rPr lang="en-US" sz="1350" b="1" dirty="0">
                <a:solidFill>
                  <a:schemeClr val="tx1"/>
                </a:solidFill>
              </a:rPr>
              <a:t>infeasibility</a:t>
            </a:r>
            <a:r>
              <a:rPr lang="en-US" sz="1350" dirty="0">
                <a:solidFill>
                  <a:schemeClr val="tx1"/>
                </a:solidFill>
              </a:rPr>
              <a:t> score flags pixels whose spectra are not a plausible mix of target and background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Removes false positives with high MF but wrong spectral shape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Result: one </a:t>
            </a:r>
            <a:r>
              <a:rPr lang="en-US" sz="1350" b="1" dirty="0">
                <a:solidFill>
                  <a:schemeClr val="tx1"/>
                </a:solidFill>
              </a:rPr>
              <a:t>MF-fraction image</a:t>
            </a:r>
            <a:r>
              <a:rPr lang="en-US" sz="1350" dirty="0">
                <a:solidFill>
                  <a:schemeClr val="tx1"/>
                </a:solidFill>
              </a:rPr>
              <a:t> per endmember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MTMF suits your case because you can define a 'white rust' target without needing every other component; ENVI implements it, and the matched filter is easy to code in Python.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Result 1: fraction map of the field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RESULTS · FIG.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7488" y="1152144"/>
            <a:ext cx="5331583" cy="4142232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5" name="Image 0" descr="Fig. 3 – MF fractions: infected (red), healthy (green), soil (blu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064" y="1188720"/>
            <a:ext cx="5258431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330952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3 – MF fractions: infected (red), healthy (green), soil (blue)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583680" y="1188720"/>
            <a:ext cx="514807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66560" y="1280160"/>
            <a:ext cx="4873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the map shows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1737360"/>
            <a:ext cx="482803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 = high fraction of </a:t>
            </a:r>
            <a:r>
              <a:rPr lang="en-US" sz="1400" b="1" dirty="0">
                <a:solidFill>
                  <a:schemeClr val="tx1"/>
                </a:solidFill>
              </a:rPr>
              <a:t>infected wheat</a:t>
            </a:r>
            <a:r>
              <a:rPr lang="en-US" sz="1400" dirty="0">
                <a:solidFill>
                  <a:schemeClr val="tx1"/>
                </a:solidFill>
              </a:rPr>
              <a:t>; green = </a:t>
            </a:r>
            <a:r>
              <a:rPr lang="en-US" sz="1400" b="1" dirty="0">
                <a:solidFill>
                  <a:schemeClr val="tx1"/>
                </a:solidFill>
              </a:rPr>
              <a:t>healthy wheat</a:t>
            </a:r>
            <a:r>
              <a:rPr lang="en-US" sz="1400" dirty="0">
                <a:solidFill>
                  <a:schemeClr val="tx1"/>
                </a:solidFill>
              </a:rPr>
              <a:t>; blue = </a:t>
            </a:r>
            <a:r>
              <a:rPr lang="en-US" sz="1400" b="1" dirty="0">
                <a:solidFill>
                  <a:schemeClr val="tx1"/>
                </a:solidFill>
              </a:rPr>
              <a:t>soil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large infected area in </a:t>
            </a:r>
            <a:r>
              <a:rPr lang="en-US" sz="1400" b="1" dirty="0">
                <a:solidFill>
                  <a:schemeClr val="tx1"/>
                </a:solidFill>
              </a:rPr>
              <a:t>plot 3 (no fungicide)</a:t>
            </a:r>
            <a:r>
              <a:rPr lang="en-US" sz="1400" dirty="0">
                <a:solidFill>
                  <a:schemeClr val="tx1"/>
                </a:solidFill>
              </a:rPr>
              <a:t>, matching field observations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Plots 1 and 2 (fungicide) mostly green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Spatial pattern visible within plot 3: infection is </a:t>
            </a:r>
            <a:r>
              <a:rPr lang="en-US" sz="1400" b="1" dirty="0">
                <a:solidFill>
                  <a:schemeClr val="tx1"/>
                </a:solidFill>
              </a:rPr>
              <a:t>patchy</a:t>
            </a:r>
            <a:r>
              <a:rPr lang="en-US" sz="1400" dirty="0">
                <a:solidFill>
                  <a:schemeClr val="tx1"/>
                </a:solidFill>
              </a:rPr>
              <a:t>, not uniform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an infected-fraction map per date gives the within-plot hotspot map you need (Moran's I, Gi*) and spray zones.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Result 2: fractions versus field-measured severity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RESULTS · FIGS. 4 AND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23916" y="1152144"/>
            <a:ext cx="4181368" cy="3364992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5" name="Image 0" descr="Fig. 4 – Healthy-wheat MF fraction: r = −0.74, r² = 0.5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492" y="1188720"/>
            <a:ext cx="4108216" cy="3291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5537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4 – Healthy-wheat MF fraction: r = −0.74, r² = 0.55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21596" y="1152144"/>
            <a:ext cx="4181368" cy="3364992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8" name="Image 1" descr="Fig. 5 – Infected-wheat MF fraction: r = 0.82, r² = 0.67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172" y="1188720"/>
            <a:ext cx="4108216" cy="3291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54880" y="45537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5 – Infected-wheat MF fraction: r = 0.82, r² = 0.67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9098280" y="1188720"/>
            <a:ext cx="2633472" cy="434340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9098280" y="129844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281160" y="12801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9281160" y="1737360"/>
            <a:ext cx="231343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Mean MF fraction in a </a:t>
            </a:r>
            <a:r>
              <a:rPr lang="en-US" sz="1250" b="1" dirty="0">
                <a:solidFill>
                  <a:schemeClr val="tx1"/>
                </a:solidFill>
              </a:rPr>
              <a:t>4 m buffer</a:t>
            </a:r>
            <a:r>
              <a:rPr lang="en-US" sz="1250" dirty="0">
                <a:solidFill>
                  <a:schemeClr val="tx1"/>
                </a:solidFill>
              </a:rPr>
              <a:t> around each of the 54 points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Pearson correlation with % infected leaf area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Direct</a:t>
            </a:r>
            <a:r>
              <a:rPr lang="en-US" sz="1250" dirty="0">
                <a:solidFill>
                  <a:schemeClr val="tx1"/>
                </a:solidFill>
              </a:rPr>
              <a:t> (infected EM) beat </a:t>
            </a:r>
            <a:r>
              <a:rPr lang="en-US" sz="1250" b="1" dirty="0">
                <a:solidFill>
                  <a:schemeClr val="tx1"/>
                </a:solidFill>
              </a:rPr>
              <a:t>indirect</a:t>
            </a:r>
            <a:r>
              <a:rPr lang="en-US" sz="1250" dirty="0">
                <a:solidFill>
                  <a:schemeClr val="tx1"/>
                </a:solidFill>
              </a:rPr>
              <a:t> (healthy EM)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493776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21792" y="493776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relate the plot-mean infected fraction to DI per date; report it as a feature in Phase 1 and as a stand-alone, physically interpretable severity estimate.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Discussion and conclusions of the authors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DISCUSSION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53212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Main points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Airborne hyperspectral data </a:t>
            </a:r>
            <a:r>
              <a:rPr lang="en-US" sz="1350" b="1" dirty="0">
                <a:solidFill>
                  <a:schemeClr val="tx1"/>
                </a:solidFill>
              </a:rPr>
              <a:t>can detect powdery mildew</a:t>
            </a:r>
            <a:r>
              <a:rPr lang="en-US" sz="1350" dirty="0">
                <a:solidFill>
                  <a:schemeClr val="tx1"/>
                </a:solidFill>
              </a:rPr>
              <a:t> using SMA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Endmember selection itself is informative: </a:t>
            </a:r>
            <a:r>
              <a:rPr lang="en-US" sz="1350" b="1" dirty="0">
                <a:solidFill>
                  <a:schemeClr val="tx1"/>
                </a:solidFill>
              </a:rPr>
              <a:t>no representative infected endmember</a:t>
            </a:r>
            <a:r>
              <a:rPr lang="en-US" sz="1350" dirty="0">
                <a:solidFill>
                  <a:schemeClr val="tx1"/>
                </a:solidFill>
              </a:rPr>
              <a:t> existed, so early direct detection is hard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Indirect</a:t>
            </a:r>
            <a:r>
              <a:rPr lang="en-US" sz="1350" dirty="0">
                <a:solidFill>
                  <a:schemeClr val="tx1"/>
                </a:solidFill>
              </a:rPr>
              <a:t> detection works: anything that is 'not healthy' is suspected stress (r² = 0.55)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Direct</a:t>
            </a:r>
            <a:r>
              <a:rPr lang="en-US" sz="1350" dirty="0">
                <a:solidFill>
                  <a:schemeClr val="tx1"/>
                </a:solidFill>
              </a:rPr>
              <a:t> detection with the modelled infected endmember works better (r² = 0.67)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9632" y="1188720"/>
            <a:ext cx="553212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6199632" y="129844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82512" y="1280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Practical meaning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173736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Infected areas were identified </a:t>
            </a:r>
            <a:r>
              <a:rPr lang="en-US" sz="1350" b="1" dirty="0">
                <a:solidFill>
                  <a:schemeClr val="tx1"/>
                </a:solidFill>
              </a:rPr>
              <a:t>while fungicide application was still possible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Even earlier detection looks possible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Hyperspectral data outperform multispectral for early detection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Operational use needs sensors with suitable </a:t>
            </a:r>
            <a:r>
              <a:rPr lang="en-US" sz="1350" b="1" dirty="0">
                <a:solidFill>
                  <a:schemeClr val="tx1"/>
                </a:solidFill>
              </a:rPr>
              <a:t>spatial, temporal and spectral</a:t>
            </a:r>
            <a:r>
              <a:rPr lang="en-US" sz="1350" dirty="0">
                <a:solidFill>
                  <a:schemeClr val="tx1"/>
                </a:solidFill>
              </a:rPr>
              <a:t> resolution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UAV hyperspectral is that operational sensor: centimetre pixels, flexible dates, narrow bands.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Critical appraisal: limitations to keep in mind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DISCUSSION · LIMITATIONS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53212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Study design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One date, one field, one cultivar; a short conference paper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54 points, </a:t>
            </a:r>
            <a:r>
              <a:rPr lang="en-US" sz="1350" b="1" dirty="0">
                <a:solidFill>
                  <a:schemeClr val="tx1"/>
                </a:solidFill>
              </a:rPr>
              <a:t>strongly imbalanced</a:t>
            </a:r>
            <a:r>
              <a:rPr lang="en-US" sz="1350" dirty="0">
                <a:solidFill>
                  <a:schemeClr val="tx1"/>
                </a:solidFill>
              </a:rPr>
              <a:t> (34 below 10%, only 6 above 20%)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4 m pixels versus point-scale severity; a 4 m buffer mean partly fixes this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9632" y="1188720"/>
            <a:ext cx="553212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6199632" y="1298448"/>
            <a:ext cx="64008" cy="34747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82512" y="1280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Analysis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173736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infected endmember was modelled from </a:t>
            </a:r>
            <a:r>
              <a:rPr lang="en-US" sz="1300" b="1" dirty="0">
                <a:solidFill>
                  <a:schemeClr val="tx1"/>
                </a:solidFill>
              </a:rPr>
              <a:t>one sample pixel</a:t>
            </a:r>
            <a:r>
              <a:rPr lang="en-US" sz="1300" dirty="0">
                <a:solidFill>
                  <a:schemeClr val="tx1"/>
                </a:solidFill>
              </a:rPr>
              <a:t> that is also among the 54 validation points (some circularity)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Only </a:t>
            </a:r>
            <a:r>
              <a:rPr lang="en-US" sz="1300" b="1" dirty="0">
                <a:solidFill>
                  <a:schemeClr val="tx1"/>
                </a:solidFill>
              </a:rPr>
              <a:t>correlation</a:t>
            </a:r>
            <a:r>
              <a:rPr lang="en-US" sz="1300" dirty="0">
                <a:solidFill>
                  <a:schemeClr val="tx1"/>
                </a:solidFill>
              </a:rPr>
              <a:t> is reported; no independent test set or prediction error (RMSE)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MTMF infeasibility thresholds and the fractions used to model the endmember are not reported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Pearson r on skewed severity data; a few high points drive the fit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derive endmembers from training plots only, keep validation plots separate, report RMSE and rank correlation, and repeat per date.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How this paper maps onto MuDAS-AI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APPLICATION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702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Franke et al. (2008)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MuDAS-AI (white rust, mustard)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HyMap airborne hyperspectral, 4 m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UAV hyperspectral (and ASD), centimetre pixels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Spectral library of 54 pixels + severity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SMACC endmembers of 48 plots × 4 dates (your workbook) + plot DI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 severity classes for endmember selection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Your DI classes; plus non-disease classes: soil, shadow, flowers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CoB, EAR, MASA (VIPER tools)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EAR and MASA in Python on the SMACC endmembers; pick one per class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Only healthy endmember found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Expected early on: control plots give healthy; infected may be missing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Modelled 100% infected endmember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Model a 'white rust' endmember from a high-DI training plot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MTMF fraction images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MTMF or fully constrained unmixing → infected-fraction maps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 m buffer mean vs severity (r = 0.82)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Plot-mean and percentile infected fraction vs DI, per date, grouped CV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Fraction map of the field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Within-plot hotspot maps and spray zones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71500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E8F3D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1792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the infected fraction is a physically meaningful feature that can join Phase 1 alongside indices, texture and thermal features.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Step-by-step recipe with your SMACC endmembers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APPLICATION · STEP BY STEP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Pool candidates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SMACC endmembers from all plots and dates, each tagged with plot, date, treatment and DI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0248" y="1188720"/>
            <a:ext cx="36576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4453128" y="1371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5312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138928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Label classes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0574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Healthy canopy, infected canopy, soil, shadow, flowers (SAM to reference spectra + visual check)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188720"/>
            <a:ext cx="36576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6176" y="13716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6617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951976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Select per class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20574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EAR and MASA (and CoB if possible); keep the endmember with lowest EAR/MASA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6576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Model if missing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160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pure infected endmember? Unmix a high-DI training plot with healthy + soil (+ flower) endmembers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70248" y="3291840"/>
            <a:ext cx="36576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4453128" y="34747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53128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138928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Unmix images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498848" y="4160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MTMF or fully constrained SMA → fraction maps per plot and date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83296" y="3291840"/>
            <a:ext cx="36576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30" name="Shape 28"/>
          <p:cNvSpPr/>
          <p:nvPr/>
        </p:nvSpPr>
        <p:spPr>
          <a:xfrm>
            <a:off x="8266176" y="34747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66176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951976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Use fractions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311896" y="4160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Plot mean and P90 of infected fraction → correlate with DI; add to Phase 1; map hotspots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5486400"/>
            <a:ext cx="11274552" cy="786384"/>
          </a:xfrm>
          <a:prstGeom prst="roundRect">
            <a:avLst>
              <a:gd name="adj" fmla="val 9302"/>
            </a:avLst>
          </a:prstGeom>
          <a:solidFill>
            <a:srgbClr val="E8F3D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1792" y="5486400"/>
            <a:ext cx="10972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steps 3–4 must use training plots only; the plot used to model the infected endmember cannot be a test plot.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Formulas to implement EAR, MASA and unmixing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APPLICATION · CALCULATIONS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EARₑ = (1 / (n − 1)) · Σᵢ≠ₑ RMSE(spectrum i modelled by e)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74552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10312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MASAₑ = (1 / (n − 1)) · Σᵢ≠ₑ θ(e, i),   θ = arccos( ⟨e, i⟩ / (‖e‖·‖i‖) 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11274552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9718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Fully constrained SMA:  min ‖ r − E·f ‖²   subject to  f ≥ 0,  Σ f = 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931920"/>
            <a:ext cx="112745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 = number of candidate spectra in the class; e = candidate endmember; i = other spectra of the same class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 Python: numpy for EAR and MASA; scipy.optimize.nnls with an added row of ones (strong weight) for fully constrained unmixing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 selection inside training folds; apply the chosen endmembers to all plots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these are short functions; they can sit next to s04_endmembers.py in your pipeline.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Differences to keep in mind for white rust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APPLICATION · CAUTIONS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4 m HyMap pixels vs your 2–5 cm UAV pixels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At UAV scale more </a:t>
            </a:r>
            <a:r>
              <a:rPr lang="en-US" sz="1350" b="1" dirty="0">
                <a:solidFill>
                  <a:schemeClr val="tx1"/>
                </a:solidFill>
              </a:rPr>
              <a:t>near-pure pixels</a:t>
            </a:r>
            <a:r>
              <a:rPr lang="en-US" sz="1350" dirty="0">
                <a:solidFill>
                  <a:schemeClr val="tx1"/>
                </a:solidFill>
              </a:rPr>
              <a:t> exist (leaf, soil, flower), so selection may find more endmembers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Pustules (1–2 mm) are still sub-pixel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70248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270248" y="1298448"/>
            <a:ext cx="64008" cy="3474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53128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Symptoms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53128" y="173736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Powdery mildew: white mycelium on the leaf surface, </a:t>
            </a:r>
            <a:r>
              <a:rPr lang="en-US" sz="1350" b="1" dirty="0">
                <a:solidFill>
                  <a:schemeClr val="tx1"/>
                </a:solidFill>
              </a:rPr>
              <a:t>clearly visible from above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White rust: pustules mainly on the </a:t>
            </a:r>
            <a:r>
              <a:rPr lang="en-US" sz="1350" b="1" dirty="0">
                <a:solidFill>
                  <a:schemeClr val="tx1"/>
                </a:solidFill>
              </a:rPr>
              <a:t>lower</a:t>
            </a:r>
            <a:r>
              <a:rPr lang="en-US" sz="1350" dirty="0">
                <a:solidFill>
                  <a:schemeClr val="tx1"/>
                </a:solidFill>
              </a:rPr>
              <a:t> surface; the top view sees chlorosis and deformation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Expect a weaker, less specific infected endmember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74152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8074152" y="1298448"/>
            <a:ext cx="64008" cy="34747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57032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Extra components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173736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Mustard </a:t>
            </a:r>
            <a:r>
              <a:rPr lang="en-US" sz="1350" b="1" dirty="0">
                <a:solidFill>
                  <a:schemeClr val="tx1"/>
                </a:solidFill>
              </a:rPr>
              <a:t>flowers</a:t>
            </a:r>
            <a:r>
              <a:rPr lang="en-US" sz="1350" dirty="0">
                <a:solidFill>
                  <a:schemeClr val="tx1"/>
                </a:solidFill>
              </a:rPr>
              <a:t> (bright yellow) need their own endmember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Shadow and soil change between dates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Select endmembers </a:t>
            </a:r>
            <a:r>
              <a:rPr lang="en-US" sz="1350" b="1" dirty="0">
                <a:solidFill>
                  <a:schemeClr val="tx1"/>
                </a:solidFill>
              </a:rPr>
              <a:t>per date</a:t>
            </a:r>
            <a:r>
              <a:rPr lang="en-US" sz="1350" dirty="0">
                <a:solidFill>
                  <a:schemeClr val="tx1"/>
                </a:solidFill>
              </a:rPr>
              <a:t> or include a date-specific healthy endmember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test the infected-fraction feature honestly against simple indices (NDRE, PRI) with the same grouped CV; keep it if it adds information.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Take-home messages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SUMMARY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7498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Unmixing gives a physical severity measure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118872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Infected-endmember fraction correlated with % infected leaf area (r = 0.82)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109728" cy="7498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08483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Endmember quality decides everything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2084832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Use EAR, MASA, CoB to pick representative spectra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09728" cy="7498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980944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pure infected pixel? Model one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980944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Unmix a known infected pixel with healthy and soil endmembers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877056"/>
            <a:ext cx="109728" cy="74980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77056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Direct beats indirect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877056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Infected endmember (r² 0.67) better than 'not healthy' (r² 0.55)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773168"/>
            <a:ext cx="109728" cy="7498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77316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Validate properly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4773168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Separate plots for modelling and testing; report errors, not only 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7607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Reference: Franke, J., Mewes, T., Menz, G. (2008). Airborne hyperspectral imaging for the detection of powdery mildew in wheat. Proc. SPIE 7086, Imaging Spectrometry XIII, 708609. https://doi.org/10.1117/12.795040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nke2008 Review">
  <a:themeElements>
    <a:clrScheme name="Franke2008 Review">
      <a:dk1>
        <a:srgbClr val="0D1B1F"/>
      </a:dk1>
      <a:lt1>
        <a:srgbClr val="FFFFFF"/>
      </a:lt1>
      <a:dk2>
        <a:srgbClr val="1F3A40"/>
      </a:dk2>
      <a:lt2>
        <a:srgbClr val="EEF6F5"/>
      </a:lt2>
      <a:accent1>
        <a:srgbClr val="1CB8B2"/>
      </a:accent1>
      <a:accent2>
        <a:srgbClr val="7DBE4B"/>
      </a:accent2>
      <a:accent3>
        <a:srgbClr val="E0A526"/>
      </a:accent3>
      <a:accent4>
        <a:srgbClr val="C0503A"/>
      </a:accent4>
      <a:accent5>
        <a:srgbClr val="3B82F6"/>
      </a:accent5>
      <a:accent6>
        <a:srgbClr val="8E5BD6"/>
      </a:accent6>
      <a:hlink>
        <a:srgbClr val="1C7C78"/>
      </a:hlink>
      <a:folHlink>
        <a:srgbClr val="5E7A7E"/>
      </a:folHlink>
    </a:clrScheme>
    <a:fontScheme name="Franke2008 Review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Franke et al. (2008) - airborne hyperspectral endmembers for powdery mildew</dc:title>
  <dc:subject>PptxGenJS Presentation</dc:subject>
  <dc:creator>Animesh Panda</dc:creator>
  <cp:lastModifiedBy>Animesh Panda</cp:lastModifiedBy>
  <cp:revision>1</cp:revision>
  <dcterms:created xsi:type="dcterms:W3CDTF">2026-10-29T20:12:33Z</dcterms:created>
  <dcterms:modified xsi:type="dcterms:W3CDTF">2026-10-29T20:12:33Z</dcterms:modified>
</cp:coreProperties>
</file>